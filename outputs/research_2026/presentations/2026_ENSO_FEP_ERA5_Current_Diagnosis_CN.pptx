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9e5c281d404ae5" /><Relationship Type="http://schemas.openxmlformats.org/officeDocument/2006/relationships/extended-properties" Target="/docProps/app.xml" Id="Rdb22582669154585" /><Relationship Type="http://schemas.openxmlformats.org/officeDocument/2006/relationships/officeDocument" Target="/ppt/presentation.xml" Id="R77b2ea5ea32c44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f588f953904893"/>
  </p:sldMasterIdLst>
  <p:notesMasterIdLst>
    <p:notesMasterId xmlns:r="http://schemas.openxmlformats.org/officeDocument/2006/relationships" r:id="R129c103e9fef4523"/>
  </p:notesMasterIdLst>
  <p:sldIdLst>
    <p:sldId xmlns:r="http://schemas.openxmlformats.org/officeDocument/2006/relationships" id="256" r:id="R0a149effcaff4a8b"/>
    <p:sldId xmlns:r="http://schemas.openxmlformats.org/officeDocument/2006/relationships" id="257" r:id="R325d8c6808354384"/>
    <p:sldId xmlns:r="http://schemas.openxmlformats.org/officeDocument/2006/relationships" id="258" r:id="Rbc16f13ded754191"/>
    <p:sldId xmlns:r="http://schemas.openxmlformats.org/officeDocument/2006/relationships" id="259" r:id="R527d6085bc544fc8"/>
    <p:sldId xmlns:r="http://schemas.openxmlformats.org/officeDocument/2006/relationships" id="260" r:id="R50266f1a540344b6"/>
    <p:sldId xmlns:r="http://schemas.openxmlformats.org/officeDocument/2006/relationships" id="261" r:id="R46fa5212c3074f40"/>
    <p:sldId xmlns:r="http://schemas.openxmlformats.org/officeDocument/2006/relationships" id="262" r:id="Rd156a1b0cd4f48ca"/>
    <p:sldId xmlns:r="http://schemas.openxmlformats.org/officeDocument/2006/relationships" id="263" r:id="R70ac235404ae45a3"/>
    <p:sldId xmlns:r="http://schemas.openxmlformats.org/officeDocument/2006/relationships" id="264" r:id="R3b45891f70ec48f2"/>
    <p:sldId xmlns:r="http://schemas.openxmlformats.org/officeDocument/2006/relationships" id="265" r:id="R97e00fc0511a4781"/>
    <p:sldId xmlns:r="http://schemas.openxmlformats.org/officeDocument/2006/relationships" id="266" r:id="R302d4d0a68674f2a"/>
    <p:sldId xmlns:r="http://schemas.openxmlformats.org/officeDocument/2006/relationships" id="267" r:id="R4ea6422f3af7483a"/>
    <p:sldId xmlns:r="http://schemas.openxmlformats.org/officeDocument/2006/relationships" id="268" r:id="Re355b6e31b9641d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1b73187e6c47cd" /><Relationship Type="http://schemas.openxmlformats.org/officeDocument/2006/relationships/slideMaster" Target="/ppt/slideMasters/slideMaster1.xml" Id="Rbbf588f953904893" /><Relationship Type="http://schemas.openxmlformats.org/officeDocument/2006/relationships/notesMaster" Target="/ppt/notesMasters/notesMaster1.xml" Id="R129c103e9fef4523" /><Relationship Type="http://schemas.openxmlformats.org/officeDocument/2006/relationships/presProps" Target="/ppt/presProps.xml" Id="Rf9dc818e6ccd4f70" /><Relationship Type="http://schemas.openxmlformats.org/officeDocument/2006/relationships/tableStyles" Target="/ppt/tableStyles.xml" Id="R13d29c11956b4ab6" /><Relationship Type="http://schemas.openxmlformats.org/officeDocument/2006/relationships/slide" Target="/ppt/slides/slide1.xml" Id="R0a149effcaff4a8b" /><Relationship Type="http://schemas.openxmlformats.org/officeDocument/2006/relationships/slide" Target="/ppt/slides/slide2.xml" Id="R325d8c6808354384" /><Relationship Type="http://schemas.openxmlformats.org/officeDocument/2006/relationships/slide" Target="/ppt/slides/slide3.xml" Id="Rbc16f13ded754191" /><Relationship Type="http://schemas.openxmlformats.org/officeDocument/2006/relationships/slide" Target="/ppt/slides/slide4.xml" Id="R527d6085bc544fc8" /><Relationship Type="http://schemas.openxmlformats.org/officeDocument/2006/relationships/slide" Target="/ppt/slides/slide5.xml" Id="R50266f1a540344b6" /><Relationship Type="http://schemas.openxmlformats.org/officeDocument/2006/relationships/slide" Target="/ppt/slides/slide6.xml" Id="R46fa5212c3074f40" /><Relationship Type="http://schemas.openxmlformats.org/officeDocument/2006/relationships/slide" Target="/ppt/slides/slide7.xml" Id="Rd156a1b0cd4f48ca" /><Relationship Type="http://schemas.openxmlformats.org/officeDocument/2006/relationships/slide" Target="/ppt/slides/slide8.xml" Id="R70ac235404ae45a3" /><Relationship Type="http://schemas.openxmlformats.org/officeDocument/2006/relationships/slide" Target="/ppt/slides/slide9.xml" Id="R3b45891f70ec48f2" /><Relationship Type="http://schemas.openxmlformats.org/officeDocument/2006/relationships/slide" Target="/ppt/slides/slide10.xml" Id="R97e00fc0511a4781" /><Relationship Type="http://schemas.openxmlformats.org/officeDocument/2006/relationships/slide" Target="/ppt/slides/slide11.xml" Id="R302d4d0a68674f2a" /><Relationship Type="http://schemas.openxmlformats.org/officeDocument/2006/relationships/slide" Target="/ppt/slides/slide12.xml" Id="R4ea6422f3af7483a" /><Relationship Type="http://schemas.openxmlformats.org/officeDocument/2006/relationships/slide" Target="/ppt/slides/slide13.xml" Id="Re355b6e31b9641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0a7b44d6954a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47a0dfabe44f96" /><Relationship Type="http://schemas.openxmlformats.org/officeDocument/2006/relationships/notesMaster" Target="/ppt/notesMasters/notesMaster1.xml" Id="R6393e9d22dcc45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0d95bd62db4814" /><Relationship Type="http://schemas.openxmlformats.org/officeDocument/2006/relationships/notesMaster" Target="/ppt/notesMasters/notesMaster1.xml" Id="R96703515b90a4d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0f9f9e04c54eee" /><Relationship Type="http://schemas.openxmlformats.org/officeDocument/2006/relationships/notesMaster" Target="/ppt/notesMasters/notesMaster1.xml" Id="Raf265315034b49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e587a28977440c" /><Relationship Type="http://schemas.openxmlformats.org/officeDocument/2006/relationships/notesMaster" Target="/ppt/notesMasters/notesMaster1.xml" Id="R6eeb7a8c563c4a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60c5e0b75f4847" /><Relationship Type="http://schemas.openxmlformats.org/officeDocument/2006/relationships/notesMaster" Target="/ppt/notesMasters/notesMaster1.xml" Id="R7a504a6e4b7041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36d0d97c41445d" /><Relationship Type="http://schemas.openxmlformats.org/officeDocument/2006/relationships/notesMaster" Target="/ppt/notesMasters/notesMaster1.xml" Id="Rac171dac01a4466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2581956b564bb6" /><Relationship Type="http://schemas.openxmlformats.org/officeDocument/2006/relationships/notesMaster" Target="/ppt/notesMasters/notesMaster1.xml" Id="R54c0d862f6cc46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2d06fc7cec45c5" /><Relationship Type="http://schemas.openxmlformats.org/officeDocument/2006/relationships/notesMaster" Target="/ppt/notesMasters/notesMaster1.xml" Id="R09cda90d1f3e4c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f74e3e71bae4d19" /><Relationship Type="http://schemas.openxmlformats.org/officeDocument/2006/relationships/notesMaster" Target="/ppt/notesMasters/notesMaster1.xml" Id="Rf7bd7ed3e9a24a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0da02e37e6472b" /><Relationship Type="http://schemas.openxmlformats.org/officeDocument/2006/relationships/notesMaster" Target="/ppt/notesMasters/notesMaster1.xml" Id="R9eafd0087ff648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480e32de2c4e76" /><Relationship Type="http://schemas.openxmlformats.org/officeDocument/2006/relationships/notesMaster" Target="/ppt/notesMasters/notesMaster1.xml" Id="R8701a05ec2a244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9bd323f9584493" /><Relationship Type="http://schemas.openxmlformats.org/officeDocument/2006/relationships/notesMaster" Target="/ppt/notesMasters/notesMaster1.xml" Id="R3de66d00c2e94d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28e1c50e75484e" /><Relationship Type="http://schemas.openxmlformats.org/officeDocument/2006/relationships/notesMaster" Target="/ppt/notesMasters/notesMaster1.xml" Id="R9886fd16cadb4fb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f15ce85844f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5ca0b66e744d0f" /><Relationship Type="http://schemas.openxmlformats.org/officeDocument/2006/relationships/slideLayout" Target="/ppt/slideLayouts/slideLayout1.xml" Id="Reb5fb6ea0bf547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5fb6ea0bf547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e651e898a4843" /><Relationship Type="http://schemas.openxmlformats.org/officeDocument/2006/relationships/notesSlide" Target="/ppt/notesSlides/notesSlide1.xml" Id="R49ae134a6d5845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643f910214b89" /><Relationship Type="http://schemas.openxmlformats.org/officeDocument/2006/relationships/notesSlide" Target="/ppt/notesSlides/notesSlide2.xml" Id="R3d05d742f55245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970a5a7474b3a" /><Relationship Type="http://schemas.openxmlformats.org/officeDocument/2006/relationships/notesSlide" Target="/ppt/notesSlides/notesSlide3.xml" Id="R498823f730734a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d89210c1544e6" /><Relationship Type="http://schemas.openxmlformats.org/officeDocument/2006/relationships/image" Target="/ppt/media/image.png" Id="R5ef0f0e72d42453a" /><Relationship Type="http://schemas.openxmlformats.org/officeDocument/2006/relationships/notesSlide" Target="/ppt/notesSlides/notesSlide4.xml" Id="R80950661ca6143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177ba207e416d" /><Relationship Type="http://schemas.openxmlformats.org/officeDocument/2006/relationships/image" Target="/ppt/media/image2.png" Id="R383540dfe9a1495a" /><Relationship Type="http://schemas.openxmlformats.org/officeDocument/2006/relationships/notesSlide" Target="/ppt/notesSlides/notesSlide5.xml" Id="R668d34910aad4a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26e91383448bc" /><Relationship Type="http://schemas.openxmlformats.org/officeDocument/2006/relationships/image" Target="/ppt/media/image3.png" Id="Rfaf44da144f54fd6" /><Relationship Type="http://schemas.openxmlformats.org/officeDocument/2006/relationships/notesSlide" Target="/ppt/notesSlides/notesSlide6.xml" Id="R106fa750274947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c0a9d043f4d12" /><Relationship Type="http://schemas.openxmlformats.org/officeDocument/2006/relationships/image" Target="/ppt/media/image4.png" Id="R862e11e3b8e444e2" /><Relationship Type="http://schemas.openxmlformats.org/officeDocument/2006/relationships/notesSlide" Target="/ppt/notesSlides/notesSlide7.xml" Id="R29f150683f324e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3b7601c184660" /><Relationship Type="http://schemas.openxmlformats.org/officeDocument/2006/relationships/image" Target="/ppt/media/image5.png" Id="R2c884b752fc1480b" /><Relationship Type="http://schemas.openxmlformats.org/officeDocument/2006/relationships/notesSlide" Target="/ppt/notesSlides/notesSlide8.xml" Id="R6126198d4efe44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018b3dacf45c2" /><Relationship Type="http://schemas.openxmlformats.org/officeDocument/2006/relationships/image" Target="/ppt/media/image6.png" Id="Ra80e4abfa6ba47c3" /><Relationship Type="http://schemas.openxmlformats.org/officeDocument/2006/relationships/notesSlide" Target="/ppt/notesSlides/notesSlide9.xml" Id="R266fb3e484ba4a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db3d0ec0343cb" /><Relationship Type="http://schemas.openxmlformats.org/officeDocument/2006/relationships/notesSlide" Target="/ppt/notesSlides/notesSlide10.xml" Id="R4495801aa9934ea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45b66a06e4b25" /><Relationship Type="http://schemas.openxmlformats.org/officeDocument/2006/relationships/notesSlide" Target="/ppt/notesSlides/notesSlide11.xml" Id="R1b27094ef30444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f2f3330434769" /><Relationship Type="http://schemas.openxmlformats.org/officeDocument/2006/relationships/notesSlide" Target="/ppt/notesSlides/notesSlide12.xml" Id="Rda13b5e57be544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b3c310cda2433b" /><Relationship Type="http://schemas.openxmlformats.org/officeDocument/2006/relationships/notesSlide" Target="/ppt/notesSlides/notesSlide13.xml" Id="R7e7701d694d841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ck-title">
            <a:extLst xmlns:a="http://schemas.openxmlformats.org/drawingml/2006/main">
              <a:ext uri="{FF2B5EF4-FFF2-40B4-BE49-F238E27FC236}">
                <a16:creationId xmlns:a16="http://schemas.microsoft.com/office/drawing/2014/main" id="{EF579EE5-3975-4E31-91C7-5F126924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857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2026 年当前 ENSO/FEP 事件的实时气象诊断</a:t>
            </a:r>
          </a:p>
        </p:txBody>
      </p:sp>
      <p:sp>
        <p:nvSpPr>
          <p:cNvPr id="2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E42D6BEC-84A3-4771-9288-8342DB2D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从 2023/24 海气脱耦问题出发：海温先行，风压滞后恢复，降水/对流仍不稳定</a:t>
            </a:r>
          </a:p>
        </p:txBody>
      </p:sp>
      <p:sp>
        <p:nvSpPr>
          <p:cNvPr id="3" name="badge-当前数据版">
            <a:extLst xmlns:a="http://schemas.openxmlformats.org/drawingml/2006/main">
              <a:ext uri="{FF2B5EF4-FFF2-40B4-BE49-F238E27FC236}">
                <a16:creationId xmlns:a16="http://schemas.microsoft.com/office/drawing/2014/main" id="{44C457A5-59A5-466A-A5A8-1E972DA7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C7773"/>
          </a:solidFill>
          <a:ln xmlns:a="http://schemas.openxmlformats.org/drawingml/2006/main" w="0">
            <a:solidFill>
              <a:srgbClr val="2C777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80022-E3EB-4952-9BE1-25C594460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957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当前数据版</a:t>
            </a:r>
          </a:p>
        </p:txBody>
      </p:sp>
      <p:sp>
        <p:nvSpPr>
          <p:cNvPr id="5" name="badge-ERA5 + OISST + GPCP + OLR">
            <a:extLst xmlns:a="http://schemas.openxmlformats.org/drawingml/2006/main">
              <a:ext uri="{FF2B5EF4-FFF2-40B4-BE49-F238E27FC236}">
                <a16:creationId xmlns:a16="http://schemas.microsoft.com/office/drawing/2014/main" id="{9E1FDA95-D70B-4B58-8D8A-64F12713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29050"/>
            <a:ext cx="2762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85B45"/>
          </a:solidFill>
          <a:ln xmlns:a="http://schemas.openxmlformats.org/drawingml/2006/main" w="0">
            <a:solidFill>
              <a:srgbClr val="C85B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78AB16-1E72-4F16-BCFB-E639156F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957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ERA5 + OISST + GPCP + OLR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9A38C-250A-4987-9935-4285164A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2743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773"/>
          </a:solidFill>
          <a:ln xmlns:a="http://schemas.openxmlformats.org/drawingml/2006/main" w="0">
            <a:solidFill>
              <a:srgbClr val="2C7773"/>
            </a:solidFill>
            <a:prstDash val="solid"/>
          </a:ln>
        </p:spPr>
      </p:sp>
      <p:sp>
        <p:nvSpPr>
          <p:cNvPr id="8" name="purpose-title">
            <a:extLst xmlns:a="http://schemas.openxmlformats.org/drawingml/2006/main">
              <a:ext uri="{FF2B5EF4-FFF2-40B4-BE49-F238E27FC236}">
                <a16:creationId xmlns:a16="http://schemas.microsoft.com/office/drawing/2014/main" id="{FC43D60A-9649-40A8-8659-1CF413C6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2001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汇报目标</a:t>
            </a:r>
          </a:p>
        </p:txBody>
      </p:sp>
      <p:sp>
        <p:nvSpPr>
          <p:cNvPr id="9" name="purpose-body">
            <a:extLst xmlns:a="http://schemas.openxmlformats.org/drawingml/2006/main">
              <a:ext uri="{FF2B5EF4-FFF2-40B4-BE49-F238E27FC236}">
                <a16:creationId xmlns:a16="http://schemas.microsoft.com/office/drawing/2014/main" id="{3A4F3CC5-121E-4153-A390-1A2706F1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14500"/>
            <a:ext cx="1809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DF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DF8"/>
                </a:solidFill>
                <a:latin typeface="PingFang SC"/>
                <a:ea typeface="PingFang SC"/>
                <a:cs typeface="PingFang SC"/>
              </a:rPr>
              <a:t>把 2023/24 的“海洋强、大气弱”问题迁移到 2026 当前事件，用同一条数据链检查大气响应是否同步。</a:t>
            </a:r>
          </a:p>
        </p:txBody>
      </p:sp>
      <p:sp>
        <p:nvSpPr>
          <p:cNvPr id="10" name="date">
            <a:extLst xmlns:a="http://schemas.openxmlformats.org/drawingml/2006/main">
              <a:ext uri="{FF2B5EF4-FFF2-40B4-BE49-F238E27FC236}">
                <a16:creationId xmlns:a16="http://schemas.microsoft.com/office/drawing/2014/main" id="{235D4C76-AF7B-4002-A36A-0B515230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Yue Dai | 2026-06-22</a:t>
            </a:r>
          </a:p>
        </p:txBody>
      </p:sp>
    </p:spTree>
    <p:extLst>
      <p:ext uri="{BB962C8B-B14F-4D97-AF65-F5344CB8AC3E}">
        <p14:creationId xmlns:p14="http://schemas.microsoft.com/office/powerpoint/2010/main" val="19784082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B8663441-0070-465D-BE9A-09C74C35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从 2023/24 问题到 2026 实时检验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F0D00C89-CBCC-49CA-8448-D56A6265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AAAB8C60-45B8-4248-927B-9A6D0533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第 2 页 | 研究逻辑</a:t>
            </a:r>
          </a:p>
        </p:txBody>
      </p:sp>
      <p:sp>
        <p:nvSpPr>
          <p:cNvPr id="4" name="footer-tag-2">
            <a:extLst xmlns:a="http://schemas.openxmlformats.org/drawingml/2006/main">
              <a:ext uri="{FF2B5EF4-FFF2-40B4-BE49-F238E27FC236}">
                <a16:creationId xmlns:a16="http://schemas.microsoft.com/office/drawing/2014/main" id="{64A777D1-F144-4DFD-A597-374F4625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ENSO/FEP 2026 diagnostic</a:t>
            </a:r>
          </a:p>
        </p:txBody>
      </p:sp>
      <p:sp>
        <p:nvSpPr>
          <p:cNvPr id="5" name="left-callout">
            <a:extLst xmlns:a="http://schemas.openxmlformats.org/drawingml/2006/main">
              <a:ext uri="{FF2B5EF4-FFF2-40B4-BE49-F238E27FC236}">
                <a16:creationId xmlns:a16="http://schemas.microsoft.com/office/drawing/2014/main" id="{3984BD9D-9D05-4EBC-A1AE-0A8AD978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5048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5E4DE"/>
          </a:solidFill>
          <a:ln xmlns:a="http://schemas.openxmlformats.org/drawingml/2006/main" w="9525">
            <a:solidFill>
              <a:srgbClr val="C85B45"/>
            </a:solidFill>
            <a:prstDash val="solid"/>
          </a:ln>
        </p:spPr>
      </p:sp>
      <p:sp>
        <p:nvSpPr>
          <p:cNvPr id="6" name="left-callout-title">
            <a:extLst xmlns:a="http://schemas.openxmlformats.org/drawingml/2006/main">
              <a:ext uri="{FF2B5EF4-FFF2-40B4-BE49-F238E27FC236}">
                <a16:creationId xmlns:a16="http://schemas.microsoft.com/office/drawing/2014/main" id="{1B2E8CC0-7453-459A-98AD-C1236EEC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5B4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C85B45"/>
                </a:solidFill>
                <a:latin typeface="PingFang SC"/>
                <a:ea typeface="PingFang SC"/>
                <a:cs typeface="PingFang SC"/>
              </a:rPr>
              <a:t>原始问题</a:t>
            </a:r>
          </a:p>
        </p:txBody>
      </p:sp>
      <p:sp>
        <p:nvSpPr>
          <p:cNvPr id="7" name="left-callout-body">
            <a:extLst xmlns:a="http://schemas.openxmlformats.org/drawingml/2006/main">
              <a:ext uri="{FF2B5EF4-FFF2-40B4-BE49-F238E27FC236}">
                <a16:creationId xmlns:a16="http://schemas.microsoft.com/office/drawing/2014/main" id="{94D2CA96-13B5-4F6D-9E8B-568C52FA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47053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Peng et al. (2025) 强调 2023/24 强厄尔尼诺主要由海洋动力过程生成，但它同时暴露出一个更适合继续做的问题：为什么强海温异常没有引发同等强度的风场、气压、降水和遥相关响应？</a:t>
            </a:r>
          </a:p>
        </p:txBody>
      </p:sp>
      <p:sp>
        <p:nvSpPr>
          <p:cNvPr id="8" name="right-callout">
            <a:extLst xmlns:a="http://schemas.openxmlformats.org/drawingml/2006/main">
              <a:ext uri="{FF2B5EF4-FFF2-40B4-BE49-F238E27FC236}">
                <a16:creationId xmlns:a16="http://schemas.microsoft.com/office/drawing/2014/main" id="{B3585EDD-21F5-4015-A282-F97DB3B02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048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C7773"/>
            </a:solidFill>
            <a:prstDash val="solid"/>
          </a:ln>
        </p:spPr>
      </p:sp>
      <p:sp>
        <p:nvSpPr>
          <p:cNvPr id="9" name="right-callout-title">
            <a:extLst xmlns:a="http://schemas.openxmlformats.org/drawingml/2006/main">
              <a:ext uri="{FF2B5EF4-FFF2-40B4-BE49-F238E27FC236}">
                <a16:creationId xmlns:a16="http://schemas.microsoft.com/office/drawing/2014/main" id="{D0FDD006-AEBD-4501-963E-082D77AFC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77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C7773"/>
                </a:solidFill>
                <a:latin typeface="PingFang SC"/>
                <a:ea typeface="PingFang SC"/>
                <a:cs typeface="PingFang SC"/>
              </a:rPr>
              <a:t>2026 的作用</a:t>
            </a:r>
          </a:p>
        </p:txBody>
      </p:sp>
      <p:sp>
        <p:nvSpPr>
          <p:cNvPr id="10" name="right-callout-body">
            <a:extLst xmlns:a="http://schemas.openxmlformats.org/drawingml/2006/main">
              <a:ext uri="{FF2B5EF4-FFF2-40B4-BE49-F238E27FC236}">
                <a16:creationId xmlns:a16="http://schemas.microsoft.com/office/drawing/2014/main" id="{E52CABDF-C6A0-4723-A1B8-E8C5F2D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7053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2026 年初到春季提供了一个实时对照案例：东太平洋/FEP 海温率先增暖后，低层风、海平面气压、降水和对流是否同步跟上？目前 ERA5 结果显示：风压在春季开始恢复，但降水/对流仍最滞后。</a:t>
            </a:r>
          </a:p>
        </p:txBody>
      </p:sp>
    </p:spTree>
    <p:extLst>
      <p:ext uri="{BB962C8B-B14F-4D97-AF65-F5344CB8AC3E}">
        <p14:creationId xmlns:p14="http://schemas.microsoft.com/office/powerpoint/2010/main" val="11621428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EF3980D7-B14A-4B30-A323-6114DBB1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数据链和缩写说明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81AFF5A8-FEA6-4AC8-B9D2-242112AD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0BB1E604-8DD0-48EB-B3C8-185FB916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第 3 页 | 数据说明</a:t>
            </a:r>
          </a:p>
        </p:txBody>
      </p:sp>
      <p:sp>
        <p:nvSpPr>
          <p:cNvPr id="4" name="footer-tag-3">
            <a:extLst xmlns:a="http://schemas.openxmlformats.org/drawingml/2006/main">
              <a:ext uri="{FF2B5EF4-FFF2-40B4-BE49-F238E27FC236}">
                <a16:creationId xmlns:a16="http://schemas.microsoft.com/office/drawing/2014/main" id="{9DD6037C-B8C7-4FDE-8A5E-CD166A29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ENSO/FEP 2026 diagnostic</a:t>
            </a:r>
          </a:p>
        </p:txBody>
      </p:sp>
      <p:graphicFrame>
        <p:nvGraphicFramePr>
          <p:cNvPr id="13" name="glossary-table"/>
          <p:cNvGraphicFramePr/>
          <p:nvPr/>
        </p:nvGraphicFramePr>
        <p:xfrm>
          <a:off xmlns:a="http://schemas.openxmlformats.org/drawingml/2006/main" x="666750" y="13144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57300"/>
                <a:gridCol w="2857500"/>
                <a:gridCol w="6743700"/>
              </a:tblGrid>
              <a:tr h="50006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D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缩写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D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含义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D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本报告中的用途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ENSO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厄尔尼诺-南方涛动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热带太平洋海气耦合背景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FEP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远东太平洋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靠近南美沿岸的早期暖异常区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SST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海表温度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OISST 判断海温异常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u10 / u850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 米 / 850 hPa 纬向风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正值为偏西风，负值为偏东风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MSLP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平均海平面气压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构造 SOI-like Tahiti-Darwin 压差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OLR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向外长波辐射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负值代表深对流增强，正值代表对流偏弱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omega850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850 hPa 垂直速度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正值偏下沉，负值偏上升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</a:tbl>
          </a:graphicData>
        </a:graphic>
      </p:graphicFrame>
      <p:sp>
        <p:nvSpPr>
          <p:cNvPr id="6" name="anom-callout">
            <a:extLst xmlns:a="http://schemas.openxmlformats.org/drawingml/2006/main">
              <a:ext uri="{FF2B5EF4-FFF2-40B4-BE49-F238E27FC236}">
                <a16:creationId xmlns:a16="http://schemas.microsoft.com/office/drawing/2014/main" id="{EBB2AED8-33B7-44C8-80C6-7D990F57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744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9525">
            <a:solidFill>
              <a:srgbClr val="2B5F8A"/>
            </a:solidFill>
            <a:prstDash val="solid"/>
          </a:ln>
        </p:spPr>
      </p:sp>
      <p:sp>
        <p:nvSpPr>
          <p:cNvPr id="7" name="anom-callout-title">
            <a:extLst xmlns:a="http://schemas.openxmlformats.org/drawingml/2006/main">
              <a:ext uri="{FF2B5EF4-FFF2-40B4-BE49-F238E27FC236}">
                <a16:creationId xmlns:a16="http://schemas.microsoft.com/office/drawing/2014/main" id="{6840C6AF-075A-4C5C-AFCA-D217329D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1040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F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B5F8A"/>
                </a:solidFill>
                <a:latin typeface="PingFang SC"/>
                <a:ea typeface="PingFang SC"/>
                <a:cs typeface="PingFang SC"/>
              </a:rPr>
              <a:t>异常定义</a:t>
            </a:r>
          </a:p>
        </p:txBody>
      </p:sp>
      <p:sp>
        <p:nvSpPr>
          <p:cNvPr id="8" name="anom-callout-body">
            <a:extLst xmlns:a="http://schemas.openxmlformats.org/drawingml/2006/main">
              <a:ext uri="{FF2B5EF4-FFF2-40B4-BE49-F238E27FC236}">
                <a16:creationId xmlns:a16="http://schemas.microsoft.com/office/drawing/2014/main" id="{287B7B15-0C54-404A-B82C-4BA3C6F5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34075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2026 异常 = 2026 某月或某时段平均值 − 1982-2022 同月气候态。MAM 表示 3-5 月，Apr-May 表示 4-5 月。完整 AMJ 仍需等待 2026 年 6 月月平均数据。</a:t>
            </a:r>
          </a:p>
        </p:txBody>
      </p:sp>
    </p:spTree>
    <p:extLst>
      <p:ext uri="{BB962C8B-B14F-4D97-AF65-F5344CB8AC3E}">
        <p14:creationId xmlns:p14="http://schemas.microsoft.com/office/powerpoint/2010/main" val="3585014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2A35A55F-34AB-44D9-9401-67855F0A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海温端：FEP 和东太平洋在春季率先增暖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E34A435B-B12C-4C19-9227-E57F1A26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3635705C-1518-4CCA-83DF-163E39C0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第 4 页 | 图：OISST 指数和 FEP residual</a:t>
            </a:r>
          </a:p>
        </p:txBody>
      </p:sp>
      <p:sp>
        <p:nvSpPr>
          <p:cNvPr id="4" name="footer-tag-4">
            <a:extLst xmlns:a="http://schemas.openxmlformats.org/drawingml/2006/main">
              <a:ext uri="{FF2B5EF4-FFF2-40B4-BE49-F238E27FC236}">
                <a16:creationId xmlns:a16="http://schemas.microsoft.com/office/drawing/2014/main" id="{83FF834F-91FC-429E-B274-560CA4C3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ENSO/FEP 2026 diagnostic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0f0e72d42453a"/>
          <a:stretch xmlns:a="http://schemas.openxmlformats.org/drawingml/2006/main"/>
        </p:blipFill>
        <p:spPr>
          <a:xfrm xmlns:a="http://schemas.openxmlformats.org/drawingml/2006/main">
            <a:off x="590550" y="2186693"/>
            <a:ext cx="6858000" cy="2903714"/>
          </a:xfrm>
          <a:prstGeom xmlns:a="http://schemas.openxmlformats.org/drawingml/2006/main" prst="rect">
            <a:avLst/>
          </a:prstGeom>
        </p:spPr>
      </p:pic>
      <p:sp>
        <p:nvSpPr>
          <p:cNvPr id="6" name="note-4">
            <a:extLst xmlns:a="http://schemas.openxmlformats.org/drawingml/2006/main">
              <a:ext uri="{FF2B5EF4-FFF2-40B4-BE49-F238E27FC236}">
                <a16:creationId xmlns:a16="http://schemas.microsoft.com/office/drawing/2014/main" id="{606A64D9-9139-48EE-A751-94E7EA48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390900" cy="3619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5E4DE"/>
          </a:solidFill>
          <a:ln xmlns:a="http://schemas.openxmlformats.org/drawingml/2006/main" w="9525">
            <a:solidFill>
              <a:srgbClr val="C85B45"/>
            </a:solidFill>
            <a:prstDash val="solid"/>
          </a:ln>
        </p:spPr>
      </p:sp>
      <p:sp>
        <p:nvSpPr>
          <p:cNvPr id="7" name="note-4-title">
            <a:extLst xmlns:a="http://schemas.openxmlformats.org/drawingml/2006/main">
              <a:ext uri="{FF2B5EF4-FFF2-40B4-BE49-F238E27FC236}">
                <a16:creationId xmlns:a16="http://schemas.microsoft.com/office/drawing/2014/main" id="{61E95ED5-D203-4DAA-A6A9-A06F15C8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5B4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C85B45"/>
                </a:solidFill>
                <a:latin typeface="PingFang SC"/>
                <a:ea typeface="PingFang SC"/>
                <a:cs typeface="PingFang SC"/>
              </a:rPr>
              <a:t>这幅图表示什么</a:t>
            </a:r>
          </a:p>
        </p:txBody>
      </p:sp>
      <p:sp>
        <p:nvSpPr>
          <p:cNvPr id="8" name="note-4-body">
            <a:extLst xmlns:a="http://schemas.openxmlformats.org/drawingml/2006/main">
              <a:ext uri="{FF2B5EF4-FFF2-40B4-BE49-F238E27FC236}">
                <a16:creationId xmlns:a16="http://schemas.microsoft.com/office/drawing/2014/main" id="{9BD3D568-00D4-457C-8D39-785C641B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30480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数据名称：NOAA OISST v2.1 月平均海表温度异常。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读图重点：2026 年 2 月以后，FEP 与 Niño1+2 附近暖异常快速增强。FEP residual 为正，说明沿岸东太平洋暖异常相对热带太平洋整体更突出。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与研究主线的关系：先确认“海温端确实先动了”，再检查大气是否同步响应。</a:t>
            </a:r>
          </a:p>
        </p:txBody>
      </p:sp>
    </p:spTree>
    <p:extLst>
      <p:ext uri="{BB962C8B-B14F-4D97-AF65-F5344CB8AC3E}">
        <p14:creationId xmlns:p14="http://schemas.microsoft.com/office/powerpoint/2010/main" val="9379703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3B7CDCB2-54B6-4DBC-BC50-09E50782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海温与降水：暖异常清楚，但赤道降水没有整齐跟上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D860B734-86AA-474F-9E8A-6C5400AE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10A912A5-C50C-4FE4-AE7A-69D6D9D3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第 5 页 | 图：OISST SST + GPCP 降水</a:t>
            </a:r>
          </a:p>
        </p:txBody>
      </p:sp>
      <p:sp>
        <p:nvSpPr>
          <p:cNvPr id="4" name="footer-tag-5">
            <a:extLst xmlns:a="http://schemas.openxmlformats.org/drawingml/2006/main">
              <a:ext uri="{FF2B5EF4-FFF2-40B4-BE49-F238E27FC236}">
                <a16:creationId xmlns:a16="http://schemas.microsoft.com/office/drawing/2014/main" id="{41DE143C-6729-4431-B995-9D2DE37C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ENSO/FEP 2026 diagnostic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540dfe9a1495a"/>
          <a:stretch xmlns:a="http://schemas.openxmlformats.org/drawingml/2006/main"/>
        </p:blipFill>
        <p:spPr>
          <a:xfrm xmlns:a="http://schemas.openxmlformats.org/drawingml/2006/main">
            <a:off x="590550" y="1633174"/>
            <a:ext cx="6858000" cy="4010752"/>
          </a:xfrm>
          <a:prstGeom xmlns:a="http://schemas.openxmlformats.org/drawingml/2006/main" prst="rect">
            <a:avLst/>
          </a:prstGeom>
        </p:spPr>
      </p:pic>
      <p:sp>
        <p:nvSpPr>
          <p:cNvPr id="6" name="note-5">
            <a:extLst xmlns:a="http://schemas.openxmlformats.org/drawingml/2006/main">
              <a:ext uri="{FF2B5EF4-FFF2-40B4-BE49-F238E27FC236}">
                <a16:creationId xmlns:a16="http://schemas.microsoft.com/office/drawing/2014/main" id="{EAC5F899-0B76-4BDD-9F56-62321F32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390900" cy="3619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C7773"/>
            </a:solidFill>
            <a:prstDash val="solid"/>
          </a:ln>
        </p:spPr>
      </p:sp>
      <p:sp>
        <p:nvSpPr>
          <p:cNvPr id="7" name="note-5-title">
            <a:extLst xmlns:a="http://schemas.openxmlformats.org/drawingml/2006/main">
              <a:ext uri="{FF2B5EF4-FFF2-40B4-BE49-F238E27FC236}">
                <a16:creationId xmlns:a16="http://schemas.microsoft.com/office/drawing/2014/main" id="{E81DA540-42E4-4B3D-BE3F-236EDB87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77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C7773"/>
                </a:solidFill>
                <a:latin typeface="PingFang SC"/>
                <a:ea typeface="PingFang SC"/>
                <a:cs typeface="PingFang SC"/>
              </a:rPr>
              <a:t>这幅图表示什么</a:t>
            </a:r>
          </a:p>
        </p:txBody>
      </p:sp>
      <p:sp>
        <p:nvSpPr>
          <p:cNvPr id="8" name="note-5-body">
            <a:extLst xmlns:a="http://schemas.openxmlformats.org/drawingml/2006/main">
              <a:ext uri="{FF2B5EF4-FFF2-40B4-BE49-F238E27FC236}">
                <a16:creationId xmlns:a16="http://schemas.microsoft.com/office/drawing/2014/main" id="{294D7EB3-3331-4DE5-8FDB-F9C867A6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30480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数据名称：OISST 海表温度异常和 GPCP 月降水异常。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读图重点：MAM 与 Apr-May 的东太平洋/FEP 偏暖明显，但 GPCP 降水增强中心偏向西太平洋和赤道以北；赤道中东太平洋没有形成连续强正降水带。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创新点：把 2023/24 的“海温-降水不同步”问题迁移到 2026 实时个例。</a:t>
            </a:r>
          </a:p>
        </p:txBody>
      </p:sp>
    </p:spTree>
    <p:extLst>
      <p:ext uri="{BB962C8B-B14F-4D97-AF65-F5344CB8AC3E}">
        <p14:creationId xmlns:p14="http://schemas.microsoft.com/office/powerpoint/2010/main" val="19592677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1181667F-25D1-45BC-BC1B-7F20E3A7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对流独立检验：OLR 支持降水中心空间错位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0094661E-F0EE-4E02-BF90-C816DD53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1827DA7A-CBE1-42B6-8DC2-65C3D71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第 6 页 | 图：CPC Blended OLR anomaly</a:t>
            </a:r>
          </a:p>
        </p:txBody>
      </p:sp>
      <p:sp>
        <p:nvSpPr>
          <p:cNvPr id="4" name="footer-tag-6">
            <a:extLst xmlns:a="http://schemas.openxmlformats.org/drawingml/2006/main">
              <a:ext uri="{FF2B5EF4-FFF2-40B4-BE49-F238E27FC236}">
                <a16:creationId xmlns:a16="http://schemas.microsoft.com/office/drawing/2014/main" id="{5451C3C7-5E40-4FD8-A1FF-4CAABE40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ENSO/FEP 2026 diagnostic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44da144f54fd6"/>
          <a:stretch xmlns:a="http://schemas.openxmlformats.org/drawingml/2006/main"/>
        </p:blipFill>
        <p:spPr>
          <a:xfrm xmlns:a="http://schemas.openxmlformats.org/drawingml/2006/main">
            <a:off x="590550" y="2439966"/>
            <a:ext cx="6858000" cy="2397168"/>
          </a:xfrm>
          <a:prstGeom xmlns:a="http://schemas.openxmlformats.org/drawingml/2006/main" prst="rect">
            <a:avLst/>
          </a:prstGeom>
        </p:spPr>
      </p:pic>
      <p:sp>
        <p:nvSpPr>
          <p:cNvPr id="6" name="note-6">
            <a:extLst xmlns:a="http://schemas.openxmlformats.org/drawingml/2006/main">
              <a:ext uri="{FF2B5EF4-FFF2-40B4-BE49-F238E27FC236}">
                <a16:creationId xmlns:a16="http://schemas.microsoft.com/office/drawing/2014/main" id="{38FE58A9-7202-4207-8766-70FF65E3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390900" cy="3619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9525">
            <a:solidFill>
              <a:srgbClr val="2B5F8A"/>
            </a:solidFill>
            <a:prstDash val="solid"/>
          </a:ln>
        </p:spPr>
      </p:sp>
      <p:sp>
        <p:nvSpPr>
          <p:cNvPr id="7" name="note-6-title">
            <a:extLst xmlns:a="http://schemas.openxmlformats.org/drawingml/2006/main">
              <a:ext uri="{FF2B5EF4-FFF2-40B4-BE49-F238E27FC236}">
                <a16:creationId xmlns:a16="http://schemas.microsoft.com/office/drawing/2014/main" id="{FBF61F52-2F86-4242-B976-10FB3BD3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5F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B5F8A"/>
                </a:solidFill>
                <a:latin typeface="PingFang SC"/>
                <a:ea typeface="PingFang SC"/>
                <a:cs typeface="PingFang SC"/>
              </a:rPr>
              <a:t>这幅图表示什么</a:t>
            </a:r>
          </a:p>
        </p:txBody>
      </p:sp>
      <p:sp>
        <p:nvSpPr>
          <p:cNvPr id="8" name="note-6-body">
            <a:extLst xmlns:a="http://schemas.openxmlformats.org/drawingml/2006/main">
              <a:ext uri="{FF2B5EF4-FFF2-40B4-BE49-F238E27FC236}">
                <a16:creationId xmlns:a16="http://schemas.microsoft.com/office/drawing/2014/main" id="{AD88AD0F-EC43-45F1-B476-71BCA72E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30480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数据名称：CPC Blended OLR 日异常时段平均。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读图重点：OLR 负异常代表深对流增强，正异常代表对流偏弱。2026 春季对流增强更偏西太平洋/中太平洋北侧，赤道中东太平洋没有典型强厄尔尼诺式的大范围增强对流。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作用：避免只依赖 GPCP，给“降水/对流仍滞后或错位”增加独立约束。</a:t>
            </a:r>
          </a:p>
        </p:txBody>
      </p:sp>
    </p:spTree>
    <p:extLst>
      <p:ext uri="{BB962C8B-B14F-4D97-AF65-F5344CB8AC3E}">
        <p14:creationId xmlns:p14="http://schemas.microsoft.com/office/powerpoint/2010/main" val="17889393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05987AC9-2174-455D-B55A-7914868C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ERA5 风压新证据：春季风场和气压开始恢复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7EB9EA5D-00BB-466F-B85F-A918FDFD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990B7C5D-BD00-4010-AB97-36FF255D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第 7 页 | 图：ERA5 10 m 风和 MSLP</a:t>
            </a:r>
          </a:p>
        </p:txBody>
      </p:sp>
      <p:sp>
        <p:nvSpPr>
          <p:cNvPr id="4" name="footer-tag-7">
            <a:extLst xmlns:a="http://schemas.openxmlformats.org/drawingml/2006/main">
              <a:ext uri="{FF2B5EF4-FFF2-40B4-BE49-F238E27FC236}">
                <a16:creationId xmlns:a16="http://schemas.microsoft.com/office/drawing/2014/main" id="{9AF1551D-E7B1-4A42-B228-C4A1A250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ENSO/FEP 2026 diagnostic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e11e3b8e444e2"/>
          <a:stretch xmlns:a="http://schemas.openxmlformats.org/drawingml/2006/main"/>
        </p:blipFill>
        <p:spPr>
          <a:xfrm xmlns:a="http://schemas.openxmlformats.org/drawingml/2006/main">
            <a:off x="590550" y="1592390"/>
            <a:ext cx="6858000" cy="4092321"/>
          </a:xfrm>
          <a:prstGeom xmlns:a="http://schemas.openxmlformats.org/drawingml/2006/main" prst="rect">
            <a:avLst/>
          </a:prstGeom>
        </p:spPr>
      </p:pic>
      <p:sp>
        <p:nvSpPr>
          <p:cNvPr id="6" name="note-7">
            <a:extLst xmlns:a="http://schemas.openxmlformats.org/drawingml/2006/main">
              <a:ext uri="{FF2B5EF4-FFF2-40B4-BE49-F238E27FC236}">
                <a16:creationId xmlns:a16="http://schemas.microsoft.com/office/drawing/2014/main" id="{9FA8E6B3-457F-43EC-B34D-3D808CE0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390900" cy="3619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5E4DE"/>
          </a:solidFill>
          <a:ln xmlns:a="http://schemas.openxmlformats.org/drawingml/2006/main" w="9525">
            <a:solidFill>
              <a:srgbClr val="C85B45"/>
            </a:solidFill>
            <a:prstDash val="solid"/>
          </a:ln>
        </p:spPr>
      </p:sp>
      <p:sp>
        <p:nvSpPr>
          <p:cNvPr id="7" name="note-7-title">
            <a:extLst xmlns:a="http://schemas.openxmlformats.org/drawingml/2006/main">
              <a:ext uri="{FF2B5EF4-FFF2-40B4-BE49-F238E27FC236}">
                <a16:creationId xmlns:a16="http://schemas.microsoft.com/office/drawing/2014/main" id="{AA62C760-49F3-4169-96D2-75EEC63A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5B4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C85B45"/>
                </a:solidFill>
                <a:latin typeface="PingFang SC"/>
                <a:ea typeface="PingFang SC"/>
                <a:cs typeface="PingFang SC"/>
              </a:rPr>
              <a:t>这幅图表示什么</a:t>
            </a:r>
          </a:p>
        </p:txBody>
      </p:sp>
      <p:sp>
        <p:nvSpPr>
          <p:cNvPr id="8" name="note-7-body">
            <a:extLst xmlns:a="http://schemas.openxmlformats.org/drawingml/2006/main">
              <a:ext uri="{FF2B5EF4-FFF2-40B4-BE49-F238E27FC236}">
                <a16:creationId xmlns:a16="http://schemas.microsoft.com/office/drawing/2014/main" id="{B90FB029-6547-4C38-B3DF-61BD15C48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30480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数据名称：ERA5 10 m 风异常和平均海平面气压异常。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读图重点：MAM 和 Apr-May 赤道中西太平洋出现偏西风异常，热带中东太平洋气压偏低，Tahiti-Darwin 压差开始转为更厄尔尼诺型。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相较旧判断：NCEP 只到 2 月时只能说明年初不同步；ERA5 1-5 月显示春季风压并非持续无响应，而是滞后恢复。</a:t>
            </a:r>
          </a:p>
        </p:txBody>
      </p:sp>
    </p:spTree>
    <p:extLst>
      <p:ext uri="{BB962C8B-B14F-4D97-AF65-F5344CB8AC3E}">
        <p14:creationId xmlns:p14="http://schemas.microsoft.com/office/powerpoint/2010/main" val="1745292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F9F58CA5-CED2-48C1-9158-8B61DE32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ERA5 低层风、降水与垂直运动：响应恢复并不同步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C390965F-D4A0-4372-ACCC-8A89976C0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8">
            <a:extLst xmlns:a="http://schemas.openxmlformats.org/drawingml/2006/main">
              <a:ext uri="{FF2B5EF4-FFF2-40B4-BE49-F238E27FC236}">
                <a16:creationId xmlns:a16="http://schemas.microsoft.com/office/drawing/2014/main" id="{E4A54DC3-362C-409D-BBEA-1426FFB8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第 8 页 | 图：ERA5 降水、u850、omega850</a:t>
            </a:r>
          </a:p>
        </p:txBody>
      </p:sp>
      <p:sp>
        <p:nvSpPr>
          <p:cNvPr id="4" name="footer-tag-8">
            <a:extLst xmlns:a="http://schemas.openxmlformats.org/drawingml/2006/main">
              <a:ext uri="{FF2B5EF4-FFF2-40B4-BE49-F238E27FC236}">
                <a16:creationId xmlns:a16="http://schemas.microsoft.com/office/drawing/2014/main" id="{9DFC042E-EB79-4102-846F-D3DD4C91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ENSO/FEP 2026 diagnostic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84b752fc1480b"/>
          <a:stretch xmlns:a="http://schemas.openxmlformats.org/drawingml/2006/main"/>
        </p:blipFill>
        <p:spPr>
          <a:xfrm xmlns:a="http://schemas.openxmlformats.org/drawingml/2006/main">
            <a:off x="590550" y="1592390"/>
            <a:ext cx="6858000" cy="4092321"/>
          </a:xfrm>
          <a:prstGeom xmlns:a="http://schemas.openxmlformats.org/drawingml/2006/main" prst="rect">
            <a:avLst/>
          </a:prstGeom>
        </p:spPr>
      </p:pic>
      <p:sp>
        <p:nvSpPr>
          <p:cNvPr id="6" name="note-8">
            <a:extLst xmlns:a="http://schemas.openxmlformats.org/drawingml/2006/main">
              <a:ext uri="{FF2B5EF4-FFF2-40B4-BE49-F238E27FC236}">
                <a16:creationId xmlns:a16="http://schemas.microsoft.com/office/drawing/2014/main" id="{B4DA1976-EF0E-498D-BFB5-9DA60586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390900" cy="3619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C7773"/>
            </a:solidFill>
            <a:prstDash val="solid"/>
          </a:ln>
        </p:spPr>
      </p:sp>
      <p:sp>
        <p:nvSpPr>
          <p:cNvPr id="7" name="note-8-title">
            <a:extLst xmlns:a="http://schemas.openxmlformats.org/drawingml/2006/main">
              <a:ext uri="{FF2B5EF4-FFF2-40B4-BE49-F238E27FC236}">
                <a16:creationId xmlns:a16="http://schemas.microsoft.com/office/drawing/2014/main" id="{829363B2-46C8-48AA-BCA1-7B32469B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77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C7773"/>
                </a:solidFill>
                <a:latin typeface="PingFang SC"/>
                <a:ea typeface="PingFang SC"/>
                <a:cs typeface="PingFang SC"/>
              </a:rPr>
              <a:t>这幅图表示什么</a:t>
            </a:r>
          </a:p>
        </p:txBody>
      </p:sp>
      <p:sp>
        <p:nvSpPr>
          <p:cNvPr id="8" name="note-8-body">
            <a:extLst xmlns:a="http://schemas.openxmlformats.org/drawingml/2006/main">
              <a:ext uri="{FF2B5EF4-FFF2-40B4-BE49-F238E27FC236}">
                <a16:creationId xmlns:a16="http://schemas.microsoft.com/office/drawing/2014/main" id="{0CCCA1F8-68F9-48D7-86FD-90042E0E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30480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数据名称：ERA5 总降水、850 hPa 纬向风、850 hPa 垂直速度。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读图重点：u850 在 MAM/Apr-May 已转为偏西风，说明低层风分支开始跟上；但降水增强中心仍偏西/偏北，中太平洋降水和 omega850 没有表现为稳定强上升响应。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关键结论：风压分支恢复早于降水/对流分支。</a:t>
            </a:r>
          </a:p>
        </p:txBody>
      </p:sp>
    </p:spTree>
    <p:extLst>
      <p:ext uri="{BB962C8B-B14F-4D97-AF65-F5344CB8AC3E}">
        <p14:creationId xmlns:p14="http://schemas.microsoft.com/office/powerpoint/2010/main" val="15520782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CFC610AF-3F05-49C6-8D67-9C921700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经度-时间图：年初偏东风，春季风压恢复，降水滞后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32967DCE-672D-4F25-8023-66EC216C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9">
            <a:extLst xmlns:a="http://schemas.openxmlformats.org/drawingml/2006/main">
              <a:ext uri="{FF2B5EF4-FFF2-40B4-BE49-F238E27FC236}">
                <a16:creationId xmlns:a16="http://schemas.microsoft.com/office/drawing/2014/main" id="{2EDCD6CF-EA38-4C7A-BDF3-0D2B01C0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第 9 页 | 图：ERA5 赤道 Hovmoller</a:t>
            </a:r>
          </a:p>
        </p:txBody>
      </p:sp>
      <p:sp>
        <p:nvSpPr>
          <p:cNvPr id="4" name="footer-tag-9">
            <a:extLst xmlns:a="http://schemas.openxmlformats.org/drawingml/2006/main">
              <a:ext uri="{FF2B5EF4-FFF2-40B4-BE49-F238E27FC236}">
                <a16:creationId xmlns:a16="http://schemas.microsoft.com/office/drawing/2014/main" id="{76F4E7CC-0008-46D6-B813-8CD5C0FB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ENSO/FEP 2026 diagnostic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e4abfa6ba47c3"/>
          <a:stretch xmlns:a="http://schemas.openxmlformats.org/drawingml/2006/main"/>
        </p:blipFill>
        <p:spPr>
          <a:xfrm xmlns:a="http://schemas.openxmlformats.org/drawingml/2006/main">
            <a:off x="590550" y="1292592"/>
            <a:ext cx="6858000" cy="4691915"/>
          </a:xfrm>
          <a:prstGeom xmlns:a="http://schemas.openxmlformats.org/drawingml/2006/main" prst="rect">
            <a:avLst/>
          </a:prstGeom>
        </p:spPr>
      </p:pic>
      <p:sp>
        <p:nvSpPr>
          <p:cNvPr id="6" name="note-9">
            <a:extLst xmlns:a="http://schemas.openxmlformats.org/drawingml/2006/main">
              <a:ext uri="{FF2B5EF4-FFF2-40B4-BE49-F238E27FC236}">
                <a16:creationId xmlns:a16="http://schemas.microsoft.com/office/drawing/2014/main" id="{6B235676-3D6C-4CAB-9F5B-6A832235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28750"/>
            <a:ext cx="3390900" cy="36195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9525">
            <a:solidFill>
              <a:srgbClr val="2B5F8A"/>
            </a:solidFill>
            <a:prstDash val="solid"/>
          </a:ln>
        </p:spPr>
      </p:sp>
      <p:sp>
        <p:nvSpPr>
          <p:cNvPr id="7" name="note-9-title">
            <a:extLst xmlns:a="http://schemas.openxmlformats.org/drawingml/2006/main">
              <a:ext uri="{FF2B5EF4-FFF2-40B4-BE49-F238E27FC236}">
                <a16:creationId xmlns:a16="http://schemas.microsoft.com/office/drawing/2014/main" id="{6C0F444B-DBBF-40F0-82FD-7426670B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811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5F8A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B5F8A"/>
                </a:solidFill>
                <a:latin typeface="PingFang SC"/>
                <a:ea typeface="PingFang SC"/>
                <a:cs typeface="PingFang SC"/>
              </a:rPr>
              <a:t>这幅图表示什么</a:t>
            </a:r>
          </a:p>
        </p:txBody>
      </p:sp>
      <p:sp>
        <p:nvSpPr>
          <p:cNvPr id="8" name="note-9-body">
            <a:extLst xmlns:a="http://schemas.openxmlformats.org/drawingml/2006/main">
              <a:ext uri="{FF2B5EF4-FFF2-40B4-BE49-F238E27FC236}">
                <a16:creationId xmlns:a16="http://schemas.microsoft.com/office/drawing/2014/main" id="{851F98A6-1125-4FAC-ACD3-A04019B9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43100"/>
            <a:ext cx="30480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数据名称：ERA5 赤道平均 u10、u850、降水和 omega850 异常。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读图重点：1-2 月中太平洋风场为明显偏东风；3-5 月中西太平洋风场逐渐转偏西。降水在 1-4 月仍大范围偏弱，5 月才出现更多局地恢复。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这张图最直接支持“阶段性恢复”而不是“全程脱耦”。</a:t>
            </a:r>
          </a:p>
        </p:txBody>
      </p:sp>
    </p:spTree>
    <p:extLst>
      <p:ext uri="{BB962C8B-B14F-4D97-AF65-F5344CB8AC3E}">
        <p14:creationId xmlns:p14="http://schemas.microsoft.com/office/powerpoint/2010/main" val="20933287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8C450DED-930B-4638-A5E1-F200B9A3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关键数值：2026 当前事件呈现阶段性耦合恢复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787073E6-E081-4A10-AE2A-75E85D74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10">
            <a:extLst xmlns:a="http://schemas.openxmlformats.org/drawingml/2006/main">
              <a:ext uri="{FF2B5EF4-FFF2-40B4-BE49-F238E27FC236}">
                <a16:creationId xmlns:a16="http://schemas.microsoft.com/office/drawing/2014/main" id="{B3EB0ABD-E91F-4795-A8E3-AF9AAA0C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第 10 页 | 表：ERA5 区域统计</a:t>
            </a:r>
          </a:p>
        </p:txBody>
      </p:sp>
      <p:sp>
        <p:nvSpPr>
          <p:cNvPr id="4" name="footer-tag-10">
            <a:extLst xmlns:a="http://schemas.openxmlformats.org/drawingml/2006/main">
              <a:ext uri="{FF2B5EF4-FFF2-40B4-BE49-F238E27FC236}">
                <a16:creationId xmlns:a16="http://schemas.microsoft.com/office/drawing/2014/main" id="{37A692DD-AEB3-4D6A-8DFC-183041DE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ENSO/FEP 2026 diagnostic</a:t>
            </a:r>
          </a:p>
        </p:txBody>
      </p:sp>
      <p:graphicFrame>
        <p:nvGraphicFramePr>
          <p:cNvPr id="13" name="key-numbers-table"/>
          <p:cNvGraphicFramePr/>
          <p:nvPr/>
        </p:nvGraphicFramePr>
        <p:xfrm>
          <a:off xmlns:a="http://schemas.openxmlformats.org/drawingml/2006/main" x="590550" y="1314450"/>
          <a:ext xmlns:a="http://schemas.openxmlformats.org/drawingml/2006/main" cx="11010900" cy="4171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28700"/>
                <a:gridCol w="2381250"/>
                <a:gridCol w="1428750"/>
                <a:gridCol w="6172200"/>
              </a:tblGrid>
              <a:tr h="463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D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时段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D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指标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D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异常值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D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含义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Jan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中太平洋 u10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-1.15 m/s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年初仍是偏东风，不是典型厄尔尼诺偏西风响应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Feb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中太平洋 u850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-2.95 m/s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850 hPa 偏东风很强，低层大气尚未跟上海温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Feb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SOI-like MSLP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+2.63 hPa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气压梯度偏 La Niña-like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MAM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CWP u850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+0.98 m/s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春季中西太平洋低层风开始偏西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MAM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中太平洋降水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-0.87 mm/day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降水仍弱于气候态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Apr-May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CWP u850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+1.47 m/s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风场恢复更明显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Apr-May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SOI-like MSLP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-1.16 hPa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气压分支也转向厄尔尼诺型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Apr-May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中太平洋降水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-0.26 mm/day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降水接近恢复，但仍不是强正异常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6" name="takeaway-table">
            <a:extLst xmlns:a="http://schemas.openxmlformats.org/drawingml/2006/main">
              <a:ext uri="{FF2B5EF4-FFF2-40B4-BE49-F238E27FC236}">
                <a16:creationId xmlns:a16="http://schemas.microsoft.com/office/drawing/2014/main" id="{DDFECC3D-E80A-4244-9F37-B34DCD73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66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C7773"/>
            </a:solidFill>
            <a:prstDash val="solid"/>
          </a:ln>
        </p:spPr>
      </p:sp>
      <p:sp>
        <p:nvSpPr>
          <p:cNvPr id="7" name="takeaway-table-title">
            <a:extLst xmlns:a="http://schemas.openxmlformats.org/drawingml/2006/main">
              <a:ext uri="{FF2B5EF4-FFF2-40B4-BE49-F238E27FC236}">
                <a16:creationId xmlns:a16="http://schemas.microsoft.com/office/drawing/2014/main" id="{A500DB03-87BE-4B3D-98AE-54CE702F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032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C77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C7773"/>
                </a:solidFill>
                <a:latin typeface="PingFang SC"/>
                <a:ea typeface="PingFang SC"/>
                <a:cs typeface="PingFang SC"/>
              </a:rPr>
              <a:t>一句话判断</a:t>
            </a:r>
          </a:p>
        </p:txBody>
      </p:sp>
      <p:sp>
        <p:nvSpPr>
          <p:cNvPr id="8" name="takeaway-table-body">
            <a:extLst xmlns:a="http://schemas.openxmlformats.org/drawingml/2006/main">
              <a:ext uri="{FF2B5EF4-FFF2-40B4-BE49-F238E27FC236}">
                <a16:creationId xmlns:a16="http://schemas.microsoft.com/office/drawing/2014/main" id="{03A6F49A-5A14-4F69-B6E0-9B0EC60D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76950"/>
            <a:ext cx="1032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判断：海温/FEP 先行；1-2 月风压和降水不同步；3-5 月风压恢复；降水/对流仍最滞后。</a:t>
            </a:r>
          </a:p>
        </p:txBody>
      </p:sp>
    </p:spTree>
    <p:extLst>
      <p:ext uri="{BB962C8B-B14F-4D97-AF65-F5344CB8AC3E}">
        <p14:creationId xmlns:p14="http://schemas.microsoft.com/office/powerpoint/2010/main" val="14603069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B9C9D567-6D7A-4E79-882A-9652438A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相较前一版，ERA5 改变了我们能说的话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C6CC9F27-3F5D-4888-8DFA-8CEBB118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11">
            <a:extLst xmlns:a="http://schemas.openxmlformats.org/drawingml/2006/main">
              <a:ext uri="{FF2B5EF4-FFF2-40B4-BE49-F238E27FC236}">
                <a16:creationId xmlns:a16="http://schemas.microsoft.com/office/drawing/2014/main" id="{EBE633CE-1147-4745-ADCC-2369798B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第 11 页 | 阶段判断</a:t>
            </a:r>
          </a:p>
        </p:txBody>
      </p:sp>
      <p:sp>
        <p:nvSpPr>
          <p:cNvPr id="4" name="footer-tag-11">
            <a:extLst xmlns:a="http://schemas.openxmlformats.org/drawingml/2006/main">
              <a:ext uri="{FF2B5EF4-FFF2-40B4-BE49-F238E27FC236}">
                <a16:creationId xmlns:a16="http://schemas.microsoft.com/office/drawing/2014/main" id="{BA334C1A-0A42-48A5-B3D0-1A61D851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ENSO/FEP 2026 diagnostic</a:t>
            </a:r>
          </a:p>
        </p:txBody>
      </p:sp>
      <p:sp>
        <p:nvSpPr>
          <p:cNvPr id="5" name="left-callout">
            <a:extLst xmlns:a="http://schemas.openxmlformats.org/drawingml/2006/main">
              <a:ext uri="{FF2B5EF4-FFF2-40B4-BE49-F238E27FC236}">
                <a16:creationId xmlns:a16="http://schemas.microsoft.com/office/drawing/2014/main" id="{648BEF27-8551-4083-86D5-62539405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28750"/>
            <a:ext cx="5048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5E4DE"/>
          </a:solidFill>
          <a:ln xmlns:a="http://schemas.openxmlformats.org/drawingml/2006/main" w="9525">
            <a:solidFill>
              <a:srgbClr val="C85B45"/>
            </a:solidFill>
            <a:prstDash val="solid"/>
          </a:ln>
        </p:spPr>
      </p:sp>
      <p:sp>
        <p:nvSpPr>
          <p:cNvPr id="6" name="left-callout-title">
            <a:extLst xmlns:a="http://schemas.openxmlformats.org/drawingml/2006/main">
              <a:ext uri="{FF2B5EF4-FFF2-40B4-BE49-F238E27FC236}">
                <a16:creationId xmlns:a16="http://schemas.microsoft.com/office/drawing/2014/main" id="{3FF506B6-7A7A-4D14-8CBA-33B5B725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8115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85B45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C85B45"/>
                </a:solidFill>
                <a:latin typeface="PingFang SC"/>
                <a:ea typeface="PingFang SC"/>
                <a:cs typeface="PingFang SC"/>
              </a:rPr>
              <a:t>前一版能说什么</a:t>
            </a:r>
          </a:p>
        </p:txBody>
      </p:sp>
      <p:sp>
        <p:nvSpPr>
          <p:cNvPr id="7" name="left-callout-body">
            <a:extLst xmlns:a="http://schemas.openxmlformats.org/drawingml/2006/main">
              <a:ext uri="{FF2B5EF4-FFF2-40B4-BE49-F238E27FC236}">
                <a16:creationId xmlns:a16="http://schemas.microsoft.com/office/drawing/2014/main" id="{19FFDD01-E60E-46F4-85F4-D4944D19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47053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基于 OISST、GPCP、OLR 和 NCEP 1-2 月资料，前一版主要能说明：2026 年初海温已经转暖，但低层风、气压和降水还没有同步响应。由于 NCEP 风压资料只到 2 月，不能判断春季以后是否继续弱响应。</a:t>
            </a:r>
          </a:p>
        </p:txBody>
      </p:sp>
      <p:sp>
        <p:nvSpPr>
          <p:cNvPr id="8" name="right-callout">
            <a:extLst xmlns:a="http://schemas.openxmlformats.org/drawingml/2006/main">
              <a:ext uri="{FF2B5EF4-FFF2-40B4-BE49-F238E27FC236}">
                <a16:creationId xmlns:a16="http://schemas.microsoft.com/office/drawing/2014/main" id="{CE29670B-50F3-46F7-921A-290E8940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048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7F1EF"/>
          </a:solidFill>
          <a:ln xmlns:a="http://schemas.openxmlformats.org/drawingml/2006/main" w="9525">
            <a:solidFill>
              <a:srgbClr val="2C7773"/>
            </a:solidFill>
            <a:prstDash val="solid"/>
          </a:ln>
        </p:spPr>
      </p:sp>
      <p:sp>
        <p:nvSpPr>
          <p:cNvPr id="9" name="right-callout-title">
            <a:extLst xmlns:a="http://schemas.openxmlformats.org/drawingml/2006/main">
              <a:ext uri="{FF2B5EF4-FFF2-40B4-BE49-F238E27FC236}">
                <a16:creationId xmlns:a16="http://schemas.microsoft.com/office/drawing/2014/main" id="{628620EB-5CE7-46A2-9EFC-4D341350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81150"/>
            <a:ext cx="470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777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C7773"/>
                </a:solidFill>
                <a:latin typeface="PingFang SC"/>
                <a:ea typeface="PingFang SC"/>
                <a:cs typeface="PingFang SC"/>
              </a:rPr>
              <a:t>现在能说什么</a:t>
            </a:r>
          </a:p>
        </p:txBody>
      </p:sp>
      <p:sp>
        <p:nvSpPr>
          <p:cNvPr id="10" name="right-callout-body">
            <a:extLst xmlns:a="http://schemas.openxmlformats.org/drawingml/2006/main">
              <a:ext uri="{FF2B5EF4-FFF2-40B4-BE49-F238E27FC236}">
                <a16:creationId xmlns:a16="http://schemas.microsoft.com/office/drawing/2014/main" id="{F37C85C8-2713-44F1-9664-4C8A7D5D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70535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ERA5 1-5 月补齐后，结论更精细：年初不同步是真实存在的；但 3-5 月风场和气压开始恢复到更厄尔尼诺型。仍然最值得追踪的是降水、OLR 和垂直运动，它们表现出滞后、偏北或空间破碎。</a:t>
            </a:r>
          </a:p>
        </p:txBody>
      </p:sp>
    </p:spTree>
    <p:extLst>
      <p:ext uri="{BB962C8B-B14F-4D97-AF65-F5344CB8AC3E}">
        <p14:creationId xmlns:p14="http://schemas.microsoft.com/office/powerpoint/2010/main" val="18502734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8E111EE0-6BEE-4AAC-8FB0-5AA3E1D3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下一步：把 2026 做成与 2023/24 同口径的对照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9BE112B7-8D91-4A32-B08F-2F689EC4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12">
            <a:extLst xmlns:a="http://schemas.openxmlformats.org/drawingml/2006/main">
              <a:ext uri="{FF2B5EF4-FFF2-40B4-BE49-F238E27FC236}">
                <a16:creationId xmlns:a16="http://schemas.microsoft.com/office/drawing/2014/main" id="{4DA24C00-21AA-4D54-961E-EE640778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第 12 页 | 下一步计划</a:t>
            </a:r>
          </a:p>
        </p:txBody>
      </p:sp>
      <p:sp>
        <p:nvSpPr>
          <p:cNvPr id="4" name="footer-tag-12">
            <a:extLst xmlns:a="http://schemas.openxmlformats.org/drawingml/2006/main">
              <a:ext uri="{FF2B5EF4-FFF2-40B4-BE49-F238E27FC236}">
                <a16:creationId xmlns:a16="http://schemas.microsoft.com/office/drawing/2014/main" id="{5A0E78F4-9558-46BE-B43B-2F0D9B8A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ENSO/FEP 2026 diagnostic</a:t>
            </a:r>
          </a:p>
        </p:txBody>
      </p:sp>
      <p:sp>
        <p:nvSpPr>
          <p:cNvPr id="5" name="next-step-bullets">
            <a:extLst xmlns:a="http://schemas.openxmlformats.org/drawingml/2006/main">
              <a:ext uri="{FF2B5EF4-FFF2-40B4-BE49-F238E27FC236}">
                <a16:creationId xmlns:a16="http://schemas.microsoft.com/office/drawing/2014/main" id="{2ED267F8-A6FC-42D9-97E8-020B17B2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10287000" cy="2838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• 等待 2026 年 6 月 ERA5 月平均，正式生成 AMJ 2026，而不是只用 MAM 或 Apr-May 近似。</a:t>
            </a:r>
          </a:p>
          <a:p xmlns:a="http://schemas.openxmlformats.org/drawingml/2006/main">
            <a:pPr algn="l">
              <a:defRPr sz="17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• 把 ERA5 风压结果接入前面 2023/24 的 response-ratio / observed-vs-expected 框架，用同一公式比较 2023 与 2026。</a:t>
            </a:r>
          </a:p>
          <a:p xmlns:a="http://schemas.openxmlformats.org/drawingml/2006/main">
            <a:pPr algn="l">
              <a:defRPr sz="17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• 用同一套 ERA5 变量回算 2023/24 AMJ/JJA，避免不同资料集造成的结论差异。</a:t>
            </a:r>
          </a:p>
          <a:p xmlns:a="http://schemas.openxmlformats.org/drawingml/2006/main">
            <a:pPr algn="l">
              <a:defRPr sz="17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• 加入 200 hPa divergence 或 velocity potential，补 Walker circulation 上层分支。</a:t>
            </a:r>
          </a:p>
          <a:p xmlns:a="http://schemas.openxmlformats.org/drawingml/2006/main">
            <a:pPr algn="l">
              <a:defRPr sz="1725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• 继续保留 OLR 和 GPCP 双约束，判断降水/对流中心是否从偏北/偏西转向赤道中东太平洋。</a:t>
            </a:r>
          </a:p>
        </p:txBody>
      </p:sp>
      <p:sp>
        <p:nvSpPr>
          <p:cNvPr id="6" name="workline">
            <a:extLst xmlns:a="http://schemas.openxmlformats.org/drawingml/2006/main">
              <a:ext uri="{FF2B5EF4-FFF2-40B4-BE49-F238E27FC236}">
                <a16:creationId xmlns:a16="http://schemas.microsoft.com/office/drawing/2014/main" id="{563A3FAC-9302-4733-BFC0-E73C7004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10287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EEF4"/>
          </a:solidFill>
          <a:ln xmlns:a="http://schemas.openxmlformats.org/drawingml/2006/main" w="9525">
            <a:solidFill>
              <a:srgbClr val="2B5F8A"/>
            </a:solidFill>
            <a:prstDash val="solid"/>
          </a:ln>
        </p:spPr>
      </p:sp>
      <p:sp>
        <p:nvSpPr>
          <p:cNvPr id="7" name="workline-title">
            <a:extLst xmlns:a="http://schemas.openxmlformats.org/drawingml/2006/main">
              <a:ext uri="{FF2B5EF4-FFF2-40B4-BE49-F238E27FC236}">
                <a16:creationId xmlns:a16="http://schemas.microsoft.com/office/drawing/2014/main" id="{CA1FEA6F-226C-4F87-BD7C-C8F5EC11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94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F8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B5F8A"/>
                </a:solidFill>
                <a:latin typeface="PingFang SC"/>
                <a:ea typeface="PingFang SC"/>
                <a:cs typeface="PingFang SC"/>
              </a:rPr>
              <a:t>可作为开题后的明确工作线</a:t>
            </a:r>
          </a:p>
        </p:txBody>
      </p:sp>
      <p:sp>
        <p:nvSpPr>
          <p:cNvPr id="8" name="workline-body">
            <a:extLst xmlns:a="http://schemas.openxmlformats.org/drawingml/2006/main">
              <a:ext uri="{FF2B5EF4-FFF2-40B4-BE49-F238E27FC236}">
                <a16:creationId xmlns:a16="http://schemas.microsoft.com/office/drawing/2014/main" id="{70C79DF8-4C57-4809-83BA-CC56C1D8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29200"/>
            <a:ext cx="9944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题目可以从“2023/24 强厄尔尼诺海气脱耦”扩展为“发展季海温、风压、降水和 Walker 环流的不等时响应：2023/24 复现与 2026 实时对照”。</a:t>
            </a:r>
          </a:p>
        </p:txBody>
      </p:sp>
    </p:spTree>
    <p:extLst>
      <p:ext uri="{BB962C8B-B14F-4D97-AF65-F5344CB8AC3E}">
        <p14:creationId xmlns:p14="http://schemas.microsoft.com/office/powerpoint/2010/main" val="6285489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39DAB1A9-B3FB-4190-92D6-BBA745E1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C1B18"/>
                </a:solidFill>
                <a:latin typeface="PingFang SC"/>
                <a:ea typeface="PingFang SC"/>
                <a:cs typeface="PingFang SC"/>
              </a:rPr>
              <a:t>数据链接与本地文件位置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E631B2C1-0BD9-4986-BA15-DB36212B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2"/>
          </a:solidFill>
          <a:ln xmlns:a="http://schemas.openxmlformats.org/drawingml/2006/main" w="0">
            <a:solidFill>
              <a:srgbClr val="D8D1C2"/>
            </a:solidFill>
            <a:prstDash val="solid"/>
          </a:ln>
        </p:spPr>
      </p:sp>
      <p:sp>
        <p:nvSpPr>
          <p:cNvPr id="3" name="footer-13">
            <a:extLst xmlns:a="http://schemas.openxmlformats.org/drawingml/2006/main">
              <a:ext uri="{FF2B5EF4-FFF2-40B4-BE49-F238E27FC236}">
                <a16:creationId xmlns:a16="http://schemas.microsoft.com/office/drawing/2014/main" id="{A992EAC6-7C83-46D1-B032-6797E550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885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第 13 页 | 数据来源页</a:t>
            </a:r>
          </a:p>
        </p:txBody>
      </p:sp>
      <p:sp>
        <p:nvSpPr>
          <p:cNvPr id="4" name="footer-tag-13">
            <a:extLst xmlns:a="http://schemas.openxmlformats.org/drawingml/2006/main">
              <a:ext uri="{FF2B5EF4-FFF2-40B4-BE49-F238E27FC236}">
                <a16:creationId xmlns:a16="http://schemas.microsoft.com/office/drawing/2014/main" id="{76974F8D-4377-4089-BCCA-9429E107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5151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ENSO/FEP 2026 diagnostic</a:t>
            </a:r>
          </a:p>
        </p:txBody>
      </p:sp>
      <p:graphicFrame>
        <p:nvGraphicFramePr>
          <p:cNvPr id="11" name="source-table"/>
          <p:cNvGraphicFramePr/>
          <p:nvPr/>
        </p:nvGraphicFramePr>
        <p:xfrm>
          <a:off xmlns:a="http://schemas.openxmlformats.org/drawingml/2006/main" x="590550" y="1314450"/>
          <a:ext xmlns:a="http://schemas.openxmlformats.org/drawingml/2006/main" cx="1102995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2190750"/>
                <a:gridCol w="7696200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数据/文件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DF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链接或路径</a:t>
                      </a:r>
                    </a:p>
                  </a:txBody>
                  <a:tcPr marL="76200" marR="76200" marT="57150" marB="57150">
                    <a:solidFill>
                      <a:srgbClr val="16151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ERA5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月平均 single levels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https://cds.climate.copernicus.eu/datasets/reanalysis-era5-single-levels-monthly-means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ERA5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月平均 pressure levels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https://cds.climate.copernicus.eu/datasets/reanalysis-era5-pressure-levels-monthly-means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SST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NOAA OISST v2.1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https://www.ncei.noaa.gov/products/optimum-interpolation-sst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降水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GPCP monthly precipitation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https://psl.noaa.gov/data/gridded/data.gpcp.html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对流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CPC Blended OLR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https://psl.noaa.gov/data/gridded/data.cpc_blended_olr-1deg.html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本地报告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ERA5 图说明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reports/2026_ERA5再分析气象图说明.md</a:t>
                      </a:r>
                    </a:p>
                  </a:txBody>
                  <a:tcPr marL="76200" marR="76200" marT="57150" marB="57150">
                    <a:solidFill>
                      <a:srgbClr val="FFFDF8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本地表格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ERA5 区域统计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C1B18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data/derived/research_2026/current_2026_era5_region_summary.csv</a:t>
                      </a:r>
                    </a:p>
                  </a:txBody>
                  <a:tcPr marL="76200" marR="76200" marT="57150" marB="57150">
                    <a:solidFill>
                      <a:srgbClr val="EFEAD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F0E09-62B4-4A16-94DA-7B376477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98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A55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B5A55"/>
                </a:solidFill>
                <a:latin typeface="PingFang SC"/>
                <a:ea typeface="PingFang SC"/>
                <a:cs typeface="PingFang SC"/>
              </a:rPr>
              <a:t>注：所有异常均相对于 1982-2022 同月气候态；2026 的完整 AMJ 仍需等待 6 月月平均数据。</a:t>
            </a:r>
          </a:p>
        </p:txBody>
      </p:sp>
    </p:spTree>
    <p:extLst>
      <p:ext uri="{BB962C8B-B14F-4D97-AF65-F5344CB8AC3E}">
        <p14:creationId xmlns:p14="http://schemas.microsoft.com/office/powerpoint/2010/main" val="16046894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2026-06-22T05:19:58.0900000Z</dcterms:created>
  <dcterms:modified xsi:type="dcterms:W3CDTF">2026-06-22T05:19:58.0910000Z</dcterms:modified>
</coreProperties>
</file>