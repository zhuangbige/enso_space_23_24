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9780f63174178" /><Relationship Type="http://schemas.openxmlformats.org/officeDocument/2006/relationships/extended-properties" Target="/docProps/app.xml" Id="Re698689f31e94172" /><Relationship Type="http://schemas.openxmlformats.org/officeDocument/2006/relationships/officeDocument" Target="/ppt/presentation.xml" Id="R444681ed3444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964caa331445c"/>
  </p:sldMasterIdLst>
  <p:notesMasterIdLst>
    <p:notesMasterId xmlns:r="http://schemas.openxmlformats.org/officeDocument/2006/relationships" r:id="Rc469ca27c1924671"/>
  </p:notesMasterIdLst>
  <p:sldIdLst>
    <p:sldId xmlns:r="http://schemas.openxmlformats.org/officeDocument/2006/relationships" id="256" r:id="R647be5b433c54c83"/>
    <p:sldId xmlns:r="http://schemas.openxmlformats.org/officeDocument/2006/relationships" id="257" r:id="R252859a24b994149"/>
    <p:sldId xmlns:r="http://schemas.openxmlformats.org/officeDocument/2006/relationships" id="258" r:id="R9a4830d11e354d1c"/>
    <p:sldId xmlns:r="http://schemas.openxmlformats.org/officeDocument/2006/relationships" id="259" r:id="R46ff839c60874fdf"/>
    <p:sldId xmlns:r="http://schemas.openxmlformats.org/officeDocument/2006/relationships" id="260" r:id="Re75341d3ac1745dc"/>
    <p:sldId xmlns:r="http://schemas.openxmlformats.org/officeDocument/2006/relationships" id="261" r:id="R336ac372ca29474d"/>
    <p:sldId xmlns:r="http://schemas.openxmlformats.org/officeDocument/2006/relationships" id="262" r:id="Rd019f46a342e4442"/>
    <p:sldId xmlns:r="http://schemas.openxmlformats.org/officeDocument/2006/relationships" id="263" r:id="R2ab0c52464804a9b"/>
    <p:sldId xmlns:r="http://schemas.openxmlformats.org/officeDocument/2006/relationships" id="264" r:id="R6a143c056d9b4ee3"/>
    <p:sldId xmlns:r="http://schemas.openxmlformats.org/officeDocument/2006/relationships" id="265" r:id="R4e489b02e86042bf"/>
    <p:sldId xmlns:r="http://schemas.openxmlformats.org/officeDocument/2006/relationships" id="266" r:id="R575dc2368cd04944"/>
    <p:sldId xmlns:r="http://schemas.openxmlformats.org/officeDocument/2006/relationships" id="267" r:id="R4b7dcd9c8c0c478a"/>
    <p:sldId xmlns:r="http://schemas.openxmlformats.org/officeDocument/2006/relationships" id="268" r:id="R512ecc1f12e84e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8fc72c73e94900" /><Relationship Type="http://schemas.openxmlformats.org/officeDocument/2006/relationships/slideMaster" Target="/ppt/slideMasters/slideMaster1.xml" Id="R6ef964caa331445c" /><Relationship Type="http://schemas.openxmlformats.org/officeDocument/2006/relationships/notesMaster" Target="/ppt/notesMasters/notesMaster1.xml" Id="Rc469ca27c1924671" /><Relationship Type="http://schemas.openxmlformats.org/officeDocument/2006/relationships/presProps" Target="/ppt/presProps.xml" Id="R03876ce490ab41c0" /><Relationship Type="http://schemas.openxmlformats.org/officeDocument/2006/relationships/tableStyles" Target="/ppt/tableStyles.xml" Id="R4211f603d4104fb9" /><Relationship Type="http://schemas.openxmlformats.org/officeDocument/2006/relationships/slide" Target="/ppt/slides/slide1.xml" Id="R647be5b433c54c83" /><Relationship Type="http://schemas.openxmlformats.org/officeDocument/2006/relationships/slide" Target="/ppt/slides/slide2.xml" Id="R252859a24b994149" /><Relationship Type="http://schemas.openxmlformats.org/officeDocument/2006/relationships/slide" Target="/ppt/slides/slide3.xml" Id="R9a4830d11e354d1c" /><Relationship Type="http://schemas.openxmlformats.org/officeDocument/2006/relationships/slide" Target="/ppt/slides/slide4.xml" Id="R46ff839c60874fdf" /><Relationship Type="http://schemas.openxmlformats.org/officeDocument/2006/relationships/slide" Target="/ppt/slides/slide5.xml" Id="Re75341d3ac1745dc" /><Relationship Type="http://schemas.openxmlformats.org/officeDocument/2006/relationships/slide" Target="/ppt/slides/slide6.xml" Id="R336ac372ca29474d" /><Relationship Type="http://schemas.openxmlformats.org/officeDocument/2006/relationships/slide" Target="/ppt/slides/slide7.xml" Id="Rd019f46a342e4442" /><Relationship Type="http://schemas.openxmlformats.org/officeDocument/2006/relationships/slide" Target="/ppt/slides/slide8.xml" Id="R2ab0c52464804a9b" /><Relationship Type="http://schemas.openxmlformats.org/officeDocument/2006/relationships/slide" Target="/ppt/slides/slide9.xml" Id="R6a143c056d9b4ee3" /><Relationship Type="http://schemas.openxmlformats.org/officeDocument/2006/relationships/slide" Target="/ppt/slides/slide10.xml" Id="R4e489b02e86042bf" /><Relationship Type="http://schemas.openxmlformats.org/officeDocument/2006/relationships/slide" Target="/ppt/slides/slide11.xml" Id="R575dc2368cd04944" /><Relationship Type="http://schemas.openxmlformats.org/officeDocument/2006/relationships/slide" Target="/ppt/slides/slide12.xml" Id="R4b7dcd9c8c0c478a" /><Relationship Type="http://schemas.openxmlformats.org/officeDocument/2006/relationships/slide" Target="/ppt/slides/slide13.xml" Id="R512ecc1f12e84e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856d8179d0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fe91bed29f43c2" /><Relationship Type="http://schemas.openxmlformats.org/officeDocument/2006/relationships/notesMaster" Target="/ppt/notesMasters/notesMaster1.xml" Id="R18509712472243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10577a238b46b2" /><Relationship Type="http://schemas.openxmlformats.org/officeDocument/2006/relationships/notesMaster" Target="/ppt/notesMasters/notesMaster1.xml" Id="R12b43ce989324b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558841a3a94e06" /><Relationship Type="http://schemas.openxmlformats.org/officeDocument/2006/relationships/notesMaster" Target="/ppt/notesMasters/notesMaster1.xml" Id="Raaf757fb228344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92099800514847" /><Relationship Type="http://schemas.openxmlformats.org/officeDocument/2006/relationships/notesMaster" Target="/ppt/notesMasters/notesMaster1.xml" Id="R5efe5d31c94f4d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3efbc759b845bf" /><Relationship Type="http://schemas.openxmlformats.org/officeDocument/2006/relationships/notesMaster" Target="/ppt/notesMasters/notesMaster1.xml" Id="Rbd86edd4e2d945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1cd5491c91461c" /><Relationship Type="http://schemas.openxmlformats.org/officeDocument/2006/relationships/notesMaster" Target="/ppt/notesMasters/notesMaster1.xml" Id="Rd6b2aa82a5de42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0b6b2655440dd" /><Relationship Type="http://schemas.openxmlformats.org/officeDocument/2006/relationships/notesMaster" Target="/ppt/notesMasters/notesMaster1.xml" Id="R0fdd44843a8847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562dfd1d77444b" /><Relationship Type="http://schemas.openxmlformats.org/officeDocument/2006/relationships/notesMaster" Target="/ppt/notesMasters/notesMaster1.xml" Id="R941fbca4ac5a47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01b72a15ac4c54" /><Relationship Type="http://schemas.openxmlformats.org/officeDocument/2006/relationships/notesMaster" Target="/ppt/notesMasters/notesMaster1.xml" Id="R7c3ad8e19c3c49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98dc23251a46f1" /><Relationship Type="http://schemas.openxmlformats.org/officeDocument/2006/relationships/notesMaster" Target="/ppt/notesMasters/notesMaster1.xml" Id="Ra1afd307fc8c47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9ef8fd1801485a" /><Relationship Type="http://schemas.openxmlformats.org/officeDocument/2006/relationships/notesMaster" Target="/ppt/notesMasters/notesMaster1.xml" Id="R0d2216a702ce4d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dec67247b843b7" /><Relationship Type="http://schemas.openxmlformats.org/officeDocument/2006/relationships/notesMaster" Target="/ppt/notesMasters/notesMaster1.xml" Id="R14849d965eae47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bd77a3533d4225" /><Relationship Type="http://schemas.openxmlformats.org/officeDocument/2006/relationships/notesMaster" Target="/ppt/notesMasters/notesMaster1.xml" Id="R612fb89f9744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d175cc14d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a5cceb03e247ac" /><Relationship Type="http://schemas.openxmlformats.org/officeDocument/2006/relationships/slideLayout" Target="/ppt/slideLayouts/slideLayout1.xml" Id="R5c003d58a19646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03d58a19646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49dcc2c24421a" /><Relationship Type="http://schemas.openxmlformats.org/officeDocument/2006/relationships/notesSlide" Target="/ppt/notesSlides/notesSlide1.xml" Id="Rd21a1941b655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76987ac9e4620" /><Relationship Type="http://schemas.openxmlformats.org/officeDocument/2006/relationships/notesSlide" Target="/ppt/notesSlides/notesSlide2.xml" Id="Raa1d329c693841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a0c8de0db446e" /><Relationship Type="http://schemas.openxmlformats.org/officeDocument/2006/relationships/notesSlide" Target="/ppt/notesSlides/notesSlide3.xml" Id="R395c70fd99a645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35caf86bf4e4e" /><Relationship Type="http://schemas.openxmlformats.org/officeDocument/2006/relationships/image" Target="/ppt/media/image.png" Id="R1d50dc298e8d40c6" /><Relationship Type="http://schemas.openxmlformats.org/officeDocument/2006/relationships/notesSlide" Target="/ppt/notesSlides/notesSlide4.xml" Id="R5ff29a91484441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7f59143ed47cf" /><Relationship Type="http://schemas.openxmlformats.org/officeDocument/2006/relationships/image" Target="/ppt/media/image2.png" Id="Rf793f689356348e4" /><Relationship Type="http://schemas.openxmlformats.org/officeDocument/2006/relationships/notesSlide" Target="/ppt/notesSlides/notesSlide5.xml" Id="R5347e231c03640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e84fea13946c6" /><Relationship Type="http://schemas.openxmlformats.org/officeDocument/2006/relationships/image" Target="/ppt/media/image3.png" Id="Rdd59b9b254ef4ec3" /><Relationship Type="http://schemas.openxmlformats.org/officeDocument/2006/relationships/notesSlide" Target="/ppt/notesSlides/notesSlide6.xml" Id="Rdc7462bbf0584a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8ef68932e46d7" /><Relationship Type="http://schemas.openxmlformats.org/officeDocument/2006/relationships/image" Target="/ppt/media/image4.png" Id="Rf6541a9b8e7b4fef" /><Relationship Type="http://schemas.openxmlformats.org/officeDocument/2006/relationships/notesSlide" Target="/ppt/notesSlides/notesSlide7.xml" Id="Rc70f9eee193c4b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2ddf056714ad5" /><Relationship Type="http://schemas.openxmlformats.org/officeDocument/2006/relationships/image" Target="/ppt/media/image5.png" Id="R3a2264d670a94a01" /><Relationship Type="http://schemas.openxmlformats.org/officeDocument/2006/relationships/notesSlide" Target="/ppt/notesSlides/notesSlide8.xml" Id="R148bd9b682dd4c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9b4b45bfd41fd" /><Relationship Type="http://schemas.openxmlformats.org/officeDocument/2006/relationships/image" Target="/ppt/media/image6.png" Id="R206c60323d984e09" /><Relationship Type="http://schemas.openxmlformats.org/officeDocument/2006/relationships/notesSlide" Target="/ppt/notesSlides/notesSlide9.xml" Id="Re1c99d04e33849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40f47021e48c3" /><Relationship Type="http://schemas.openxmlformats.org/officeDocument/2006/relationships/notesSlide" Target="/ppt/notesSlides/notesSlide10.xml" Id="R94be106503e249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6eb6264124f2a" /><Relationship Type="http://schemas.openxmlformats.org/officeDocument/2006/relationships/notesSlide" Target="/ppt/notesSlides/notesSlide11.xml" Id="R720a9f4e08b94b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7b85bf9054482" /><Relationship Type="http://schemas.openxmlformats.org/officeDocument/2006/relationships/notesSlide" Target="/ppt/notesSlides/notesSlide12.xml" Id="R41b5423c1baa40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0ced214d647c0" /><Relationship Type="http://schemas.openxmlformats.org/officeDocument/2006/relationships/notesSlide" Target="/ppt/notesSlides/notesSlide13.xml" Id="R83aa6272e57e4d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k-title">
            <a:extLst xmlns:a="http://schemas.openxmlformats.org/drawingml/2006/main">
              <a:ext uri="{FF2B5EF4-FFF2-40B4-BE49-F238E27FC236}">
                <a16:creationId xmlns:a16="http://schemas.microsoft.com/office/drawing/2014/main" id="{D7B9EAC3-E992-4676-B6E4-5AF8E23D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Real-Time Meteorological Diagnosis of the 2026 ENSO/FEP Event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835EAF4-2877-4373-B3AA-6C87641C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From the 2023/24 decoupling problem: SST leads, wind and pressure recover with lag, rainfall and convection remain uneven</a:t>
            </a:r>
          </a:p>
        </p:txBody>
      </p:sp>
      <p:sp>
        <p:nvSpPr>
          <p:cNvPr id="3" name="badge-Current-data update">
            <a:extLst xmlns:a="http://schemas.openxmlformats.org/drawingml/2006/main">
              <a:ext uri="{FF2B5EF4-FFF2-40B4-BE49-F238E27FC236}">
                <a16:creationId xmlns:a16="http://schemas.microsoft.com/office/drawing/2014/main" id="{B500011C-767A-419C-A040-935D9A6E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C7773"/>
          </a:solidFill>
          <a:ln xmlns:a="http://schemas.openxmlformats.org/drawingml/2006/main" w="0">
            <a:solidFill>
              <a:srgbClr val="2C77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BAC0E-9185-40BE-9CCC-908A1635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Current-data update</a:t>
            </a:r>
          </a:p>
        </p:txBody>
      </p:sp>
      <p:sp>
        <p:nvSpPr>
          <p:cNvPr id="5" name="badge-ERA5 + OISST + GPCP + OLR">
            <a:extLst xmlns:a="http://schemas.openxmlformats.org/drawingml/2006/main">
              <a:ext uri="{FF2B5EF4-FFF2-40B4-BE49-F238E27FC236}">
                <a16:creationId xmlns:a16="http://schemas.microsoft.com/office/drawing/2014/main" id="{B21048AE-81E6-4CCB-BBDE-285A03FC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5B45"/>
          </a:solidFill>
          <a:ln xmlns:a="http://schemas.openxmlformats.org/drawingml/2006/main" w="0">
            <a:solidFill>
              <a:srgbClr val="C85B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94846-8605-4361-9F16-017D2A5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95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ERA5 + OISST + GPCP + OLR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70D50-BF11-4A0C-BE9F-26F00C04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274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773"/>
          </a:solidFill>
          <a:ln xmlns:a="http://schemas.openxmlformats.org/drawingml/2006/main" w="0">
            <a:solidFill>
              <a:srgbClr val="2C7773"/>
            </a:solidFill>
            <a:prstDash val="solid"/>
          </a:ln>
        </p:spPr>
      </p:sp>
      <p:sp>
        <p:nvSpPr>
          <p:cNvPr id="8" name="purpose-title">
            <a:extLst xmlns:a="http://schemas.openxmlformats.org/drawingml/2006/main">
              <a:ext uri="{FF2B5EF4-FFF2-40B4-BE49-F238E27FC236}">
                <a16:creationId xmlns:a16="http://schemas.microsoft.com/office/drawing/2014/main" id="{7A27EEF7-53BA-446D-93FB-B1D5F6B2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00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9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2B70CAFE-B852-4587-9D2F-AACA2DCE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14500"/>
            <a:ext cx="1809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Apply the 2023/24 ocean-strong / atmosphere-weak logic to the ongoing 2026 event, and test whether the atmospheric branch is catching up.</a:t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37C0E684-0799-427B-B213-2EA3C2FA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Yue Dai | 22 June 2026</a:t>
            </a:r>
          </a:p>
        </p:txBody>
      </p:sp>
    </p:spTree>
    <p:extLst>
      <p:ext uri="{BB962C8B-B14F-4D97-AF65-F5344CB8AC3E}">
        <p14:creationId xmlns:p14="http://schemas.microsoft.com/office/powerpoint/2010/main" val="955214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51E127EA-6515-44FC-8F92-849B3BD5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From the 2023/24 Question to a 2026 Real-Time Test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3440971B-C564-4A44-8DC3-AC20D3E0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52628154-E1DD-4BFD-8937-8824CBBD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2 | research logic</a:t>
            </a:r>
          </a:p>
        </p:txBody>
      </p:sp>
      <p:sp>
        <p:nvSpPr>
          <p:cNvPr id="4" name="footer-tag-2">
            <a:extLst xmlns:a="http://schemas.openxmlformats.org/drawingml/2006/main">
              <a:ext uri="{FF2B5EF4-FFF2-40B4-BE49-F238E27FC236}">
                <a16:creationId xmlns:a16="http://schemas.microsoft.com/office/drawing/2014/main" id="{0346282D-2167-4B15-A9D2-C065349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sp>
        <p:nvSpPr>
          <p:cNvPr id="5" name="left-callout">
            <a:extLst xmlns:a="http://schemas.openxmlformats.org/drawingml/2006/main">
              <a:ext uri="{FF2B5EF4-FFF2-40B4-BE49-F238E27FC236}">
                <a16:creationId xmlns:a16="http://schemas.microsoft.com/office/drawing/2014/main" id="{280F4F82-B8B3-47A3-A8A3-AB781315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C85B45"/>
            </a:solidFill>
            <a:prstDash val="solid"/>
          </a:ln>
        </p:spPr>
      </p:sp>
      <p:sp>
        <p:nvSpPr>
          <p:cNvPr id="6" name="left-callout-title">
            <a:extLst xmlns:a="http://schemas.openxmlformats.org/drawingml/2006/main">
              <a:ext uri="{FF2B5EF4-FFF2-40B4-BE49-F238E27FC236}">
                <a16:creationId xmlns:a16="http://schemas.microsoft.com/office/drawing/2014/main" id="{4E63CDDF-4FA2-4920-A016-0F60062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B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B45"/>
                </a:solidFill>
                <a:latin typeface="Aptos"/>
                <a:ea typeface="Aptos"/>
                <a:cs typeface="Aptos"/>
              </a:rPr>
              <a:t>Starting point</a:t>
            </a:r>
          </a:p>
        </p:txBody>
      </p:sp>
      <p:sp>
        <p:nvSpPr>
          <p:cNvPr id="7" name="left-callout-body">
            <a:extLst xmlns:a="http://schemas.openxmlformats.org/drawingml/2006/main">
              <a:ext uri="{FF2B5EF4-FFF2-40B4-BE49-F238E27FC236}">
                <a16:creationId xmlns:a16="http://schemas.microsoft.com/office/drawing/2014/main" id="{1019A410-9DE3-451D-B298-3DB2C6D0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705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Peng et al. (2025) argues that the 2023/24 strong El Nino was generated primarily by ocean dynamics. The follow-up question for this project is why strong SST anomalies did not produce equally strong wind, pressure, rainfall, and teleconnection responses.</a:t>
            </a:r>
          </a:p>
        </p:txBody>
      </p:sp>
      <p:sp>
        <p:nvSpPr>
          <p:cNvPr id="8" name="right-callout">
            <a:extLst xmlns:a="http://schemas.openxmlformats.org/drawingml/2006/main">
              <a:ext uri="{FF2B5EF4-FFF2-40B4-BE49-F238E27FC236}">
                <a16:creationId xmlns:a16="http://schemas.microsoft.com/office/drawing/2014/main" id="{8B35B4CF-F31A-4598-ACCC-2E6D3D1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9" name="right-callout-title">
            <a:extLst xmlns:a="http://schemas.openxmlformats.org/drawingml/2006/main">
              <a:ext uri="{FF2B5EF4-FFF2-40B4-BE49-F238E27FC236}">
                <a16:creationId xmlns:a16="http://schemas.microsoft.com/office/drawing/2014/main" id="{A0F0F625-7A7A-4141-9E57-2F268F8D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7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C7773"/>
                </a:solidFill>
                <a:latin typeface="Aptos"/>
                <a:ea typeface="Aptos"/>
                <a:cs typeface="Aptos"/>
              </a:rPr>
              <a:t>Why 2026 matters</a:t>
            </a:r>
          </a:p>
        </p:txBody>
      </p:sp>
      <p:sp>
        <p:nvSpPr>
          <p:cNvPr id="10" name="right-callout-body">
            <a:extLst xmlns:a="http://schemas.openxmlformats.org/drawingml/2006/main">
              <a:ext uri="{FF2B5EF4-FFF2-40B4-BE49-F238E27FC236}">
                <a16:creationId xmlns:a16="http://schemas.microsoft.com/office/drawing/2014/main" id="{4809E8AE-C2D0-46A7-A371-659FE402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705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The ongoing 2026 case provides a real-time comparison: after far-eastern/eastern Pacific SST warming begins, do low-level winds, sea-level pressure, rainfall, and convection respond at the same time? ERA5 indicates that wind and pressure begin to recover in spring, while rainfall and convection remain the slowest branch.</a:t>
            </a:r>
          </a:p>
        </p:txBody>
      </p:sp>
    </p:spTree>
    <p:extLst>
      <p:ext uri="{BB962C8B-B14F-4D97-AF65-F5344CB8AC3E}">
        <p14:creationId xmlns:p14="http://schemas.microsoft.com/office/powerpoint/2010/main" val="2102490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9105615F-F5DA-490B-BE32-321538A6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Data Chain and Abbreviations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6F14AAED-64DD-4E9F-9A0F-11774BF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F7054809-C864-405E-BBDB-03FCC244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3 | data note</a:t>
            </a:r>
          </a:p>
        </p:txBody>
      </p:sp>
      <p:sp>
        <p:nvSpPr>
          <p:cNvPr id="4" name="footer-tag-3">
            <a:extLst xmlns:a="http://schemas.openxmlformats.org/drawingml/2006/main">
              <a:ext uri="{FF2B5EF4-FFF2-40B4-BE49-F238E27FC236}">
                <a16:creationId xmlns:a16="http://schemas.microsoft.com/office/drawing/2014/main" id="{1B8C2ED1-F676-46B8-98CC-69AD2721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graphicFrame>
        <p:nvGraphicFramePr>
          <p:cNvPr id="13" name="glossary-table"/>
          <p:cNvGraphicFramePr/>
          <p:nvPr/>
        </p:nvGraphicFramePr>
        <p:xfrm>
          <a:off xmlns:a="http://schemas.openxmlformats.org/drawingml/2006/main" x="666750" y="13144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857500"/>
                <a:gridCol w="6743700"/>
              </a:tblGrid>
              <a:tr h="5000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Abbrev.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Meaning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Use in this deck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ENSO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El Nino-Southern Oscillation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Air-sea coupling background in the tropical Pacific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FEP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Far Eastern Pacific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Coastal eastern-Pacific early-warming region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SST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Sea surface temperature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OISST-based ocean-warming anomaly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u10 / u850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Zonal wind at 10 m / 850 hPa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Positive: westerly anomaly; negative: easterly anomaly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MSLP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Mean sea-level pressure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Used for SOI-like Tahiti-Darwin pressure contrast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OLR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Outgoing longwave radiation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Negative: stronger deep convection; positive: suppressed convection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omega850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Vertical pressure velocity at 850 hPa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Positive: downward motion; negative: upward motion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6" name="anom-callout">
            <a:extLst xmlns:a="http://schemas.openxmlformats.org/drawingml/2006/main">
              <a:ext uri="{FF2B5EF4-FFF2-40B4-BE49-F238E27FC236}">
                <a16:creationId xmlns:a16="http://schemas.microsoft.com/office/drawing/2014/main" id="{3331D631-0753-48B0-BEAD-309546D0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744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2B5F8A"/>
            </a:solidFill>
            <a:prstDash val="solid"/>
          </a:ln>
        </p:spPr>
      </p:sp>
      <p:sp>
        <p:nvSpPr>
          <p:cNvPr id="7" name="anom-callout-title">
            <a:extLst xmlns:a="http://schemas.openxmlformats.org/drawingml/2006/main">
              <a:ext uri="{FF2B5EF4-FFF2-40B4-BE49-F238E27FC236}">
                <a16:creationId xmlns:a16="http://schemas.microsoft.com/office/drawing/2014/main" id="{7E21F9A3-6BBB-43F4-A64A-C4C51554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F8A"/>
                </a:solidFill>
                <a:latin typeface="Aptos"/>
                <a:ea typeface="Aptos"/>
                <a:cs typeface="Aptos"/>
              </a:rPr>
              <a:t>Anomaly definition</a:t>
            </a:r>
          </a:p>
        </p:txBody>
      </p:sp>
      <p:sp>
        <p:nvSpPr>
          <p:cNvPr id="8" name="anom-callout-body">
            <a:extLst xmlns:a="http://schemas.openxmlformats.org/drawingml/2006/main">
              <a:ext uri="{FF2B5EF4-FFF2-40B4-BE49-F238E27FC236}">
                <a16:creationId xmlns:a16="http://schemas.microsoft.com/office/drawing/2014/main" id="{31DD37FC-52D8-45AE-9E03-6F1621AE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34075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2026 anomaly = 2026 monthly or period mean minus the 1982-2022 same-month climatology. MAM means March-May; Apr-May means April-May. Full AMJ requires the June 2026 monthly mean.</a:t>
            </a:r>
          </a:p>
        </p:txBody>
      </p:sp>
    </p:spTree>
    <p:extLst>
      <p:ext uri="{BB962C8B-B14F-4D97-AF65-F5344CB8AC3E}">
        <p14:creationId xmlns:p14="http://schemas.microsoft.com/office/powerpoint/2010/main" val="2006142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DFE80AC6-2106-4015-A7A7-B297F9EC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Ocean Branch: FEP and Eastern Pacific Warm First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A6FF388A-DAAA-4724-898C-8C573C7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CA958A04-9DFC-4A00-A4AC-B127D2AF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4 | Figure: OISST indices and FEP residual</a:t>
            </a:r>
          </a:p>
        </p:txBody>
      </p:sp>
      <p:sp>
        <p:nvSpPr>
          <p:cNvPr id="4" name="footer-tag-4">
            <a:extLst xmlns:a="http://schemas.openxmlformats.org/drawingml/2006/main">
              <a:ext uri="{FF2B5EF4-FFF2-40B4-BE49-F238E27FC236}">
                <a16:creationId xmlns:a16="http://schemas.microsoft.com/office/drawing/2014/main" id="{DA3B9FC5-414D-430B-B436-20F37308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0dc298e8d40c6"/>
          <a:stretch xmlns:a="http://schemas.openxmlformats.org/drawingml/2006/main"/>
        </p:blipFill>
        <p:spPr>
          <a:xfrm xmlns:a="http://schemas.openxmlformats.org/drawingml/2006/main">
            <a:off x="590550" y="2186693"/>
            <a:ext cx="6858000" cy="2903714"/>
          </a:xfrm>
          <a:prstGeom xmlns:a="http://schemas.openxmlformats.org/drawingml/2006/main" prst="rect">
            <a:avLst/>
          </a:prstGeom>
        </p:spPr>
      </p:pic>
      <p:sp>
        <p:nvSpPr>
          <p:cNvPr id="6" name="note-4">
            <a:extLst xmlns:a="http://schemas.openxmlformats.org/drawingml/2006/main">
              <a:ext uri="{FF2B5EF4-FFF2-40B4-BE49-F238E27FC236}">
                <a16:creationId xmlns:a16="http://schemas.microsoft.com/office/drawing/2014/main" id="{C4A4C3CA-60C1-4F95-B981-9805E197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C85B45"/>
            </a:solidFill>
            <a:prstDash val="solid"/>
          </a:ln>
        </p:spPr>
      </p:sp>
      <p:sp>
        <p:nvSpPr>
          <p:cNvPr id="7" name="note-4-title">
            <a:extLst xmlns:a="http://schemas.openxmlformats.org/drawingml/2006/main">
              <a:ext uri="{FF2B5EF4-FFF2-40B4-BE49-F238E27FC236}">
                <a16:creationId xmlns:a16="http://schemas.microsoft.com/office/drawing/2014/main" id="{C3CD72B3-0CC8-404E-A6B0-8FC6246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B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B45"/>
                </a:solidFill>
                <a:latin typeface="Aptos"/>
                <a:ea typeface="Aptos"/>
                <a:cs typeface="Aptos"/>
              </a:rPr>
              <a:t>What the figure shows</a:t>
            </a:r>
          </a:p>
        </p:txBody>
      </p:sp>
      <p:sp>
        <p:nvSpPr>
          <p:cNvPr id="8" name="note-4-body">
            <a:extLst xmlns:a="http://schemas.openxmlformats.org/drawingml/2006/main">
              <a:ext uri="{FF2B5EF4-FFF2-40B4-BE49-F238E27FC236}">
                <a16:creationId xmlns:a16="http://schemas.microsoft.com/office/drawing/2014/main" id="{D369928B-BC70-41D3-81B6-B6BDC89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Dataset: NOAA OISST v2.1 monthly SST anomaly.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Key reading: after February 2026, FEP and Niño1+2 warming intensifies rapidly. A positive FEP residual means coastal eastern-Pacific warming is stronger than the broader tropical-Pacific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Role in the story: first establish that the ocean branch moved, then test whether the atmosphere responded synchronously.</a:t>
            </a:r>
          </a:p>
        </p:txBody>
      </p:sp>
    </p:spTree>
    <p:extLst>
      <p:ext uri="{BB962C8B-B14F-4D97-AF65-F5344CB8AC3E}">
        <p14:creationId xmlns:p14="http://schemas.microsoft.com/office/powerpoint/2010/main" val="1649037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561BFBF5-E2E2-41CD-B36E-7240A4E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SST and Rainfall: Warming Is Clear, Equatorial Rainfall Is Not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0220E380-DB1C-4D7C-AF1E-5C419DFD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87531727-0BAB-482B-9F4D-6666AAAD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5 | Figure: OISST SST + GPCP rainfall</a:t>
            </a:r>
          </a:p>
        </p:txBody>
      </p:sp>
      <p:sp>
        <p:nvSpPr>
          <p:cNvPr id="4" name="footer-tag-5">
            <a:extLst xmlns:a="http://schemas.openxmlformats.org/drawingml/2006/main">
              <a:ext uri="{FF2B5EF4-FFF2-40B4-BE49-F238E27FC236}">
                <a16:creationId xmlns:a16="http://schemas.microsoft.com/office/drawing/2014/main" id="{B287D9BD-9DF2-4FC7-9BB4-1FFF6E1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3f689356348e4"/>
          <a:stretch xmlns:a="http://schemas.openxmlformats.org/drawingml/2006/main"/>
        </p:blipFill>
        <p:spPr>
          <a:xfrm xmlns:a="http://schemas.openxmlformats.org/drawingml/2006/main">
            <a:off x="590550" y="1633174"/>
            <a:ext cx="6858000" cy="4010752"/>
          </a:xfrm>
          <a:prstGeom xmlns:a="http://schemas.openxmlformats.org/drawingml/2006/main" prst="rect">
            <a:avLst/>
          </a:prstGeom>
        </p:spPr>
      </p:pic>
      <p:sp>
        <p:nvSpPr>
          <p:cNvPr id="6" name="note-5">
            <a:extLst xmlns:a="http://schemas.openxmlformats.org/drawingml/2006/main">
              <a:ext uri="{FF2B5EF4-FFF2-40B4-BE49-F238E27FC236}">
                <a16:creationId xmlns:a16="http://schemas.microsoft.com/office/drawing/2014/main" id="{A4D84E38-D447-4ACD-BC69-99F88D01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7" name="note-5-title">
            <a:extLst xmlns:a="http://schemas.openxmlformats.org/drawingml/2006/main">
              <a:ext uri="{FF2B5EF4-FFF2-40B4-BE49-F238E27FC236}">
                <a16:creationId xmlns:a16="http://schemas.microsoft.com/office/drawing/2014/main" id="{C9406C23-1054-465E-B241-714EFF7F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7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C7773"/>
                </a:solidFill>
                <a:latin typeface="Aptos"/>
                <a:ea typeface="Aptos"/>
                <a:cs typeface="Aptos"/>
              </a:rPr>
              <a:t>What the figure shows</a:t>
            </a:r>
          </a:p>
        </p:txBody>
      </p:sp>
      <p:sp>
        <p:nvSpPr>
          <p:cNvPr id="8" name="note-5-body">
            <a:extLst xmlns:a="http://schemas.openxmlformats.org/drawingml/2006/main">
              <a:ext uri="{FF2B5EF4-FFF2-40B4-BE49-F238E27FC236}">
                <a16:creationId xmlns:a16="http://schemas.microsoft.com/office/drawing/2014/main" id="{D0539A88-9530-4E13-A073-76E0130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Datasets: OISST SST anomaly and GPCP monthly precipitation anomaly.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Key reading: MAM and Apr-May show clear eastern-Pacific/FEP warming, but the rainfall enhancement is displaced toward the western Pacific and north of the equator. A continuous positive equatorial central-eastern Pacific rainfall band is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New contribution: transfer the 2023/24 SST-rainfall asynchrony question to a real-time 2026 case.</a:t>
            </a:r>
          </a:p>
        </p:txBody>
      </p:sp>
    </p:spTree>
    <p:extLst>
      <p:ext uri="{BB962C8B-B14F-4D97-AF65-F5344CB8AC3E}">
        <p14:creationId xmlns:p14="http://schemas.microsoft.com/office/powerpoint/2010/main" val="2011992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313C10D6-42B4-448A-A162-0414F93E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Independent Convection Check: OLR Supports Spatial Displacement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C2F12A54-1BB2-417D-9A0F-2C5F95FC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A93A564E-299F-484E-93E9-60C7FBB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6 | Figure: CPC Blended OLR anomaly</a:t>
            </a:r>
          </a:p>
        </p:txBody>
      </p:sp>
      <p:sp>
        <p:nvSpPr>
          <p:cNvPr id="4" name="footer-tag-6">
            <a:extLst xmlns:a="http://schemas.openxmlformats.org/drawingml/2006/main">
              <a:ext uri="{FF2B5EF4-FFF2-40B4-BE49-F238E27FC236}">
                <a16:creationId xmlns:a16="http://schemas.microsoft.com/office/drawing/2014/main" id="{EF044A23-FE43-4DD8-8FD3-9C50BB57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9b9b254ef4ec3"/>
          <a:stretch xmlns:a="http://schemas.openxmlformats.org/drawingml/2006/main"/>
        </p:blipFill>
        <p:spPr>
          <a:xfrm xmlns:a="http://schemas.openxmlformats.org/drawingml/2006/main">
            <a:off x="590550" y="2439966"/>
            <a:ext cx="6858000" cy="2397168"/>
          </a:xfrm>
          <a:prstGeom xmlns:a="http://schemas.openxmlformats.org/drawingml/2006/main" prst="rect">
            <a:avLst/>
          </a:prstGeom>
        </p:spPr>
      </p:pic>
      <p:sp>
        <p:nvSpPr>
          <p:cNvPr id="6" name="note-6">
            <a:extLst xmlns:a="http://schemas.openxmlformats.org/drawingml/2006/main">
              <a:ext uri="{FF2B5EF4-FFF2-40B4-BE49-F238E27FC236}">
                <a16:creationId xmlns:a16="http://schemas.microsoft.com/office/drawing/2014/main" id="{373C0429-4C7C-4EA4-BD4E-5262A3C2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2B5F8A"/>
            </a:solidFill>
            <a:prstDash val="solid"/>
          </a:ln>
        </p:spPr>
      </p:sp>
      <p:sp>
        <p:nvSpPr>
          <p:cNvPr id="7" name="note-6-title">
            <a:extLst xmlns:a="http://schemas.openxmlformats.org/drawingml/2006/main">
              <a:ext uri="{FF2B5EF4-FFF2-40B4-BE49-F238E27FC236}">
                <a16:creationId xmlns:a16="http://schemas.microsoft.com/office/drawing/2014/main" id="{F4705104-E190-40D9-9D1E-78CED4D6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5F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5F8A"/>
                </a:solidFill>
                <a:latin typeface="Aptos"/>
                <a:ea typeface="Aptos"/>
                <a:cs typeface="Aptos"/>
              </a:rPr>
              <a:t>What the figure shows</a:t>
            </a:r>
          </a:p>
        </p:txBody>
      </p:sp>
      <p:sp>
        <p:nvSpPr>
          <p:cNvPr id="8" name="note-6-body">
            <a:extLst xmlns:a="http://schemas.openxmlformats.org/drawingml/2006/main">
              <a:ext uri="{FF2B5EF4-FFF2-40B4-BE49-F238E27FC236}">
                <a16:creationId xmlns:a16="http://schemas.microsoft.com/office/drawing/2014/main" id="{5897C68B-4601-46AD-971A-874C3D3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Dataset: CPC Blended OLR daily anomaly averaged over selected periods.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Key reading: negative OLR means stronger deep convection; positive OLR means suppressed convection. In spring 2026, enhanced convection is displaced toward the western/northern central Pacific rather than forming a broad equatorial central-eastern Pacific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Role: this gives an independent check on the rainfall conclusion.</a:t>
            </a:r>
          </a:p>
        </p:txBody>
      </p:sp>
    </p:spTree>
    <p:extLst>
      <p:ext uri="{BB962C8B-B14F-4D97-AF65-F5344CB8AC3E}">
        <p14:creationId xmlns:p14="http://schemas.microsoft.com/office/powerpoint/2010/main" val="1587720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F16EC900-E63F-4C55-BB49-65898B12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ERA5 Wind-Pressure Evidence: Spring Recovery Begins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5F22B1F4-014A-4EAF-8A76-B61AB6DC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C96E81DB-3F89-434A-8BBB-CC0407DD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7 | Figure: ERA5 10 m wind and MSLP</a:t>
            </a:r>
          </a:p>
        </p:txBody>
      </p:sp>
      <p:sp>
        <p:nvSpPr>
          <p:cNvPr id="4" name="footer-tag-7">
            <a:extLst xmlns:a="http://schemas.openxmlformats.org/drawingml/2006/main">
              <a:ext uri="{FF2B5EF4-FFF2-40B4-BE49-F238E27FC236}">
                <a16:creationId xmlns:a16="http://schemas.microsoft.com/office/drawing/2014/main" id="{27BA2592-E93C-4EEF-AE0D-2AD633EF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41a9b8e7b4fef"/>
          <a:stretch xmlns:a="http://schemas.openxmlformats.org/drawingml/2006/main"/>
        </p:blipFill>
        <p:spPr>
          <a:xfrm xmlns:a="http://schemas.openxmlformats.org/drawingml/2006/main">
            <a:off x="590550" y="1592390"/>
            <a:ext cx="6858000" cy="4092321"/>
          </a:xfrm>
          <a:prstGeom xmlns:a="http://schemas.openxmlformats.org/drawingml/2006/main" prst="rect">
            <a:avLst/>
          </a:prstGeom>
        </p:spPr>
      </p:pic>
      <p:sp>
        <p:nvSpPr>
          <p:cNvPr id="6" name="note-7">
            <a:extLst xmlns:a="http://schemas.openxmlformats.org/drawingml/2006/main">
              <a:ext uri="{FF2B5EF4-FFF2-40B4-BE49-F238E27FC236}">
                <a16:creationId xmlns:a16="http://schemas.microsoft.com/office/drawing/2014/main" id="{E9FB9679-8F7F-4475-AF07-773057FB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C85B45"/>
            </a:solidFill>
            <a:prstDash val="solid"/>
          </a:ln>
        </p:spPr>
      </p:sp>
      <p:sp>
        <p:nvSpPr>
          <p:cNvPr id="7" name="note-7-title">
            <a:extLst xmlns:a="http://schemas.openxmlformats.org/drawingml/2006/main">
              <a:ext uri="{FF2B5EF4-FFF2-40B4-BE49-F238E27FC236}">
                <a16:creationId xmlns:a16="http://schemas.microsoft.com/office/drawing/2014/main" id="{7C41A0DF-4BAE-4DDD-AD98-61775A8F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B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B45"/>
                </a:solidFill>
                <a:latin typeface="Aptos"/>
                <a:ea typeface="Aptos"/>
                <a:cs typeface="Aptos"/>
              </a:rPr>
              <a:t>What the figure shows</a:t>
            </a:r>
          </a:p>
        </p:txBody>
      </p:sp>
      <p:sp>
        <p:nvSpPr>
          <p:cNvPr id="8" name="note-7-body">
            <a:extLst xmlns:a="http://schemas.openxmlformats.org/drawingml/2006/main">
              <a:ext uri="{FF2B5EF4-FFF2-40B4-BE49-F238E27FC236}">
                <a16:creationId xmlns:a16="http://schemas.microsoft.com/office/drawing/2014/main" id="{2A4F0DA2-95A7-4773-B45F-B615F6F7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Datasets: ERA5 10 m wind anomaly and mean sea-level pressure anomaly.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Key reading: in MAM and Apr-May, westerly anomalies emerge over the central-western equatorial Pacific, and pressure lowers over the central-eastern tropical Pacific. The Tahiti-Darwin contrast becomes more El Nino-like.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Update from the older view: NCEP only covered Jan-Feb, so it showed early asynchrony. ERA5 Jan-May indicates lagged recovery rather than persistent non-response.</a:t>
            </a:r>
          </a:p>
        </p:txBody>
      </p:sp>
    </p:spTree>
    <p:extLst>
      <p:ext uri="{BB962C8B-B14F-4D97-AF65-F5344CB8AC3E}">
        <p14:creationId xmlns:p14="http://schemas.microsoft.com/office/powerpoint/2010/main" val="505070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8458F945-D1B9-4F48-B7D5-5758ADA4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ERA5 u850, Rainfall, and Vertical Motion: Recovery Is Not Synchronous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F38EA171-CCF8-46B1-862B-79545158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33FE413E-FED3-4F89-9EE9-8EB2DA8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8 | Figure: ERA5 rainfall, u850, omega850</a:t>
            </a:r>
          </a:p>
        </p:txBody>
      </p:sp>
      <p:sp>
        <p:nvSpPr>
          <p:cNvPr id="4" name="footer-tag-8">
            <a:extLst xmlns:a="http://schemas.openxmlformats.org/drawingml/2006/main">
              <a:ext uri="{FF2B5EF4-FFF2-40B4-BE49-F238E27FC236}">
                <a16:creationId xmlns:a16="http://schemas.microsoft.com/office/drawing/2014/main" id="{C0102A21-AAFB-4234-AF60-1719974C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264d670a94a01"/>
          <a:stretch xmlns:a="http://schemas.openxmlformats.org/drawingml/2006/main"/>
        </p:blipFill>
        <p:spPr>
          <a:xfrm xmlns:a="http://schemas.openxmlformats.org/drawingml/2006/main">
            <a:off x="590550" y="1592390"/>
            <a:ext cx="6858000" cy="4092321"/>
          </a:xfrm>
          <a:prstGeom xmlns:a="http://schemas.openxmlformats.org/drawingml/2006/main" prst="rect">
            <a:avLst/>
          </a:prstGeom>
        </p:spPr>
      </p:pic>
      <p:sp>
        <p:nvSpPr>
          <p:cNvPr id="6" name="note-8">
            <a:extLst xmlns:a="http://schemas.openxmlformats.org/drawingml/2006/main">
              <a:ext uri="{FF2B5EF4-FFF2-40B4-BE49-F238E27FC236}">
                <a16:creationId xmlns:a16="http://schemas.microsoft.com/office/drawing/2014/main" id="{6E0E54FA-E884-4A51-BA32-7FE84CF5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7" name="note-8-title">
            <a:extLst xmlns:a="http://schemas.openxmlformats.org/drawingml/2006/main">
              <a:ext uri="{FF2B5EF4-FFF2-40B4-BE49-F238E27FC236}">
                <a16:creationId xmlns:a16="http://schemas.microsoft.com/office/drawing/2014/main" id="{4400B8A8-03D2-48F6-806D-879E8430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7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C7773"/>
                </a:solidFill>
                <a:latin typeface="Aptos"/>
                <a:ea typeface="Aptos"/>
                <a:cs typeface="Aptos"/>
              </a:rPr>
              <a:t>What the figure shows</a:t>
            </a:r>
          </a:p>
        </p:txBody>
      </p:sp>
      <p:sp>
        <p:nvSpPr>
          <p:cNvPr id="8" name="note-8-body">
            <a:extLst xmlns:a="http://schemas.openxmlformats.org/drawingml/2006/main">
              <a:ext uri="{FF2B5EF4-FFF2-40B4-BE49-F238E27FC236}">
                <a16:creationId xmlns:a16="http://schemas.microsoft.com/office/drawing/2014/main" id="{54358F9E-E0AE-4F9D-864D-1702EAED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Datasets: ERA5 total precipitation, 850 hPa zonal wind, and 850 hPa pressure velocity.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Key reading: u850 turns westerly in MAM/Apr-May, indicating that the low-level wind branch is catching up. However, rainfall remains displaced westward/northward, and central-Pacific omega850 does not show a stable strong upward-motion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Main conclusion: the wind-pressure branch recovers before the rainfall-convection branch.</a:t>
            </a:r>
          </a:p>
        </p:txBody>
      </p:sp>
    </p:spTree>
    <p:extLst>
      <p:ext uri="{BB962C8B-B14F-4D97-AF65-F5344CB8AC3E}">
        <p14:creationId xmlns:p14="http://schemas.microsoft.com/office/powerpoint/2010/main" val="678530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B99993A3-888C-42CA-81EE-CAAC27FF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Longitude-Time View: Early Easterlies, Spring Wind Recovery, Rainfall Lag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091BDECF-795D-4894-BD78-57B5572F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0D02EB2C-016D-426C-B370-1A2E296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9 | Figure: ERA5 equatorial Hovmoller</a:t>
            </a:r>
          </a:p>
        </p:txBody>
      </p:sp>
      <p:sp>
        <p:nvSpPr>
          <p:cNvPr id="4" name="footer-tag-9">
            <a:extLst xmlns:a="http://schemas.openxmlformats.org/drawingml/2006/main">
              <a:ext uri="{FF2B5EF4-FFF2-40B4-BE49-F238E27FC236}">
                <a16:creationId xmlns:a16="http://schemas.microsoft.com/office/drawing/2014/main" id="{AD2CF868-545E-48C5-9E9E-86AEA1DD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c60323d984e09"/>
          <a:stretch xmlns:a="http://schemas.openxmlformats.org/drawingml/2006/main"/>
        </p:blipFill>
        <p:spPr>
          <a:xfrm xmlns:a="http://schemas.openxmlformats.org/drawingml/2006/main">
            <a:off x="590550" y="1292592"/>
            <a:ext cx="6858000" cy="4691915"/>
          </a:xfrm>
          <a:prstGeom xmlns:a="http://schemas.openxmlformats.org/drawingml/2006/main" prst="rect">
            <a:avLst/>
          </a:prstGeom>
        </p:spPr>
      </p:pic>
      <p:sp>
        <p:nvSpPr>
          <p:cNvPr id="6" name="note-9">
            <a:extLst xmlns:a="http://schemas.openxmlformats.org/drawingml/2006/main">
              <a:ext uri="{FF2B5EF4-FFF2-40B4-BE49-F238E27FC236}">
                <a16:creationId xmlns:a16="http://schemas.microsoft.com/office/drawing/2014/main" id="{E2E454E7-1EDE-4139-B0EA-49834554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2B5F8A"/>
            </a:solidFill>
            <a:prstDash val="solid"/>
          </a:ln>
        </p:spPr>
      </p:sp>
      <p:sp>
        <p:nvSpPr>
          <p:cNvPr id="7" name="note-9-title">
            <a:extLst xmlns:a="http://schemas.openxmlformats.org/drawingml/2006/main">
              <a:ext uri="{FF2B5EF4-FFF2-40B4-BE49-F238E27FC236}">
                <a16:creationId xmlns:a16="http://schemas.microsoft.com/office/drawing/2014/main" id="{FE7B9E93-5C99-4534-A469-6B10047F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5F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5F8A"/>
                </a:solidFill>
                <a:latin typeface="Aptos"/>
                <a:ea typeface="Aptos"/>
                <a:cs typeface="Aptos"/>
              </a:rPr>
              <a:t>What the figure shows</a:t>
            </a:r>
          </a:p>
        </p:txBody>
      </p:sp>
      <p:sp>
        <p:nvSpPr>
          <p:cNvPr id="8" name="note-9-body">
            <a:extLst xmlns:a="http://schemas.openxmlformats.org/drawingml/2006/main">
              <a:ext uri="{FF2B5EF4-FFF2-40B4-BE49-F238E27FC236}">
                <a16:creationId xmlns:a16="http://schemas.microsoft.com/office/drawing/2014/main" id="{21A0C878-6B55-4806-8E7E-F2F162D3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Datasets: ERA5 equatorial-mean u10, u850, precipitation, and omega850 anomalies.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Key reading: January-February shows clear central-Pacific easterly anomalies. From March to May, central-western Pacific winds gradually turn westerly. Rainfall remains broadly weak from January to April and becomes more locally positive only in May.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This is the most direct evidence for staged recovery rather than all-season decoupling.</a:t>
            </a:r>
          </a:p>
        </p:txBody>
      </p:sp>
    </p:spTree>
    <p:extLst>
      <p:ext uri="{BB962C8B-B14F-4D97-AF65-F5344CB8AC3E}">
        <p14:creationId xmlns:p14="http://schemas.microsoft.com/office/powerpoint/2010/main" val="1971882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D82BC61F-611E-4F9B-B2B3-9185568A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Key Numbers: 2026 Shows Staged Coupling Recovery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A9CBDBF7-DC95-4FBD-B1D3-67A5DB6E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19949AF5-CC91-4D51-B20F-C7491A2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10 | Table: ERA5 regional summary</a:t>
            </a:r>
          </a:p>
        </p:txBody>
      </p:sp>
      <p:sp>
        <p:nvSpPr>
          <p:cNvPr id="4" name="footer-tag-10">
            <a:extLst xmlns:a="http://schemas.openxmlformats.org/drawingml/2006/main">
              <a:ext uri="{FF2B5EF4-FFF2-40B4-BE49-F238E27FC236}">
                <a16:creationId xmlns:a16="http://schemas.microsoft.com/office/drawing/2014/main" id="{D6A3E6E8-335C-402D-A0B5-07E235FF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graphicFrame>
        <p:nvGraphicFramePr>
          <p:cNvPr id="13" name="key-numbers-table"/>
          <p:cNvGraphicFramePr/>
          <p:nvPr/>
        </p:nvGraphicFramePr>
        <p:xfrm>
          <a:off xmlns:a="http://schemas.openxmlformats.org/drawingml/2006/main" x="590550" y="1314450"/>
          <a:ext xmlns:a="http://schemas.openxmlformats.org/drawingml/2006/main" cx="110109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28700"/>
                <a:gridCol w="2381250"/>
                <a:gridCol w="1428750"/>
                <a:gridCol w="6172200"/>
              </a:tblGrid>
              <a:tr h="463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Period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Metric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Anomaly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Interpretation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Jan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Central-Pacific u10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-1.15 m/s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Early easterlies; not the canonical El Nino westerly response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Feb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Central-Pacific u850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-2.95 m/s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Strong lower-tropospheric easterly anomaly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Feb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SOI-like MSLP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+2.63 hPa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Pressure gradient remains La Nina-like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MAM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CWP u850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+0.98 m/s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Spring low-level wind begins to recover westerly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MAM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Central-Pacific rainfall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-0.87 mm/day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Rainfall remains below climatology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Apr-May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CWP u850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+1.47 m/s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Wind recovery becomes clearer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Apr-May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SOI-like MSLP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-1.16 hPa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Pressure branch shifts toward El Nino-like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Apr-May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Central-Pacific rainfall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-0.26 mm/day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Rainfall approaches recovery but is not strongly positive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takeaway-table">
            <a:extLst xmlns:a="http://schemas.openxmlformats.org/drawingml/2006/main">
              <a:ext uri="{FF2B5EF4-FFF2-40B4-BE49-F238E27FC236}">
                <a16:creationId xmlns:a16="http://schemas.microsoft.com/office/drawing/2014/main" id="{193A36E0-2C06-42E2-8DB4-1EFEB0F3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66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7" name="takeaway-table-title">
            <a:extLst xmlns:a="http://schemas.openxmlformats.org/drawingml/2006/main">
              <a:ext uri="{FF2B5EF4-FFF2-40B4-BE49-F238E27FC236}">
                <a16:creationId xmlns:a16="http://schemas.microsoft.com/office/drawing/2014/main" id="{3DFB4BB0-8274-4AC0-BB27-998A901C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777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7773"/>
                </a:solidFill>
                <a:latin typeface="Aptos"/>
                <a:ea typeface="Aptos"/>
                <a:cs typeface="Aptos"/>
              </a:rPr>
              <a:t>One-sentence takeaway</a:t>
            </a:r>
          </a:p>
        </p:txBody>
      </p:sp>
      <p:sp>
        <p:nvSpPr>
          <p:cNvPr id="8" name="takeaway-table-body">
            <a:extLst xmlns:a="http://schemas.openxmlformats.org/drawingml/2006/main">
              <a:ext uri="{FF2B5EF4-FFF2-40B4-BE49-F238E27FC236}">
                <a16:creationId xmlns:a16="http://schemas.microsoft.com/office/drawing/2014/main" id="{DED42747-DA3F-4EC1-852C-35B7CA31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Takeaway: SST/FEP leads; Jan-Feb wind-pressure and rainfall are asynchronous; Mar-May wind-pressure recovers; rainfall-convection lags.</a:t>
            </a:r>
          </a:p>
        </p:txBody>
      </p:sp>
    </p:spTree>
    <p:extLst>
      <p:ext uri="{BB962C8B-B14F-4D97-AF65-F5344CB8AC3E}">
        <p14:creationId xmlns:p14="http://schemas.microsoft.com/office/powerpoint/2010/main" val="13568594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4E28B5BE-4AE6-4C47-9A5F-BAFF0F3A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What ERA5 Changes Compared with the Earlier Version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9D0DFD31-4DFF-4E92-AB68-C1A5AE4F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2E7B395D-2957-467C-8167-BC78B534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11 | stage assessment</a:t>
            </a:r>
          </a:p>
        </p:txBody>
      </p:sp>
      <p:sp>
        <p:nvSpPr>
          <p:cNvPr id="4" name="footer-tag-11">
            <a:extLst xmlns:a="http://schemas.openxmlformats.org/drawingml/2006/main">
              <a:ext uri="{FF2B5EF4-FFF2-40B4-BE49-F238E27FC236}">
                <a16:creationId xmlns:a16="http://schemas.microsoft.com/office/drawing/2014/main" id="{11981B3F-7E02-41B8-8FB6-D3C24EDA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sp>
        <p:nvSpPr>
          <p:cNvPr id="5" name="left-callout">
            <a:extLst xmlns:a="http://schemas.openxmlformats.org/drawingml/2006/main">
              <a:ext uri="{FF2B5EF4-FFF2-40B4-BE49-F238E27FC236}">
                <a16:creationId xmlns:a16="http://schemas.microsoft.com/office/drawing/2014/main" id="{12BCF5BE-814A-4270-99D5-0DFEA0A7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C85B45"/>
            </a:solidFill>
            <a:prstDash val="solid"/>
          </a:ln>
        </p:spPr>
      </p:sp>
      <p:sp>
        <p:nvSpPr>
          <p:cNvPr id="6" name="left-callout-title">
            <a:extLst xmlns:a="http://schemas.openxmlformats.org/drawingml/2006/main">
              <a:ext uri="{FF2B5EF4-FFF2-40B4-BE49-F238E27FC236}">
                <a16:creationId xmlns:a16="http://schemas.microsoft.com/office/drawing/2014/main" id="{A032C733-9E02-4E76-941E-A53EB764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B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B45"/>
                </a:solidFill>
                <a:latin typeface="Aptos"/>
                <a:ea typeface="Aptos"/>
                <a:cs typeface="Aptos"/>
              </a:rPr>
              <a:t>Earlier version</a:t>
            </a:r>
          </a:p>
        </p:txBody>
      </p:sp>
      <p:sp>
        <p:nvSpPr>
          <p:cNvPr id="7" name="left-callout-body">
            <a:extLst xmlns:a="http://schemas.openxmlformats.org/drawingml/2006/main">
              <a:ext uri="{FF2B5EF4-FFF2-40B4-BE49-F238E27FC236}">
                <a16:creationId xmlns:a16="http://schemas.microsoft.com/office/drawing/2014/main" id="{15C49889-E3BC-40B8-A371-B8DD717A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705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Using OISST, GPCP, OLR, and NCEP data only through January-February, the earlier version could say that SST had begun warming while low-level wind, pressure, and rainfall had not responded synchronously. It could not determine whether the weak response persisted into spring.</a:t>
            </a:r>
          </a:p>
        </p:txBody>
      </p:sp>
      <p:sp>
        <p:nvSpPr>
          <p:cNvPr id="8" name="right-callout">
            <a:extLst xmlns:a="http://schemas.openxmlformats.org/drawingml/2006/main">
              <a:ext uri="{FF2B5EF4-FFF2-40B4-BE49-F238E27FC236}">
                <a16:creationId xmlns:a16="http://schemas.microsoft.com/office/drawing/2014/main" id="{2315C5A5-16C3-4C78-BCAE-B133CDBF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9" name="right-callout-title">
            <a:extLst xmlns:a="http://schemas.openxmlformats.org/drawingml/2006/main">
              <a:ext uri="{FF2B5EF4-FFF2-40B4-BE49-F238E27FC236}">
                <a16:creationId xmlns:a16="http://schemas.microsoft.com/office/drawing/2014/main" id="{11D08E15-F6ED-487D-B985-F850A89B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7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C7773"/>
                </a:solidFill>
                <a:latin typeface="Aptos"/>
                <a:ea typeface="Aptos"/>
                <a:cs typeface="Aptos"/>
              </a:rPr>
              <a:t>Current interpretation</a:t>
            </a:r>
          </a:p>
        </p:txBody>
      </p:sp>
      <p:sp>
        <p:nvSpPr>
          <p:cNvPr id="10" name="right-callout-body">
            <a:extLst xmlns:a="http://schemas.openxmlformats.org/drawingml/2006/main">
              <a:ext uri="{FF2B5EF4-FFF2-40B4-BE49-F238E27FC236}">
                <a16:creationId xmlns:a16="http://schemas.microsoft.com/office/drawing/2014/main" id="{5965409C-5E7E-4D46-AAAA-C0196C09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705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With ERA5 through May, the conclusion becomes more nuanced: early asynchrony is real, but wind and pressure begin to recover toward an El Nino-like state in March-May. The most important branch to track next is rainfall, OLR, and vertical motion, which still show lagged, northward, or fragmented responses.</a:t>
            </a:r>
          </a:p>
        </p:txBody>
      </p:sp>
    </p:spTree>
    <p:extLst>
      <p:ext uri="{BB962C8B-B14F-4D97-AF65-F5344CB8AC3E}">
        <p14:creationId xmlns:p14="http://schemas.microsoft.com/office/powerpoint/2010/main" val="16090741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E3B36C57-CDB3-4B47-AE17-A2208DF5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Next Steps: Turn 2026 into a Same-Metric Comparison with 2023/24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52D776DD-5B95-4A23-AA72-06CF600D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7ED4C200-0A07-4ACB-9EA9-686E1EAB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12 | next steps</a:t>
            </a:r>
          </a:p>
        </p:txBody>
      </p:sp>
      <p:sp>
        <p:nvSpPr>
          <p:cNvPr id="4" name="footer-tag-12">
            <a:extLst xmlns:a="http://schemas.openxmlformats.org/drawingml/2006/main">
              <a:ext uri="{FF2B5EF4-FFF2-40B4-BE49-F238E27FC236}">
                <a16:creationId xmlns:a16="http://schemas.microsoft.com/office/drawing/2014/main" id="{A3676B15-DCFB-4DEF-BE6E-B33C3F3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sp>
        <p:nvSpPr>
          <p:cNvPr id="5" name="next-step-bullets">
            <a:extLst xmlns:a="http://schemas.openxmlformats.org/drawingml/2006/main">
              <a:ext uri="{FF2B5EF4-FFF2-40B4-BE49-F238E27FC236}">
                <a16:creationId xmlns:a16="http://schemas.microsoft.com/office/drawing/2014/main" id="{6AA9B14C-E8A7-410F-8E8B-95A18DFB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102870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• Wait for the June 2026 ERA5 monthly mean to construct formal AMJ 2026, rather than using MAM or Apr-May as proxies.</a:t>
            </a:r>
          </a:p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• Insert ERA5 wind-pressure diagnostics into the existing response-ratio / observed-vs-expected framework for direct 2023-versus-2026 comparison.</a:t>
            </a:r>
          </a:p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• Recalculate 2023/24 AMJ/JJA using the same ERA5 variables to avoid dataset-dependent interpretation.</a:t>
            </a:r>
          </a:p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• Add 200 hPa divergence or velocity potential to diagnose the upper branch of the Walker circulation.</a:t>
            </a:r>
          </a:p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• Keep both OLR and GPCP constraints to test whether convection/rainfall shifts from west/north displacement toward the equatorial central-eastern Pacific.</a:t>
            </a:r>
          </a:p>
        </p:txBody>
      </p:sp>
      <p:sp>
        <p:nvSpPr>
          <p:cNvPr id="6" name="workline">
            <a:extLst xmlns:a="http://schemas.openxmlformats.org/drawingml/2006/main">
              <a:ext uri="{FF2B5EF4-FFF2-40B4-BE49-F238E27FC236}">
                <a16:creationId xmlns:a16="http://schemas.microsoft.com/office/drawing/2014/main" id="{D557254D-9C33-4958-9287-6FBA7B5E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28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2B5F8A"/>
            </a:solidFill>
            <a:prstDash val="solid"/>
          </a:ln>
        </p:spPr>
      </p:sp>
      <p:sp>
        <p:nvSpPr>
          <p:cNvPr id="7" name="workline-title">
            <a:extLst xmlns:a="http://schemas.openxmlformats.org/drawingml/2006/main">
              <a:ext uri="{FF2B5EF4-FFF2-40B4-BE49-F238E27FC236}">
                <a16:creationId xmlns:a16="http://schemas.microsoft.com/office/drawing/2014/main" id="{DC787884-BFAE-4ED0-9803-274C5115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F8A"/>
                </a:solidFill>
                <a:latin typeface="Aptos"/>
                <a:ea typeface="Aptos"/>
                <a:cs typeface="Aptos"/>
              </a:rPr>
              <a:t>A concrete post-presentation work line</a:t>
            </a:r>
          </a:p>
        </p:txBody>
      </p:sp>
      <p:sp>
        <p:nvSpPr>
          <p:cNvPr id="8" name="workline-body">
            <a:extLst xmlns:a="http://schemas.openxmlformats.org/drawingml/2006/main">
              <a:ext uri="{FF2B5EF4-FFF2-40B4-BE49-F238E27FC236}">
                <a16:creationId xmlns:a16="http://schemas.microsoft.com/office/drawing/2014/main" id="{4AD71A47-D0D3-4080-9BAC-B97ADB3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94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C1B18"/>
                </a:solidFill>
                <a:latin typeface="Aptos"/>
                <a:ea typeface="Aptos"/>
                <a:cs typeface="Aptos"/>
              </a:rPr>
              <a:t>A working title could expand from “2023/24 strong El Nino air-sea decoupling” to “Asynchronous developing-season responses of SST, wind-pressure, rainfall, and the Walker circulation: a 2023/24 reproduction and 2026 real-time comparison.”</a:t>
            </a:r>
          </a:p>
        </p:txBody>
      </p:sp>
    </p:spTree>
    <p:extLst>
      <p:ext uri="{BB962C8B-B14F-4D97-AF65-F5344CB8AC3E}">
        <p14:creationId xmlns:p14="http://schemas.microsoft.com/office/powerpoint/2010/main" val="1295676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3806D6BF-56F5-4031-841D-549E161D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C1B18"/>
                </a:solidFill>
                <a:latin typeface="Aptos"/>
                <a:ea typeface="Aptos"/>
                <a:cs typeface="Aptos"/>
              </a:rPr>
              <a:t>Data Links and Local Files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ACF225B5-730F-4591-AB07-EDAFC0B7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13">
            <a:extLst xmlns:a="http://schemas.openxmlformats.org/drawingml/2006/main">
              <a:ext uri="{FF2B5EF4-FFF2-40B4-BE49-F238E27FC236}">
                <a16:creationId xmlns:a16="http://schemas.microsoft.com/office/drawing/2014/main" id="{63E8D72D-5B6E-4789-BCAC-6B2FAE3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Slide 13 | source slide</a:t>
            </a:r>
          </a:p>
        </p:txBody>
      </p:sp>
      <p:sp>
        <p:nvSpPr>
          <p:cNvPr id="4" name="footer-tag-13">
            <a:extLst xmlns:a="http://schemas.openxmlformats.org/drawingml/2006/main">
              <a:ext uri="{FF2B5EF4-FFF2-40B4-BE49-F238E27FC236}">
                <a16:creationId xmlns:a16="http://schemas.microsoft.com/office/drawing/2014/main" id="{E61D9B72-9F49-4F54-BFAE-F50D32D3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ENSO/FEP 2026 diagnostic</a:t>
            </a:r>
          </a:p>
        </p:txBody>
      </p:sp>
      <p:graphicFrame>
        <p:nvGraphicFramePr>
          <p:cNvPr id="11" name="source-table"/>
          <p:cNvGraphicFramePr/>
          <p:nvPr/>
        </p:nvGraphicFramePr>
        <p:xfrm>
          <a:off xmlns:a="http://schemas.openxmlformats.org/drawingml/2006/main" x="590550" y="1314450"/>
          <a:ext xmlns:a="http://schemas.openxmlformats.org/drawingml/2006/main" cx="1102995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2190750"/>
                <a:gridCol w="769620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Category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Dataset / file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8"/>
                          </a:solidFill>
                          <a:latin typeface="Aptos"/>
                          <a:ea typeface="Aptos"/>
                          <a:cs typeface="Aptos"/>
                        </a:rPr>
                        <a:t>Link or local path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ERA5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Monthly single levels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https://cds.climate.copernicus.eu/datasets/reanalysis-era5-single-levels-monthly-means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ERA5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Monthly pressure levels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https://cds.climate.copernicus.eu/datasets/reanalysis-era5-pressure-levels-monthly-means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SST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NOAA OISST v2.1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https://www.ncei.noaa.gov/products/optimum-interpolation-sst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Rainfall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GPCP monthly precipitation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https://psl.noaa.gov/data/gridded/data.gpcp.html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Convection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CPC Blended OLR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https://psl.noaa.gov/data/gridded/data.cpc_blended_olr-1deg.html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Local report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ERA5 figure notes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reports/2026_ERA5再分析气象图说明.md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Local table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ERA5 regional summary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Aptos"/>
                          <a:ea typeface="Aptos"/>
                          <a:cs typeface="Aptos"/>
                        </a:rPr>
                        <a:t>data/derived/research_2026/current_2026_era5_region_summary.csv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E4D15-171E-4D78-83F4-AAC62C04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Note: all anomalies are relative to the 1982-2022 same-month climatology; full 2026 AMJ still requires the June monthly mean.</a:t>
            </a:r>
          </a:p>
        </p:txBody>
      </p:sp>
    </p:spTree>
    <p:extLst>
      <p:ext uri="{BB962C8B-B14F-4D97-AF65-F5344CB8AC3E}">
        <p14:creationId xmlns:p14="http://schemas.microsoft.com/office/powerpoint/2010/main" val="1300257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2026-06-22T05:19:59.5930000Z</dcterms:created>
  <dcterms:modified xsi:type="dcterms:W3CDTF">2026-06-22T05:19:59.5930000Z</dcterms:modified>
</coreProperties>
</file>