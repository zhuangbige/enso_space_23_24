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999fe8559842ff" /><Relationship Type="http://schemas.openxmlformats.org/officeDocument/2006/relationships/extended-properties" Target="/docProps/app.xml" Id="Reb9585969d18457d" /><Relationship Type="http://schemas.openxmlformats.org/officeDocument/2006/relationships/officeDocument" Target="/ppt/presentation.xml" Id="Reabfc3803fa74c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bc84296d4b44e4"/>
  </p:sldMasterIdLst>
  <p:notesMasterIdLst>
    <p:notesMasterId xmlns:r="http://schemas.openxmlformats.org/officeDocument/2006/relationships" r:id="R7774cbc15ae1498d"/>
  </p:notesMasterIdLst>
  <p:sldIdLst>
    <p:sldId xmlns:r="http://schemas.openxmlformats.org/officeDocument/2006/relationships" id="256" r:id="Rcbea98e8f5774cb5"/>
    <p:sldId xmlns:r="http://schemas.openxmlformats.org/officeDocument/2006/relationships" id="257" r:id="R3ecb93b5133147fc"/>
    <p:sldId xmlns:r="http://schemas.openxmlformats.org/officeDocument/2006/relationships" id="258" r:id="Rf621e2fe75e84a01"/>
    <p:sldId xmlns:r="http://schemas.openxmlformats.org/officeDocument/2006/relationships" id="259" r:id="R87ddacb3aff04d98"/>
    <p:sldId xmlns:r="http://schemas.openxmlformats.org/officeDocument/2006/relationships" id="260" r:id="Rf8ca716fb0b84f41"/>
    <p:sldId xmlns:r="http://schemas.openxmlformats.org/officeDocument/2006/relationships" id="261" r:id="Rfc65d89e037a4dd6"/>
    <p:sldId xmlns:r="http://schemas.openxmlformats.org/officeDocument/2006/relationships" id="262" r:id="R3fa7b104c2424b30"/>
    <p:sldId xmlns:r="http://schemas.openxmlformats.org/officeDocument/2006/relationships" id="263" r:id="R6f152aed29ce4ba8"/>
    <p:sldId xmlns:r="http://schemas.openxmlformats.org/officeDocument/2006/relationships" id="264" r:id="R5bbe0da21fe54c69"/>
    <p:sldId xmlns:r="http://schemas.openxmlformats.org/officeDocument/2006/relationships" id="265" r:id="R453e1ec8162e4f07"/>
    <p:sldId xmlns:r="http://schemas.openxmlformats.org/officeDocument/2006/relationships" id="266" r:id="Rbf2ab87ca2e5469c"/>
    <p:sldId xmlns:r="http://schemas.openxmlformats.org/officeDocument/2006/relationships" id="267" r:id="R87322e82194a43d6"/>
    <p:sldId xmlns:r="http://schemas.openxmlformats.org/officeDocument/2006/relationships" id="268" r:id="R65b2c2227bc24b7f"/>
    <p:sldId xmlns:r="http://schemas.openxmlformats.org/officeDocument/2006/relationships" id="269" r:id="R0d5494fb819b416c"/>
    <p:sldId xmlns:r="http://schemas.openxmlformats.org/officeDocument/2006/relationships" id="270" r:id="R5fe8ce72d8e84d69"/>
    <p:sldId xmlns:r="http://schemas.openxmlformats.org/officeDocument/2006/relationships" id="271" r:id="R5d2f7cb2e5964ff1"/>
    <p:sldId xmlns:r="http://schemas.openxmlformats.org/officeDocument/2006/relationships" id="272" r:id="R7c92cdfaeb1f4933"/>
    <p:sldId xmlns:r="http://schemas.openxmlformats.org/officeDocument/2006/relationships" id="273" r:id="R86ddb8f5a71f45ac"/>
    <p:sldId xmlns:r="http://schemas.openxmlformats.org/officeDocument/2006/relationships" id="274" r:id="R9b1ecc38c0be4420"/>
    <p:sldId xmlns:r="http://schemas.openxmlformats.org/officeDocument/2006/relationships" id="275" r:id="R8602539ea2f24789"/>
    <p:sldId xmlns:r="http://schemas.openxmlformats.org/officeDocument/2006/relationships" id="276" r:id="R047236914a2549e6"/>
    <p:sldId xmlns:r="http://schemas.openxmlformats.org/officeDocument/2006/relationships" id="277" r:id="Rc05d815595b241a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bc84296d4b44e4" /><Relationship Type="http://schemas.openxmlformats.org/officeDocument/2006/relationships/theme" Target="/ppt/theme/theme1.xml" Id="Ra70ba08e78564898" /><Relationship Type="http://schemas.openxmlformats.org/officeDocument/2006/relationships/notesMaster" Target="/ppt/notesMasters/notesMaster1.xml" Id="R7774cbc15ae1498d" /><Relationship Type="http://schemas.openxmlformats.org/officeDocument/2006/relationships/presProps" Target="/ppt/presProps.xml" Id="Rf3fd42f22b244ec2" /><Relationship Type="http://schemas.openxmlformats.org/officeDocument/2006/relationships/viewProps" Target="/ppt/viewProps.xml" Id="R76ad6ed01b1f4c2c" /><Relationship Type="http://schemas.openxmlformats.org/officeDocument/2006/relationships/tableStyles" Target="/ppt/tableStyles.xml" Id="R3cd2c9f0828a4401" /><Relationship Type="http://schemas.openxmlformats.org/officeDocument/2006/relationships/slide" Target="/ppt/slides/slide1.xml" Id="Rcbea98e8f5774cb5" /><Relationship Type="http://schemas.openxmlformats.org/officeDocument/2006/relationships/slide" Target="/ppt/slides/slide2.xml" Id="R3ecb93b5133147fc" /><Relationship Type="http://schemas.openxmlformats.org/officeDocument/2006/relationships/slide" Target="/ppt/slides/slide3.xml" Id="Rf621e2fe75e84a01" /><Relationship Type="http://schemas.openxmlformats.org/officeDocument/2006/relationships/slide" Target="/ppt/slides/slide4.xml" Id="R87ddacb3aff04d98" /><Relationship Type="http://schemas.openxmlformats.org/officeDocument/2006/relationships/slide" Target="/ppt/slides/slide5.xml" Id="Rf8ca716fb0b84f41" /><Relationship Type="http://schemas.openxmlformats.org/officeDocument/2006/relationships/slide" Target="/ppt/slides/slide6.xml" Id="Rfc65d89e037a4dd6" /><Relationship Type="http://schemas.openxmlformats.org/officeDocument/2006/relationships/slide" Target="/ppt/slides/slide7.xml" Id="R3fa7b104c2424b30" /><Relationship Type="http://schemas.openxmlformats.org/officeDocument/2006/relationships/slide" Target="/ppt/slides/slide8.xml" Id="R6f152aed29ce4ba8" /><Relationship Type="http://schemas.openxmlformats.org/officeDocument/2006/relationships/slide" Target="/ppt/slides/slide9.xml" Id="R5bbe0da21fe54c69" /><Relationship Type="http://schemas.openxmlformats.org/officeDocument/2006/relationships/slide" Target="/ppt/slides/slide10.xml" Id="R453e1ec8162e4f07" /><Relationship Type="http://schemas.openxmlformats.org/officeDocument/2006/relationships/slide" Target="/ppt/slides/slide11.xml" Id="Rbf2ab87ca2e5469c" /><Relationship Type="http://schemas.openxmlformats.org/officeDocument/2006/relationships/slide" Target="/ppt/slides/slide12.xml" Id="R87322e82194a43d6" /><Relationship Type="http://schemas.openxmlformats.org/officeDocument/2006/relationships/slide" Target="/ppt/slides/slide13.xml" Id="R65b2c2227bc24b7f" /><Relationship Type="http://schemas.openxmlformats.org/officeDocument/2006/relationships/slide" Target="/ppt/slides/slide14.xml" Id="R0d5494fb819b416c" /><Relationship Type="http://schemas.openxmlformats.org/officeDocument/2006/relationships/slide" Target="/ppt/slides/slide15.xml" Id="R5fe8ce72d8e84d69" /><Relationship Type="http://schemas.openxmlformats.org/officeDocument/2006/relationships/slide" Target="/ppt/slides/slide16.xml" Id="R5d2f7cb2e5964ff1" /><Relationship Type="http://schemas.openxmlformats.org/officeDocument/2006/relationships/slide" Target="/ppt/slides/slide17.xml" Id="R7c92cdfaeb1f4933" /><Relationship Type="http://schemas.openxmlformats.org/officeDocument/2006/relationships/slide" Target="/ppt/slides/slide18.xml" Id="R86ddb8f5a71f45ac" /><Relationship Type="http://schemas.openxmlformats.org/officeDocument/2006/relationships/slide" Target="/ppt/slides/slide19.xml" Id="R9b1ecc38c0be4420" /><Relationship Type="http://schemas.openxmlformats.org/officeDocument/2006/relationships/slide" Target="/ppt/slides/slide20.xml" Id="R8602539ea2f24789" /><Relationship Type="http://schemas.openxmlformats.org/officeDocument/2006/relationships/slide" Target="/ppt/slides/slide21.xml" Id="R047236914a2549e6" /><Relationship Type="http://schemas.openxmlformats.org/officeDocument/2006/relationships/slide" Target="/ppt/slides/slide22.xml" Id="Rc05d815595b241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3327ef3b1ba46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488787955f47e7" /><Relationship Type="http://schemas.openxmlformats.org/officeDocument/2006/relationships/notesMaster" Target="/ppt/notesMasters/notesMaster1.xml" Id="Rac2b723ba96443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20ee005f94422a" /><Relationship Type="http://schemas.openxmlformats.org/officeDocument/2006/relationships/notesMaster" Target="/ppt/notesMasters/notesMaster1.xml" Id="R578a169b3a754d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deac32974a49e4" /><Relationship Type="http://schemas.openxmlformats.org/officeDocument/2006/relationships/notesMaster" Target="/ppt/notesMasters/notesMaster1.xml" Id="Rad1ffaeac54246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5d7c731fc64a49" /><Relationship Type="http://schemas.openxmlformats.org/officeDocument/2006/relationships/notesMaster" Target="/ppt/notesMasters/notesMaster1.xml" Id="R3ba98e232ea246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3d471cad334a11" /><Relationship Type="http://schemas.openxmlformats.org/officeDocument/2006/relationships/notesMaster" Target="/ppt/notesMasters/notesMaster1.xml" Id="R1e28c45d3b9247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9111c74add44f3" /><Relationship Type="http://schemas.openxmlformats.org/officeDocument/2006/relationships/notesMaster" Target="/ppt/notesMasters/notesMaster1.xml" Id="Rdd084c8768b940b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e4cc9216f74f3b" /><Relationship Type="http://schemas.openxmlformats.org/officeDocument/2006/relationships/notesMaster" Target="/ppt/notesMasters/notesMaster1.xml" Id="R5b6bad5adc9646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0961c715e164418" /><Relationship Type="http://schemas.openxmlformats.org/officeDocument/2006/relationships/notesMaster" Target="/ppt/notesMasters/notesMaster1.xml" Id="R4ce2c6c477a44b3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17452cbedb64ce9" /><Relationship Type="http://schemas.openxmlformats.org/officeDocument/2006/relationships/notesMaster" Target="/ppt/notesMasters/notesMaster1.xml" Id="Re1a9a8e8dc2141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0da2638c9b41b1" /><Relationship Type="http://schemas.openxmlformats.org/officeDocument/2006/relationships/notesMaster" Target="/ppt/notesMasters/notesMaster1.xml" Id="R1092a9ddaf534de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1201686c114f99" /><Relationship Type="http://schemas.openxmlformats.org/officeDocument/2006/relationships/notesMaster" Target="/ppt/notesMasters/notesMaster1.xml" Id="Rb16fae4cf92f4aa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3a7a954f7044f5" /><Relationship Type="http://schemas.openxmlformats.org/officeDocument/2006/relationships/notesMaster" Target="/ppt/notesMasters/notesMaster1.xml" Id="R5d8fb5b3f50849f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caafd82d94e4b92" /><Relationship Type="http://schemas.openxmlformats.org/officeDocument/2006/relationships/notesMaster" Target="/ppt/notesMasters/notesMaster1.xml" Id="R4843b668391148d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a6b62ad434e4124" /><Relationship Type="http://schemas.openxmlformats.org/officeDocument/2006/relationships/notesMaster" Target="/ppt/notesMasters/notesMaster1.xml" Id="R131df882a08a4a5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05c5d063b2a4aa2" /><Relationship Type="http://schemas.openxmlformats.org/officeDocument/2006/relationships/notesMaster" Target="/ppt/notesMasters/notesMaster1.xml" Id="Rb496c8b4e54c401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5e913d164204a01" /><Relationship Type="http://schemas.openxmlformats.org/officeDocument/2006/relationships/notesMaster" Target="/ppt/notesMasters/notesMaster1.xml" Id="Raf0d40f1045341f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a49da415e0b4601" /><Relationship Type="http://schemas.openxmlformats.org/officeDocument/2006/relationships/notesMaster" Target="/ppt/notesMasters/notesMaster1.xml" Id="R7acdd25f96a94ca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633d3d6885f4814" /><Relationship Type="http://schemas.openxmlformats.org/officeDocument/2006/relationships/notesMaster" Target="/ppt/notesMasters/notesMaster1.xml" Id="R797df6492709430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03f2c99de5c42e6" /><Relationship Type="http://schemas.openxmlformats.org/officeDocument/2006/relationships/notesMaster" Target="/ppt/notesMasters/notesMaster1.xml" Id="R2152e19702534fe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e4d024ac6b04813" /><Relationship Type="http://schemas.openxmlformats.org/officeDocument/2006/relationships/notesMaster" Target="/ppt/notesMasters/notesMaster1.xml" Id="Ra6f371df01f943f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7d468abcb494762" /><Relationship Type="http://schemas.openxmlformats.org/officeDocument/2006/relationships/notesMaster" Target="/ppt/notesMasters/notesMaster1.xml" Id="R06881ae6a5594bb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f43669b31fd4fa6" /><Relationship Type="http://schemas.openxmlformats.org/officeDocument/2006/relationships/notesMaster" Target="/ppt/notesMasters/notesMaster1.xml" Id="Rb8d9c028832c47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e3a61e5a1492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ffb946d5354483b" /><Relationship Type="http://schemas.openxmlformats.org/officeDocument/2006/relationships/slideLayout" Target="/ppt/slideLayouts/slideLayout2.xml" Id="Rc196fd926f8c46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96fd926f8c46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f002d3b8b0495b" /><Relationship Type="http://schemas.openxmlformats.org/officeDocument/2006/relationships/notesSlide" Target="/ppt/notesSlides/notesSlide1.xml" Id="Rbd437e17afac49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b2f64992154be1" /><Relationship Type="http://schemas.openxmlformats.org/officeDocument/2006/relationships/notesSlide" Target="/ppt/notesSlides/notesSlide2.xml" Id="Raf1f047d46e243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a7c0d075ac4895" /><Relationship Type="http://schemas.openxmlformats.org/officeDocument/2006/relationships/notesSlide" Target="/ppt/notesSlides/notesSlide3.xml" Id="R30214edd8eab41d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2aa94ebda24c7b" /><Relationship Type="http://schemas.openxmlformats.org/officeDocument/2006/relationships/notesSlide" Target="/ppt/notesSlides/notesSlide4.xml" Id="Ra4483fd8319749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2b62b2627f4e70" /><Relationship Type="http://schemas.openxmlformats.org/officeDocument/2006/relationships/notesSlide" Target="/ppt/notesSlides/notesSlide5.xml" Id="R6dcc42a09f4240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ddbe747e4647b1" /><Relationship Type="http://schemas.openxmlformats.org/officeDocument/2006/relationships/image" Target="/ppt/media/image.png" Id="R93681d59d9ce42c7" /><Relationship Type="http://schemas.openxmlformats.org/officeDocument/2006/relationships/notesSlide" Target="/ppt/notesSlides/notesSlide6.xml" Id="R4783070a4c1f49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f316bdb5024da5" /><Relationship Type="http://schemas.openxmlformats.org/officeDocument/2006/relationships/image" Target="/ppt/media/image2.png" Id="Rec2cb0a2fdd64b66" /><Relationship Type="http://schemas.openxmlformats.org/officeDocument/2006/relationships/notesSlide" Target="/ppt/notesSlides/notesSlide7.xml" Id="R567afb66ae0d46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9fcfb9cfad4845" /><Relationship Type="http://schemas.openxmlformats.org/officeDocument/2006/relationships/image" Target="/ppt/media/image3.png" Id="R235842dd671c4de3" /><Relationship Type="http://schemas.openxmlformats.org/officeDocument/2006/relationships/notesSlide" Target="/ppt/notesSlides/notesSlide8.xml" Id="Rd57b95220bdf45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15a6316a784c13" /><Relationship Type="http://schemas.openxmlformats.org/officeDocument/2006/relationships/image" Target="/ppt/media/image4.png" Id="R3e77bba7e5fb4b00" /><Relationship Type="http://schemas.openxmlformats.org/officeDocument/2006/relationships/notesSlide" Target="/ppt/notesSlides/notesSlide9.xml" Id="R4e522960a92c43b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18747c8d7c40a5" /><Relationship Type="http://schemas.openxmlformats.org/officeDocument/2006/relationships/image" Target="/ppt/media/image5.png" Id="Rc7bdfcd984214fab" /><Relationship Type="http://schemas.openxmlformats.org/officeDocument/2006/relationships/notesSlide" Target="/ppt/notesSlides/notesSlide10.xml" Id="R747a4bb247804b3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adb0e1250841a3" /><Relationship Type="http://schemas.openxmlformats.org/officeDocument/2006/relationships/notesSlide" Target="/ppt/notesSlides/notesSlide11.xml" Id="R51e39ea4773f474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6ec0fdf0f24536" /><Relationship Type="http://schemas.openxmlformats.org/officeDocument/2006/relationships/image" Target="/ppt/media/image6.png" Id="R6681fdce0f064e7e" /><Relationship Type="http://schemas.openxmlformats.org/officeDocument/2006/relationships/notesSlide" Target="/ppt/notesSlides/notesSlide12.xml" Id="Rf2a768b752d2408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01ad5add114213" /><Relationship Type="http://schemas.openxmlformats.org/officeDocument/2006/relationships/image" Target="/ppt/media/image7.png" Id="Rfc7c6fb36e464f4f" /><Relationship Type="http://schemas.openxmlformats.org/officeDocument/2006/relationships/notesSlide" Target="/ppt/notesSlides/notesSlide13.xml" Id="R3ee1fb83cd524f3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2b3e95ae344477" /><Relationship Type="http://schemas.openxmlformats.org/officeDocument/2006/relationships/image" Target="/ppt/media/image8.png" Id="R60dce61ed8354906" /><Relationship Type="http://schemas.openxmlformats.org/officeDocument/2006/relationships/notesSlide" Target="/ppt/notesSlides/notesSlide14.xml" Id="R526a2652eba9421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428b079a474ce8" /><Relationship Type="http://schemas.openxmlformats.org/officeDocument/2006/relationships/image" Target="/ppt/media/image9.png" Id="R3bfebdb5a66e473f" /><Relationship Type="http://schemas.openxmlformats.org/officeDocument/2006/relationships/notesSlide" Target="/ppt/notesSlides/notesSlide15.xml" Id="Rcb6e70b41c2245e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b749d3b86d47a1" /><Relationship Type="http://schemas.openxmlformats.org/officeDocument/2006/relationships/image" Target="/ppt/media/image10.png" Id="Re1c6d454d60244c9" /><Relationship Type="http://schemas.openxmlformats.org/officeDocument/2006/relationships/image" Target="/ppt/media/image11.png" Id="Rb611a3bd0d6b425e" /><Relationship Type="http://schemas.openxmlformats.org/officeDocument/2006/relationships/notesSlide" Target="/ppt/notesSlides/notesSlide16.xml" Id="R01571340ee38436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0c5e7e9c804991" /><Relationship Type="http://schemas.openxmlformats.org/officeDocument/2006/relationships/notesSlide" Target="/ppt/notesSlides/notesSlide17.xml" Id="Rfc0e98787fef4c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edad23d3c44eae" /><Relationship Type="http://schemas.openxmlformats.org/officeDocument/2006/relationships/notesSlide" Target="/ppt/notesSlides/notesSlide18.xml" Id="Rc201d6e5c4bd4f4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4852a52c144ea2" /><Relationship Type="http://schemas.openxmlformats.org/officeDocument/2006/relationships/notesSlide" Target="/ppt/notesSlides/notesSlide19.xml" Id="R2d1b8c4055d7482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42afec24384704" /><Relationship Type="http://schemas.openxmlformats.org/officeDocument/2006/relationships/notesSlide" Target="/ppt/notesSlides/notesSlide20.xml" Id="Raaa1bb99fd52493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67e442ec794f7d" /><Relationship Type="http://schemas.openxmlformats.org/officeDocument/2006/relationships/notesSlide" Target="/ppt/notesSlides/notesSlide21.xml" Id="Rbf2a5c0f3aed43c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84728b75874b2c" /><Relationship Type="http://schemas.openxmlformats.org/officeDocument/2006/relationships/notesSlide" Target="/ppt/notesSlides/notesSlide22.xml" Id="R81e4c725967545c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723916-F3BF-4658-8EFF-9D8516F3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D0E078-B48C-481F-85C2-13C8870C8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导师阅读版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302D99-F1CE-4FF4-8653-D76ABC65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14400"/>
            <a:ext cx="8572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2023/24 强厄尔尼诺海气脱耦：复现、问题提出与阶段性创新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21CC89-301D-4D46-9171-5098F439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956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目标：让不熟悉该方向的读者也能看懂每张图的数据来源、物理含义、与原文关系和本研究新增内容。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5200F1-CB6C-41BB-9D8F-16E8B87F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909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C89873-5F6E-44B9-AAF5-CD305DA1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1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1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先解释缩写和变量，避免直接进入专业简称。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886E0D-19BC-403D-9E66-5CFF4B8F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4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1AF5DB-FBF5-42A7-B8C7-A0C4CD33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386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1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1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每张图都写明：数据名称、反映了什么、对应原文什么、我的创新在哪里。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E8E997-52A7-4602-BDC2-3D3A22BD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577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5DFB86-7D66-467B-B989-273C3BA3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72050"/>
            <a:ext cx="838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1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13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字体和图注加大，牺牲一点页数，换取可独立阅读性。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C9FF8B-3E8B-481B-B965-298C1E73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200150"/>
            <a:ext cx="121920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A060BD-E9FB-48C9-9FF7-B09CD1A3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857500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7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57F1EA-B32B-401B-A699-A5E07A4B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Peng et al. 2025; NOAA OISST; GPCP; NCEP/NCAR R1; local diagnostics. 2026-05-24.</a:t>
            </a:r>
          </a:p>
        </p:txBody>
      </p:sp>
    </p:spTree>
    <p:extLst>
      <p:ext uri="{BB962C8B-B14F-4D97-AF65-F5344CB8AC3E}">
        <p14:creationId xmlns:p14="http://schemas.microsoft.com/office/powerpoint/2010/main" val="33532651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9BA614-8062-4023-9221-3D1FDE50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A7D744-6D14-45BC-82C5-C0B048100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总判断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6ADB88-FCBD-425C-9BE8-E6430CA2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目前主线已经从“复现原文”推进到“发展季耦合效率丧失”的新问题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19DD2-8C1C-4B81-B0E3-93E01C18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9EB9DB-A03C-459A-9598-0881222B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990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43D8DC-A60B-4A1B-AFBF-4C119050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24050"/>
            <a:ext cx="948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原文证明 2023/24 强厄尔尼诺主要由海洋动力生成，但同时暴露出一个关键异常：海温很强，大气端的风、气压和降水响应却偏弱。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5D62D0-D4AD-4386-B765-BDC5745E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194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76D59B-968E-4893-BCB2-BD8C270C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本研究接着问：这种弱响应最早从哪个季节出现？是全年平均现象，还是发展季 AMJ/JJA 就已经发生？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D62454-559E-4157-96CC-E73F6B7B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862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C7125-15E8-4E8D-8E2B-97575131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目前阶段性结果显示：2023 年春夏 Niño-3 海表温度已经强于历史强事件平均，但中西太平洋低层风、SOI-like 压力梯度和降水响应没有同步增强。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2AD960-9621-4353-9689-0F0B65E8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529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5F378D-2695-4C19-9423-CE0AE5C1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6725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因此，新研究的入口不是再证明 2023/24 是强厄尔尼诺，而是解释为什么强海温没有触发典型强厄尔尼诺式的大气耦合。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5B4DA7-7A3F-4F3B-94D6-677B27DF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Synthesis from reproduced Peng et al. figures and data/derived/research seasonal diagnostics.</a:t>
            </a:r>
          </a:p>
        </p:txBody>
      </p:sp>
    </p:spTree>
    <p:extLst>
      <p:ext uri="{BB962C8B-B14F-4D97-AF65-F5344CB8AC3E}">
        <p14:creationId xmlns:p14="http://schemas.microsoft.com/office/powerpoint/2010/main" val="46788224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1AAEA7-C3F9-4C5E-846A-6A29F48A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115E89-32FE-4E64-B96A-9E64CE99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术语先说明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4AFC5-48FF-4BFF-BA03-CFB0055B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本报告常见缩写和变量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8444A6-E443-4FF9-859D-AF07C555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CB022-9520-4436-98E6-AA73C42A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0B6408-BA47-4643-838D-13398F90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2402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缩写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16A9DC-41F2-4F53-9520-63EFBEA6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65735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A248E-B5C7-4A24-BB3A-08F3010B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72402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全称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E925C-83DE-47DC-9B6F-E5433F29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42F357-D1AD-4B97-AEF3-41F21F7A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172402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本研究中的意思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7C5E41-4D38-44BD-8C6A-855CEC17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8597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BB1F6D-13B7-4D0D-8FB7-0271038F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15265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23229C-3B1F-4E50-B830-8435BFF3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08597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3904ED-2A6F-4A46-81FB-1A33FD22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15265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海表温度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185977-C781-47BF-BCF5-70BBB26E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8597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C90174-196A-4158-A972-C6A83638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15265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判断厄尔尼诺海洋增暖强度。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E79D05-8FEC-47DF-986C-43110DFE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3C8A9-90D2-4BBF-A9A6-8C7D013C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58127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Niño-3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4C2EA5-BECC-4639-B935-2CC1C447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51460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66B06B-512D-4D4F-AF93-4F3119DC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8127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东赤道太平洋海温区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59D981-D672-44B5-B0F5-A50788DC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1460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1C90E1-D83A-4502-B051-D53B9E8F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58127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代表东太平洋暖异常，常用于描述厄尔尼诺强度。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2432B8-267A-46A5-AB9C-9B8528A6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4322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5AED38-A8AF-4A55-86FA-24CAE8C2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0990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u10 / u850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3D662F-602F-4F8B-B6E2-35708B3B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94322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4FE3F5-6DC8-433D-8AE5-B9A35DBF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10 米 / 850 hPa 纬向风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A8DC57-12E7-4432-AF6B-32C22F08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94322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AB4035-03D3-46BA-A72E-6C90372C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00990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东西向风；西风异常可加强海气耦合。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280186-A879-474F-BEE4-2AB7AE67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8C1524-825F-45BE-8268-CA085A5B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43852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SOI / SLP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0966A2-F804-4C15-BD15-EE10E5B1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37185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8CFE8F-7A2A-4A81-857C-292C3A10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3852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南方涛动指数 / 海平面气压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DDB071-6502-46E6-9279-2694FB0E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7185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E21B80-4957-4022-9C4E-04A03F8F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43852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衡量东西太平洋气压跷跷板和 Walker 环流响应。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D2BD6C-4663-4CBE-A88E-BEAE1DFD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A65853-579E-4EAD-B20F-AB5F0B0B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86715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OLR / χ200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FBF493-8E6B-438B-A25C-778FD61A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80047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B0BE1A8-8DD9-4815-9BDF-7DCDD7D9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6715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向外长波辐射 / 200 hPa 速度势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478AF3-BC2A-4279-98AA-F546B07F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0047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AEE0D80-0E45-428E-B2DA-EA7DD021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86715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分别反映深对流和上层大尺度环流。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34761DA-B4B9-4853-B50C-E2372C97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C40E5B-E5AA-4540-A71E-309F6C68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29577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5E727C3-7182-4895-B275-36E0C425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22910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49A074-65D5-4702-8A35-466F5B5B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9577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4-6月 / 6-8月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062256-A1EE-464F-896F-FF9AD975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22910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25A8EEC-46BE-4595-BA4C-58941ACB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429577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本研究重点的发展前期季节。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792B1C-B8EB-478B-923B-98BEC574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772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6FD6C35-F4E9-4325-BFF0-E6BB5F8D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2440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TNA/MC/WPWP/TIO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52CABEA-295D-496D-97CE-1A8F7296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65772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726CC63-7EFF-4014-A356-BF9297341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72440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热带北大西洋/海陆洲/西太暖池/热带印度洋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D1A618E-09B3-443D-9CD2-6384C637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5772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EEA0497-C59E-45A1-A29F-5B64CA55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472440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外海盆和热带背景态重点区域。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9CDBFD1-09D4-4E9F-BDD9-3625B832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Standard climate diagnostics and docs/data_source_log.md.</a:t>
            </a:r>
          </a:p>
        </p:txBody>
      </p:sp>
    </p:spTree>
    <p:extLst>
      <p:ext uri="{BB962C8B-B14F-4D97-AF65-F5344CB8AC3E}">
        <p14:creationId xmlns:p14="http://schemas.microsoft.com/office/powerpoint/2010/main" val="208622794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76790E-0772-4A34-9F2B-79ACF32E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D13FD8-0FDB-42BC-88E9-7533C1A3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术语先说明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66CF2E-92E4-464C-A5C2-310C131F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数据集、模式实验和区域缩写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A20F3B-8995-4E9D-8BCC-D4DDDED9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4C5B38-9EC3-4680-83EB-254AD794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1F785D-56D8-438D-B529-9094E216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2402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缩写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9E1C7E-CFDD-47E0-8A31-19E98457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65735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C7941-D3F2-4408-88C6-11B6D117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72402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全称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5B440-9A8D-4A18-B98F-3AF62247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457770-B1F7-449C-96A7-307725C8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172402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本研究中的意思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21A40-8A8D-4B32-92BB-B4A6801A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8597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44D84F-4701-4C80-85C2-D344B3F5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15265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1EC4D3-348C-4CF3-9B70-4D3084C5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08597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F85294-2CD5-4BA1-8613-CFC2448F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15265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美国国家海洋和大气管理局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03CC3-2785-45F1-9FB0-DF218A6C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8597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15308C-AC7E-4DEE-9F74-7520FD45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15265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OISST、OLR 等资料的重要发布机构。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BABB52-93AF-4268-A9BD-CD8E1890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DA8E3B-F12D-49E2-AF1D-FB06CD05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58127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9C470B-4106-4BCE-A048-83C0584B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51460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6076F6-32A4-4DD6-8C8C-6A7FA2CB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8127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第一代再分析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2C6E3C-4924-4174-BBE3-5FD1F2C5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1460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8BF496-548B-4D5E-810B-0AFFC2C4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58127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当前低层风和海平面气压的 fallback 验证资料。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3FBDDD-0D14-4914-9977-2DDA10EB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4322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28A37F-41E7-44D2-8B83-C918514A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0990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ERA5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64BE36-7CFC-4FE3-8476-56719C95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94322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733B8B-8158-48B5-983F-6D1A3B1F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ECMWF 第五代再分析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81260E-56A2-405A-80E6-3153CD2F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94322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1B0D2E-771C-48DF-82F5-6B5AA120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00990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下一步用于论文级 u850、SLP 和 Walker 环流诊断。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695847-D751-4219-AF66-EE1FFBE2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7EF30E-AB49-4549-8465-51EFD983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43852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ERSSTv5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C0DA9B-BB04-440C-A520-FC005C34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37185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23D733-00B0-402E-8067-0D068C63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3852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扩展重建海表温度第 5 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300F7D-1D63-4F8E-B5E7-DC985B0D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7185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F2FE2D-F01B-4BB7-A217-A2E4D7BF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43852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用于长记录历史强厄尔尼诺稳健性检查。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E64C90-6C22-4A0C-803A-8A99A579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D06818-F7E5-41DD-B591-8C393DB1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86715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AGCM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B863E6-FBDC-4DD4-9CCC-E59B6498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80047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91B03F-AAEE-4C7C-B3EE-800EAF46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6715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大气环流模式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08AB783-09BC-4810-A909-7C4F4DE8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0047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2B64AB3-039D-417B-8DA0-0F06AE27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386715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用规定海表温度作为边界条件，检验大气响应来源。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DC9171-0DC4-4C79-AD6D-F8788A43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F01EFDC-70F6-4043-B13E-6875CAA9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29577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ENSO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E3A549-2676-4662-914F-1AE96129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22910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EBE65C-0CB1-4A21-9F7E-4CE3A2103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9577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厄尔尼诺-南方涛动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70E357-858F-4E62-AC0D-E93BEFA7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22910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CC48EB9-7752-4A04-B5B4-4F1D7E7E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429577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El Niño 和 La Niña 所属的热带太平洋海气耦合系统。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6B6C37B-61C7-4CC0-A156-0A8422D3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772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9E793B-0BE4-4CBD-94D3-9EE3E270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2440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CWP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2A0C949-1B2E-480F-99A2-DCDDBCF6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65772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B957AC1-B6CB-4581-BB44-2446DA72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72440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中西太平洋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3136D37-1E78-4450-A775-01C9E3DB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5772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AC6238E-8F95-4F73-8BD9-D3E309FFC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472440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本研究中低层风响应的关键区域。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ED10F00-DB5C-455D-8816-FD2AD709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86350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531F18A-3FDF-49F9-9FAC-54B92334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153025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MJO/RMM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86CE8FC-F371-4938-A31B-93FAA44F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086350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12410C1-2B18-4DF6-9317-C1041C942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153025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Madden-Julian Oscillation / Real-time Multivariate MJO index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FBF22CA-1961-4E39-8435-C182A9EE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086350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A2CF689-C14D-4790-8D91-4EB5D82D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5153025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用于后续区分季节内振荡对关键月份的影响。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61E596-F72E-459E-B657-1C707E1F6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14975"/>
            <a:ext cx="13811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71C8A42-518B-4AAC-9F62-642680E6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581650"/>
            <a:ext cx="12096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CTRL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3473CB0-2AA5-433D-877B-C2BB600F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514975"/>
            <a:ext cx="3000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619B22E-B9E9-4209-8EC9-2605A990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581650"/>
            <a:ext cx="28289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Control experiment，控制实验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5D29B09-CE0E-4794-97DE-53B245DB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514975"/>
            <a:ext cx="59817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53D48A2-137F-4E9F-9DB5-1CDA2C75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5581650"/>
            <a:ext cx="5810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模式实验中的基准组，用于和敏感性实验比较。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B855C57-2169-4E56-9C90-6D0424F3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Acronyms checked against all detailed slide text.</a:t>
            </a:r>
          </a:p>
        </p:txBody>
      </p:sp>
    </p:spTree>
    <p:extLst>
      <p:ext uri="{BB962C8B-B14F-4D97-AF65-F5344CB8AC3E}">
        <p14:creationId xmlns:p14="http://schemas.microsoft.com/office/powerpoint/2010/main" val="107367723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E30471-4AA2-4D24-8988-6122D993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B8BE28-EE54-438C-9867-4884490F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原文贡献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F51E8A-3046-44A5-8BC6-E54A206A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Peng et al. 2025 主要回答了：强 2023/24 El Niño 是怎样生成的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E2F1E8-4EA6-4467-A740-A288704F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9B6BC9-D238-445C-B7CA-8E93C1D9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C36351-65B8-4D18-8EC0-E12DA71B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811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层面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74B8C0-FD16-428B-A8A2-A90274E6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145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98FC20-C693-409A-A5F5-4DFA6CA0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811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原文结论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757019-747F-43C3-87DC-31139914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AB9F10-1A73-43CA-9EEA-36739B3D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7811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对本研究的作用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5EA3D2-A11B-4496-9465-565271B7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495BF-4E4E-4BBF-AA34-6FBD0F3A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3362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海洋端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F32417-E00E-43D5-9CC6-308D6438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669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78A43F-B75A-426C-B448-5A99C47D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33362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赤道太平洋海洋动力和热含量过程使 2023/24 事件变强。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257BDA-B449-47F9-98E6-CDD2509C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E52776-B758-4593-91A7-6F40A121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33362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提供了“海温为什么强”的基础。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827C10-0F61-45E3-923F-FEADFD83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D5A70D-C437-4840-AE36-428E5DE4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860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大气端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ED7A99-548F-4E91-9498-DE9DAB2D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194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4AF034-2638-451F-ADB1-1B09DBC7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8860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相对于历史强厄尔尼诺，大气风压反馈偏弱。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198B54-D675-4D69-A2D1-191BE5CE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194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7785EC-7D6D-4B25-A172-431B1FBDB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8860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引出“强海温为何没有强响应”的问题。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738A7E-2C58-4CD1-99F7-F57A4C84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D90E1B-55CD-48AF-96C0-8183376C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43852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外海盆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89CC42-AE6C-40B6-A4AE-C79B2A3F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F76285-278A-4CAD-ACD2-689E4A33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43852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印度洋和大西洋 SST 可能抵消部分太平洋强迫。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A086D5-617F-4AA0-B52D-68C29AF3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3EBCBC-7B96-4893-885B-0579BD03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3852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提示外海盆背景态可能是机制切口。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7B3475-2732-4BFE-BFF6-7A71CB9F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98B2B8-D51C-4A1C-ACB9-AD88FC37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9909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模式实验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E8420C-8181-4E85-A3F9-669CD807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24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DDF549-0CD8-40A3-860E-B66F921D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9909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AGCM 和风应力实验区分了海温边界和风场强迫。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3A1EDE-D4B9-42E4-8DF9-C4AA01F5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243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AFC700-7DD4-42E8-9D61-13F8966D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9909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为后续设计 Pacific-only / external-basin 实验提供模板。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47BC0C-1985-4E3F-8285-40137312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3014330-46FB-45BC-BEC4-1679C243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9639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Reading note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EF7F63-59F0-4CD6-AE16-14E8479E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9639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所以，我不是推翻原文，而是在原文基础上把问题往大气耦合端推进：原文解释了强海温的生成，本研究解释强海温为什么没有带来同步的大气响应。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FA6F41-6589-48F5-B0B4-E434AAD6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L1: Peng et al. 2025 Nature Geoscience.</a:t>
            </a:r>
          </a:p>
        </p:txBody>
      </p:sp>
    </p:spTree>
    <p:extLst>
      <p:ext uri="{BB962C8B-B14F-4D97-AF65-F5344CB8AC3E}">
        <p14:creationId xmlns:p14="http://schemas.microsoft.com/office/powerpoint/2010/main" val="11910080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77BA13-DC81-41D6-99C8-34C02A65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B82A51-F861-4AC8-BB64-4EA56240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原文复现 Fig.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57B992-8C59-4502-8E67-BF11E39E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图中数据名称：SST、海平面气压/10米风、Niño-3 与大气响应散点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AD185B-26F4-40A6-BE5B-2D539BA3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681d59d9ce42c7"/>
          <a:stretch xmlns:a="http://schemas.openxmlformats.org/drawingml/2006/main"/>
        </p:blipFill>
        <p:spPr>
          <a:xfrm xmlns:a="http://schemas.openxmlformats.org/drawingml/2006/main">
            <a:off x="1335002" y="1733550"/>
            <a:ext cx="4187996" cy="34861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E11BD-69B4-4D81-8551-39C29EFD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ECDC9-20D6-46A2-9DA4-EC716C74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这幅图是什么数据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27DB6F-AB26-4830-974D-955F63CE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Fig. 1 的源数据。上半部分是 2023/24 与历史强事件的海表温度、海平面气压和 10 米风异常；下半部分是 Niño-3 海温与 u10、SOI 的历史关系。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A344D4-90AF-43BD-AACD-0F30D340A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2A6934-D86E-4F4F-AA48-BD2B6F62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它反映了什么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20BC64-6224-49F4-9605-2C50583F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2023/24 的 Niño-3 海温很强，但对应的近地面风和气压响应偏弱，说明海洋强度和大气响应强度没有按历史经验同步增长。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12D2D4-4FAB-45F2-8529-CE7107CF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C96A9F-AA48-4B29-9113-96253FB3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对应原文与我的创新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BB4AF5-64D6-4A08-AE75-99F6ACF2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对应原文的核心事实复现。创新不是这页本身，而是后续把这个全年/成熟期事实拆到 AMJ/JJA 发展前期，追问弱响应何时开始。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5C3A09-AA02-4168-87D2-6FD1646A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Peng et al. source archive; local file Fig1.png; table fig1_event_coupling.csv.</a:t>
            </a:r>
          </a:p>
        </p:txBody>
      </p:sp>
    </p:spTree>
    <p:extLst>
      <p:ext uri="{BB962C8B-B14F-4D97-AF65-F5344CB8AC3E}">
        <p14:creationId xmlns:p14="http://schemas.microsoft.com/office/powerpoint/2010/main" val="183978512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194D8D-0421-473C-9E9D-AD134203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4FA7B-4681-4A12-805A-57057B39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复现数值化 Fig.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345D3A-9166-491C-A75B-F0B3D130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图中数据名称：u10 和 SOI 相对历史强事件的响应比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E62199-FCA6-40AE-A27A-94313B7F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2cb0a2fdd64b66"/>
          <a:stretch xmlns:a="http://schemas.openxmlformats.org/drawingml/2006/main"/>
        </p:blipFill>
        <p:spPr>
          <a:xfrm xmlns:a="http://schemas.openxmlformats.org/drawingml/2006/main">
            <a:off x="571500" y="2261112"/>
            <a:ext cx="5715000" cy="243102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76A57-4F79-4F3B-975A-D55D5DC3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71670B-904D-40BA-9185-19EC61C2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这幅图是什么数据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30177A-0B2D-461D-A3A8-A2C569CB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从 fig1_event_coupling.csv 提取的事件指标。Niño-3 表示海温强度，u10 表示 10 米纬向风，SOI 表示南方涛动指数。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6F578E-B03C-4CE5-941F-3A92C26C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DE0B76-DCD5-4F4C-81DD-4027AA33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它反映了什么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0074E8-FC2D-44AD-B113-CC193061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2023 年 u10 响应比约 0.27，SOI 响应比约 0.31，即大气响应只有历史强厄尔尼诺期望值的大约三分之一。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46B655-2EE1-443E-8AB1-40423763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258D81-559D-4B65-A161-276F1F0C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对应原文与我的创新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FD2DA4-5B30-47F6-BC41-3DDE1904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对应原文 Fig. 1 的“强海温、弱大气”结论。我的创新是把这个比值思想扩展成季节耦合效率矩阵，而不是只做全年单点对比。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9495EB-AB5B-4F58-8350-00D09FD9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Derived table: data/derived/peng2025_repro/tables/fig1_event_coupling.csv.</a:t>
            </a:r>
          </a:p>
        </p:txBody>
      </p:sp>
    </p:spTree>
    <p:extLst>
      <p:ext uri="{BB962C8B-B14F-4D97-AF65-F5344CB8AC3E}">
        <p14:creationId xmlns:p14="http://schemas.microsoft.com/office/powerpoint/2010/main" val="18667576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243D1D-E9ED-48F1-A36C-3C956B4C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84D58F-A3BA-474D-A697-C3D06AB8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原文复现 Fig.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532C15-12C2-4C9F-84A7-FE22A020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图中数据名称：赤道太平洋传播、次表层热结构和海洋动力诊断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2FB88-9763-47EF-A007-608DF0E5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5842dd671c4de3"/>
          <a:stretch xmlns:a="http://schemas.openxmlformats.org/drawingml/2006/main"/>
        </p:blipFill>
        <p:spPr>
          <a:xfrm xmlns:a="http://schemas.openxmlformats.org/drawingml/2006/main">
            <a:off x="1953807" y="1733550"/>
            <a:ext cx="2950387" cy="34861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01A7F6-F904-41FD-8AC6-9FE0F2F0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F71FDA-E429-4D46-98C0-D91A99460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这幅图是什么数据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F60BC9-BA0B-4BB0-A021-80602991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Fig. 2 的赤道剖面和时间-经度诊断，展示海温、次表层热异常、传播特征和风应力相关信号。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297ADE-5D8C-4557-879F-5A9C7687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8CA246-6953-4580-908C-B6AAA7AF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它反映了什么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562AC-703B-4102-A2E2-98723461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原文用这组图证明 2023/24 强海温不是偶然表层变暖，而是受到赤道太平洋海洋动力过程支持。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43FEFD-E911-4453-B666-3A9FEBB1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166655-C4D3-4C77-9922-8A581967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对应原文与我的创新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AC8B9-A01B-464D-B8B3-C4A4AC991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对应原文的海洋动力归因部分。本研究接受这个结论，并把研究焦点转向：既然海洋端足够强，为什么大气端没有同步跟上？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B1610C-62FB-49A9-8356-32ED6ABD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Peng et al. source archive; local Fig2.png; table fig2_equatorial_summary.csv.</a:t>
            </a:r>
          </a:p>
        </p:txBody>
      </p:sp>
    </p:spTree>
    <p:extLst>
      <p:ext uri="{BB962C8B-B14F-4D97-AF65-F5344CB8AC3E}">
        <p14:creationId xmlns:p14="http://schemas.microsoft.com/office/powerpoint/2010/main" val="155976978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F3620B-2EEB-4226-AB87-6020B6F0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D5EE2A-8E3A-4A4E-92C1-225A0D49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原文复现 Fig.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24BFB2-5431-40CB-91AB-7AB28E90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图中数据名称：AGCM 海温强迫实验中的风应力响应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C9A9A3-2E74-413E-AABD-12B3BD3D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77bba7e5fb4b00"/>
          <a:stretch xmlns:a="http://schemas.openxmlformats.org/drawingml/2006/main"/>
        </p:blipFill>
        <p:spPr>
          <a:xfrm xmlns:a="http://schemas.openxmlformats.org/drawingml/2006/main">
            <a:off x="1220684" y="1733550"/>
            <a:ext cx="4416631" cy="34861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430C82-566F-4F4E-902B-7DAE3DB2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AF346-A87B-4C1E-918C-389BC5BE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这幅图是什么数据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2A0D34-D2AE-4CD2-A202-FD4385AD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AGCM 即大气环流模式实验。原文把全球 SST、太平洋 SST、印度洋/大西洋 SST 等边界条件分开，比较大气风应力响应。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01B822-9317-4D91-8C82-1E7F29B1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F67C18-A898-46FE-BD16-50AAF343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它反映了什么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D31B94-7BC0-492E-A7FF-2C79B2D9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太平洋暖 SST 本应激发较强大气响应，但印度洋和大西洋背景可能提供相反或抵消作用。表格中 aPac 风应力为正，aIndAtl 风应力为负。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CC0242-A559-41EC-8DF0-EB935610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2EE0C9-465A-4937-A0DA-30A5DCFB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对应原文与我的创新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11F95-91A1-4E97-8F2F-E5ADC8BE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对应原文外海盆调制思路。我的创新是先不用马上跑模式，而是用观测资料分季节诊断外海盆暖异常和耦合效率是否同步出现。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845380-7DD9-43AF-B9AB-B4FC0BD3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Peng et al. source archive; table fig3_agcm_summary.csv.</a:t>
            </a:r>
          </a:p>
        </p:txBody>
      </p:sp>
    </p:spTree>
    <p:extLst>
      <p:ext uri="{BB962C8B-B14F-4D97-AF65-F5344CB8AC3E}">
        <p14:creationId xmlns:p14="http://schemas.microsoft.com/office/powerpoint/2010/main" val="189416026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FB6965-9AB9-4A85-9F82-29FF149F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09A890-C221-4848-A8CD-EE8EACAAC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原文复现 Fig.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AF14BB-3708-4BB7-A7B9-4D68673E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图中数据名称：风应力实验对 Niño-3 海温发展的影响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29E3CD-23C0-4E05-A592-89965C2C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bdfcd984214fab"/>
          <a:stretch xmlns:a="http://schemas.openxmlformats.org/drawingml/2006/main"/>
        </p:blipFill>
        <p:spPr>
          <a:xfrm xmlns:a="http://schemas.openxmlformats.org/drawingml/2006/main">
            <a:off x="2114109" y="1733550"/>
            <a:ext cx="2629783" cy="34861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601BCF-14A7-429F-9F6C-9CD6C740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7F110-056A-4C45-B513-43C9D48E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这幅图是什么数据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D79C3C-B513-431A-AC9A-3CDA2C88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原文风应力实验，比较不同风场设定下 Niño-3 海温的发展。关键数值包括 Dec Niño-3 CTRL=2.344，Wind2023=0.681。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8CC33D-85A4-4993-81F4-4FE6EE71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61CFC3-D847-41BB-A4B1-2EF5E4C8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它反映了什么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1D5744-8B45-4E90-9C56-8BED3349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2023 年实际风场并没有像典型强厄尔尼诺那样强力推动海温增长，说明大气风强迫本身偏弱。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37CE54-CB13-482B-9065-ED4E8A61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B85FF8-35DC-4C34-97B9-5B64F32F3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对应原文与我的创新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A66BDE-FBD6-4B70-9A9F-24CE45DF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对应原文“2023 风场偏弱”的实验佐证。我的创新是把这个偏弱风场进一步定位到 AMJ/JJA 发展季，并与降水、气压一起比较。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BC23EA-6EE3-4617-AA41-FB31A370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Peng et al. source archive; table fig4_wind_experiment_summary.csv.</a:t>
            </a:r>
          </a:p>
        </p:txBody>
      </p:sp>
    </p:spTree>
    <p:extLst>
      <p:ext uri="{BB962C8B-B14F-4D97-AF65-F5344CB8AC3E}">
        <p14:creationId xmlns:p14="http://schemas.microsoft.com/office/powerpoint/2010/main" val="99450884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52AFAB-2310-4698-A974-C930E4A7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12EEB7-B214-41DC-B697-17E8ACB0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从原文到新问题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03B716-91DE-4A63-88CB-89DA75FD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原文留下的缺口：弱耦合是何时出现的？是否与外海盆背景态有关？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80DD97-9D0D-4F8C-9E01-6E6DCA86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C83549-FE04-4846-9330-F5AD5C5E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990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3475AA-577C-4246-9B8C-BFF7D6E0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24050"/>
            <a:ext cx="948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如果只说“2023/24 大气响应弱”，还不够形成新论文。必须进一步回答：弱响应发生在发展季、成熟期，还是全程？哪些变量最先脱耦？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708BD9-E361-4000-BFDE-DD10B013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194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FFBA87-584F-49CA-BBF2-C13D56E0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原文主要围绕事件生成和海洋动力过程展开，季节性的风压/降水/对流不同步还没有被系统展开。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C65D68-FD36-457F-8EC3-AEA0385E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862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1D5018-3F58-421F-BBFD-3C84E02B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我的研究把响应变量拆成海表温度、低层风、海平面气压、降水、OLR 和 Walker 环流，再按 AMJ/JJA/SON/DJF 比较。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EDCFEB-F6BB-49C5-A8A5-70F5FCFC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529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601C1F-7EF2-41D4-A083-425CF01F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6725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这样可以把一个笼统的“弱响应”问题变成可检验的季节耦合效率问题。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4D7F73-4A25-4948-BE9D-47D20A81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Research transition based on L1 and local seasonal diagnostics.</a:t>
            </a:r>
          </a:p>
        </p:txBody>
      </p:sp>
    </p:spTree>
    <p:extLst>
      <p:ext uri="{BB962C8B-B14F-4D97-AF65-F5344CB8AC3E}">
        <p14:creationId xmlns:p14="http://schemas.microsoft.com/office/powerpoint/2010/main" val="127667969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F3CA94-820F-4031-9949-9F2DF86D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34460C-74D5-4637-BE4D-98A36C64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独立资料验证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F078E6-652E-4D90-9139-21F3D454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图中数据名称：OISST、GPCP、NCEP/NCAR 对原文指标的再计算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315E6-7A4A-41B5-87B3-4F37766F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81fdce0f064e7e"/>
          <a:stretch xmlns:a="http://schemas.openxmlformats.org/drawingml/2006/main"/>
        </p:blipFill>
        <p:spPr>
          <a:xfrm xmlns:a="http://schemas.openxmlformats.org/drawingml/2006/main">
            <a:off x="756410" y="1733550"/>
            <a:ext cx="5345181" cy="34861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4E7925-4FCE-43D8-9BF4-1ED55B0B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4E8670-3BD0-47E7-844F-E257E348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这幅图是什么数据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9E55A2-F1A7-4C11-9154-1AA60941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 是 NOAA 海表温度资料，GPCP 是全球降水资料，NCEP/NCAR R1 是再分析风压资料。图中显示它们与复现指标的相关或一致性。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C6F654-25AA-4D8E-AC73-25061F9C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1F8885-29A9-4C30-BB65-A2F82E13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它反映了什么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7CBF62-0EA1-4836-9D9E-5D78D731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 Niño-3 与原文复现相关 0.9999；NCEP 风和类 SOI 压力梯度也高度一致。这说明核心事实不是单一论文数据集造成的。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1AF831-C6E5-49E2-8967-CFEFCBB7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56C91C-EB07-42B5-9ED0-0100F05C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对应原文与我的创新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430900-6A52-4E16-8899-8F7CB8B5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对应原文 Fig. 1-2 的外部资料验证。创新是把复现结果转为公开数据链条，为后续自己的季节诊断建立可追溯基础。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785D5C-C4CA-4D22-91E0-CB588103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Tables: oisst_vs_fig1_nino3.csv; gpcp_vs_fig2_precip.csv; ncep_vs_fig1_atmosphere.csv.</a:t>
            </a:r>
          </a:p>
        </p:txBody>
      </p:sp>
    </p:spTree>
    <p:extLst>
      <p:ext uri="{BB962C8B-B14F-4D97-AF65-F5344CB8AC3E}">
        <p14:creationId xmlns:p14="http://schemas.microsoft.com/office/powerpoint/2010/main" val="114092835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2A015F-026B-4336-BEE5-60E0ECE8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5C20F4-B401-4439-8133-D1A42AACB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新研究发现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375E83-B4A9-4EFF-80F5-E88704DC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图中数据名称：AMJ/JJA/SON/DJF 季节耦合效率矩阵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073A21-00B6-45E2-B36A-E95AC52D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7c6fb36e464f4f"/>
          <a:stretch xmlns:a="http://schemas.openxmlformats.org/drawingml/2006/main"/>
        </p:blipFill>
        <p:spPr>
          <a:xfrm xmlns:a="http://schemas.openxmlformats.org/drawingml/2006/main">
            <a:off x="571500" y="2405063"/>
            <a:ext cx="5715000" cy="21431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7EF2DB-1505-4A62-8436-7C34ACD8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DE0BEC-3858-4E15-A2F6-219992E7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这幅图是什么数据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23FA17-F4A5-47CA-9910-29D7FC80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 Niño-3、NCEP 中西太平洋低层风、SOI-like 海平面气压梯度、GPCP 降水等指标，按季节与 1982/83、1997/98、2015/16 强事件平均比较。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A6B6A-2D5B-46B7-B2BC-8B7E4C2E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94DA9A-9410-408C-A0F4-78FF8030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它反映了什么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332F9-5A4B-4799-A941-23C0F632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 的 Niño-3 海温比历史强事件还强或相当强，但风压和降水响应效率很低。AMJ CWP 风响应比约 -0.43，JJA 约 -0.14。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23CD3E-E4BB-457F-A1FC-0187934A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FA71AB-4754-4982-B9E9-34FB793C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对应原文与我的创新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8E3B3C-ED75-4D3C-BFEF-7202FFA6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原文指出 2023/24 总体弱耦合；我的创新是定位到发展前期，并用历史强事件作基准定量说明哪些变量最先不同步。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0BC744-1383-4CF9-A36C-4A87F788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Tables: asynchronous_coupling_efficiency.csv; seasonal_asynchrony_matrix.csv.</a:t>
            </a:r>
          </a:p>
        </p:txBody>
      </p:sp>
    </p:spTree>
    <p:extLst>
      <p:ext uri="{BB962C8B-B14F-4D97-AF65-F5344CB8AC3E}">
        <p14:creationId xmlns:p14="http://schemas.microsoft.com/office/powerpoint/2010/main" val="11989071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49375E-40D9-4428-8EBD-55ECFDB1C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68BDEF-6797-4E9B-ACEB-F3BDB314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新研究发现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4923A-FF40-4CEF-B08E-1B9499B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图中数据名称：AMJ/JJA 海表温度和 GPCP 降水空间异常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805CAD-C67B-4F5B-B786-9C486004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dce61ed8354906"/>
          <a:stretch xmlns:a="http://schemas.openxmlformats.org/drawingml/2006/main"/>
        </p:blipFill>
        <p:spPr>
          <a:xfrm xmlns:a="http://schemas.openxmlformats.org/drawingml/2006/main">
            <a:off x="571500" y="1954203"/>
            <a:ext cx="5715000" cy="304484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5B78C7-77CB-45B3-A422-990222E8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06D7E6-82FB-45F6-BA5F-00C6A2CD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这幅图是什么数据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509669-80C1-416C-8033-51217ACB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上排是 OISST 海表温度，下面是 GPCP 降水。每个格点都是 2023 AMJ/JJA 减去历史强厄尔尼诺 composite。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669055-70C7-4E14-B910-7DEF01E2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2CD2CE-0191-450C-A72D-F291FD3C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它反映了什么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22E3A8-9AA3-4A64-8D83-68042FB69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2023 春夏不只是东太平洋暖，热带北大西洋、海陆洲和西太暖池也显著偏暖；但中东太平洋降水没有同步增强，甚至相对历史强事件偏弱。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78EF49-5FD8-4F1E-8AB9-5D0E0FE8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ACBEC6-C3BE-42FC-AB7F-C725E9F1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对应原文与我的创新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4380D5-B73E-4300-82EB-B1CF85F3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对应原文关于外海盆 SST 可能调制响应的提示。我的创新是给出发展季空间证据，说明外海盆暖背景和弱降水响应同时出现。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6F92E5-EF62-4114-ADE2-AD3ED5C4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NOAA OISST v2.1 and GPCP; summary table stage_a_spatial_summary.csv.</a:t>
            </a:r>
          </a:p>
        </p:txBody>
      </p:sp>
    </p:spTree>
    <p:extLst>
      <p:ext uri="{BB962C8B-B14F-4D97-AF65-F5344CB8AC3E}">
        <p14:creationId xmlns:p14="http://schemas.microsoft.com/office/powerpoint/2010/main" val="68567240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9E2FDD-407E-4EFF-9DF9-501691B0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582D1D-6290-40E6-8098-8BA53E6D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新研究发现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8EBEB6-053C-49E3-B347-117A914A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图中数据名称：AMJ/JJA 近地面风和海平面气压空间异常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B33A70-20A4-443A-BDC9-0B7B9281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febdb5a66e473f"/>
          <a:stretch xmlns:a="http://schemas.openxmlformats.org/drawingml/2006/main"/>
        </p:blipFill>
        <p:spPr>
          <a:xfrm xmlns:a="http://schemas.openxmlformats.org/drawingml/2006/main">
            <a:off x="571500" y="1882418"/>
            <a:ext cx="5715000" cy="318841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AEFA05-F7DC-4A53-B4DD-09818F76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002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459EE-4EA2-4849-BA54-F57472A6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145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这幅图是什么数据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3EA39-EB61-4FFE-9B76-A124456B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R1 的近地面 sigma995 风和海平面气压 SLP，计算 2023 AMJ/JJA 相对历史强事件 composite 的差值。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9534D3-7A95-4135-9BE4-9753E574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410103-37A3-48D0-BA97-C88D2776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9085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它反映了什么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223C24-CBE2-4ED0-8C3C-A0C9C7C1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中西太平洋低层风异常相对历史强事件偏弱，海平面气压梯度也没有建立出典型强厄尔尼诺结构。这支持“Walker 环流响应不典型”。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A290F3-D00A-4573-B706-8806A233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52900"/>
            <a:ext cx="4305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A415B2-BDC3-46F8-8326-514B6D15E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403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对应原文与我的创新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D3B556-037F-4CDF-A58C-6E8684A5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038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对应原文中风场偏弱的发现。创新是把风和气压做成发展季空间对比，指出 AMJ/JJA 已经出现大气端不同步。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42100E-FA09-4F63-A80F-D59D0C964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NCEP/NCAR R1 fallback; final manuscript stage should verify with ERA5.</a:t>
            </a:r>
          </a:p>
        </p:txBody>
      </p:sp>
    </p:spTree>
    <p:extLst>
      <p:ext uri="{BB962C8B-B14F-4D97-AF65-F5344CB8AC3E}">
        <p14:creationId xmlns:p14="http://schemas.microsoft.com/office/powerpoint/2010/main" val="78408704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FAD4D5-196F-4F38-9B38-147CD5EB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2F236-BEC2-441E-B15A-A7E16086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新研究发现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CCBDBD-B476-4A2C-A843-C24DD535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图中数据名称：外海盆暖异常指数与季节耦合效率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095C7-996C-4056-92ED-C5B91DBE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c6d454d60244c9"/>
          <a:stretch xmlns:a="http://schemas.openxmlformats.org/drawingml/2006/main"/>
        </p:blipFill>
        <p:spPr>
          <a:xfrm xmlns:a="http://schemas.openxmlformats.org/drawingml/2006/main">
            <a:off x="571500" y="2199193"/>
            <a:ext cx="3333750" cy="1773813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11a3bd0d6b425e"/>
          <a:stretch xmlns:a="http://schemas.openxmlformats.org/drawingml/2006/main"/>
        </p:blipFill>
        <p:spPr>
          <a:xfrm xmlns:a="http://schemas.openxmlformats.org/drawingml/2006/main">
            <a:off x="4095750" y="2389256"/>
            <a:ext cx="3333750" cy="139368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360945-BBBC-41AC-8201-A1A20EF4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619250"/>
            <a:ext cx="36385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F9D248-D513-40B1-9735-7211BAEA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33550"/>
            <a:ext cx="3371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这幅图是什么数据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1E766D-EF3D-4753-A335-815222D9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19300"/>
            <a:ext cx="3371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左图是 OISST 计算的热带北大西洋、西太暖池、海陆洲和热带印度洋海温差值；右图是季节耦合效率指标。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CCC484-AF57-442C-8096-793EA57A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71800"/>
            <a:ext cx="36385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02F4E-84F3-4CAE-9D4E-BECE6776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86100"/>
            <a:ext cx="3371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它反映了什么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B3676-CB68-416C-831E-CAAC8613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3371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2023 春夏外海盆和西太暖池明显偏暖，同时太平洋大气耦合效率偏低。二者在时间上共同出现，是后续机制分析的重点线索。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C3CFBB-0F9B-409C-8492-58570C23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324350"/>
            <a:ext cx="36385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91DA52-1887-4FE2-9A74-004AB1A6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38650"/>
            <a:ext cx="3371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对应原文与我的创新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E499E7-1979-406E-8FA7-9F49ECB9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724400"/>
            <a:ext cx="33718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原文用 AGCM 提示外海盆可能抵消太平洋响应；我的创新是先用观测资料确认 2023 发展季外海盆暖异常的空间和季节存在。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5F0685-8F98-448D-8ACB-6ED04D48C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Tables: external_basin_seasonal_summary.csv; asynchronous_coupling_efficiency.csv.</a:t>
            </a:r>
          </a:p>
        </p:txBody>
      </p:sp>
    </p:spTree>
    <p:extLst>
      <p:ext uri="{BB962C8B-B14F-4D97-AF65-F5344CB8AC3E}">
        <p14:creationId xmlns:p14="http://schemas.microsoft.com/office/powerpoint/2010/main" val="151767651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B89CFE-5EF8-4C69-8F5C-6204C4CB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7E764-ABF0-441A-A294-6944F2DB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历史对比总结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369F7-DA8A-44DF-8BB5-F6AE8599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核心数值：2023 春夏不是海温不够强，而是大气响应没有跟上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75B48C-B8E5-435D-81D9-1481B582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096440-993A-4258-97BE-187AEF6B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C47917-92C6-4456-82C8-15432020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811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指标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D1E567-C193-4986-AD9A-E6CEF90B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145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E739D6-4AA7-4E2E-AAB8-79BFE1D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811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AMJ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C417B8-B254-4207-BB70-50686AB3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2C8456-BE95-4BE6-90C8-AC653AFEE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7811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JJA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271A4C-3230-4AE6-ACB9-A7D422BA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057E81-8175-405A-AEC5-50987832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3362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Niño-3 海温相对历史强事件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29F24A-F3EA-41E5-82DF-B0AB23DA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669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69286-933F-4932-9181-0800BE0A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33362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1.41 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11B2FA-FC21-4A2E-A837-45C14F6C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146F4F-F8DE-4B6A-8D19-480EC884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33362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1.22 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7AC732-6C71-4C1F-B896-0CD28ABA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D8F8B8-1947-430F-947C-B0C580D7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860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中西太平洋低层风响应比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E9B842-237C-442F-980C-025BADB0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194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386691-57F8-454D-B672-36F02EB31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8860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-0.43 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7D67F2-9727-45FB-BB77-E3C2041D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194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FE5387-5A04-485B-BBE6-A54D2E4A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8860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-0.14 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38A428-E9E4-4FC8-BD2C-B9DA29EC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7A657A-10C4-4369-92DC-86D7E8C0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43852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SOI-like 压力响应效率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BCA879-6B2B-4FF3-91AA-E42AEB6F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92DE22-2746-4FF9-9601-3066175B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43852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0.22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B45BFC-2D40-4CA6-AAFE-44AF23AB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EA7D3B-B002-42FD-9EC3-670A0711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3852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0.28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3017DD-B751-4561-BFDE-79B833B3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B42FE1-1458-4F78-85F3-4652022F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9909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中太平洋 GPCP 降水响应比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5D0D72-42C6-45B5-B1BC-EC2AF548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24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0A8878-F7A1-4DD6-9578-9B66E9DF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9909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0.43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A35377-6B2A-4F6D-B04D-559A1B9F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243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BCE125-125A-4204-BDE0-DCCAAFEF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9909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0.38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DDD262-A67D-4E49-9D00-5EC07512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ABD54E-E450-42CB-B05A-A0B5902F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9639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Reading note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5D34D0-EEF5-4E2D-AD0F-888FA141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9639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这些数值共同说明：2023 年发展季的海洋端已经足够强，但大气端没有产生历史强厄尔尼诺中常见的西风增强、气压梯度变化和降水东移。这就是本研究的核心诊断结果。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E3F988-2708-4714-895E-6A5203DC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Tables: asynchronous_coupling_efficiency.csv; gpcp_precip_seasonal_summary.csv.</a:t>
            </a:r>
          </a:p>
        </p:txBody>
      </p:sp>
    </p:spTree>
    <p:extLst>
      <p:ext uri="{BB962C8B-B14F-4D97-AF65-F5344CB8AC3E}">
        <p14:creationId xmlns:p14="http://schemas.microsoft.com/office/powerpoint/2010/main" val="198459173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C570E3-B8EA-4184-85F6-776CF683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CEA984-7124-40EC-B0D8-209E8113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与现有研究区别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5C5B56-951B-4CB2-8292-363B8C5F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已有研究解释单个机制或月份，本研究系统化为季节耦合效率问题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34E7C1-2D52-488D-A5A0-076510DB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6355CF-528D-49BD-B47E-FCE5F868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A0A333-559D-4125-82B7-93984604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81175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文献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64D1B-706F-4F4B-A9C9-DCEB6945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145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651750-576E-4AC5-8E0E-70820C10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81175"/>
            <a:ext cx="3924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已有重点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4921BD-AB81-415A-B6C1-74CD7BA5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45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2651B3-1A20-4061-816B-1E39F82B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781175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本研究新增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1EDDA9-E4EA-4E5E-8502-9C29735C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43773D-55C4-42BC-A6CB-005FCF25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38375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2025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843EF1-EA0A-4852-B58B-859A7309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1717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6792FD-B3BC-4B07-9DE8-C94B7899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238375"/>
            <a:ext cx="3924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海洋动力生成强事件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AFFA27-C6A7-4D70-82DB-EC6370C3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71700"/>
            <a:ext cx="445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A0E74-E50E-4A3E-895B-5F1A448B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238375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解释大气响应为何弱、何时弱。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7F020A-021D-44BA-8F7B-5A705620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AD4156-AFFD-4085-BD41-5876D8E64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95575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Zhang et al. 2025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44DEAF-644C-4F77-9421-9BE13AED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289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1F036E-2529-4528-86D5-1511504A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695575"/>
            <a:ext cx="3924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弱降水/遥相关与外海盆加热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B7B10C-99C8-4F74-B752-89BBB397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28900"/>
            <a:ext cx="445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C73EAD-41D9-41DE-A68E-780FA162E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695575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将风、气压、降水、SST 做季节矩阵。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2BD43A-41A2-47B2-BC1F-374C504D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FA4BC4-7093-4248-B5CC-F5F3D664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152775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Kim et al. 2025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45575C-82F9-41A6-BD03-7B5E3F4B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861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1198CF-8CA0-4380-8EB7-EDCBAD4D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152775"/>
            <a:ext cx="3924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发展季风场与西中太梯度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54C1FD-DB94-4C56-A380-ADEFBA6E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86100"/>
            <a:ext cx="445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BEC1A5-0B44-4F9A-AA4A-4FA98C98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152775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加入 SOI-like、GPCP 和外海盆历史对比。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A9DEE4-48C1-441D-A30C-B246E89C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4B6A50-F17B-4E54-93F6-B3C3D578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609975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Zhao et al. 2025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0AEFB7-6663-4473-B4BD-50476307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5433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9015CA-AD10-4230-8434-09471740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609975"/>
            <a:ext cx="3924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2023 年 7 月 TNA 和季风/海陆洲加热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EC89B9-8B66-4C44-913B-0CBF12F5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45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4D949F-6509-4A2F-B8E1-032F6D56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609975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从 AMJ/JJA 到 SON/DJF 连续追踪。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D766FD-5FBF-421D-8F44-F78DCCE7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A15F819-A793-4536-9314-866AC779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067175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Yang &amp; Li 2025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0B359B-EE0B-41F0-948F-12CFE22C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005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A5FA57-0188-4B24-B131-4BCECE8A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067175"/>
            <a:ext cx="3924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2024 年 1 月 MJO/trend/ENSO 分解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EFBCABA-2332-423A-A21C-46F81A52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445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EE6F11-5F5C-4BCA-9B42-8840EA58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067175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先建立发展季背景，再接入 MJO/OLR。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7EBAF44-DD36-4D1F-8D37-C004B1AF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4AE764-86FF-4822-AD4C-31FFF926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9639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Reading note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56F022C-2955-478B-A0C5-10C500BD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9639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因此，本研究的差异不是只提出一个新的资料集，而是把“弱响应”拆成时间维度和变量维度：哪一季开始弱、哪个变量最先弱、外海盆背景是否同步异常。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6F10A4B-B317-4C13-8211-934A686A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Literature notes: docs/literature_method_notes.md; source IDs L2-L8.</a:t>
            </a:r>
          </a:p>
        </p:txBody>
      </p:sp>
    </p:spTree>
    <p:extLst>
      <p:ext uri="{BB962C8B-B14F-4D97-AF65-F5344CB8AC3E}">
        <p14:creationId xmlns:p14="http://schemas.microsoft.com/office/powerpoint/2010/main" val="15066375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F2BD21-2D65-42F8-AC08-8FA3C0D4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E6B4E-20BC-4403-9C6F-22F19DC7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拟定研究题目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CECC0D-511C-49E4-94C0-C7FD2F75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建议题目：2023/24 强厄尔尼诺发展季海气耦合失效及其外海盆背景态调制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847132-5F50-49CB-8387-077FB85F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2B0845-17F0-45E3-BDE7-32CC211B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990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5DF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45EB1-CC35-4DEE-8895-EC5089B8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24050"/>
            <a:ext cx="948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1B18"/>
                </a:solidFill>
                <a:latin typeface="Aptos"/>
                <a:ea typeface="Aptos"/>
                <a:cs typeface="Aptos"/>
              </a:rPr>
              <a:t>工作假设：2023 春夏热带外海盆暖异常和热带平均增暖背景改变了 Walker 环流和对流阈值，使太平洋暖 SST 对低层风、海平面气压和降水的典型响应滞后或减弱。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CF12E-C7E8-4756-AE49-060D59DC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194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2BB916-E133-409C-8EE6-79AAE2E5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假设 1：热带北大西洋、印度洋和海陆洲暖异常改变大尺度热力背景，抑制中太平洋西风响应。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87C209-89C5-45BF-A4CB-E1ED6C0B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862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6EDF65-1AE7-4512-BE19-28E564EE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假设 2：海陆洲/印度洋对流维持在西侧，使典型 El Niño 降水中心东移不充分。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77424E-38F0-4BA9-A378-61D14727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529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5A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D1DDDA-CC8A-480C-943A-CF1C09C8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6725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假设 3：热带平均增暖提高对流触发阈值，使同样的太平洋 SST 异常对应更弱大气反馈。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E34051-4D9C-43A5-B414-5A6EA32A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Current diagnostics establish association; mechanism attribution requires ERA5, OLR, MJO/RMM and AGCM tests.</a:t>
            </a:r>
          </a:p>
        </p:txBody>
      </p:sp>
    </p:spTree>
    <p:extLst>
      <p:ext uri="{BB962C8B-B14F-4D97-AF65-F5344CB8AC3E}">
        <p14:creationId xmlns:p14="http://schemas.microsoft.com/office/powerpoint/2010/main" val="1535739465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55614D-523A-46AE-8EFF-627410A0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CE3CC4-1666-4E40-BAE5-18720029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下一步数据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69A66D-7743-40C0-B4A1-0FC2E18C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下一版研究图需要补什么数据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412A97-0293-47A0-BA1A-5BADEC8A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DD45C-391E-47A9-84BD-83015B3F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AA2150-2A21-4174-93D4-35D92F99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811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数据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62EDBB-8B92-4812-9C8D-26B839FB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145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247348-E452-456E-AD97-4AD0E425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811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用途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B6B097-10ED-435D-8143-2FC5CDCE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A5927A-59CE-4368-A993-34A7C3AF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7811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为什么需要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3BDF8B-7A75-4225-86EC-77BB9DB4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0F826D-5613-4850-A9AA-3445F41E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3362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ERA5 u850 / SLP / χ200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5B2723-3E6D-4627-A7D9-A5CDD85B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669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E55434-E40F-4D28-AF4F-3C94C7B3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33362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替换 NCEP fallback，诊断低层风、海平面气压和 Walker 环流。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7AA8D1-A359-4D25-B4E0-EDC7DF3F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267C0D-8646-4E8C-A3FA-36ADA6AD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33362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论文级风压和环流证据需要更高质量再分析。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CA6F57-DB10-422A-977A-04AB6134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0A623-D466-4725-A98D-574273B6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860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OLR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DC4E6A-5A9C-435E-BFE9-678FCA74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194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172435-1D90-4DA8-BD9C-F3AB22A1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8860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独立验证深对流位置和强度。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CAF7E6-03DE-435B-A0F6-2DF22834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194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F438C7-01C8-4C54-96AC-08F41F53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8860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避免只依赖降水资料判断对流。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6B1973-1DFB-4F6B-8529-F5064962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A37916-814D-4747-9CE8-609AD58C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43852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ERSSTv5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B118AA-D159-4237-906D-ABAAD32A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E22D70-53F5-47D0-A729-51FBEF98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43852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做 1854 至今长记录稳健性。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6C610A-23BC-4984-BD2A-DFBE8F13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58DAF5-36B6-4146-AF94-EAD80CFB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3852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检查 OISST 1981 以后样本是否限制历史比较。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82E369-8BF9-49D4-9465-956EC119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528F8E-88BA-4FF8-A31E-4D46660A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990975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MJO/RMM 或日资料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7C7D15-72EC-458F-8ADB-4201D5431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24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9AD42D-4FA5-42BB-8B1B-F529D60C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990975"/>
            <a:ext cx="3924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拆解 2024 年 1 月等关键月份。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4A68CC-DC21-49CE-812D-75E1D6E6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24300"/>
            <a:ext cx="4457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6BFB3A-08C1-458A-89FB-133B210D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990975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区分 ENSO 背景、MJO 和趋势影响。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BBF72B-E417-42BB-8B81-F01A59C3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EF"/>
          </a:solidFill>
          <a:ln xmlns:a="http://schemas.openxmlformats.org/drawingml/2006/main" w="7620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95B78C-3D58-447B-921A-0376B2B5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9639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Reading note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F13793-A999-4B06-AFC5-58EF7CB1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9639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短期优先级是 ERA5 和 OLR：先把风压、Walker 环流和对流证据补齐，再考虑 AGCM 模式实验。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24EBC4-7904-4C06-85DC-A411EF90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 priorities from reports/当前数据分析阶段总结.md.</a:t>
            </a:r>
          </a:p>
        </p:txBody>
      </p:sp>
    </p:spTree>
    <p:extLst>
      <p:ext uri="{BB962C8B-B14F-4D97-AF65-F5344CB8AC3E}">
        <p14:creationId xmlns:p14="http://schemas.microsoft.com/office/powerpoint/2010/main" val="22798713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51DAC8-B39D-4722-A395-A3879968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60F12C-81C3-4883-B75A-A47ABF5E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附录 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47CC46-5CCB-4855-9B09-0CD0B1D1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每页图对应的数据表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4CC624-5C25-4F40-9070-8DD37460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A8FD1-86BE-4659-9DA7-29E897BA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12D4E2-4D9A-4750-B5FD-78FF57E2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430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页码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F69EBA-FC54-4F1F-A272-1569D930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6764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02B2A6-FFCE-453F-B02E-A6EE935E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7430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图/内容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67248B-8413-41FA-9D09-17570628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764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7B422A-4F68-45A0-8EC2-9EAE1372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7430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数据表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A1B7E7-EDC7-45DD-819D-DD2F59C5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1A2FB8-3B42-403E-BA33-197D5E4F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002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6-7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641022-D909-44AF-9A3C-D790E568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36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C932F6-1E19-4FE8-B57E-32D055EB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2002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 Fig. 1 与耦合响应比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3C51C7-2037-4A4A-B631-A04ABA86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336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43C993-DCAD-47DD-B23D-B9F45D03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002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fig1_event_coupling.csv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7CAF84-8A14-45DD-8DC2-D4D1D591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D69B53-CA3C-49E8-B6EA-A685BF48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574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BBB07B-21F1-49E2-BDF1-D4C9A538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90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E2FEE8-26C5-47CD-A872-F553E24C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6574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 Fig. 2 海洋动力诊断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D117D1-D5FA-44A9-9541-A5FE7825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908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3F363C-6FA6-4A95-BEFF-FC2B48EE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6574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fig2_equatorial_summary.csv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C6F9B0-D64F-4B85-9377-C9B66926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48322A-EE49-4E8B-B072-48AC641C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1146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9-10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79E69B-01FE-4D06-AD90-00B3CA65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37B7F3-AF21-4683-9157-6FFBF35B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146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 Fig. 3-4 AGCM/风应力实验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EE37E8-9D31-4C80-B0F9-19332F29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480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02FD13-2C4D-4414-B483-C60CC367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1146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fig3_agcm_summary.csv; fig4_wind_experiment_summary.csv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929AF6-EC9A-47DC-8998-15A80C7D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463588-8CA4-4751-A43E-04B5F140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5718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EC4CEC-2E53-4033-A067-A5139EE7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052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9D3CA4-C948-4EE9-8299-D59D430F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5718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公开资料验证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F49A5C-5CE8-45CA-84A1-76765EF8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5052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CDFCD9-726B-46C5-88C0-5D9794CE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5718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oisst_vs_fig1_nino3.csv; gpcp_vs_fig2_precip.csv; ncep_vs_fig1_atmosphere.csv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79FB4E-2ED3-4D64-85D5-D68D2C33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C54770-8073-4900-ADFB-180836B8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0290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752D02-618B-49C5-809F-0C3D31BC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624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C04388-AEF8-4B3A-9D32-6B01AFFB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40290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季节耦合效率矩阵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725AD4-F5B9-4F7C-A39E-7623DF3B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9624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D56E4A-5C36-4153-8DC3-14EA36A4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0290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asynchronous_coupling_efficiency.csv; seasonal_asynchrony_matrix.csv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F50D39-EDB6-4F16-9D30-9B67E680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CE520B5-4177-469B-BF12-72BCADBAF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862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14-15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5B08A1A-708B-4EB9-852A-7D886C49E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4196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55D1DF-94E6-4B17-AB79-D3E4EEE4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44862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 空间图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F001A08-0845-43CE-AEA9-49DF9991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196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E5CBA83-9BC0-4325-937C-017599F5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4862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stage_a_spatial_summary.csv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3084B8-35E1-4419-97CA-CAA2B663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19DF7C1-88A5-4251-98B0-72729ED3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9434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16-17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24F3FD6-D993-4082-87FE-167116CE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76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5D6F62D-BE81-44A1-A843-838E6471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49434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外海盆和历史对比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6E6048D-F9BD-4FE9-904E-E4CBDBA4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8768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5FAD5A4-4162-49E1-BF58-72AAFCC6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9434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external_basin_seasonal_summary.csv; gpcp_precip_seasonal_summary.csv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824A5E4-1466-4C14-A178-7ECE59B5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All local paths are under /Users/daiyue/Documents/Maryland/data/derived.</a:t>
            </a:r>
          </a:p>
        </p:txBody>
      </p:sp>
    </p:spTree>
    <p:extLst>
      <p:ext uri="{BB962C8B-B14F-4D97-AF65-F5344CB8AC3E}">
        <p14:creationId xmlns:p14="http://schemas.microsoft.com/office/powerpoint/2010/main" val="80740654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BBBDD7-0AAD-4A1A-971A-30B79FFF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3D88BB-91FB-4106-BAEC-5685DD54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3429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附录 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F76A12-FF18-4935-BD9F-324F3256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047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数据和文献链接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E9A04-914E-4CF2-B65A-AF091DD3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763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2177A1-316E-4EB7-AF92-FAAB7719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743AE-77F8-48B3-9966-5841059A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7430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来源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606621-7110-436F-BB01-15E7EA4F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6764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0B141-7C36-4394-9C67-7A1F8A2C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7430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链接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F22229-56B2-43C6-8D70-247320A9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764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1B18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865032-FFC1-4F3A-AD32-EEBA2FDD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7430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用途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E61706-89F2-4ED3-A20E-AB8B8F30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A528AE-2282-4F15-944B-5203B6EF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002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2025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D126DC-B643-49E3-BDEC-162376F6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36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E0EEC7-FAC4-4FE3-967E-A867417C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2002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nature.com/articles/s41561-025-01700-9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169041-66DA-45BF-A868-4A34670A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336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970CEC-9006-411A-AC37-2329155D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2002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原文复现与问题来源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F529FA-C913-4ED0-B971-111A0F3B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71A746-FACE-4F59-BD41-2FA3B274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574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OISST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7B4DDE-C4D4-4086-988B-70490FE2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90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04ADEB-5A3F-44F0-A533-772AB228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6574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ncei.noaa.gov/products/optimum-interpolation-sst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2B0897-45A6-483C-83D7-83E2811D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908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B3B036-1FC4-4443-845E-3A0389B2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6574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海表温度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DBC411-D25B-45A2-9D38-24AC7AEB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7DF4BF-3DF8-4417-8672-F5EDC021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1146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GPCP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E1BD8D-191C-44F1-982F-5D4E1CB4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6F9A9A-D91F-4544-9846-1D39F113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146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psl.noaa.gov/data/gridded/data.gpcp.html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8CE651-9FD9-4D90-A06B-655BE447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480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8462B3-8B89-4D25-91D3-BEC318A1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1146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降水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6E5FF3-6F67-4C7A-8683-133ABD5D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88DC54-1D62-4626-9311-CACFD0FB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5718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AF934B-C7E1-489E-8C44-4AB77298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052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55F447-B770-4920-A4FE-0867C065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5718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psl.noaa.gov/data/reanalysis/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D15144-7C4E-41AA-AA7A-62645917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5052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B0E908-91C8-4546-89B6-199AFDD7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5718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风压 fallback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C7220C-27DD-46B8-8C3A-B942F9CC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88A985-0176-43A7-923E-C9A5A05A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0290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ERA5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8AEA4D-C966-476C-AEBB-83F68554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9624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EFBAA5-501D-4509-8B4F-F5F9AC50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40290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cds.climate.copernicus.eu/datasets/reanalysis-era5-single-levels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9C54C9-4CA4-4ED6-A0B4-94CFC3AE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9624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1FA45A-14C4-426D-9728-A5B80950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0290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下一步风压/Walker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A1194EC-EC88-4980-8055-5AFF4A68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01E392-6DAB-4CC0-91D9-46F89020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862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OLR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5B8E44-B69F-43AC-9BDE-8B181261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4196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661939-1192-4167-A6CD-54A1DBF9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44862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psl.noaa.gov/data/gridded/data.interp_OLR.html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611716E-8E8C-4E06-80AC-2D6E07B7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196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F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4278552-5FD4-4D94-8940-4D642B6E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4862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下一步对流验证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FAC08C9-ABBD-42FE-8DDD-9578A90B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2D2C6FA-4A2E-4F9C-8A33-FDEC33E3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943475"/>
            <a:ext cx="1447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ERSSTv5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F9485FC-E536-44AB-BC15-3EDBDB7B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7680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56BC218-2A84-4584-B617-9CA2ADEC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4943475"/>
            <a:ext cx="354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ncei.noaa.gov/products/extended-reconstructed-sst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C80C44-1C31-43D8-BECA-DB430F7D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8768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1"/>
          </a:solidFill>
          <a:ln xmlns:a="http://schemas.openxmlformats.org/drawingml/2006/main" w="6668">
            <a:solidFill>
              <a:srgbClr val="D8D1C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3AD00F-E808-4428-9662-F1F6BBE3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943475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长记录稳健性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93D7876-A639-46FB-B00D-FB0499F7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066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Full source log: docs/data_source_log.md.</a:t>
            </a:r>
          </a:p>
        </p:txBody>
      </p:sp>
    </p:spTree>
    <p:extLst>
      <p:ext uri="{BB962C8B-B14F-4D97-AF65-F5344CB8AC3E}">
        <p14:creationId xmlns:p14="http://schemas.microsoft.com/office/powerpoint/2010/main" val="4558459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2026-05-24T02:35:39.7980000Z</dcterms:created>
  <dcterms:modified xsi:type="dcterms:W3CDTF">2026-05-24T02:35:39.7980000Z</dcterms:modified>
</coreProperties>
</file>