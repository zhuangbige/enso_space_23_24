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notesMasters/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Layouts/slideLayout2.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73cceaca6e04a87" /><Relationship Type="http://schemas.openxmlformats.org/officeDocument/2006/relationships/extended-properties" Target="/docProps/app.xml" Id="R946e1c0074e24235" /><Relationship Type="http://schemas.openxmlformats.org/officeDocument/2006/relationships/officeDocument" Target="/ppt/presentation.xml" Id="R58070b7e6747443f" /></Relationships>
</file>

<file path=ppt/presentation.xml><?xml version="1.0" encoding="utf-8"?>
<p:presentation xmlns:p="http://schemas.openxmlformats.org/presentationml/2006/main">
  <p:sldMasterIdLst>
    <p:sldMasterId xmlns:r="http://schemas.openxmlformats.org/officeDocument/2006/relationships" id="2147483648" r:id="R428d83ea578a4fda"/>
  </p:sldMasterIdLst>
  <p:notesMasterIdLst>
    <p:notesMasterId xmlns:r="http://schemas.openxmlformats.org/officeDocument/2006/relationships" r:id="R77b8f341d618435f"/>
  </p:notesMasterIdLst>
  <p:sldIdLst>
    <p:sldId xmlns:r="http://schemas.openxmlformats.org/officeDocument/2006/relationships" id="256" r:id="R1bb4c705891d42f6"/>
    <p:sldId xmlns:r="http://schemas.openxmlformats.org/officeDocument/2006/relationships" id="257" r:id="R4a0fc8ab77194b85"/>
    <p:sldId xmlns:r="http://schemas.openxmlformats.org/officeDocument/2006/relationships" id="258" r:id="R766bd8158d9a4cd9"/>
    <p:sldId xmlns:r="http://schemas.openxmlformats.org/officeDocument/2006/relationships" id="259" r:id="Rc8b61e56536e4324"/>
    <p:sldId xmlns:r="http://schemas.openxmlformats.org/officeDocument/2006/relationships" id="260" r:id="Rd4eb24d1947f43df"/>
    <p:sldId xmlns:r="http://schemas.openxmlformats.org/officeDocument/2006/relationships" id="261" r:id="R343e0224666c4c5d"/>
    <p:sldId xmlns:r="http://schemas.openxmlformats.org/officeDocument/2006/relationships" id="262" r:id="R26a44702ec014210"/>
    <p:sldId xmlns:r="http://schemas.openxmlformats.org/officeDocument/2006/relationships" id="263" r:id="Rae54fbf5c82941a6"/>
    <p:sldId xmlns:r="http://schemas.openxmlformats.org/officeDocument/2006/relationships" id="264" r:id="R841d4bb4c7614d87"/>
    <p:sldId xmlns:r="http://schemas.openxmlformats.org/officeDocument/2006/relationships" id="265" r:id="R9e6b8a5ce20b4e16"/>
    <p:sldId xmlns:r="http://schemas.openxmlformats.org/officeDocument/2006/relationships" id="266" r:id="Re61f696f11264250"/>
    <p:sldId xmlns:r="http://schemas.openxmlformats.org/officeDocument/2006/relationships" id="267" r:id="Rc609364885f84e1d"/>
    <p:sldId xmlns:r="http://schemas.openxmlformats.org/officeDocument/2006/relationships" id="268" r:id="R78e89e47190448ef"/>
    <p:sldId xmlns:r="http://schemas.openxmlformats.org/officeDocument/2006/relationships" id="269" r:id="R17d7e9b9b9d84a9f"/>
    <p:sldId xmlns:r="http://schemas.openxmlformats.org/officeDocument/2006/relationships" id="270" r:id="R9293ec8f48d84f65"/>
    <p:sldId xmlns:r="http://schemas.openxmlformats.org/officeDocument/2006/relationships" id="271" r:id="R18b6e07537144ee5"/>
    <p:sldId xmlns:r="http://schemas.openxmlformats.org/officeDocument/2006/relationships" id="272" r:id="Rd0b51d1321054b78"/>
    <p:sldId xmlns:r="http://schemas.openxmlformats.org/officeDocument/2006/relationships" id="273" r:id="R15e5592ec1644314"/>
    <p:sldId xmlns:r="http://schemas.openxmlformats.org/officeDocument/2006/relationships" id="274" r:id="R6eea16ee81c34e42"/>
    <p:sldId xmlns:r="http://schemas.openxmlformats.org/officeDocument/2006/relationships" id="275" r:id="Rfea5da8bb4914b53"/>
    <p:sldId xmlns:r="http://schemas.openxmlformats.org/officeDocument/2006/relationships" id="276" r:id="R37eb850cb9194470"/>
    <p:sldId xmlns:r="http://schemas.openxmlformats.org/officeDocument/2006/relationships" id="277" r:id="R09eb670d2c4343da"/>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normalViewPr>
    <p:restoredLeft sz="15611"/>
    <p:restoredTop sz="94658"/>
  </p:normalViewPr>
  <p:slideViewPr>
    <p:cSldViewPr snapToGrid="0">
      <p:cViewPr varScale="1">
        <p:scale>
          <a:sx xmlns:a="http://schemas.openxmlformats.org/drawingml/2006/main" n="120" d="100"/>
          <a:sy xmlns:a="http://schemas.openxmlformats.org/drawingml/2006/main" n="120" d="100"/>
        </p:scale>
        <p:origin x="800" y="184"/>
      </p:cViewPr>
      <p:guideLst/>
    </p:cSldViewPr>
  </p:slideViewPr>
  <p:notesTextViewPr>
    <p:cViewPr>
      <p:scale>
        <a:sx xmlns:a="http://schemas.openxmlformats.org/drawingml/2006/main" n="1" d="1"/>
        <a:sy xmlns:a="http://schemas.openxmlformats.org/drawingml/2006/main" n="1" d="1"/>
      </p:scale>
      <p:origin x="0" y="0"/>
    </p:cViewPr>
  </p:notesTextViewPr>
  <p:gridSpacing cx="76200" cy="76200"/>
</p:viewPr>
</file>

<file path=ppt/_rels/presentation.xml.rels>&#65279;<?xml version="1.0" encoding="utf-8"?><Relationships xmlns="http://schemas.openxmlformats.org/package/2006/relationships"><Relationship Type="http://schemas.openxmlformats.org/officeDocument/2006/relationships/slideMaster" Target="/ppt/slideMasters/slideMaster1.xml" Id="R428d83ea578a4fda" /><Relationship Type="http://schemas.openxmlformats.org/officeDocument/2006/relationships/theme" Target="/ppt/theme/theme1.xml" Id="R8244eb2545044b0b" /><Relationship Type="http://schemas.openxmlformats.org/officeDocument/2006/relationships/notesMaster" Target="/ppt/notesMasters/notesMaster1.xml" Id="R77b8f341d618435f" /><Relationship Type="http://schemas.openxmlformats.org/officeDocument/2006/relationships/presProps" Target="/ppt/presProps.xml" Id="Ra833e2a3e7ef4403" /><Relationship Type="http://schemas.openxmlformats.org/officeDocument/2006/relationships/viewProps" Target="/ppt/viewProps.xml" Id="R7629e3f1ed6b4a26" /><Relationship Type="http://schemas.openxmlformats.org/officeDocument/2006/relationships/tableStyles" Target="/ppt/tableStyles.xml" Id="Re880aca1252b44ad" /><Relationship Type="http://schemas.openxmlformats.org/officeDocument/2006/relationships/slide" Target="/ppt/slides/slide1.xml" Id="R1bb4c705891d42f6" /><Relationship Type="http://schemas.openxmlformats.org/officeDocument/2006/relationships/slide" Target="/ppt/slides/slide2.xml" Id="R4a0fc8ab77194b85" /><Relationship Type="http://schemas.openxmlformats.org/officeDocument/2006/relationships/slide" Target="/ppt/slides/slide3.xml" Id="R766bd8158d9a4cd9" /><Relationship Type="http://schemas.openxmlformats.org/officeDocument/2006/relationships/slide" Target="/ppt/slides/slide4.xml" Id="Rc8b61e56536e4324" /><Relationship Type="http://schemas.openxmlformats.org/officeDocument/2006/relationships/slide" Target="/ppt/slides/slide5.xml" Id="Rd4eb24d1947f43df" /><Relationship Type="http://schemas.openxmlformats.org/officeDocument/2006/relationships/slide" Target="/ppt/slides/slide6.xml" Id="R343e0224666c4c5d" /><Relationship Type="http://schemas.openxmlformats.org/officeDocument/2006/relationships/slide" Target="/ppt/slides/slide7.xml" Id="R26a44702ec014210" /><Relationship Type="http://schemas.openxmlformats.org/officeDocument/2006/relationships/slide" Target="/ppt/slides/slide8.xml" Id="Rae54fbf5c82941a6" /><Relationship Type="http://schemas.openxmlformats.org/officeDocument/2006/relationships/slide" Target="/ppt/slides/slide9.xml" Id="R841d4bb4c7614d87" /><Relationship Type="http://schemas.openxmlformats.org/officeDocument/2006/relationships/slide" Target="/ppt/slides/slide10.xml" Id="R9e6b8a5ce20b4e16" /><Relationship Type="http://schemas.openxmlformats.org/officeDocument/2006/relationships/slide" Target="/ppt/slides/slide11.xml" Id="Re61f696f11264250" /><Relationship Type="http://schemas.openxmlformats.org/officeDocument/2006/relationships/slide" Target="/ppt/slides/slide12.xml" Id="Rc609364885f84e1d" /><Relationship Type="http://schemas.openxmlformats.org/officeDocument/2006/relationships/slide" Target="/ppt/slides/slide13.xml" Id="R78e89e47190448ef" /><Relationship Type="http://schemas.openxmlformats.org/officeDocument/2006/relationships/slide" Target="/ppt/slides/slide14.xml" Id="R17d7e9b9b9d84a9f" /><Relationship Type="http://schemas.openxmlformats.org/officeDocument/2006/relationships/slide" Target="/ppt/slides/slide15.xml" Id="R9293ec8f48d84f65" /><Relationship Type="http://schemas.openxmlformats.org/officeDocument/2006/relationships/slide" Target="/ppt/slides/slide16.xml" Id="R18b6e07537144ee5" /><Relationship Type="http://schemas.openxmlformats.org/officeDocument/2006/relationships/slide" Target="/ppt/slides/slide17.xml" Id="Rd0b51d1321054b78" /><Relationship Type="http://schemas.openxmlformats.org/officeDocument/2006/relationships/slide" Target="/ppt/slides/slide18.xml" Id="R15e5592ec1644314" /><Relationship Type="http://schemas.openxmlformats.org/officeDocument/2006/relationships/slide" Target="/ppt/slides/slide19.xml" Id="R6eea16ee81c34e42" /><Relationship Type="http://schemas.openxmlformats.org/officeDocument/2006/relationships/slide" Target="/ppt/slides/slide20.xml" Id="Rfea5da8bb4914b53" /><Relationship Type="http://schemas.openxmlformats.org/officeDocument/2006/relationships/slide" Target="/ppt/slides/slide21.xml" Id="R37eb850cb9194470" /><Relationship Type="http://schemas.openxmlformats.org/officeDocument/2006/relationships/slide" Target="/ppt/slides/slide22.xml" Id="R09eb670d2c4343d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26430c72a8cd48c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eccc44480334c60" /><Relationship Type="http://schemas.openxmlformats.org/officeDocument/2006/relationships/notesMaster" Target="/ppt/notesMasters/notesMaster1.xml" Id="R98319bfec1404685" /></Relationships>
</file>

<file path=ppt/notesSlides/_rels/notesSlide2.xml.rels>&#65279;<?xml version="1.0" encoding="utf-8"?><Relationships xmlns="http://schemas.openxmlformats.org/package/2006/relationships"><Relationship Type="http://schemas.openxmlformats.org/officeDocument/2006/relationships/slide" Target="/ppt/slides/slide2.xml" Id="R562b0a79bc3b4330" /><Relationship Type="http://schemas.openxmlformats.org/officeDocument/2006/relationships/notesMaster" Target="/ppt/notesMasters/notesMaster1.xml" Id="R1e19a427f09e4e82" /></Relationships>
</file>

<file path=ppt/notesSlides/_rels/notesSlide3.xml.rels>&#65279;<?xml version="1.0" encoding="utf-8"?><Relationships xmlns="http://schemas.openxmlformats.org/package/2006/relationships"><Relationship Type="http://schemas.openxmlformats.org/officeDocument/2006/relationships/slide" Target="/ppt/slides/slide3.xml" Id="Rb7d1f0820fb143df" /><Relationship Type="http://schemas.openxmlformats.org/officeDocument/2006/relationships/notesMaster" Target="/ppt/notesMasters/notesMaster1.xml" Id="R0aa7fec54b9c4b75" /></Relationships>
</file>

<file path=ppt/notesSlides/_rels/notesSlide4.xml.rels>&#65279;<?xml version="1.0" encoding="utf-8"?><Relationships xmlns="http://schemas.openxmlformats.org/package/2006/relationships"><Relationship Type="http://schemas.openxmlformats.org/officeDocument/2006/relationships/slide" Target="/ppt/slides/slide4.xml" Id="R639a357b55c946e1" /><Relationship Type="http://schemas.openxmlformats.org/officeDocument/2006/relationships/notesMaster" Target="/ppt/notesMasters/notesMaster1.xml" Id="R59eca3419cfe49c8" /></Relationships>
</file>

<file path=ppt/notesSlides/_rels/notesSlide5.xml.rels>&#65279;<?xml version="1.0" encoding="utf-8"?><Relationships xmlns="http://schemas.openxmlformats.org/package/2006/relationships"><Relationship Type="http://schemas.openxmlformats.org/officeDocument/2006/relationships/slide" Target="/ppt/slides/slide5.xml" Id="R2251b78908ba46a2" /><Relationship Type="http://schemas.openxmlformats.org/officeDocument/2006/relationships/notesMaster" Target="/ppt/notesMasters/notesMaster1.xml" Id="R037574112a564c91" /></Relationships>
</file>

<file path=ppt/notesSlides/_rels/notesSlide6.xml.rels>&#65279;<?xml version="1.0" encoding="utf-8"?><Relationships xmlns="http://schemas.openxmlformats.org/package/2006/relationships"><Relationship Type="http://schemas.openxmlformats.org/officeDocument/2006/relationships/slide" Target="/ppt/slides/slide6.xml" Id="R5a764b7c8ab74742" /><Relationship Type="http://schemas.openxmlformats.org/officeDocument/2006/relationships/notesMaster" Target="/ppt/notesMasters/notesMaster1.xml" Id="R7ace4cd37ad244b6" /></Relationships>
</file>

<file path=ppt/notesSlides/_rels/notesSlide7.xml.rels>&#65279;<?xml version="1.0" encoding="utf-8"?><Relationships xmlns="http://schemas.openxmlformats.org/package/2006/relationships"><Relationship Type="http://schemas.openxmlformats.org/officeDocument/2006/relationships/slide" Target="/ppt/slides/slide7.xml" Id="Rd9905d5b824b477a" /><Relationship Type="http://schemas.openxmlformats.org/officeDocument/2006/relationships/notesMaster" Target="/ppt/notesMasters/notesMaster1.xml" Id="Rc247cfe239c641d4" /></Relationships>
</file>

<file path=ppt/notesSlides/_rels/notesSlide8.xml.rels>&#65279;<?xml version="1.0" encoding="utf-8"?><Relationships xmlns="http://schemas.openxmlformats.org/package/2006/relationships"><Relationship Type="http://schemas.openxmlformats.org/officeDocument/2006/relationships/slide" Target="/ppt/slides/slide8.xml" Id="R68c974a7d45d4b3c" /><Relationship Type="http://schemas.openxmlformats.org/officeDocument/2006/relationships/notesMaster" Target="/ppt/notesMasters/notesMaster1.xml" Id="Rdab4e885a14b48d1" /></Relationships>
</file>

<file path=ppt/notesSlides/_rels/notesSlide9.xml.rels>&#65279;<?xml version="1.0" encoding="utf-8"?><Relationships xmlns="http://schemas.openxmlformats.org/package/2006/relationships"><Relationship Type="http://schemas.openxmlformats.org/officeDocument/2006/relationships/slide" Target="/ppt/slides/slide9.xml" Id="R295a8422d4ac4d76" /><Relationship Type="http://schemas.openxmlformats.org/officeDocument/2006/relationships/notesMaster" Target="/ppt/notesMasters/notesMaster1.xml" Id="R4c5648aa6ce74ee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5777bd525d24d58" /><Relationship Type="http://schemas.openxmlformats.org/officeDocument/2006/relationships/notesMaster" Target="/ppt/notesMasters/notesMaster1.xml" Id="Rf19e3c97353f48c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24dcced44654da2" /><Relationship Type="http://schemas.openxmlformats.org/officeDocument/2006/relationships/notesMaster" Target="/ppt/notesMasters/notesMaster1.xml" Id="R0668c20ec39f4c5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bf724ecf90e403c" /><Relationship Type="http://schemas.openxmlformats.org/officeDocument/2006/relationships/notesMaster" Target="/ppt/notesMasters/notesMaster1.xml" Id="R8f8dc3fe42124ea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8719862163d4f4d" /><Relationship Type="http://schemas.openxmlformats.org/officeDocument/2006/relationships/notesMaster" Target="/ppt/notesMasters/notesMaster1.xml" Id="Rb579ac39e320416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1ccf0f01ee445fa" /><Relationship Type="http://schemas.openxmlformats.org/officeDocument/2006/relationships/notesMaster" Target="/ppt/notesMasters/notesMaster1.xml" Id="R518dba158a9c4e0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713bc19f0a44924" /><Relationship Type="http://schemas.openxmlformats.org/officeDocument/2006/relationships/notesMaster" Target="/ppt/notesMasters/notesMaster1.xml" Id="Rc1bed0cc8c2d4ee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fd77e9200c7423d" /><Relationship Type="http://schemas.openxmlformats.org/officeDocument/2006/relationships/notesMaster" Target="/ppt/notesMasters/notesMaster1.xml" Id="R68107de42fa1495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8fd49f8ab6b4540" /><Relationship Type="http://schemas.openxmlformats.org/officeDocument/2006/relationships/notesMaster" Target="/ppt/notesMasters/notesMaster1.xml" Id="R4e5cc76248f347d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f3a2c98dca24f76" /><Relationship Type="http://schemas.openxmlformats.org/officeDocument/2006/relationships/notesMaster" Target="/ppt/notesMasters/notesMaster1.xml" Id="Rfcee7057faa8461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7251a4d339c436a" /><Relationship Type="http://schemas.openxmlformats.org/officeDocument/2006/relationships/notesMaster" Target="/ppt/notesMasters/notesMaster1.xml" Id="R6c62fba3c20548a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169561bf7ac4c20" /><Relationship Type="http://schemas.openxmlformats.org/officeDocument/2006/relationships/notesMaster" Target="/ppt/notesMasters/notesMaster1.xml" Id="R55edde84eaa44864"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f08a24474164109" /><Relationship Type="http://schemas.openxmlformats.org/officeDocument/2006/relationships/notesMaster" Target="/ppt/notesMasters/notesMaster1.xml" Id="Ra266d7b18f154b13"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51f33495b289427f" /><Relationship Type="http://schemas.openxmlformats.org/officeDocument/2006/relationships/notesMaster" Target="/ppt/notesMasters/notesMaster1.xml" Id="Rc28805aa6eae4ea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f2808e856f34690" /></Relationships>
</file>

<file path=ppt/slideLayouts/slideLayout2.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theme/theme1.xml" Id="Rfa9bbeb1d0924db3" /><Relationship Type="http://schemas.openxmlformats.org/officeDocument/2006/relationships/slideLayout" Target="/ppt/slideLayouts/slideLayout2.xml" Id="Rccf057bcda6b456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cf057bcda6b456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s/_rels/slide1.xml.rels>&#65279;<?xml version="1.0" encoding="utf-8"?><Relationships xmlns="http://schemas.openxmlformats.org/package/2006/relationships"><Relationship Type="http://schemas.openxmlformats.org/officeDocument/2006/relationships/slideLayout" Target="/ppt/slideLayouts/slideLayout2.xml" Id="R88716bc0c9844c82" /><Relationship Type="http://schemas.openxmlformats.org/officeDocument/2006/relationships/notesSlide" Target="/ppt/notesSlides/notesSlide1.xml" Id="R4bb8a3fd65cd4c4e"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c45adba0ab3a4aeb" /><Relationship Type="http://schemas.openxmlformats.org/officeDocument/2006/relationships/notesSlide" Target="/ppt/notesSlides/notesSlide2.xml" Id="R9aaa5b56d27b442b"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f80b2805d233446e" /><Relationship Type="http://schemas.openxmlformats.org/officeDocument/2006/relationships/notesSlide" Target="/ppt/notesSlides/notesSlide3.xml" Id="R5d8b32edb6a04d41"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58d3ca07d5e44bdc" /><Relationship Type="http://schemas.openxmlformats.org/officeDocument/2006/relationships/notesSlide" Target="/ppt/notesSlides/notesSlide4.xml" Id="R1cec65ddb6ed4ce4"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2fbb32c933574aa1" /><Relationship Type="http://schemas.openxmlformats.org/officeDocument/2006/relationships/notesSlide" Target="/ppt/notesSlides/notesSlide5.xml" Id="Rb90abedb469e48de"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4c6512e004ff4229" /><Relationship Type="http://schemas.openxmlformats.org/officeDocument/2006/relationships/image" Target="/ppt/media/image.png" Id="Rf24272b4d1fb4a8b" /><Relationship Type="http://schemas.openxmlformats.org/officeDocument/2006/relationships/notesSlide" Target="/ppt/notesSlides/notesSlide6.xml" Id="R7046d457293445cd"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7b476ad390bc4136" /><Relationship Type="http://schemas.openxmlformats.org/officeDocument/2006/relationships/image" Target="/ppt/media/image2.png" Id="Rd3b2ba3cf2954c73" /><Relationship Type="http://schemas.openxmlformats.org/officeDocument/2006/relationships/notesSlide" Target="/ppt/notesSlides/notesSlide7.xml" Id="R99490374e5a64de9" /></Relationships>
</file>

<file path=ppt/slides/_rels/slide8.xml.rels>&#65279;<?xml version="1.0" encoding="utf-8"?><Relationships xmlns="http://schemas.openxmlformats.org/package/2006/relationships"><Relationship Type="http://schemas.openxmlformats.org/officeDocument/2006/relationships/slideLayout" Target="/ppt/slideLayouts/slideLayout2.xml" Id="R8069c3132a3f4e24" /><Relationship Type="http://schemas.openxmlformats.org/officeDocument/2006/relationships/image" Target="/ppt/media/image3.png" Id="R5c7d0b11b45f4a1b" /><Relationship Type="http://schemas.openxmlformats.org/officeDocument/2006/relationships/notesSlide" Target="/ppt/notesSlides/notesSlide8.xml" Id="Raf616a4f71644360" /></Relationships>
</file>

<file path=ppt/slides/_rels/slide9.xml.rels>&#65279;<?xml version="1.0" encoding="utf-8"?><Relationships xmlns="http://schemas.openxmlformats.org/package/2006/relationships"><Relationship Type="http://schemas.openxmlformats.org/officeDocument/2006/relationships/slideLayout" Target="/ppt/slideLayouts/slideLayout2.xml" Id="R21e84860c46345f2" /><Relationship Type="http://schemas.openxmlformats.org/officeDocument/2006/relationships/image" Target="/ppt/media/image4.png" Id="Re7e1e98e9908479c" /><Relationship Type="http://schemas.openxmlformats.org/officeDocument/2006/relationships/notesSlide" Target="/ppt/notesSlides/notesSlide9.xml" Id="R004dbb4f542348f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2.xml" Id="Rc8e8db0c82c64700" /><Relationship Type="http://schemas.openxmlformats.org/officeDocument/2006/relationships/image" Target="/ppt/media/image5.png" Id="Rc8bb6bca3d3042ed" /><Relationship Type="http://schemas.openxmlformats.org/officeDocument/2006/relationships/notesSlide" Target="/ppt/notesSlides/notesSlide10.xml" Id="Rdf14e9195bc548e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2.xml" Id="Rdfc2c17e68dc427d" /><Relationship Type="http://schemas.openxmlformats.org/officeDocument/2006/relationships/notesSlide" Target="/ppt/notesSlides/notesSlide11.xml" Id="Ra8c911d215e640f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2.xml" Id="R0f676d6a185f4e02" /><Relationship Type="http://schemas.openxmlformats.org/officeDocument/2006/relationships/image" Target="/ppt/media/image6.png" Id="Re18c5b34df4045ff" /><Relationship Type="http://schemas.openxmlformats.org/officeDocument/2006/relationships/notesSlide" Target="/ppt/notesSlides/notesSlide12.xml" Id="Ra404ebf5074b4be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2.xml" Id="R85a69edffc294944" /><Relationship Type="http://schemas.openxmlformats.org/officeDocument/2006/relationships/image" Target="/ppt/media/image7.png" Id="R2a2625a28a76408c" /><Relationship Type="http://schemas.openxmlformats.org/officeDocument/2006/relationships/notesSlide" Target="/ppt/notesSlides/notesSlide13.xml" Id="R0a23ddaba9f34e8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2.xml" Id="Rbf68f90722994202" /><Relationship Type="http://schemas.openxmlformats.org/officeDocument/2006/relationships/image" Target="/ppt/media/image8.png" Id="R337c81acc87f48c4" /><Relationship Type="http://schemas.openxmlformats.org/officeDocument/2006/relationships/notesSlide" Target="/ppt/notesSlides/notesSlide14.xml" Id="Rd477f43869b3404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2.xml" Id="R31e7aa11e408474c" /><Relationship Type="http://schemas.openxmlformats.org/officeDocument/2006/relationships/image" Target="/ppt/media/image9.png" Id="Re61b069467bc4275" /><Relationship Type="http://schemas.openxmlformats.org/officeDocument/2006/relationships/notesSlide" Target="/ppt/notesSlides/notesSlide15.xml" Id="Rde023ed3ea854e4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2.xml" Id="R483d794cdbb64121" /><Relationship Type="http://schemas.openxmlformats.org/officeDocument/2006/relationships/image" Target="/ppt/media/image10.png" Id="R4e60bc0d88944953" /><Relationship Type="http://schemas.openxmlformats.org/officeDocument/2006/relationships/image" Target="/ppt/media/image11.png" Id="R922dcc9cafa640cb" /><Relationship Type="http://schemas.openxmlformats.org/officeDocument/2006/relationships/notesSlide" Target="/ppt/notesSlides/notesSlide16.xml" Id="Rcd7201ae58d94c4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2.xml" Id="R468fb387f8c04aa0" /><Relationship Type="http://schemas.openxmlformats.org/officeDocument/2006/relationships/notesSlide" Target="/ppt/notesSlides/notesSlide17.xml" Id="R18857d6d981c49a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2.xml" Id="R09c875567b1046be" /><Relationship Type="http://schemas.openxmlformats.org/officeDocument/2006/relationships/notesSlide" Target="/ppt/notesSlides/notesSlide18.xml" Id="R32fb5daf9f2e450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2.xml" Id="Rd5f5d37998fb4c4b" /><Relationship Type="http://schemas.openxmlformats.org/officeDocument/2006/relationships/notesSlide" Target="/ppt/notesSlides/notesSlide19.xml" Id="Re7d8554714ff484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2.xml" Id="Rd53d20412bf74a2c" /><Relationship Type="http://schemas.openxmlformats.org/officeDocument/2006/relationships/notesSlide" Target="/ppt/notesSlides/notesSlide20.xml" Id="R3e6d7c71abe94d8c" /></Relationships>
</file>

<file path=ppt/slides/_rels/slide21.xml.rels>&#65279;<?xml version="1.0" encoding="utf-8"?><Relationships xmlns="http://schemas.openxmlformats.org/package/2006/relationships"><Relationship Type="http://schemas.openxmlformats.org/officeDocument/2006/relationships/slideLayout" Target="/ppt/slideLayouts/slideLayout2.xml" Id="Reefa58cd3d9348fd" /><Relationship Type="http://schemas.openxmlformats.org/officeDocument/2006/relationships/notesSlide" Target="/ppt/notesSlides/notesSlide21.xml" Id="R0d37251548cb426c" /></Relationships>
</file>

<file path=ppt/slides/_rels/slide22.xml.rels>&#65279;<?xml version="1.0" encoding="utf-8"?><Relationships xmlns="http://schemas.openxmlformats.org/package/2006/relationships"><Relationship Type="http://schemas.openxmlformats.org/officeDocument/2006/relationships/slideLayout" Target="/ppt/slideLayouts/slideLayout2.xml" Id="R78f27cb952b54273" /><Relationship Type="http://schemas.openxmlformats.org/officeDocument/2006/relationships/notesSlide" Target="/ppt/notesSlides/notesSlide22.xml" Id="R893f561e14264565"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2354AA40-DAD0-4E16-8F9A-870DEE7C640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3EA"/>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628672F6-17BE-4A5E-9BE7-B6F2AD52E7D9}"/>
              </a:ext>
            </a:extLst>
          </p:cNvPr>
          <p:cNvSpPr>
            <a:spLocks xmlns:a="http://schemas.openxmlformats.org/drawingml/2006/main" noGrp="1"/>
          </p:cNvSpPr>
          <p:nvPr/>
        </p:nvSpPr>
        <p:spPr>
          <a:xfrm xmlns:a="http://schemas.openxmlformats.org/drawingml/2006/main">
            <a:off x="552450" y="457200"/>
            <a:ext cx="2857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CC5A43"/>
                </a:solidFill>
                <a:latin typeface="Aptos"/>
                <a:ea typeface="Aptos"/>
                <a:cs typeface="Aptos"/>
              </a:defRPr>
            </a:pPr>
            <a:r>
              <a:rPr sz="1050" b="1">
                <a:solidFill>
                  <a:srgbClr val="CC5A43"/>
                </a:solidFill>
                <a:latin typeface="Aptos"/>
                <a:ea typeface="Aptos"/>
                <a:cs typeface="Aptos"/>
              </a:rPr>
              <a:t>导师阅读版</a:t>
            </a:r>
          </a:p>
        </p:txBody>
      </p:sp>
      <p:sp>
        <p:nvSpPr>
          <p:cNvPr id="3" name="">
            <a:extLst xmlns:a="http://schemas.openxmlformats.org/drawingml/2006/main">
              <a:ext uri="{FF2B5EF4-FFF2-40B4-BE49-F238E27FC236}">
                <a16:creationId xmlns:a16="http://schemas.microsoft.com/office/drawing/2014/main" id="{263758DC-04D8-46DE-96A2-651BBC0DAA3C}"/>
              </a:ext>
            </a:extLst>
          </p:cNvPr>
          <p:cNvSpPr>
            <a:spLocks xmlns:a="http://schemas.openxmlformats.org/drawingml/2006/main" noGrp="1"/>
          </p:cNvSpPr>
          <p:nvPr/>
        </p:nvSpPr>
        <p:spPr>
          <a:xfrm xmlns:a="http://schemas.openxmlformats.org/drawingml/2006/main">
            <a:off x="552450" y="914400"/>
            <a:ext cx="8572500" cy="1714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D1B18"/>
                </a:solidFill>
                <a:latin typeface="Aptos Display"/>
                <a:ea typeface="Aptos Display"/>
                <a:cs typeface="Aptos Display"/>
              </a:defRPr>
            </a:pPr>
            <a:r>
              <a:rPr sz="2850" b="1">
                <a:solidFill>
                  <a:srgbClr val="1D1B18"/>
                </a:solidFill>
                <a:latin typeface="Aptos Display"/>
                <a:ea typeface="Aptos Display"/>
                <a:cs typeface="Aptos Display"/>
              </a:rPr>
              <a:t>2023/24 强厄尔尼诺海气脱耦：复现、问题提出与阶段性创新</a:t>
            </a:r>
          </a:p>
        </p:txBody>
      </p:sp>
      <p:sp>
        <p:nvSpPr>
          <p:cNvPr id="4" name="">
            <a:extLst xmlns:a="http://schemas.openxmlformats.org/drawingml/2006/main">
              <a:ext uri="{FF2B5EF4-FFF2-40B4-BE49-F238E27FC236}">
                <a16:creationId xmlns:a16="http://schemas.microsoft.com/office/drawing/2014/main" id="{00C110AD-B878-4934-B816-42492A72DB21}"/>
              </a:ext>
            </a:extLst>
          </p:cNvPr>
          <p:cNvSpPr>
            <a:spLocks xmlns:a="http://schemas.openxmlformats.org/drawingml/2006/main" noGrp="1"/>
          </p:cNvSpPr>
          <p:nvPr/>
        </p:nvSpPr>
        <p:spPr>
          <a:xfrm xmlns:a="http://schemas.openxmlformats.org/drawingml/2006/main">
            <a:off x="571500" y="2895600"/>
            <a:ext cx="91440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00" b="0">
                <a:solidFill>
                  <a:srgbClr val="5D574F"/>
                </a:solidFill>
                <a:latin typeface="Aptos"/>
                <a:ea typeface="Aptos"/>
                <a:cs typeface="Aptos"/>
              </a:defRPr>
            </a:pPr>
            <a:r>
              <a:rPr sz="1500" b="0">
                <a:solidFill>
                  <a:srgbClr val="5D574F"/>
                </a:solidFill>
                <a:latin typeface="Aptos"/>
                <a:ea typeface="Aptos"/>
                <a:cs typeface="Aptos"/>
              </a:rPr>
              <a:t>目标：让不熟悉该方向的读者也能看懂每张图的数据来源、物理含义、与原文关系和本研究新增内容。</a:t>
            </a:r>
          </a:p>
        </p:txBody>
      </p:sp>
      <p:sp>
        <p:nvSpPr>
          <p:cNvPr id="5" name="">
            <a:extLst xmlns:a="http://schemas.openxmlformats.org/drawingml/2006/main">
              <a:ext uri="{FF2B5EF4-FFF2-40B4-BE49-F238E27FC236}">
                <a16:creationId xmlns:a16="http://schemas.microsoft.com/office/drawing/2014/main" id="{78E48A18-9E6C-4DF9-B56C-95913E8B3FDA}"/>
              </a:ext>
            </a:extLst>
          </p:cNvPr>
          <p:cNvSpPr>
            <a:spLocks xmlns:a="http://schemas.openxmlformats.org/drawingml/2006/main" noGrp="1"/>
          </p:cNvSpPr>
          <p:nvPr/>
        </p:nvSpPr>
        <p:spPr>
          <a:xfrm xmlns:a="http://schemas.openxmlformats.org/drawingml/2006/main">
            <a:off x="647700" y="3990975"/>
            <a:ext cx="66675" cy="66675"/>
          </a:xfrm>
          <a:prstGeom xmlns:a="http://schemas.openxmlformats.org/drawingml/2006/main" prst="ellipse">
            <a:avLst/>
          </a:prstGeom>
          <a:solidFill xmlns:a="http://schemas.openxmlformats.org/drawingml/2006/main">
            <a:srgbClr val="CC5A43"/>
          </a:solidFill>
          <a:ln xmlns:a="http://schemas.openxmlformats.org/drawingml/2006/main" w="0">
            <a:solidFill>
              <a:srgbClr val="000000">
                <a:alpha val="0"/>
              </a:srgbClr>
            </a:solidFill>
            <a:prstDash val="solid"/>
          </a:ln>
        </p:spPr>
      </p:sp>
      <p:sp>
        <p:nvSpPr>
          <p:cNvPr id="6" name="">
            <a:extLst xmlns:a="http://schemas.openxmlformats.org/drawingml/2006/main">
              <a:ext uri="{FF2B5EF4-FFF2-40B4-BE49-F238E27FC236}">
                <a16:creationId xmlns:a16="http://schemas.microsoft.com/office/drawing/2014/main" id="{32B3C32F-3525-4154-8773-8D8BBB8F64B1}"/>
              </a:ext>
            </a:extLst>
          </p:cNvPr>
          <p:cNvSpPr>
            <a:spLocks xmlns:a="http://schemas.openxmlformats.org/drawingml/2006/main" noGrp="1"/>
          </p:cNvSpPr>
          <p:nvPr/>
        </p:nvSpPr>
        <p:spPr>
          <a:xfrm xmlns:a="http://schemas.openxmlformats.org/drawingml/2006/main">
            <a:off x="838200" y="3905250"/>
            <a:ext cx="8382000" cy="4953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13" b="0">
                <a:solidFill>
                  <a:srgbClr val="1D1B18"/>
                </a:solidFill>
                <a:latin typeface="Aptos"/>
                <a:ea typeface="Aptos"/>
                <a:cs typeface="Aptos"/>
              </a:defRPr>
            </a:pPr>
            <a:r>
              <a:rPr sz="1313" b="0">
                <a:solidFill>
                  <a:srgbClr val="1D1B18"/>
                </a:solidFill>
                <a:latin typeface="Aptos"/>
                <a:ea typeface="Aptos"/>
                <a:cs typeface="Aptos"/>
              </a:rPr>
              <a:t>先解释缩写和变量，避免直接进入专业简称。</a:t>
            </a:r>
          </a:p>
        </p:txBody>
      </p:sp>
      <p:sp>
        <p:nvSpPr>
          <p:cNvPr id="7" name="">
            <a:extLst xmlns:a="http://schemas.openxmlformats.org/drawingml/2006/main">
              <a:ext uri="{FF2B5EF4-FFF2-40B4-BE49-F238E27FC236}">
                <a16:creationId xmlns:a16="http://schemas.microsoft.com/office/drawing/2014/main" id="{BD1E9BE0-C5C7-4245-8DE3-A9566C8A9950}"/>
              </a:ext>
            </a:extLst>
          </p:cNvPr>
          <p:cNvSpPr>
            <a:spLocks xmlns:a="http://schemas.openxmlformats.org/drawingml/2006/main" noGrp="1"/>
          </p:cNvSpPr>
          <p:nvPr/>
        </p:nvSpPr>
        <p:spPr>
          <a:xfrm xmlns:a="http://schemas.openxmlformats.org/drawingml/2006/main">
            <a:off x="647700" y="4524375"/>
            <a:ext cx="66675" cy="66675"/>
          </a:xfrm>
          <a:prstGeom xmlns:a="http://schemas.openxmlformats.org/drawingml/2006/main" prst="ellipse">
            <a:avLst/>
          </a:prstGeom>
          <a:solidFill xmlns:a="http://schemas.openxmlformats.org/drawingml/2006/main">
            <a:srgbClr val="CC5A43"/>
          </a:solidFill>
          <a:ln xmlns:a="http://schemas.openxmlformats.org/drawingml/2006/main" w="0">
            <a:solidFill>
              <a:srgbClr val="000000">
                <a:alpha val="0"/>
              </a:srgbClr>
            </a:solidFill>
            <a:prstDash val="solid"/>
          </a:ln>
        </p:spPr>
      </p:sp>
      <p:sp>
        <p:nvSpPr>
          <p:cNvPr id="8" name="">
            <a:extLst xmlns:a="http://schemas.openxmlformats.org/drawingml/2006/main">
              <a:ext uri="{FF2B5EF4-FFF2-40B4-BE49-F238E27FC236}">
                <a16:creationId xmlns:a16="http://schemas.microsoft.com/office/drawing/2014/main" id="{648B4896-FCBF-4951-ABA7-2D3C5273B383}"/>
              </a:ext>
            </a:extLst>
          </p:cNvPr>
          <p:cNvSpPr>
            <a:spLocks xmlns:a="http://schemas.openxmlformats.org/drawingml/2006/main" noGrp="1"/>
          </p:cNvSpPr>
          <p:nvPr/>
        </p:nvSpPr>
        <p:spPr>
          <a:xfrm xmlns:a="http://schemas.openxmlformats.org/drawingml/2006/main">
            <a:off x="838200" y="4438650"/>
            <a:ext cx="8382000" cy="4953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13" b="0">
                <a:solidFill>
                  <a:srgbClr val="1D1B18"/>
                </a:solidFill>
                <a:latin typeface="Aptos"/>
                <a:ea typeface="Aptos"/>
                <a:cs typeface="Aptos"/>
              </a:defRPr>
            </a:pPr>
            <a:r>
              <a:rPr sz="1313" b="0">
                <a:solidFill>
                  <a:srgbClr val="1D1B18"/>
                </a:solidFill>
                <a:latin typeface="Aptos"/>
                <a:ea typeface="Aptos"/>
                <a:cs typeface="Aptos"/>
              </a:rPr>
              <a:t>每张图都写明：数据名称、反映了什么、对应原文什么、我的创新在哪里。</a:t>
            </a:r>
          </a:p>
        </p:txBody>
      </p:sp>
      <p:sp>
        <p:nvSpPr>
          <p:cNvPr id="9" name="">
            <a:extLst xmlns:a="http://schemas.openxmlformats.org/drawingml/2006/main">
              <a:ext uri="{FF2B5EF4-FFF2-40B4-BE49-F238E27FC236}">
                <a16:creationId xmlns:a16="http://schemas.microsoft.com/office/drawing/2014/main" id="{C40C5AD8-78F3-41AC-BE1C-FD0DD6C1C255}"/>
              </a:ext>
            </a:extLst>
          </p:cNvPr>
          <p:cNvSpPr>
            <a:spLocks xmlns:a="http://schemas.openxmlformats.org/drawingml/2006/main" noGrp="1"/>
          </p:cNvSpPr>
          <p:nvPr/>
        </p:nvSpPr>
        <p:spPr>
          <a:xfrm xmlns:a="http://schemas.openxmlformats.org/drawingml/2006/main">
            <a:off x="647700" y="5057775"/>
            <a:ext cx="66675" cy="66675"/>
          </a:xfrm>
          <a:prstGeom xmlns:a="http://schemas.openxmlformats.org/drawingml/2006/main" prst="ellipse">
            <a:avLst/>
          </a:prstGeom>
          <a:solidFill xmlns:a="http://schemas.openxmlformats.org/drawingml/2006/main">
            <a:srgbClr val="CC5A43"/>
          </a:solidFill>
          <a:ln xmlns:a="http://schemas.openxmlformats.org/drawingml/2006/main" w="0">
            <a:solidFill>
              <a:srgbClr val="000000">
                <a:alpha val="0"/>
              </a:srgbClr>
            </a:solidFill>
            <a:prstDash val="solid"/>
          </a:ln>
        </p:spPr>
      </p:sp>
      <p:sp>
        <p:nvSpPr>
          <p:cNvPr id="10" name="">
            <a:extLst xmlns:a="http://schemas.openxmlformats.org/drawingml/2006/main">
              <a:ext uri="{FF2B5EF4-FFF2-40B4-BE49-F238E27FC236}">
                <a16:creationId xmlns:a16="http://schemas.microsoft.com/office/drawing/2014/main" id="{446BEBDE-8033-4FC7-AB84-A9DC48D47FFD}"/>
              </a:ext>
            </a:extLst>
          </p:cNvPr>
          <p:cNvSpPr>
            <a:spLocks xmlns:a="http://schemas.openxmlformats.org/drawingml/2006/main" noGrp="1"/>
          </p:cNvSpPr>
          <p:nvPr/>
        </p:nvSpPr>
        <p:spPr>
          <a:xfrm xmlns:a="http://schemas.openxmlformats.org/drawingml/2006/main">
            <a:off x="838200" y="4972050"/>
            <a:ext cx="8382000" cy="4953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13" b="0">
                <a:solidFill>
                  <a:srgbClr val="1D1B18"/>
                </a:solidFill>
                <a:latin typeface="Aptos"/>
                <a:ea typeface="Aptos"/>
                <a:cs typeface="Aptos"/>
              </a:defRPr>
            </a:pPr>
            <a:r>
              <a:rPr sz="1313" b="0">
                <a:solidFill>
                  <a:srgbClr val="1D1B18"/>
                </a:solidFill>
                <a:latin typeface="Aptos"/>
                <a:ea typeface="Aptos"/>
                <a:cs typeface="Aptos"/>
              </a:rPr>
              <a:t>字体和图注加大，牺牲一点页数，换取可独立阅读性。</a:t>
            </a:r>
          </a:p>
        </p:txBody>
      </p:sp>
      <p:sp>
        <p:nvSpPr>
          <p:cNvPr id="11" name="">
            <a:extLst xmlns:a="http://schemas.openxmlformats.org/drawingml/2006/main">
              <a:ext uri="{FF2B5EF4-FFF2-40B4-BE49-F238E27FC236}">
                <a16:creationId xmlns:a16="http://schemas.microsoft.com/office/drawing/2014/main" id="{BAC9864B-A269-4BEA-9C7C-D88D47219E7D}"/>
              </a:ext>
            </a:extLst>
          </p:cNvPr>
          <p:cNvSpPr>
            <a:spLocks xmlns:a="http://schemas.openxmlformats.org/drawingml/2006/main" noGrp="1"/>
          </p:cNvSpPr>
          <p:nvPr/>
        </p:nvSpPr>
        <p:spPr>
          <a:xfrm xmlns:a="http://schemas.openxmlformats.org/drawingml/2006/main">
            <a:off x="9829800" y="1200150"/>
            <a:ext cx="1219200" cy="1219200"/>
          </a:xfrm>
          <a:prstGeom xmlns:a="http://schemas.openxmlformats.org/drawingml/2006/main" prst="ellipse">
            <a:avLst/>
          </a:prstGeom>
          <a:solidFill xmlns:a="http://schemas.openxmlformats.org/drawingml/2006/main">
            <a:srgbClr val="CC5A43"/>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A3792867-43C6-4387-A2EF-26C3BA6D2D24}"/>
              </a:ext>
            </a:extLst>
          </p:cNvPr>
          <p:cNvSpPr>
            <a:spLocks xmlns:a="http://schemas.openxmlformats.org/drawingml/2006/main" noGrp="1"/>
          </p:cNvSpPr>
          <p:nvPr/>
        </p:nvSpPr>
        <p:spPr>
          <a:xfrm xmlns:a="http://schemas.openxmlformats.org/drawingml/2006/main">
            <a:off x="10267950" y="2857500"/>
            <a:ext cx="781050" cy="781050"/>
          </a:xfrm>
          <a:prstGeom xmlns:a="http://schemas.openxmlformats.org/drawingml/2006/main" prst="ellipse">
            <a:avLst/>
          </a:prstGeom>
          <a:solidFill xmlns:a="http://schemas.openxmlformats.org/drawingml/2006/main">
            <a:srgbClr val="2F6F73"/>
          </a:solidFill>
          <a:ln xmlns:a="http://schemas.openxmlformats.org/drawingml/2006/main" w="0">
            <a:solidFill>
              <a:srgbClr val="000000">
                <a:alpha val="0"/>
              </a:srgbClr>
            </a:solidFill>
            <a:prstDash val="solid"/>
          </a:ln>
        </p:spPr>
      </p:sp>
      <p:sp>
        <p:nvSpPr>
          <p:cNvPr id="13" name="">
            <a:extLst xmlns:a="http://schemas.openxmlformats.org/drawingml/2006/main">
              <a:ext uri="{FF2B5EF4-FFF2-40B4-BE49-F238E27FC236}">
                <a16:creationId xmlns:a16="http://schemas.microsoft.com/office/drawing/2014/main" id="{A6A0982A-4814-4527-A984-C87AA25D7663}"/>
              </a:ext>
            </a:extLst>
          </p:cNvPr>
          <p:cNvSpPr>
            <a:spLocks xmlns:a="http://schemas.openxmlformats.org/drawingml/2006/main" noGrp="1"/>
          </p:cNvSpPr>
          <p:nvPr/>
        </p:nvSpPr>
        <p:spPr>
          <a:xfrm xmlns:a="http://schemas.openxmlformats.org/drawingml/2006/main">
            <a:off x="552450" y="6477000"/>
            <a:ext cx="106680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5D574F"/>
                </a:solidFill>
                <a:latin typeface="Aptos"/>
                <a:ea typeface="Aptos"/>
                <a:cs typeface="Aptos"/>
              </a:defRPr>
            </a:pPr>
            <a:r>
              <a:rPr sz="788" b="0">
                <a:solidFill>
                  <a:srgbClr val="5D574F"/>
                </a:solidFill>
                <a:latin typeface="Aptos"/>
                <a:ea typeface="Aptos"/>
                <a:cs typeface="Aptos"/>
              </a:rPr>
              <a:t>Peng et al. 2025; NOAA OISST; GPCP; NCEP/NCAR R1; local diagnostics. 2026-05-24.</a:t>
            </a:r>
          </a:p>
        </p:txBody>
      </p:sp>
    </p:spTree>
    <p:extLst>
      <p:ext uri="{BB962C8B-B14F-4D97-AF65-F5344CB8AC3E}">
        <p14:creationId xmlns:p14="http://schemas.microsoft.com/office/powerpoint/2010/main" val="1485731031"/>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177C2CF8-F22F-4B58-8586-E0AC9A6C3FFC}"/>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3EA"/>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622C9673-7BE9-40EB-A9B8-CDC4A3B64270}"/>
              </a:ext>
            </a:extLst>
          </p:cNvPr>
          <p:cNvSpPr>
            <a:spLocks xmlns:a="http://schemas.openxmlformats.org/drawingml/2006/main" noGrp="1"/>
          </p:cNvSpPr>
          <p:nvPr/>
        </p:nvSpPr>
        <p:spPr>
          <a:xfrm xmlns:a="http://schemas.openxmlformats.org/drawingml/2006/main">
            <a:off x="552450" y="285750"/>
            <a:ext cx="3429000" cy="23812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CC5A43"/>
                </a:solidFill>
                <a:latin typeface="Aptos"/>
                <a:ea typeface="Aptos"/>
                <a:cs typeface="Aptos"/>
              </a:defRPr>
            </a:pPr>
            <a:r>
              <a:rPr sz="1050" b="1">
                <a:solidFill>
                  <a:srgbClr val="CC5A43"/>
                </a:solidFill>
                <a:latin typeface="Aptos"/>
                <a:ea typeface="Aptos"/>
                <a:cs typeface="Aptos"/>
              </a:rPr>
              <a:t>总判断</a:t>
            </a:r>
          </a:p>
        </p:txBody>
      </p:sp>
      <p:sp>
        <p:nvSpPr>
          <p:cNvPr id="3" name="">
            <a:extLst xmlns:a="http://schemas.openxmlformats.org/drawingml/2006/main">
              <a:ext uri="{FF2B5EF4-FFF2-40B4-BE49-F238E27FC236}">
                <a16:creationId xmlns:a16="http://schemas.microsoft.com/office/drawing/2014/main" id="{FD24302F-D637-43B2-B1F2-D4994B8786F3}"/>
              </a:ext>
            </a:extLst>
          </p:cNvPr>
          <p:cNvSpPr>
            <a:spLocks xmlns:a="http://schemas.openxmlformats.org/drawingml/2006/main" noGrp="1"/>
          </p:cNvSpPr>
          <p:nvPr/>
        </p:nvSpPr>
        <p:spPr>
          <a:xfrm xmlns:a="http://schemas.openxmlformats.org/drawingml/2006/main">
            <a:off x="552450" y="609600"/>
            <a:ext cx="104775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175" b="1">
                <a:solidFill>
                  <a:srgbClr val="1D1B18"/>
                </a:solidFill>
                <a:latin typeface="Aptos Display"/>
                <a:ea typeface="Aptos Display"/>
                <a:cs typeface="Aptos Display"/>
              </a:defRPr>
            </a:pPr>
            <a:r>
              <a:rPr sz="2175" b="1">
                <a:solidFill>
                  <a:srgbClr val="1D1B18"/>
                </a:solidFill>
                <a:latin typeface="Aptos Display"/>
                <a:ea typeface="Aptos Display"/>
                <a:cs typeface="Aptos Display"/>
              </a:rPr>
              <a:t>目前主线已经从“复现原文”推进到“分季节预期响应偏弱”的新问题</a:t>
            </a:r>
          </a:p>
        </p:txBody>
      </p:sp>
      <p:sp>
        <p:nvSpPr>
          <p:cNvPr id="4" name="">
            <a:extLst xmlns:a="http://schemas.openxmlformats.org/drawingml/2006/main">
              <a:ext uri="{FF2B5EF4-FFF2-40B4-BE49-F238E27FC236}">
                <a16:creationId xmlns:a16="http://schemas.microsoft.com/office/drawing/2014/main" id="{97EA501C-C98D-4BD5-9F94-21F55953D36D}"/>
              </a:ext>
            </a:extLst>
          </p:cNvPr>
          <p:cNvSpPr>
            <a:spLocks xmlns:a="http://schemas.openxmlformats.org/drawingml/2006/main" noGrp="1"/>
          </p:cNvSpPr>
          <p:nvPr/>
        </p:nvSpPr>
        <p:spPr>
          <a:xfrm xmlns:a="http://schemas.openxmlformats.org/drawingml/2006/main">
            <a:off x="552450" y="1409700"/>
            <a:ext cx="10763250" cy="14288"/>
          </a:xfrm>
          <a:prstGeom xmlns:a="http://schemas.openxmlformats.org/drawingml/2006/main" prst="rect">
            <a:avLst/>
          </a:prstGeom>
          <a:solidFill xmlns:a="http://schemas.openxmlformats.org/drawingml/2006/main">
            <a:srgbClr val="D8D1C4"/>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64C61032-F159-4B25-A700-A493F9B31E20}"/>
              </a:ext>
            </a:extLst>
          </p:cNvPr>
          <p:cNvSpPr>
            <a:spLocks xmlns:a="http://schemas.openxmlformats.org/drawingml/2006/main" noGrp="1"/>
          </p:cNvSpPr>
          <p:nvPr/>
        </p:nvSpPr>
        <p:spPr>
          <a:xfrm xmlns:a="http://schemas.openxmlformats.org/drawingml/2006/main">
            <a:off x="723900" y="1695450"/>
            <a:ext cx="9906000" cy="1257300"/>
          </a:xfrm>
          <a:prstGeom xmlns:a="http://schemas.openxmlformats.org/drawingml/2006/main" prst="rect">
            <a:avLst/>
          </a:prstGeom>
          <a:solidFill xmlns:a="http://schemas.openxmlformats.org/drawingml/2006/main">
            <a:srgbClr val="F5E5DF"/>
          </a:solidFill>
          <a:ln xmlns:a="http://schemas.openxmlformats.org/drawingml/2006/main" w="9525">
            <a:solidFill>
              <a:srgbClr val="D8D1C4"/>
            </a:solidFill>
            <a:prstDash val="solid"/>
          </a:ln>
        </p:spPr>
      </p:sp>
      <p:sp>
        <p:nvSpPr>
          <p:cNvPr id="6" name="">
            <a:extLst xmlns:a="http://schemas.openxmlformats.org/drawingml/2006/main">
              <a:ext uri="{FF2B5EF4-FFF2-40B4-BE49-F238E27FC236}">
                <a16:creationId xmlns:a16="http://schemas.microsoft.com/office/drawing/2014/main" id="{EE520C5F-A5D9-4EE6-AF39-FC6BAB36363B}"/>
              </a:ext>
            </a:extLst>
          </p:cNvPr>
          <p:cNvSpPr>
            <a:spLocks xmlns:a="http://schemas.openxmlformats.org/drawingml/2006/main" noGrp="1"/>
          </p:cNvSpPr>
          <p:nvPr/>
        </p:nvSpPr>
        <p:spPr>
          <a:xfrm xmlns:a="http://schemas.openxmlformats.org/drawingml/2006/main">
            <a:off x="933450" y="1924050"/>
            <a:ext cx="9486900" cy="8763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75" b="1">
                <a:solidFill>
                  <a:srgbClr val="1D1B18"/>
                </a:solidFill>
                <a:latin typeface="Aptos"/>
                <a:ea typeface="Aptos"/>
                <a:cs typeface="Aptos"/>
              </a:defRPr>
            </a:pPr>
            <a:r>
              <a:rPr sz="1575" b="1">
                <a:solidFill>
                  <a:srgbClr val="1D1B18"/>
                </a:solidFill>
                <a:latin typeface="Aptos"/>
                <a:ea typeface="Aptos"/>
                <a:cs typeface="Aptos"/>
              </a:rPr>
              <a:t>原文证明 2023/24 强厄尔尼诺主要由海洋动力生成，但同时暴露出一个关键异常：海温很强，大气端的风、气压和降水响应却偏弱。</a:t>
            </a:r>
          </a:p>
        </p:txBody>
      </p:sp>
      <p:sp>
        <p:nvSpPr>
          <p:cNvPr id="7" name="">
            <a:extLst xmlns:a="http://schemas.openxmlformats.org/drawingml/2006/main">
              <a:ext uri="{FF2B5EF4-FFF2-40B4-BE49-F238E27FC236}">
                <a16:creationId xmlns:a16="http://schemas.microsoft.com/office/drawing/2014/main" id="{239C6610-8A20-4C86-9DBF-9BF4871FF32B}"/>
              </a:ext>
            </a:extLst>
          </p:cNvPr>
          <p:cNvSpPr>
            <a:spLocks xmlns:a="http://schemas.openxmlformats.org/drawingml/2006/main" noGrp="1"/>
          </p:cNvSpPr>
          <p:nvPr/>
        </p:nvSpPr>
        <p:spPr>
          <a:xfrm xmlns:a="http://schemas.openxmlformats.org/drawingml/2006/main">
            <a:off x="876300" y="3419475"/>
            <a:ext cx="66675" cy="66675"/>
          </a:xfrm>
          <a:prstGeom xmlns:a="http://schemas.openxmlformats.org/drawingml/2006/main" prst="ellipse">
            <a:avLst/>
          </a:prstGeom>
          <a:solidFill xmlns:a="http://schemas.openxmlformats.org/drawingml/2006/main">
            <a:srgbClr val="CC5A43"/>
          </a:solidFill>
          <a:ln xmlns:a="http://schemas.openxmlformats.org/drawingml/2006/main" w="0">
            <a:solidFill>
              <a:srgbClr val="000000">
                <a:alpha val="0"/>
              </a:srgbClr>
            </a:solidFill>
            <a:prstDash val="solid"/>
          </a:ln>
        </p:spPr>
      </p:sp>
      <p:sp>
        <p:nvSpPr>
          <p:cNvPr id="8" name="">
            <a:extLst xmlns:a="http://schemas.openxmlformats.org/drawingml/2006/main">
              <a:ext uri="{FF2B5EF4-FFF2-40B4-BE49-F238E27FC236}">
                <a16:creationId xmlns:a16="http://schemas.microsoft.com/office/drawing/2014/main" id="{C39A2696-6E3A-43E0-B40B-705BAAFEF86E}"/>
              </a:ext>
            </a:extLst>
          </p:cNvPr>
          <p:cNvSpPr>
            <a:spLocks xmlns:a="http://schemas.openxmlformats.org/drawingml/2006/main" noGrp="1"/>
          </p:cNvSpPr>
          <p:nvPr/>
        </p:nvSpPr>
        <p:spPr>
          <a:xfrm xmlns:a="http://schemas.openxmlformats.org/drawingml/2006/main">
            <a:off x="1066800" y="3333750"/>
            <a:ext cx="9144000" cy="628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D1B18"/>
                </a:solidFill>
                <a:latin typeface="Aptos"/>
                <a:ea typeface="Aptos"/>
                <a:cs typeface="Aptos"/>
              </a:defRPr>
            </a:pPr>
            <a:r>
              <a:rPr sz="1350" b="0">
                <a:solidFill>
                  <a:srgbClr val="1D1B18"/>
                </a:solidFill>
                <a:latin typeface="Aptos"/>
                <a:ea typeface="Aptos"/>
                <a:cs typeface="Aptos"/>
              </a:rPr>
              <a:t>本研究接着问：这种弱响应最早从哪个季节出现？是全年平均现象，还是发展季 AMJ/JJA 就已经发生？</a:t>
            </a:r>
          </a:p>
        </p:txBody>
      </p:sp>
      <p:sp>
        <p:nvSpPr>
          <p:cNvPr id="9" name="">
            <a:extLst xmlns:a="http://schemas.openxmlformats.org/drawingml/2006/main">
              <a:ext uri="{FF2B5EF4-FFF2-40B4-BE49-F238E27FC236}">
                <a16:creationId xmlns:a16="http://schemas.microsoft.com/office/drawing/2014/main" id="{9779B529-2305-4DA1-8DCE-4D1D212AE118}"/>
              </a:ext>
            </a:extLst>
          </p:cNvPr>
          <p:cNvSpPr>
            <a:spLocks xmlns:a="http://schemas.openxmlformats.org/drawingml/2006/main" noGrp="1"/>
          </p:cNvSpPr>
          <p:nvPr/>
        </p:nvSpPr>
        <p:spPr>
          <a:xfrm xmlns:a="http://schemas.openxmlformats.org/drawingml/2006/main">
            <a:off x="876300" y="4086225"/>
            <a:ext cx="66675" cy="66675"/>
          </a:xfrm>
          <a:prstGeom xmlns:a="http://schemas.openxmlformats.org/drawingml/2006/main" prst="ellipse">
            <a:avLst/>
          </a:prstGeom>
          <a:solidFill xmlns:a="http://schemas.openxmlformats.org/drawingml/2006/main">
            <a:srgbClr val="CC5A43"/>
          </a:solidFill>
          <a:ln xmlns:a="http://schemas.openxmlformats.org/drawingml/2006/main" w="0">
            <a:solidFill>
              <a:srgbClr val="000000">
                <a:alpha val="0"/>
              </a:srgbClr>
            </a:solidFill>
            <a:prstDash val="solid"/>
          </a:ln>
        </p:spPr>
      </p:sp>
      <p:sp>
        <p:nvSpPr>
          <p:cNvPr id="10" name="">
            <a:extLst xmlns:a="http://schemas.openxmlformats.org/drawingml/2006/main">
              <a:ext uri="{FF2B5EF4-FFF2-40B4-BE49-F238E27FC236}">
                <a16:creationId xmlns:a16="http://schemas.microsoft.com/office/drawing/2014/main" id="{59959901-D2A0-4B6C-A875-54C27286E4B8}"/>
              </a:ext>
            </a:extLst>
          </p:cNvPr>
          <p:cNvSpPr>
            <a:spLocks xmlns:a="http://schemas.openxmlformats.org/drawingml/2006/main" noGrp="1"/>
          </p:cNvSpPr>
          <p:nvPr/>
        </p:nvSpPr>
        <p:spPr>
          <a:xfrm xmlns:a="http://schemas.openxmlformats.org/drawingml/2006/main">
            <a:off x="1066800" y="4000500"/>
            <a:ext cx="9144000" cy="628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D1B18"/>
                </a:solidFill>
                <a:latin typeface="Aptos"/>
                <a:ea typeface="Aptos"/>
                <a:cs typeface="Aptos"/>
              </a:defRPr>
            </a:pPr>
            <a:r>
              <a:rPr sz="1350" b="0">
                <a:solidFill>
                  <a:srgbClr val="1D1B18"/>
                </a:solidFill>
                <a:latin typeface="Aptos"/>
                <a:ea typeface="Aptos"/>
                <a:cs typeface="Aptos"/>
              </a:rPr>
              <a:t>目前阶段性结果显示：2023 年春夏 Niño-3 海表温度驱动已经建立，但 ERA5 风压、GPCP 降水和 CPC OLR 对流响应都低于历史 Niño-3 回归关系预期。</a:t>
            </a:r>
          </a:p>
        </p:txBody>
      </p:sp>
      <p:sp>
        <p:nvSpPr>
          <p:cNvPr id="11" name="">
            <a:extLst xmlns:a="http://schemas.openxmlformats.org/drawingml/2006/main">
              <a:ext uri="{FF2B5EF4-FFF2-40B4-BE49-F238E27FC236}">
                <a16:creationId xmlns:a16="http://schemas.microsoft.com/office/drawing/2014/main" id="{F0511DCD-71CD-48A3-9578-34A7E1ADAFF7}"/>
              </a:ext>
            </a:extLst>
          </p:cNvPr>
          <p:cNvSpPr>
            <a:spLocks xmlns:a="http://schemas.openxmlformats.org/drawingml/2006/main" noGrp="1"/>
          </p:cNvSpPr>
          <p:nvPr/>
        </p:nvSpPr>
        <p:spPr>
          <a:xfrm xmlns:a="http://schemas.openxmlformats.org/drawingml/2006/main">
            <a:off x="876300" y="4752975"/>
            <a:ext cx="66675" cy="66675"/>
          </a:xfrm>
          <a:prstGeom xmlns:a="http://schemas.openxmlformats.org/drawingml/2006/main" prst="ellipse">
            <a:avLst/>
          </a:prstGeom>
          <a:solidFill xmlns:a="http://schemas.openxmlformats.org/drawingml/2006/main">
            <a:srgbClr val="CC5A43"/>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1669D47B-9672-4F1B-938E-2ED97F6DC640}"/>
              </a:ext>
            </a:extLst>
          </p:cNvPr>
          <p:cNvSpPr>
            <a:spLocks xmlns:a="http://schemas.openxmlformats.org/drawingml/2006/main" noGrp="1"/>
          </p:cNvSpPr>
          <p:nvPr/>
        </p:nvSpPr>
        <p:spPr>
          <a:xfrm xmlns:a="http://schemas.openxmlformats.org/drawingml/2006/main">
            <a:off x="1066800" y="4667250"/>
            <a:ext cx="9144000" cy="628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D1B18"/>
                </a:solidFill>
                <a:latin typeface="Aptos"/>
                <a:ea typeface="Aptos"/>
                <a:cs typeface="Aptos"/>
              </a:defRPr>
            </a:pPr>
            <a:r>
              <a:rPr sz="1350" b="0">
                <a:solidFill>
                  <a:srgbClr val="1D1B18"/>
                </a:solidFill>
                <a:latin typeface="Aptos"/>
                <a:ea typeface="Aptos"/>
                <a:cs typeface="Aptos"/>
              </a:rPr>
              <a:t>因此，新研究的入口不是再证明 2023/24 是强厄尔尼诺，而是解释为什么强海温没有触发典型强厄尔尼诺式的大气耦合。</a:t>
            </a:r>
          </a:p>
        </p:txBody>
      </p:sp>
      <p:sp>
        <p:nvSpPr>
          <p:cNvPr id="13" name="">
            <a:extLst xmlns:a="http://schemas.openxmlformats.org/drawingml/2006/main">
              <a:ext uri="{FF2B5EF4-FFF2-40B4-BE49-F238E27FC236}">
                <a16:creationId xmlns:a16="http://schemas.microsoft.com/office/drawing/2014/main" id="{10BFC878-574C-46B5-95E3-456A2EBB6F5B}"/>
              </a:ext>
            </a:extLst>
          </p:cNvPr>
          <p:cNvSpPr>
            <a:spLocks xmlns:a="http://schemas.openxmlformats.org/drawingml/2006/main" noGrp="1"/>
          </p:cNvSpPr>
          <p:nvPr/>
        </p:nvSpPr>
        <p:spPr>
          <a:xfrm xmlns:a="http://schemas.openxmlformats.org/drawingml/2006/main">
            <a:off x="552450" y="6477000"/>
            <a:ext cx="106680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5D574F"/>
                </a:solidFill>
                <a:latin typeface="Aptos"/>
                <a:ea typeface="Aptos"/>
                <a:cs typeface="Aptos"/>
              </a:defRPr>
            </a:pPr>
            <a:r>
              <a:rPr sz="788" b="0">
                <a:solidFill>
                  <a:srgbClr val="5D574F"/>
                </a:solidFill>
                <a:latin typeface="Aptos"/>
                <a:ea typeface="Aptos"/>
                <a:cs typeface="Aptos"/>
              </a:rPr>
              <a:t>Synthesis from reproduced Peng et al. figures and data/derived/research seasonal diagnostics.</a:t>
            </a:r>
          </a:p>
        </p:txBody>
      </p:sp>
    </p:spTree>
    <p:extLst>
      <p:ext uri="{BB962C8B-B14F-4D97-AF65-F5344CB8AC3E}">
        <p14:creationId xmlns:p14="http://schemas.microsoft.com/office/powerpoint/2010/main" val="1699697459"/>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57655B79-E8CC-4FBF-9956-D081D17D1C6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3EA"/>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FE306A81-3EF3-4D70-BCE2-54515D4372CE}"/>
              </a:ext>
            </a:extLst>
          </p:cNvPr>
          <p:cNvSpPr>
            <a:spLocks xmlns:a="http://schemas.openxmlformats.org/drawingml/2006/main" noGrp="1"/>
          </p:cNvSpPr>
          <p:nvPr/>
        </p:nvSpPr>
        <p:spPr>
          <a:xfrm xmlns:a="http://schemas.openxmlformats.org/drawingml/2006/main">
            <a:off x="552450" y="285750"/>
            <a:ext cx="3429000" cy="23812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CC5A43"/>
                </a:solidFill>
                <a:latin typeface="Aptos"/>
                <a:ea typeface="Aptos"/>
                <a:cs typeface="Aptos"/>
              </a:defRPr>
            </a:pPr>
            <a:r>
              <a:rPr sz="1050" b="1">
                <a:solidFill>
                  <a:srgbClr val="CC5A43"/>
                </a:solidFill>
                <a:latin typeface="Aptos"/>
                <a:ea typeface="Aptos"/>
                <a:cs typeface="Aptos"/>
              </a:rPr>
              <a:t>术语先说明</a:t>
            </a:r>
          </a:p>
        </p:txBody>
      </p:sp>
      <p:sp>
        <p:nvSpPr>
          <p:cNvPr id="3" name="">
            <a:extLst xmlns:a="http://schemas.openxmlformats.org/drawingml/2006/main">
              <a:ext uri="{FF2B5EF4-FFF2-40B4-BE49-F238E27FC236}">
                <a16:creationId xmlns:a16="http://schemas.microsoft.com/office/drawing/2014/main" id="{07AB001D-EA1C-46A4-B669-D0141BC67F52}"/>
              </a:ext>
            </a:extLst>
          </p:cNvPr>
          <p:cNvSpPr>
            <a:spLocks xmlns:a="http://schemas.openxmlformats.org/drawingml/2006/main" noGrp="1"/>
          </p:cNvSpPr>
          <p:nvPr/>
        </p:nvSpPr>
        <p:spPr>
          <a:xfrm xmlns:a="http://schemas.openxmlformats.org/drawingml/2006/main">
            <a:off x="552450" y="609600"/>
            <a:ext cx="104775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175" b="1">
                <a:solidFill>
                  <a:srgbClr val="1D1B18"/>
                </a:solidFill>
                <a:latin typeface="Aptos Display"/>
                <a:ea typeface="Aptos Display"/>
                <a:cs typeface="Aptos Display"/>
              </a:defRPr>
            </a:pPr>
            <a:r>
              <a:rPr sz="2175" b="1">
                <a:solidFill>
                  <a:srgbClr val="1D1B18"/>
                </a:solidFill>
                <a:latin typeface="Aptos Display"/>
                <a:ea typeface="Aptos Display"/>
                <a:cs typeface="Aptos Display"/>
              </a:rPr>
              <a:t>本报告常见缩写和变量</a:t>
            </a:r>
          </a:p>
        </p:txBody>
      </p:sp>
      <p:sp>
        <p:nvSpPr>
          <p:cNvPr id="4" name="">
            <a:extLst xmlns:a="http://schemas.openxmlformats.org/drawingml/2006/main">
              <a:ext uri="{FF2B5EF4-FFF2-40B4-BE49-F238E27FC236}">
                <a16:creationId xmlns:a16="http://schemas.microsoft.com/office/drawing/2014/main" id="{0C5D0B49-D651-4D63-9B65-A11E0A3D1CB4}"/>
              </a:ext>
            </a:extLst>
          </p:cNvPr>
          <p:cNvSpPr>
            <a:spLocks xmlns:a="http://schemas.openxmlformats.org/drawingml/2006/main" noGrp="1"/>
          </p:cNvSpPr>
          <p:nvPr/>
        </p:nvSpPr>
        <p:spPr>
          <a:xfrm xmlns:a="http://schemas.openxmlformats.org/drawingml/2006/main">
            <a:off x="552450" y="1409700"/>
            <a:ext cx="10763250" cy="14288"/>
          </a:xfrm>
          <a:prstGeom xmlns:a="http://schemas.openxmlformats.org/drawingml/2006/main" prst="rect">
            <a:avLst/>
          </a:prstGeom>
          <a:solidFill xmlns:a="http://schemas.openxmlformats.org/drawingml/2006/main">
            <a:srgbClr val="D8D1C4"/>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E2B38042-C4B0-4C3F-8CC9-D19586DADCCF}"/>
              </a:ext>
            </a:extLst>
          </p:cNvPr>
          <p:cNvSpPr>
            <a:spLocks xmlns:a="http://schemas.openxmlformats.org/drawingml/2006/main" noGrp="1"/>
          </p:cNvSpPr>
          <p:nvPr/>
        </p:nvSpPr>
        <p:spPr>
          <a:xfrm xmlns:a="http://schemas.openxmlformats.org/drawingml/2006/main">
            <a:off x="666750" y="1657350"/>
            <a:ext cx="1381125" cy="428625"/>
          </a:xfrm>
          <a:prstGeom xmlns:a="http://schemas.openxmlformats.org/drawingml/2006/main" prst="rect">
            <a:avLst/>
          </a:prstGeom>
          <a:solidFill xmlns:a="http://schemas.openxmlformats.org/drawingml/2006/main">
            <a:srgbClr val="1D1B18"/>
          </a:solidFill>
          <a:ln xmlns:a="http://schemas.openxmlformats.org/drawingml/2006/main" w="6668">
            <a:solidFill>
              <a:srgbClr val="D8D1C4"/>
            </a:solidFill>
            <a:prstDash val="solid"/>
          </a:ln>
        </p:spPr>
      </p:sp>
      <p:sp>
        <p:nvSpPr>
          <p:cNvPr id="6" name="">
            <a:extLst xmlns:a="http://schemas.openxmlformats.org/drawingml/2006/main">
              <a:ext uri="{FF2B5EF4-FFF2-40B4-BE49-F238E27FC236}">
                <a16:creationId xmlns:a16="http://schemas.microsoft.com/office/drawing/2014/main" id="{E2CBDFCB-9FF8-4BBF-9505-D647A705D25A}"/>
              </a:ext>
            </a:extLst>
          </p:cNvPr>
          <p:cNvSpPr>
            <a:spLocks xmlns:a="http://schemas.openxmlformats.org/drawingml/2006/main" noGrp="1"/>
          </p:cNvSpPr>
          <p:nvPr/>
        </p:nvSpPr>
        <p:spPr>
          <a:xfrm xmlns:a="http://schemas.openxmlformats.org/drawingml/2006/main">
            <a:off x="752475" y="1724025"/>
            <a:ext cx="1209675" cy="3333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FFFFFF"/>
                </a:solidFill>
                <a:latin typeface="Aptos"/>
                <a:ea typeface="Aptos"/>
                <a:cs typeface="Aptos"/>
              </a:defRPr>
            </a:pPr>
            <a:r>
              <a:rPr sz="900" b="1">
                <a:solidFill>
                  <a:srgbClr val="FFFFFF"/>
                </a:solidFill>
                <a:latin typeface="Aptos"/>
                <a:ea typeface="Aptos"/>
                <a:cs typeface="Aptos"/>
              </a:rPr>
              <a:t>缩写</a:t>
            </a:r>
          </a:p>
        </p:txBody>
      </p:sp>
      <p:sp>
        <p:nvSpPr>
          <p:cNvPr id="7" name="">
            <a:extLst xmlns:a="http://schemas.openxmlformats.org/drawingml/2006/main">
              <a:ext uri="{FF2B5EF4-FFF2-40B4-BE49-F238E27FC236}">
                <a16:creationId xmlns:a16="http://schemas.microsoft.com/office/drawing/2014/main" id="{A885D745-9A73-45DA-85EC-C4BE2930CD12}"/>
              </a:ext>
            </a:extLst>
          </p:cNvPr>
          <p:cNvSpPr>
            <a:spLocks xmlns:a="http://schemas.openxmlformats.org/drawingml/2006/main" noGrp="1"/>
          </p:cNvSpPr>
          <p:nvPr/>
        </p:nvSpPr>
        <p:spPr>
          <a:xfrm xmlns:a="http://schemas.openxmlformats.org/drawingml/2006/main">
            <a:off x="2047875" y="1657350"/>
            <a:ext cx="3000375" cy="428625"/>
          </a:xfrm>
          <a:prstGeom xmlns:a="http://schemas.openxmlformats.org/drawingml/2006/main" prst="rect">
            <a:avLst/>
          </a:prstGeom>
          <a:solidFill xmlns:a="http://schemas.openxmlformats.org/drawingml/2006/main">
            <a:srgbClr val="1D1B18"/>
          </a:solidFill>
          <a:ln xmlns:a="http://schemas.openxmlformats.org/drawingml/2006/main" w="6668">
            <a:solidFill>
              <a:srgbClr val="D8D1C4"/>
            </a:solidFill>
            <a:prstDash val="solid"/>
          </a:ln>
        </p:spPr>
      </p:sp>
      <p:sp>
        <p:nvSpPr>
          <p:cNvPr id="8" name="">
            <a:extLst xmlns:a="http://schemas.openxmlformats.org/drawingml/2006/main">
              <a:ext uri="{FF2B5EF4-FFF2-40B4-BE49-F238E27FC236}">
                <a16:creationId xmlns:a16="http://schemas.microsoft.com/office/drawing/2014/main" id="{239E3BB5-9595-4E1B-B41E-B60C71B21A27}"/>
              </a:ext>
            </a:extLst>
          </p:cNvPr>
          <p:cNvSpPr>
            <a:spLocks xmlns:a="http://schemas.openxmlformats.org/drawingml/2006/main" noGrp="1"/>
          </p:cNvSpPr>
          <p:nvPr/>
        </p:nvSpPr>
        <p:spPr>
          <a:xfrm xmlns:a="http://schemas.openxmlformats.org/drawingml/2006/main">
            <a:off x="2133600" y="1724025"/>
            <a:ext cx="2828925" cy="3333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FFFFFF"/>
                </a:solidFill>
                <a:latin typeface="Aptos"/>
                <a:ea typeface="Aptos"/>
                <a:cs typeface="Aptos"/>
              </a:defRPr>
            </a:pPr>
            <a:r>
              <a:rPr sz="900" b="1">
                <a:solidFill>
                  <a:srgbClr val="FFFFFF"/>
                </a:solidFill>
                <a:latin typeface="Aptos"/>
                <a:ea typeface="Aptos"/>
                <a:cs typeface="Aptos"/>
              </a:rPr>
              <a:t>全称</a:t>
            </a:r>
          </a:p>
        </p:txBody>
      </p:sp>
      <p:sp>
        <p:nvSpPr>
          <p:cNvPr id="9" name="">
            <a:extLst xmlns:a="http://schemas.openxmlformats.org/drawingml/2006/main">
              <a:ext uri="{FF2B5EF4-FFF2-40B4-BE49-F238E27FC236}">
                <a16:creationId xmlns:a16="http://schemas.microsoft.com/office/drawing/2014/main" id="{88275AAB-B226-4928-B00A-31499A55B941}"/>
              </a:ext>
            </a:extLst>
          </p:cNvPr>
          <p:cNvSpPr>
            <a:spLocks xmlns:a="http://schemas.openxmlformats.org/drawingml/2006/main" noGrp="1"/>
          </p:cNvSpPr>
          <p:nvPr/>
        </p:nvSpPr>
        <p:spPr>
          <a:xfrm xmlns:a="http://schemas.openxmlformats.org/drawingml/2006/main">
            <a:off x="5048250" y="1657350"/>
            <a:ext cx="5981700" cy="428625"/>
          </a:xfrm>
          <a:prstGeom xmlns:a="http://schemas.openxmlformats.org/drawingml/2006/main" prst="rect">
            <a:avLst/>
          </a:prstGeom>
          <a:solidFill xmlns:a="http://schemas.openxmlformats.org/drawingml/2006/main">
            <a:srgbClr val="1D1B18"/>
          </a:solidFill>
          <a:ln xmlns:a="http://schemas.openxmlformats.org/drawingml/2006/main" w="6668">
            <a:solidFill>
              <a:srgbClr val="D8D1C4"/>
            </a:solidFill>
            <a:prstDash val="solid"/>
          </a:ln>
        </p:spPr>
      </p:sp>
      <p:sp>
        <p:nvSpPr>
          <p:cNvPr id="10" name="">
            <a:extLst xmlns:a="http://schemas.openxmlformats.org/drawingml/2006/main">
              <a:ext uri="{FF2B5EF4-FFF2-40B4-BE49-F238E27FC236}">
                <a16:creationId xmlns:a16="http://schemas.microsoft.com/office/drawing/2014/main" id="{7809D499-C0E9-4B0B-B801-5068F3DE3D9D}"/>
              </a:ext>
            </a:extLst>
          </p:cNvPr>
          <p:cNvSpPr>
            <a:spLocks xmlns:a="http://schemas.openxmlformats.org/drawingml/2006/main" noGrp="1"/>
          </p:cNvSpPr>
          <p:nvPr/>
        </p:nvSpPr>
        <p:spPr>
          <a:xfrm xmlns:a="http://schemas.openxmlformats.org/drawingml/2006/main">
            <a:off x="5133975" y="1724025"/>
            <a:ext cx="5810250" cy="3333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FFFFFF"/>
                </a:solidFill>
                <a:latin typeface="Aptos"/>
                <a:ea typeface="Aptos"/>
                <a:cs typeface="Aptos"/>
              </a:defRPr>
            </a:pPr>
            <a:r>
              <a:rPr sz="900" b="1">
                <a:solidFill>
                  <a:srgbClr val="FFFFFF"/>
                </a:solidFill>
                <a:latin typeface="Aptos"/>
                <a:ea typeface="Aptos"/>
                <a:cs typeface="Aptos"/>
              </a:rPr>
              <a:t>本研究中的意思</a:t>
            </a:r>
          </a:p>
        </p:txBody>
      </p:sp>
      <p:sp>
        <p:nvSpPr>
          <p:cNvPr id="11" name="">
            <a:extLst xmlns:a="http://schemas.openxmlformats.org/drawingml/2006/main">
              <a:ext uri="{FF2B5EF4-FFF2-40B4-BE49-F238E27FC236}">
                <a16:creationId xmlns:a16="http://schemas.microsoft.com/office/drawing/2014/main" id="{D4877966-9ED5-41E8-BAD3-EA3951812001}"/>
              </a:ext>
            </a:extLst>
          </p:cNvPr>
          <p:cNvSpPr>
            <a:spLocks xmlns:a="http://schemas.openxmlformats.org/drawingml/2006/main" noGrp="1"/>
          </p:cNvSpPr>
          <p:nvPr/>
        </p:nvSpPr>
        <p:spPr>
          <a:xfrm xmlns:a="http://schemas.openxmlformats.org/drawingml/2006/main">
            <a:off x="666750" y="2085975"/>
            <a:ext cx="1381125" cy="428625"/>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12" name="">
            <a:extLst xmlns:a="http://schemas.openxmlformats.org/drawingml/2006/main">
              <a:ext uri="{FF2B5EF4-FFF2-40B4-BE49-F238E27FC236}">
                <a16:creationId xmlns:a16="http://schemas.microsoft.com/office/drawing/2014/main" id="{B8902ABC-5A5D-4E89-815C-DEED194B692B}"/>
              </a:ext>
            </a:extLst>
          </p:cNvPr>
          <p:cNvSpPr>
            <a:spLocks xmlns:a="http://schemas.openxmlformats.org/drawingml/2006/main" noGrp="1"/>
          </p:cNvSpPr>
          <p:nvPr/>
        </p:nvSpPr>
        <p:spPr>
          <a:xfrm xmlns:a="http://schemas.openxmlformats.org/drawingml/2006/main">
            <a:off x="752475" y="2152650"/>
            <a:ext cx="1209675" cy="3333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0" b="0">
                <a:solidFill>
                  <a:srgbClr val="1D1B18"/>
                </a:solidFill>
                <a:latin typeface="Aptos"/>
                <a:ea typeface="Aptos"/>
                <a:cs typeface="Aptos"/>
              </a:defRPr>
            </a:pPr>
            <a:r>
              <a:rPr sz="930" b="0">
                <a:solidFill>
                  <a:srgbClr val="1D1B18"/>
                </a:solidFill>
                <a:latin typeface="Aptos"/>
                <a:ea typeface="Aptos"/>
                <a:cs typeface="Aptos"/>
              </a:rPr>
              <a:t>SST</a:t>
            </a:r>
          </a:p>
        </p:txBody>
      </p:sp>
      <p:sp>
        <p:nvSpPr>
          <p:cNvPr id="13" name="">
            <a:extLst xmlns:a="http://schemas.openxmlformats.org/drawingml/2006/main">
              <a:ext uri="{FF2B5EF4-FFF2-40B4-BE49-F238E27FC236}">
                <a16:creationId xmlns:a16="http://schemas.microsoft.com/office/drawing/2014/main" id="{9DB1BEEA-12BB-4F2F-B310-A34190CA5096}"/>
              </a:ext>
            </a:extLst>
          </p:cNvPr>
          <p:cNvSpPr>
            <a:spLocks xmlns:a="http://schemas.openxmlformats.org/drawingml/2006/main" noGrp="1"/>
          </p:cNvSpPr>
          <p:nvPr/>
        </p:nvSpPr>
        <p:spPr>
          <a:xfrm xmlns:a="http://schemas.openxmlformats.org/drawingml/2006/main">
            <a:off x="2047875" y="2085975"/>
            <a:ext cx="3000375" cy="428625"/>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14" name="">
            <a:extLst xmlns:a="http://schemas.openxmlformats.org/drawingml/2006/main">
              <a:ext uri="{FF2B5EF4-FFF2-40B4-BE49-F238E27FC236}">
                <a16:creationId xmlns:a16="http://schemas.microsoft.com/office/drawing/2014/main" id="{B2EDF08B-EBF2-4DBC-AB92-2BA4DCC91D59}"/>
              </a:ext>
            </a:extLst>
          </p:cNvPr>
          <p:cNvSpPr>
            <a:spLocks xmlns:a="http://schemas.openxmlformats.org/drawingml/2006/main" noGrp="1"/>
          </p:cNvSpPr>
          <p:nvPr/>
        </p:nvSpPr>
        <p:spPr>
          <a:xfrm xmlns:a="http://schemas.openxmlformats.org/drawingml/2006/main">
            <a:off x="2133600" y="2152650"/>
            <a:ext cx="2828925" cy="3333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0" b="0">
                <a:solidFill>
                  <a:srgbClr val="1D1B18"/>
                </a:solidFill>
                <a:latin typeface="Aptos"/>
                <a:ea typeface="Aptos"/>
                <a:cs typeface="Aptos"/>
              </a:defRPr>
            </a:pPr>
            <a:r>
              <a:rPr sz="930" b="0">
                <a:solidFill>
                  <a:srgbClr val="1D1B18"/>
                </a:solidFill>
                <a:latin typeface="Aptos"/>
                <a:ea typeface="Aptos"/>
                <a:cs typeface="Aptos"/>
              </a:rPr>
              <a:t>海表温度</a:t>
            </a:r>
          </a:p>
        </p:txBody>
      </p:sp>
      <p:sp>
        <p:nvSpPr>
          <p:cNvPr id="15" name="">
            <a:extLst xmlns:a="http://schemas.openxmlformats.org/drawingml/2006/main">
              <a:ext uri="{FF2B5EF4-FFF2-40B4-BE49-F238E27FC236}">
                <a16:creationId xmlns:a16="http://schemas.microsoft.com/office/drawing/2014/main" id="{381AE0B6-6AC6-40AC-AD0A-10AFDBB3BC61}"/>
              </a:ext>
            </a:extLst>
          </p:cNvPr>
          <p:cNvSpPr>
            <a:spLocks xmlns:a="http://schemas.openxmlformats.org/drawingml/2006/main" noGrp="1"/>
          </p:cNvSpPr>
          <p:nvPr/>
        </p:nvSpPr>
        <p:spPr>
          <a:xfrm xmlns:a="http://schemas.openxmlformats.org/drawingml/2006/main">
            <a:off x="5048250" y="2085975"/>
            <a:ext cx="5981700" cy="428625"/>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16" name="">
            <a:extLst xmlns:a="http://schemas.openxmlformats.org/drawingml/2006/main">
              <a:ext uri="{FF2B5EF4-FFF2-40B4-BE49-F238E27FC236}">
                <a16:creationId xmlns:a16="http://schemas.microsoft.com/office/drawing/2014/main" id="{BA6E3644-A694-4BD5-B65B-A2B2CCD9AFF9}"/>
              </a:ext>
            </a:extLst>
          </p:cNvPr>
          <p:cNvSpPr>
            <a:spLocks xmlns:a="http://schemas.openxmlformats.org/drawingml/2006/main" noGrp="1"/>
          </p:cNvSpPr>
          <p:nvPr/>
        </p:nvSpPr>
        <p:spPr>
          <a:xfrm xmlns:a="http://schemas.openxmlformats.org/drawingml/2006/main">
            <a:off x="5133975" y="2152650"/>
            <a:ext cx="5810250" cy="3333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0" b="0">
                <a:solidFill>
                  <a:srgbClr val="1D1B18"/>
                </a:solidFill>
                <a:latin typeface="Aptos"/>
                <a:ea typeface="Aptos"/>
                <a:cs typeface="Aptos"/>
              </a:defRPr>
            </a:pPr>
            <a:r>
              <a:rPr sz="930" b="0">
                <a:solidFill>
                  <a:srgbClr val="1D1B18"/>
                </a:solidFill>
                <a:latin typeface="Aptos"/>
                <a:ea typeface="Aptos"/>
                <a:cs typeface="Aptos"/>
              </a:rPr>
              <a:t>判断厄尔尼诺海洋增暖强度。</a:t>
            </a:r>
          </a:p>
        </p:txBody>
      </p:sp>
      <p:sp>
        <p:nvSpPr>
          <p:cNvPr id="17" name="">
            <a:extLst xmlns:a="http://schemas.openxmlformats.org/drawingml/2006/main">
              <a:ext uri="{FF2B5EF4-FFF2-40B4-BE49-F238E27FC236}">
                <a16:creationId xmlns:a16="http://schemas.microsoft.com/office/drawing/2014/main" id="{8974F6D9-3735-4630-AE15-CB800B7E1C2D}"/>
              </a:ext>
            </a:extLst>
          </p:cNvPr>
          <p:cNvSpPr>
            <a:spLocks xmlns:a="http://schemas.openxmlformats.org/drawingml/2006/main" noGrp="1"/>
          </p:cNvSpPr>
          <p:nvPr/>
        </p:nvSpPr>
        <p:spPr>
          <a:xfrm xmlns:a="http://schemas.openxmlformats.org/drawingml/2006/main">
            <a:off x="666750" y="2514600"/>
            <a:ext cx="1381125" cy="428625"/>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18" name="">
            <a:extLst xmlns:a="http://schemas.openxmlformats.org/drawingml/2006/main">
              <a:ext uri="{FF2B5EF4-FFF2-40B4-BE49-F238E27FC236}">
                <a16:creationId xmlns:a16="http://schemas.microsoft.com/office/drawing/2014/main" id="{66359614-9D9D-4357-A370-F4F201F554B1}"/>
              </a:ext>
            </a:extLst>
          </p:cNvPr>
          <p:cNvSpPr>
            <a:spLocks xmlns:a="http://schemas.openxmlformats.org/drawingml/2006/main" noGrp="1"/>
          </p:cNvSpPr>
          <p:nvPr/>
        </p:nvSpPr>
        <p:spPr>
          <a:xfrm xmlns:a="http://schemas.openxmlformats.org/drawingml/2006/main">
            <a:off x="752475" y="2581275"/>
            <a:ext cx="1209675" cy="3333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0" b="0">
                <a:solidFill>
                  <a:srgbClr val="1D1B18"/>
                </a:solidFill>
                <a:latin typeface="Aptos"/>
                <a:ea typeface="Aptos"/>
                <a:cs typeface="Aptos"/>
              </a:defRPr>
            </a:pPr>
            <a:r>
              <a:rPr sz="930" b="0">
                <a:solidFill>
                  <a:srgbClr val="1D1B18"/>
                </a:solidFill>
                <a:latin typeface="Aptos"/>
                <a:ea typeface="Aptos"/>
                <a:cs typeface="Aptos"/>
              </a:rPr>
              <a:t>Niño-3</a:t>
            </a:r>
          </a:p>
        </p:txBody>
      </p:sp>
      <p:sp>
        <p:nvSpPr>
          <p:cNvPr id="19" name="">
            <a:extLst xmlns:a="http://schemas.openxmlformats.org/drawingml/2006/main">
              <a:ext uri="{FF2B5EF4-FFF2-40B4-BE49-F238E27FC236}">
                <a16:creationId xmlns:a16="http://schemas.microsoft.com/office/drawing/2014/main" id="{D380746D-BDD1-4CA0-81A7-07B90A082259}"/>
              </a:ext>
            </a:extLst>
          </p:cNvPr>
          <p:cNvSpPr>
            <a:spLocks xmlns:a="http://schemas.openxmlformats.org/drawingml/2006/main" noGrp="1"/>
          </p:cNvSpPr>
          <p:nvPr/>
        </p:nvSpPr>
        <p:spPr>
          <a:xfrm xmlns:a="http://schemas.openxmlformats.org/drawingml/2006/main">
            <a:off x="2047875" y="2514600"/>
            <a:ext cx="3000375" cy="428625"/>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20" name="">
            <a:extLst xmlns:a="http://schemas.openxmlformats.org/drawingml/2006/main">
              <a:ext uri="{FF2B5EF4-FFF2-40B4-BE49-F238E27FC236}">
                <a16:creationId xmlns:a16="http://schemas.microsoft.com/office/drawing/2014/main" id="{BAF2F14C-9A9B-4B4F-9858-5BC28B38EA74}"/>
              </a:ext>
            </a:extLst>
          </p:cNvPr>
          <p:cNvSpPr>
            <a:spLocks xmlns:a="http://schemas.openxmlformats.org/drawingml/2006/main" noGrp="1"/>
          </p:cNvSpPr>
          <p:nvPr/>
        </p:nvSpPr>
        <p:spPr>
          <a:xfrm xmlns:a="http://schemas.openxmlformats.org/drawingml/2006/main">
            <a:off x="2133600" y="2581275"/>
            <a:ext cx="2828925" cy="3333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0" b="0">
                <a:solidFill>
                  <a:srgbClr val="1D1B18"/>
                </a:solidFill>
                <a:latin typeface="Aptos"/>
                <a:ea typeface="Aptos"/>
                <a:cs typeface="Aptos"/>
              </a:defRPr>
            </a:pPr>
            <a:r>
              <a:rPr sz="930" b="0">
                <a:solidFill>
                  <a:srgbClr val="1D1B18"/>
                </a:solidFill>
                <a:latin typeface="Aptos"/>
                <a:ea typeface="Aptos"/>
                <a:cs typeface="Aptos"/>
              </a:rPr>
              <a:t>东赤道太平洋海温区</a:t>
            </a:r>
          </a:p>
        </p:txBody>
      </p:sp>
      <p:sp>
        <p:nvSpPr>
          <p:cNvPr id="21" name="">
            <a:extLst xmlns:a="http://schemas.openxmlformats.org/drawingml/2006/main">
              <a:ext uri="{FF2B5EF4-FFF2-40B4-BE49-F238E27FC236}">
                <a16:creationId xmlns:a16="http://schemas.microsoft.com/office/drawing/2014/main" id="{FF65DA7A-07E4-4D26-B51C-40E444619AFE}"/>
              </a:ext>
            </a:extLst>
          </p:cNvPr>
          <p:cNvSpPr>
            <a:spLocks xmlns:a="http://schemas.openxmlformats.org/drawingml/2006/main" noGrp="1"/>
          </p:cNvSpPr>
          <p:nvPr/>
        </p:nvSpPr>
        <p:spPr>
          <a:xfrm xmlns:a="http://schemas.openxmlformats.org/drawingml/2006/main">
            <a:off x="5048250" y="2514600"/>
            <a:ext cx="5981700" cy="428625"/>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22" name="">
            <a:extLst xmlns:a="http://schemas.openxmlformats.org/drawingml/2006/main">
              <a:ext uri="{FF2B5EF4-FFF2-40B4-BE49-F238E27FC236}">
                <a16:creationId xmlns:a16="http://schemas.microsoft.com/office/drawing/2014/main" id="{2EAECE3B-1AA4-45AC-B1D4-592C4EC50CE6}"/>
              </a:ext>
            </a:extLst>
          </p:cNvPr>
          <p:cNvSpPr>
            <a:spLocks xmlns:a="http://schemas.openxmlformats.org/drawingml/2006/main" noGrp="1"/>
          </p:cNvSpPr>
          <p:nvPr/>
        </p:nvSpPr>
        <p:spPr>
          <a:xfrm xmlns:a="http://schemas.openxmlformats.org/drawingml/2006/main">
            <a:off x="5133975" y="2581275"/>
            <a:ext cx="5810250" cy="3333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0" b="0">
                <a:solidFill>
                  <a:srgbClr val="1D1B18"/>
                </a:solidFill>
                <a:latin typeface="Aptos"/>
                <a:ea typeface="Aptos"/>
                <a:cs typeface="Aptos"/>
              </a:defRPr>
            </a:pPr>
            <a:r>
              <a:rPr sz="930" b="0">
                <a:solidFill>
                  <a:srgbClr val="1D1B18"/>
                </a:solidFill>
                <a:latin typeface="Aptos"/>
                <a:ea typeface="Aptos"/>
                <a:cs typeface="Aptos"/>
              </a:rPr>
              <a:t>代表东太平洋暖异常，常用于描述厄尔尼诺强度。</a:t>
            </a:r>
          </a:p>
        </p:txBody>
      </p:sp>
      <p:sp>
        <p:nvSpPr>
          <p:cNvPr id="23" name="">
            <a:extLst xmlns:a="http://schemas.openxmlformats.org/drawingml/2006/main">
              <a:ext uri="{FF2B5EF4-FFF2-40B4-BE49-F238E27FC236}">
                <a16:creationId xmlns:a16="http://schemas.microsoft.com/office/drawing/2014/main" id="{ED49A552-42CB-4113-818B-612BCE86A7F9}"/>
              </a:ext>
            </a:extLst>
          </p:cNvPr>
          <p:cNvSpPr>
            <a:spLocks xmlns:a="http://schemas.openxmlformats.org/drawingml/2006/main" noGrp="1"/>
          </p:cNvSpPr>
          <p:nvPr/>
        </p:nvSpPr>
        <p:spPr>
          <a:xfrm xmlns:a="http://schemas.openxmlformats.org/drawingml/2006/main">
            <a:off x="666750" y="2943225"/>
            <a:ext cx="1381125" cy="428625"/>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24" name="">
            <a:extLst xmlns:a="http://schemas.openxmlformats.org/drawingml/2006/main">
              <a:ext uri="{FF2B5EF4-FFF2-40B4-BE49-F238E27FC236}">
                <a16:creationId xmlns:a16="http://schemas.microsoft.com/office/drawing/2014/main" id="{122488E3-9494-47C9-96A3-A5F448C24E40}"/>
              </a:ext>
            </a:extLst>
          </p:cNvPr>
          <p:cNvSpPr>
            <a:spLocks xmlns:a="http://schemas.openxmlformats.org/drawingml/2006/main" noGrp="1"/>
          </p:cNvSpPr>
          <p:nvPr/>
        </p:nvSpPr>
        <p:spPr>
          <a:xfrm xmlns:a="http://schemas.openxmlformats.org/drawingml/2006/main">
            <a:off x="752475" y="3009900"/>
            <a:ext cx="1209675" cy="3333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0" b="0">
                <a:solidFill>
                  <a:srgbClr val="1D1B18"/>
                </a:solidFill>
                <a:latin typeface="Aptos"/>
                <a:ea typeface="Aptos"/>
                <a:cs typeface="Aptos"/>
              </a:defRPr>
            </a:pPr>
            <a:r>
              <a:rPr sz="930" b="0">
                <a:solidFill>
                  <a:srgbClr val="1D1B18"/>
                </a:solidFill>
                <a:latin typeface="Aptos"/>
                <a:ea typeface="Aptos"/>
                <a:cs typeface="Aptos"/>
              </a:rPr>
              <a:t>u10 / u850</a:t>
            </a:r>
          </a:p>
        </p:txBody>
      </p:sp>
      <p:sp>
        <p:nvSpPr>
          <p:cNvPr id="25" name="">
            <a:extLst xmlns:a="http://schemas.openxmlformats.org/drawingml/2006/main">
              <a:ext uri="{FF2B5EF4-FFF2-40B4-BE49-F238E27FC236}">
                <a16:creationId xmlns:a16="http://schemas.microsoft.com/office/drawing/2014/main" id="{570FDB12-43C9-4541-BC1F-EB0B199B75A9}"/>
              </a:ext>
            </a:extLst>
          </p:cNvPr>
          <p:cNvSpPr>
            <a:spLocks xmlns:a="http://schemas.openxmlformats.org/drawingml/2006/main" noGrp="1"/>
          </p:cNvSpPr>
          <p:nvPr/>
        </p:nvSpPr>
        <p:spPr>
          <a:xfrm xmlns:a="http://schemas.openxmlformats.org/drawingml/2006/main">
            <a:off x="2047875" y="2943225"/>
            <a:ext cx="3000375" cy="428625"/>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26" name="">
            <a:extLst xmlns:a="http://schemas.openxmlformats.org/drawingml/2006/main">
              <a:ext uri="{FF2B5EF4-FFF2-40B4-BE49-F238E27FC236}">
                <a16:creationId xmlns:a16="http://schemas.microsoft.com/office/drawing/2014/main" id="{25F0C0DE-579B-4AF4-8D54-2950DE1B70C1}"/>
              </a:ext>
            </a:extLst>
          </p:cNvPr>
          <p:cNvSpPr>
            <a:spLocks xmlns:a="http://schemas.openxmlformats.org/drawingml/2006/main" noGrp="1"/>
          </p:cNvSpPr>
          <p:nvPr/>
        </p:nvSpPr>
        <p:spPr>
          <a:xfrm xmlns:a="http://schemas.openxmlformats.org/drawingml/2006/main">
            <a:off x="2133600" y="3009900"/>
            <a:ext cx="2828925" cy="3333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0" b="0">
                <a:solidFill>
                  <a:srgbClr val="1D1B18"/>
                </a:solidFill>
                <a:latin typeface="Aptos"/>
                <a:ea typeface="Aptos"/>
                <a:cs typeface="Aptos"/>
              </a:defRPr>
            </a:pPr>
            <a:r>
              <a:rPr sz="930" b="0">
                <a:solidFill>
                  <a:srgbClr val="1D1B18"/>
                </a:solidFill>
                <a:latin typeface="Aptos"/>
                <a:ea typeface="Aptos"/>
                <a:cs typeface="Aptos"/>
              </a:rPr>
              <a:t>10 米 / 850 hPa 纬向风</a:t>
            </a:r>
          </a:p>
        </p:txBody>
      </p:sp>
      <p:sp>
        <p:nvSpPr>
          <p:cNvPr id="27" name="">
            <a:extLst xmlns:a="http://schemas.openxmlformats.org/drawingml/2006/main">
              <a:ext uri="{FF2B5EF4-FFF2-40B4-BE49-F238E27FC236}">
                <a16:creationId xmlns:a16="http://schemas.microsoft.com/office/drawing/2014/main" id="{268DE1AD-6DB4-4799-9EF3-A3BFF6555266}"/>
              </a:ext>
            </a:extLst>
          </p:cNvPr>
          <p:cNvSpPr>
            <a:spLocks xmlns:a="http://schemas.openxmlformats.org/drawingml/2006/main" noGrp="1"/>
          </p:cNvSpPr>
          <p:nvPr/>
        </p:nvSpPr>
        <p:spPr>
          <a:xfrm xmlns:a="http://schemas.openxmlformats.org/drawingml/2006/main">
            <a:off x="5048250" y="2943225"/>
            <a:ext cx="5981700" cy="428625"/>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28" name="">
            <a:extLst xmlns:a="http://schemas.openxmlformats.org/drawingml/2006/main">
              <a:ext uri="{FF2B5EF4-FFF2-40B4-BE49-F238E27FC236}">
                <a16:creationId xmlns:a16="http://schemas.microsoft.com/office/drawing/2014/main" id="{1FB05FF8-3545-4D14-BEF5-47F74A6504F4}"/>
              </a:ext>
            </a:extLst>
          </p:cNvPr>
          <p:cNvSpPr>
            <a:spLocks xmlns:a="http://schemas.openxmlformats.org/drawingml/2006/main" noGrp="1"/>
          </p:cNvSpPr>
          <p:nvPr/>
        </p:nvSpPr>
        <p:spPr>
          <a:xfrm xmlns:a="http://schemas.openxmlformats.org/drawingml/2006/main">
            <a:off x="5133975" y="3009900"/>
            <a:ext cx="5810250" cy="3333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0" b="0">
                <a:solidFill>
                  <a:srgbClr val="1D1B18"/>
                </a:solidFill>
                <a:latin typeface="Aptos"/>
                <a:ea typeface="Aptos"/>
                <a:cs typeface="Aptos"/>
              </a:defRPr>
            </a:pPr>
            <a:r>
              <a:rPr sz="930" b="0">
                <a:solidFill>
                  <a:srgbClr val="1D1B18"/>
                </a:solidFill>
                <a:latin typeface="Aptos"/>
                <a:ea typeface="Aptos"/>
                <a:cs typeface="Aptos"/>
              </a:rPr>
              <a:t>东西向风；西风异常可加强海气耦合。</a:t>
            </a:r>
          </a:p>
        </p:txBody>
      </p:sp>
      <p:sp>
        <p:nvSpPr>
          <p:cNvPr id="29" name="">
            <a:extLst xmlns:a="http://schemas.openxmlformats.org/drawingml/2006/main">
              <a:ext uri="{FF2B5EF4-FFF2-40B4-BE49-F238E27FC236}">
                <a16:creationId xmlns:a16="http://schemas.microsoft.com/office/drawing/2014/main" id="{B0D15978-65FC-4991-B746-7CFDA2143ADB}"/>
              </a:ext>
            </a:extLst>
          </p:cNvPr>
          <p:cNvSpPr>
            <a:spLocks xmlns:a="http://schemas.openxmlformats.org/drawingml/2006/main" noGrp="1"/>
          </p:cNvSpPr>
          <p:nvPr/>
        </p:nvSpPr>
        <p:spPr>
          <a:xfrm xmlns:a="http://schemas.openxmlformats.org/drawingml/2006/main">
            <a:off x="666750" y="3371850"/>
            <a:ext cx="1381125" cy="428625"/>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30" name="">
            <a:extLst xmlns:a="http://schemas.openxmlformats.org/drawingml/2006/main">
              <a:ext uri="{FF2B5EF4-FFF2-40B4-BE49-F238E27FC236}">
                <a16:creationId xmlns:a16="http://schemas.microsoft.com/office/drawing/2014/main" id="{623E6480-269A-400A-86F7-EB1CA971AFF3}"/>
              </a:ext>
            </a:extLst>
          </p:cNvPr>
          <p:cNvSpPr>
            <a:spLocks xmlns:a="http://schemas.openxmlformats.org/drawingml/2006/main" noGrp="1"/>
          </p:cNvSpPr>
          <p:nvPr/>
        </p:nvSpPr>
        <p:spPr>
          <a:xfrm xmlns:a="http://schemas.openxmlformats.org/drawingml/2006/main">
            <a:off x="752475" y="3438525"/>
            <a:ext cx="1209675" cy="3333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0" b="0">
                <a:solidFill>
                  <a:srgbClr val="1D1B18"/>
                </a:solidFill>
                <a:latin typeface="Aptos"/>
                <a:ea typeface="Aptos"/>
                <a:cs typeface="Aptos"/>
              </a:defRPr>
            </a:pPr>
            <a:r>
              <a:rPr sz="930" b="0">
                <a:solidFill>
                  <a:srgbClr val="1D1B18"/>
                </a:solidFill>
                <a:latin typeface="Aptos"/>
                <a:ea typeface="Aptos"/>
                <a:cs typeface="Aptos"/>
              </a:rPr>
              <a:t>SOI / SLP</a:t>
            </a:r>
          </a:p>
        </p:txBody>
      </p:sp>
      <p:sp>
        <p:nvSpPr>
          <p:cNvPr id="31" name="">
            <a:extLst xmlns:a="http://schemas.openxmlformats.org/drawingml/2006/main">
              <a:ext uri="{FF2B5EF4-FFF2-40B4-BE49-F238E27FC236}">
                <a16:creationId xmlns:a16="http://schemas.microsoft.com/office/drawing/2014/main" id="{A9098F11-2FC9-4104-9B14-8A0C6500E38D}"/>
              </a:ext>
            </a:extLst>
          </p:cNvPr>
          <p:cNvSpPr>
            <a:spLocks xmlns:a="http://schemas.openxmlformats.org/drawingml/2006/main" noGrp="1"/>
          </p:cNvSpPr>
          <p:nvPr/>
        </p:nvSpPr>
        <p:spPr>
          <a:xfrm xmlns:a="http://schemas.openxmlformats.org/drawingml/2006/main">
            <a:off x="2047875" y="3371850"/>
            <a:ext cx="3000375" cy="428625"/>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32" name="">
            <a:extLst xmlns:a="http://schemas.openxmlformats.org/drawingml/2006/main">
              <a:ext uri="{FF2B5EF4-FFF2-40B4-BE49-F238E27FC236}">
                <a16:creationId xmlns:a16="http://schemas.microsoft.com/office/drawing/2014/main" id="{895C0C81-2CDF-4157-8792-EA8C2FA4B596}"/>
              </a:ext>
            </a:extLst>
          </p:cNvPr>
          <p:cNvSpPr>
            <a:spLocks xmlns:a="http://schemas.openxmlformats.org/drawingml/2006/main" noGrp="1"/>
          </p:cNvSpPr>
          <p:nvPr/>
        </p:nvSpPr>
        <p:spPr>
          <a:xfrm xmlns:a="http://schemas.openxmlformats.org/drawingml/2006/main">
            <a:off x="2133600" y="3438525"/>
            <a:ext cx="2828925" cy="3333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0" b="0">
                <a:solidFill>
                  <a:srgbClr val="1D1B18"/>
                </a:solidFill>
                <a:latin typeface="Aptos"/>
                <a:ea typeface="Aptos"/>
                <a:cs typeface="Aptos"/>
              </a:defRPr>
            </a:pPr>
            <a:r>
              <a:rPr sz="930" b="0">
                <a:solidFill>
                  <a:srgbClr val="1D1B18"/>
                </a:solidFill>
                <a:latin typeface="Aptos"/>
                <a:ea typeface="Aptos"/>
                <a:cs typeface="Aptos"/>
              </a:rPr>
              <a:t>南方涛动指数 / 海平面气压</a:t>
            </a:r>
          </a:p>
        </p:txBody>
      </p:sp>
      <p:sp>
        <p:nvSpPr>
          <p:cNvPr id="33" name="">
            <a:extLst xmlns:a="http://schemas.openxmlformats.org/drawingml/2006/main">
              <a:ext uri="{FF2B5EF4-FFF2-40B4-BE49-F238E27FC236}">
                <a16:creationId xmlns:a16="http://schemas.microsoft.com/office/drawing/2014/main" id="{29890B90-E24C-4C88-81CE-114E5B9E25F5}"/>
              </a:ext>
            </a:extLst>
          </p:cNvPr>
          <p:cNvSpPr>
            <a:spLocks xmlns:a="http://schemas.openxmlformats.org/drawingml/2006/main" noGrp="1"/>
          </p:cNvSpPr>
          <p:nvPr/>
        </p:nvSpPr>
        <p:spPr>
          <a:xfrm xmlns:a="http://schemas.openxmlformats.org/drawingml/2006/main">
            <a:off x="5048250" y="3371850"/>
            <a:ext cx="5981700" cy="428625"/>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34" name="">
            <a:extLst xmlns:a="http://schemas.openxmlformats.org/drawingml/2006/main">
              <a:ext uri="{FF2B5EF4-FFF2-40B4-BE49-F238E27FC236}">
                <a16:creationId xmlns:a16="http://schemas.microsoft.com/office/drawing/2014/main" id="{192E1467-9186-451F-90C3-AF8B370B7092}"/>
              </a:ext>
            </a:extLst>
          </p:cNvPr>
          <p:cNvSpPr>
            <a:spLocks xmlns:a="http://schemas.openxmlformats.org/drawingml/2006/main" noGrp="1"/>
          </p:cNvSpPr>
          <p:nvPr/>
        </p:nvSpPr>
        <p:spPr>
          <a:xfrm xmlns:a="http://schemas.openxmlformats.org/drawingml/2006/main">
            <a:off x="5133975" y="3438525"/>
            <a:ext cx="5810250" cy="3333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0" b="0">
                <a:solidFill>
                  <a:srgbClr val="1D1B18"/>
                </a:solidFill>
                <a:latin typeface="Aptos"/>
                <a:ea typeface="Aptos"/>
                <a:cs typeface="Aptos"/>
              </a:defRPr>
            </a:pPr>
            <a:r>
              <a:rPr sz="930" b="0">
                <a:solidFill>
                  <a:srgbClr val="1D1B18"/>
                </a:solidFill>
                <a:latin typeface="Aptos"/>
                <a:ea typeface="Aptos"/>
                <a:cs typeface="Aptos"/>
              </a:rPr>
              <a:t>衡量东西太平洋气压跷跷板和 Walker 环流响应。</a:t>
            </a:r>
          </a:p>
        </p:txBody>
      </p:sp>
      <p:sp>
        <p:nvSpPr>
          <p:cNvPr id="35" name="">
            <a:extLst xmlns:a="http://schemas.openxmlformats.org/drawingml/2006/main">
              <a:ext uri="{FF2B5EF4-FFF2-40B4-BE49-F238E27FC236}">
                <a16:creationId xmlns:a16="http://schemas.microsoft.com/office/drawing/2014/main" id="{77245071-4C5F-4404-8C3A-60DBFDE6A3DE}"/>
              </a:ext>
            </a:extLst>
          </p:cNvPr>
          <p:cNvSpPr>
            <a:spLocks xmlns:a="http://schemas.openxmlformats.org/drawingml/2006/main" noGrp="1"/>
          </p:cNvSpPr>
          <p:nvPr/>
        </p:nvSpPr>
        <p:spPr>
          <a:xfrm xmlns:a="http://schemas.openxmlformats.org/drawingml/2006/main">
            <a:off x="666750" y="3800475"/>
            <a:ext cx="1381125" cy="428625"/>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36" name="">
            <a:extLst xmlns:a="http://schemas.openxmlformats.org/drawingml/2006/main">
              <a:ext uri="{FF2B5EF4-FFF2-40B4-BE49-F238E27FC236}">
                <a16:creationId xmlns:a16="http://schemas.microsoft.com/office/drawing/2014/main" id="{963E0378-9ED5-4425-B636-C35B4C2E984E}"/>
              </a:ext>
            </a:extLst>
          </p:cNvPr>
          <p:cNvSpPr>
            <a:spLocks xmlns:a="http://schemas.openxmlformats.org/drawingml/2006/main" noGrp="1"/>
          </p:cNvSpPr>
          <p:nvPr/>
        </p:nvSpPr>
        <p:spPr>
          <a:xfrm xmlns:a="http://schemas.openxmlformats.org/drawingml/2006/main">
            <a:off x="752475" y="3867150"/>
            <a:ext cx="1209675" cy="3333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0" b="0">
                <a:solidFill>
                  <a:srgbClr val="1D1B18"/>
                </a:solidFill>
                <a:latin typeface="Aptos"/>
                <a:ea typeface="Aptos"/>
                <a:cs typeface="Aptos"/>
              </a:defRPr>
            </a:pPr>
            <a:r>
              <a:rPr sz="930" b="0">
                <a:solidFill>
                  <a:srgbClr val="1D1B18"/>
                </a:solidFill>
                <a:latin typeface="Aptos"/>
                <a:ea typeface="Aptos"/>
                <a:cs typeface="Aptos"/>
              </a:rPr>
              <a:t>OLR / χ200</a:t>
            </a:r>
          </a:p>
        </p:txBody>
      </p:sp>
      <p:sp>
        <p:nvSpPr>
          <p:cNvPr id="37" name="">
            <a:extLst xmlns:a="http://schemas.openxmlformats.org/drawingml/2006/main">
              <a:ext uri="{FF2B5EF4-FFF2-40B4-BE49-F238E27FC236}">
                <a16:creationId xmlns:a16="http://schemas.microsoft.com/office/drawing/2014/main" id="{189A38CF-6F25-4CBF-B144-F3B3F33EC8E2}"/>
              </a:ext>
            </a:extLst>
          </p:cNvPr>
          <p:cNvSpPr>
            <a:spLocks xmlns:a="http://schemas.openxmlformats.org/drawingml/2006/main" noGrp="1"/>
          </p:cNvSpPr>
          <p:nvPr/>
        </p:nvSpPr>
        <p:spPr>
          <a:xfrm xmlns:a="http://schemas.openxmlformats.org/drawingml/2006/main">
            <a:off x="2047875" y="3800475"/>
            <a:ext cx="3000375" cy="428625"/>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38" name="">
            <a:extLst xmlns:a="http://schemas.openxmlformats.org/drawingml/2006/main">
              <a:ext uri="{FF2B5EF4-FFF2-40B4-BE49-F238E27FC236}">
                <a16:creationId xmlns:a16="http://schemas.microsoft.com/office/drawing/2014/main" id="{3A8BA2DC-6A62-4C80-9D96-2D96868B3288}"/>
              </a:ext>
            </a:extLst>
          </p:cNvPr>
          <p:cNvSpPr>
            <a:spLocks xmlns:a="http://schemas.openxmlformats.org/drawingml/2006/main" noGrp="1"/>
          </p:cNvSpPr>
          <p:nvPr/>
        </p:nvSpPr>
        <p:spPr>
          <a:xfrm xmlns:a="http://schemas.openxmlformats.org/drawingml/2006/main">
            <a:off x="2133600" y="3867150"/>
            <a:ext cx="2828925" cy="3333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0" b="0">
                <a:solidFill>
                  <a:srgbClr val="1D1B18"/>
                </a:solidFill>
                <a:latin typeface="Aptos"/>
                <a:ea typeface="Aptos"/>
                <a:cs typeface="Aptos"/>
              </a:defRPr>
            </a:pPr>
            <a:r>
              <a:rPr sz="930" b="0">
                <a:solidFill>
                  <a:srgbClr val="1D1B18"/>
                </a:solidFill>
                <a:latin typeface="Aptos"/>
                <a:ea typeface="Aptos"/>
                <a:cs typeface="Aptos"/>
              </a:rPr>
              <a:t>向外长波辐射 / 200 hPa 速度势</a:t>
            </a:r>
          </a:p>
        </p:txBody>
      </p:sp>
      <p:sp>
        <p:nvSpPr>
          <p:cNvPr id="39" name="">
            <a:extLst xmlns:a="http://schemas.openxmlformats.org/drawingml/2006/main">
              <a:ext uri="{FF2B5EF4-FFF2-40B4-BE49-F238E27FC236}">
                <a16:creationId xmlns:a16="http://schemas.microsoft.com/office/drawing/2014/main" id="{6213E015-A863-462E-9CA5-EAFB5DE541E3}"/>
              </a:ext>
            </a:extLst>
          </p:cNvPr>
          <p:cNvSpPr>
            <a:spLocks xmlns:a="http://schemas.openxmlformats.org/drawingml/2006/main" noGrp="1"/>
          </p:cNvSpPr>
          <p:nvPr/>
        </p:nvSpPr>
        <p:spPr>
          <a:xfrm xmlns:a="http://schemas.openxmlformats.org/drawingml/2006/main">
            <a:off x="5048250" y="3800475"/>
            <a:ext cx="5981700" cy="428625"/>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40" name="">
            <a:extLst xmlns:a="http://schemas.openxmlformats.org/drawingml/2006/main">
              <a:ext uri="{FF2B5EF4-FFF2-40B4-BE49-F238E27FC236}">
                <a16:creationId xmlns:a16="http://schemas.microsoft.com/office/drawing/2014/main" id="{2D4E7212-11BD-41B4-B028-35DCB530E52A}"/>
              </a:ext>
            </a:extLst>
          </p:cNvPr>
          <p:cNvSpPr>
            <a:spLocks xmlns:a="http://schemas.openxmlformats.org/drawingml/2006/main" noGrp="1"/>
          </p:cNvSpPr>
          <p:nvPr/>
        </p:nvSpPr>
        <p:spPr>
          <a:xfrm xmlns:a="http://schemas.openxmlformats.org/drawingml/2006/main">
            <a:off x="5133975" y="3867150"/>
            <a:ext cx="5810250" cy="3333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0" b="0">
                <a:solidFill>
                  <a:srgbClr val="1D1B18"/>
                </a:solidFill>
                <a:latin typeface="Aptos"/>
                <a:ea typeface="Aptos"/>
                <a:cs typeface="Aptos"/>
              </a:defRPr>
            </a:pPr>
            <a:r>
              <a:rPr sz="930" b="0">
                <a:solidFill>
                  <a:srgbClr val="1D1B18"/>
                </a:solidFill>
                <a:latin typeface="Aptos"/>
                <a:ea typeface="Aptos"/>
                <a:cs typeface="Aptos"/>
              </a:rPr>
              <a:t>分别反映深对流和上层大尺度环流。</a:t>
            </a:r>
          </a:p>
        </p:txBody>
      </p:sp>
      <p:sp>
        <p:nvSpPr>
          <p:cNvPr id="41" name="">
            <a:extLst xmlns:a="http://schemas.openxmlformats.org/drawingml/2006/main">
              <a:ext uri="{FF2B5EF4-FFF2-40B4-BE49-F238E27FC236}">
                <a16:creationId xmlns:a16="http://schemas.microsoft.com/office/drawing/2014/main" id="{E99FD4CA-0B59-4F4B-B4B7-5FBCD9844536}"/>
              </a:ext>
            </a:extLst>
          </p:cNvPr>
          <p:cNvSpPr>
            <a:spLocks xmlns:a="http://schemas.openxmlformats.org/drawingml/2006/main" noGrp="1"/>
          </p:cNvSpPr>
          <p:nvPr/>
        </p:nvSpPr>
        <p:spPr>
          <a:xfrm xmlns:a="http://schemas.openxmlformats.org/drawingml/2006/main">
            <a:off x="666750" y="4229100"/>
            <a:ext cx="1381125" cy="428625"/>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42" name="">
            <a:extLst xmlns:a="http://schemas.openxmlformats.org/drawingml/2006/main">
              <a:ext uri="{FF2B5EF4-FFF2-40B4-BE49-F238E27FC236}">
                <a16:creationId xmlns:a16="http://schemas.microsoft.com/office/drawing/2014/main" id="{AF32508F-ADDE-4F0C-AA62-0688B6F91E94}"/>
              </a:ext>
            </a:extLst>
          </p:cNvPr>
          <p:cNvSpPr>
            <a:spLocks xmlns:a="http://schemas.openxmlformats.org/drawingml/2006/main" noGrp="1"/>
          </p:cNvSpPr>
          <p:nvPr/>
        </p:nvSpPr>
        <p:spPr>
          <a:xfrm xmlns:a="http://schemas.openxmlformats.org/drawingml/2006/main">
            <a:off x="752475" y="4295775"/>
            <a:ext cx="1209675" cy="3333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0" b="0">
                <a:solidFill>
                  <a:srgbClr val="1D1B18"/>
                </a:solidFill>
                <a:latin typeface="Aptos"/>
                <a:ea typeface="Aptos"/>
                <a:cs typeface="Aptos"/>
              </a:defRPr>
            </a:pPr>
            <a:r>
              <a:rPr sz="930" b="0">
                <a:solidFill>
                  <a:srgbClr val="1D1B18"/>
                </a:solidFill>
                <a:latin typeface="Aptos"/>
                <a:ea typeface="Aptos"/>
                <a:cs typeface="Aptos"/>
              </a:rPr>
              <a:t>AMJ/JJA</a:t>
            </a:r>
          </a:p>
        </p:txBody>
      </p:sp>
      <p:sp>
        <p:nvSpPr>
          <p:cNvPr id="43" name="">
            <a:extLst xmlns:a="http://schemas.openxmlformats.org/drawingml/2006/main">
              <a:ext uri="{FF2B5EF4-FFF2-40B4-BE49-F238E27FC236}">
                <a16:creationId xmlns:a16="http://schemas.microsoft.com/office/drawing/2014/main" id="{889179E1-C026-45D9-8981-2B0D041C9E2F}"/>
              </a:ext>
            </a:extLst>
          </p:cNvPr>
          <p:cNvSpPr>
            <a:spLocks xmlns:a="http://schemas.openxmlformats.org/drawingml/2006/main" noGrp="1"/>
          </p:cNvSpPr>
          <p:nvPr/>
        </p:nvSpPr>
        <p:spPr>
          <a:xfrm xmlns:a="http://schemas.openxmlformats.org/drawingml/2006/main">
            <a:off x="2047875" y="4229100"/>
            <a:ext cx="3000375" cy="428625"/>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44" name="">
            <a:extLst xmlns:a="http://schemas.openxmlformats.org/drawingml/2006/main">
              <a:ext uri="{FF2B5EF4-FFF2-40B4-BE49-F238E27FC236}">
                <a16:creationId xmlns:a16="http://schemas.microsoft.com/office/drawing/2014/main" id="{2CE9FD5F-FC9C-4BB0-A1A3-D061EF751389}"/>
              </a:ext>
            </a:extLst>
          </p:cNvPr>
          <p:cNvSpPr>
            <a:spLocks xmlns:a="http://schemas.openxmlformats.org/drawingml/2006/main" noGrp="1"/>
          </p:cNvSpPr>
          <p:nvPr/>
        </p:nvSpPr>
        <p:spPr>
          <a:xfrm xmlns:a="http://schemas.openxmlformats.org/drawingml/2006/main">
            <a:off x="2133600" y="4295775"/>
            <a:ext cx="2828925" cy="3333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0" b="0">
                <a:solidFill>
                  <a:srgbClr val="1D1B18"/>
                </a:solidFill>
                <a:latin typeface="Aptos"/>
                <a:ea typeface="Aptos"/>
                <a:cs typeface="Aptos"/>
              </a:defRPr>
            </a:pPr>
            <a:r>
              <a:rPr sz="930" b="0">
                <a:solidFill>
                  <a:srgbClr val="1D1B18"/>
                </a:solidFill>
                <a:latin typeface="Aptos"/>
                <a:ea typeface="Aptos"/>
                <a:cs typeface="Aptos"/>
              </a:rPr>
              <a:t>4-6月 / 6-8月</a:t>
            </a:r>
          </a:p>
        </p:txBody>
      </p:sp>
      <p:sp>
        <p:nvSpPr>
          <p:cNvPr id="45" name="">
            <a:extLst xmlns:a="http://schemas.openxmlformats.org/drawingml/2006/main">
              <a:ext uri="{FF2B5EF4-FFF2-40B4-BE49-F238E27FC236}">
                <a16:creationId xmlns:a16="http://schemas.microsoft.com/office/drawing/2014/main" id="{53EFAAE1-92E3-42FD-A1D5-6135B055FAC8}"/>
              </a:ext>
            </a:extLst>
          </p:cNvPr>
          <p:cNvSpPr>
            <a:spLocks xmlns:a="http://schemas.openxmlformats.org/drawingml/2006/main" noGrp="1"/>
          </p:cNvSpPr>
          <p:nvPr/>
        </p:nvSpPr>
        <p:spPr>
          <a:xfrm xmlns:a="http://schemas.openxmlformats.org/drawingml/2006/main">
            <a:off x="5048250" y="4229100"/>
            <a:ext cx="5981700" cy="428625"/>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46" name="">
            <a:extLst xmlns:a="http://schemas.openxmlformats.org/drawingml/2006/main">
              <a:ext uri="{FF2B5EF4-FFF2-40B4-BE49-F238E27FC236}">
                <a16:creationId xmlns:a16="http://schemas.microsoft.com/office/drawing/2014/main" id="{28D01331-10B5-4EC7-A6F2-68C7E098465E}"/>
              </a:ext>
            </a:extLst>
          </p:cNvPr>
          <p:cNvSpPr>
            <a:spLocks xmlns:a="http://schemas.openxmlformats.org/drawingml/2006/main" noGrp="1"/>
          </p:cNvSpPr>
          <p:nvPr/>
        </p:nvSpPr>
        <p:spPr>
          <a:xfrm xmlns:a="http://schemas.openxmlformats.org/drawingml/2006/main">
            <a:off x="5133975" y="4295775"/>
            <a:ext cx="5810250" cy="3333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0" b="0">
                <a:solidFill>
                  <a:srgbClr val="1D1B18"/>
                </a:solidFill>
                <a:latin typeface="Aptos"/>
                <a:ea typeface="Aptos"/>
                <a:cs typeface="Aptos"/>
              </a:defRPr>
            </a:pPr>
            <a:r>
              <a:rPr sz="930" b="0">
                <a:solidFill>
                  <a:srgbClr val="1D1B18"/>
                </a:solidFill>
                <a:latin typeface="Aptos"/>
                <a:ea typeface="Aptos"/>
                <a:cs typeface="Aptos"/>
              </a:rPr>
              <a:t>本研究重点的发展前期季节。</a:t>
            </a:r>
          </a:p>
        </p:txBody>
      </p:sp>
      <p:sp>
        <p:nvSpPr>
          <p:cNvPr id="47" name="">
            <a:extLst xmlns:a="http://schemas.openxmlformats.org/drawingml/2006/main">
              <a:ext uri="{FF2B5EF4-FFF2-40B4-BE49-F238E27FC236}">
                <a16:creationId xmlns:a16="http://schemas.microsoft.com/office/drawing/2014/main" id="{9DFD979A-E613-47A5-92EF-C9653CFFF7B8}"/>
              </a:ext>
            </a:extLst>
          </p:cNvPr>
          <p:cNvSpPr>
            <a:spLocks xmlns:a="http://schemas.openxmlformats.org/drawingml/2006/main" noGrp="1"/>
          </p:cNvSpPr>
          <p:nvPr/>
        </p:nvSpPr>
        <p:spPr>
          <a:xfrm xmlns:a="http://schemas.openxmlformats.org/drawingml/2006/main">
            <a:off x="666750" y="4657725"/>
            <a:ext cx="1381125" cy="428625"/>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48" name="">
            <a:extLst xmlns:a="http://schemas.openxmlformats.org/drawingml/2006/main">
              <a:ext uri="{FF2B5EF4-FFF2-40B4-BE49-F238E27FC236}">
                <a16:creationId xmlns:a16="http://schemas.microsoft.com/office/drawing/2014/main" id="{D3C78173-467F-4D74-94D7-464B08138655}"/>
              </a:ext>
            </a:extLst>
          </p:cNvPr>
          <p:cNvSpPr>
            <a:spLocks xmlns:a="http://schemas.openxmlformats.org/drawingml/2006/main" noGrp="1"/>
          </p:cNvSpPr>
          <p:nvPr/>
        </p:nvSpPr>
        <p:spPr>
          <a:xfrm xmlns:a="http://schemas.openxmlformats.org/drawingml/2006/main">
            <a:off x="752475" y="4724400"/>
            <a:ext cx="1209675" cy="3333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0" b="0">
                <a:solidFill>
                  <a:srgbClr val="1D1B18"/>
                </a:solidFill>
                <a:latin typeface="Aptos"/>
                <a:ea typeface="Aptos"/>
                <a:cs typeface="Aptos"/>
              </a:defRPr>
            </a:pPr>
            <a:r>
              <a:rPr sz="930" b="0">
                <a:solidFill>
                  <a:srgbClr val="1D1B18"/>
                </a:solidFill>
                <a:latin typeface="Aptos"/>
                <a:ea typeface="Aptos"/>
                <a:cs typeface="Aptos"/>
              </a:rPr>
              <a:t>TNA/MC/WPWP/TIO</a:t>
            </a:r>
          </a:p>
        </p:txBody>
      </p:sp>
      <p:sp>
        <p:nvSpPr>
          <p:cNvPr id="49" name="">
            <a:extLst xmlns:a="http://schemas.openxmlformats.org/drawingml/2006/main">
              <a:ext uri="{FF2B5EF4-FFF2-40B4-BE49-F238E27FC236}">
                <a16:creationId xmlns:a16="http://schemas.microsoft.com/office/drawing/2014/main" id="{2B780737-189C-417E-BA3C-DED164E3FBF1}"/>
              </a:ext>
            </a:extLst>
          </p:cNvPr>
          <p:cNvSpPr>
            <a:spLocks xmlns:a="http://schemas.openxmlformats.org/drawingml/2006/main" noGrp="1"/>
          </p:cNvSpPr>
          <p:nvPr/>
        </p:nvSpPr>
        <p:spPr>
          <a:xfrm xmlns:a="http://schemas.openxmlformats.org/drawingml/2006/main">
            <a:off x="2047875" y="4657725"/>
            <a:ext cx="3000375" cy="428625"/>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50" name="">
            <a:extLst xmlns:a="http://schemas.openxmlformats.org/drawingml/2006/main">
              <a:ext uri="{FF2B5EF4-FFF2-40B4-BE49-F238E27FC236}">
                <a16:creationId xmlns:a16="http://schemas.microsoft.com/office/drawing/2014/main" id="{1C5D9CE0-97DC-4680-87AC-70737DD4D4D7}"/>
              </a:ext>
            </a:extLst>
          </p:cNvPr>
          <p:cNvSpPr>
            <a:spLocks xmlns:a="http://schemas.openxmlformats.org/drawingml/2006/main" noGrp="1"/>
          </p:cNvSpPr>
          <p:nvPr/>
        </p:nvSpPr>
        <p:spPr>
          <a:xfrm xmlns:a="http://schemas.openxmlformats.org/drawingml/2006/main">
            <a:off x="2133600" y="4724400"/>
            <a:ext cx="2828925" cy="3333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0" b="0">
                <a:solidFill>
                  <a:srgbClr val="1D1B18"/>
                </a:solidFill>
                <a:latin typeface="Aptos"/>
                <a:ea typeface="Aptos"/>
                <a:cs typeface="Aptos"/>
              </a:defRPr>
            </a:pPr>
            <a:r>
              <a:rPr sz="930" b="0">
                <a:solidFill>
                  <a:srgbClr val="1D1B18"/>
                </a:solidFill>
                <a:latin typeface="Aptos"/>
                <a:ea typeface="Aptos"/>
                <a:cs typeface="Aptos"/>
              </a:rPr>
              <a:t>热带北大西洋/海陆洲/西太暖池/热带印度洋</a:t>
            </a:r>
          </a:p>
        </p:txBody>
      </p:sp>
      <p:sp>
        <p:nvSpPr>
          <p:cNvPr id="51" name="">
            <a:extLst xmlns:a="http://schemas.openxmlformats.org/drawingml/2006/main">
              <a:ext uri="{FF2B5EF4-FFF2-40B4-BE49-F238E27FC236}">
                <a16:creationId xmlns:a16="http://schemas.microsoft.com/office/drawing/2014/main" id="{66160978-CF75-423E-B6D8-2FE51229E80B}"/>
              </a:ext>
            </a:extLst>
          </p:cNvPr>
          <p:cNvSpPr>
            <a:spLocks xmlns:a="http://schemas.openxmlformats.org/drawingml/2006/main" noGrp="1"/>
          </p:cNvSpPr>
          <p:nvPr/>
        </p:nvSpPr>
        <p:spPr>
          <a:xfrm xmlns:a="http://schemas.openxmlformats.org/drawingml/2006/main">
            <a:off x="5048250" y="4657725"/>
            <a:ext cx="5981700" cy="428625"/>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52" name="">
            <a:extLst xmlns:a="http://schemas.openxmlformats.org/drawingml/2006/main">
              <a:ext uri="{FF2B5EF4-FFF2-40B4-BE49-F238E27FC236}">
                <a16:creationId xmlns:a16="http://schemas.microsoft.com/office/drawing/2014/main" id="{85B8C186-D36E-4EA7-ABA1-D66B3830394B}"/>
              </a:ext>
            </a:extLst>
          </p:cNvPr>
          <p:cNvSpPr>
            <a:spLocks xmlns:a="http://schemas.openxmlformats.org/drawingml/2006/main" noGrp="1"/>
          </p:cNvSpPr>
          <p:nvPr/>
        </p:nvSpPr>
        <p:spPr>
          <a:xfrm xmlns:a="http://schemas.openxmlformats.org/drawingml/2006/main">
            <a:off x="5133975" y="4724400"/>
            <a:ext cx="5810250" cy="3333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0" b="0">
                <a:solidFill>
                  <a:srgbClr val="1D1B18"/>
                </a:solidFill>
                <a:latin typeface="Aptos"/>
                <a:ea typeface="Aptos"/>
                <a:cs typeface="Aptos"/>
              </a:defRPr>
            </a:pPr>
            <a:r>
              <a:rPr sz="930" b="0">
                <a:solidFill>
                  <a:srgbClr val="1D1B18"/>
                </a:solidFill>
                <a:latin typeface="Aptos"/>
                <a:ea typeface="Aptos"/>
                <a:cs typeface="Aptos"/>
              </a:rPr>
              <a:t>外海盆和热带背景态重点区域。</a:t>
            </a:r>
          </a:p>
        </p:txBody>
      </p:sp>
      <p:sp>
        <p:nvSpPr>
          <p:cNvPr id="53" name="">
            <a:extLst xmlns:a="http://schemas.openxmlformats.org/drawingml/2006/main">
              <a:ext uri="{FF2B5EF4-FFF2-40B4-BE49-F238E27FC236}">
                <a16:creationId xmlns:a16="http://schemas.microsoft.com/office/drawing/2014/main" id="{08130818-5A88-4E31-AA4C-76FFC2935C70}"/>
              </a:ext>
            </a:extLst>
          </p:cNvPr>
          <p:cNvSpPr>
            <a:spLocks xmlns:a="http://schemas.openxmlformats.org/drawingml/2006/main" noGrp="1"/>
          </p:cNvSpPr>
          <p:nvPr/>
        </p:nvSpPr>
        <p:spPr>
          <a:xfrm xmlns:a="http://schemas.openxmlformats.org/drawingml/2006/main">
            <a:off x="552450" y="6477000"/>
            <a:ext cx="106680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5D574F"/>
                </a:solidFill>
                <a:latin typeface="Aptos"/>
                <a:ea typeface="Aptos"/>
                <a:cs typeface="Aptos"/>
              </a:defRPr>
            </a:pPr>
            <a:r>
              <a:rPr sz="788" b="0">
                <a:solidFill>
                  <a:srgbClr val="5D574F"/>
                </a:solidFill>
                <a:latin typeface="Aptos"/>
                <a:ea typeface="Aptos"/>
                <a:cs typeface="Aptos"/>
              </a:rPr>
              <a:t>Standard climate diagnostics and docs/data_source_log.md.</a:t>
            </a:r>
          </a:p>
        </p:txBody>
      </p:sp>
    </p:spTree>
    <p:extLst>
      <p:ext uri="{BB962C8B-B14F-4D97-AF65-F5344CB8AC3E}">
        <p14:creationId xmlns:p14="http://schemas.microsoft.com/office/powerpoint/2010/main" val="401643860"/>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5A26CE5E-2296-4BEE-BED4-0852CBA71208}"/>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3EA"/>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30367D74-6174-4E79-9FF9-462BEBECE041}"/>
              </a:ext>
            </a:extLst>
          </p:cNvPr>
          <p:cNvSpPr>
            <a:spLocks xmlns:a="http://schemas.openxmlformats.org/drawingml/2006/main" noGrp="1"/>
          </p:cNvSpPr>
          <p:nvPr/>
        </p:nvSpPr>
        <p:spPr>
          <a:xfrm xmlns:a="http://schemas.openxmlformats.org/drawingml/2006/main">
            <a:off x="552450" y="285750"/>
            <a:ext cx="3429000" cy="23812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CC5A43"/>
                </a:solidFill>
                <a:latin typeface="Aptos"/>
                <a:ea typeface="Aptos"/>
                <a:cs typeface="Aptos"/>
              </a:defRPr>
            </a:pPr>
            <a:r>
              <a:rPr sz="1050" b="1">
                <a:solidFill>
                  <a:srgbClr val="CC5A43"/>
                </a:solidFill>
                <a:latin typeface="Aptos"/>
                <a:ea typeface="Aptos"/>
                <a:cs typeface="Aptos"/>
              </a:rPr>
              <a:t>术语先说明 2</a:t>
            </a:r>
          </a:p>
        </p:txBody>
      </p:sp>
      <p:sp>
        <p:nvSpPr>
          <p:cNvPr id="3" name="">
            <a:extLst xmlns:a="http://schemas.openxmlformats.org/drawingml/2006/main">
              <a:ext uri="{FF2B5EF4-FFF2-40B4-BE49-F238E27FC236}">
                <a16:creationId xmlns:a16="http://schemas.microsoft.com/office/drawing/2014/main" id="{77A8B020-ECD9-4FA3-96AF-311DC70FB59B}"/>
              </a:ext>
            </a:extLst>
          </p:cNvPr>
          <p:cNvSpPr>
            <a:spLocks xmlns:a="http://schemas.openxmlformats.org/drawingml/2006/main" noGrp="1"/>
          </p:cNvSpPr>
          <p:nvPr/>
        </p:nvSpPr>
        <p:spPr>
          <a:xfrm xmlns:a="http://schemas.openxmlformats.org/drawingml/2006/main">
            <a:off x="552450" y="609600"/>
            <a:ext cx="104775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175" b="1">
                <a:solidFill>
                  <a:srgbClr val="1D1B18"/>
                </a:solidFill>
                <a:latin typeface="Aptos Display"/>
                <a:ea typeface="Aptos Display"/>
                <a:cs typeface="Aptos Display"/>
              </a:defRPr>
            </a:pPr>
            <a:r>
              <a:rPr sz="2175" b="1">
                <a:solidFill>
                  <a:srgbClr val="1D1B18"/>
                </a:solidFill>
                <a:latin typeface="Aptos Display"/>
                <a:ea typeface="Aptos Display"/>
                <a:cs typeface="Aptos Display"/>
              </a:rPr>
              <a:t>数据集、模式实验和区域缩写</a:t>
            </a:r>
          </a:p>
        </p:txBody>
      </p:sp>
      <p:sp>
        <p:nvSpPr>
          <p:cNvPr id="4" name="">
            <a:extLst xmlns:a="http://schemas.openxmlformats.org/drawingml/2006/main">
              <a:ext uri="{FF2B5EF4-FFF2-40B4-BE49-F238E27FC236}">
                <a16:creationId xmlns:a16="http://schemas.microsoft.com/office/drawing/2014/main" id="{A9136BBC-1D8C-450A-91A7-CC31CE8D729E}"/>
              </a:ext>
            </a:extLst>
          </p:cNvPr>
          <p:cNvSpPr>
            <a:spLocks xmlns:a="http://schemas.openxmlformats.org/drawingml/2006/main" noGrp="1"/>
          </p:cNvSpPr>
          <p:nvPr/>
        </p:nvSpPr>
        <p:spPr>
          <a:xfrm xmlns:a="http://schemas.openxmlformats.org/drawingml/2006/main">
            <a:off x="552450" y="1409700"/>
            <a:ext cx="10763250" cy="14288"/>
          </a:xfrm>
          <a:prstGeom xmlns:a="http://schemas.openxmlformats.org/drawingml/2006/main" prst="rect">
            <a:avLst/>
          </a:prstGeom>
          <a:solidFill xmlns:a="http://schemas.openxmlformats.org/drawingml/2006/main">
            <a:srgbClr val="D8D1C4"/>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984A15A7-E994-4297-B6DF-E4E050CC4187}"/>
              </a:ext>
            </a:extLst>
          </p:cNvPr>
          <p:cNvSpPr>
            <a:spLocks xmlns:a="http://schemas.openxmlformats.org/drawingml/2006/main" noGrp="1"/>
          </p:cNvSpPr>
          <p:nvPr/>
        </p:nvSpPr>
        <p:spPr>
          <a:xfrm xmlns:a="http://schemas.openxmlformats.org/drawingml/2006/main">
            <a:off x="666750" y="1657350"/>
            <a:ext cx="1381125" cy="428625"/>
          </a:xfrm>
          <a:prstGeom xmlns:a="http://schemas.openxmlformats.org/drawingml/2006/main" prst="rect">
            <a:avLst/>
          </a:prstGeom>
          <a:solidFill xmlns:a="http://schemas.openxmlformats.org/drawingml/2006/main">
            <a:srgbClr val="1D1B18"/>
          </a:solidFill>
          <a:ln xmlns:a="http://schemas.openxmlformats.org/drawingml/2006/main" w="6668">
            <a:solidFill>
              <a:srgbClr val="D8D1C4"/>
            </a:solidFill>
            <a:prstDash val="solid"/>
          </a:ln>
        </p:spPr>
      </p:sp>
      <p:sp>
        <p:nvSpPr>
          <p:cNvPr id="6" name="">
            <a:extLst xmlns:a="http://schemas.openxmlformats.org/drawingml/2006/main">
              <a:ext uri="{FF2B5EF4-FFF2-40B4-BE49-F238E27FC236}">
                <a16:creationId xmlns:a16="http://schemas.microsoft.com/office/drawing/2014/main" id="{FB70DA5D-0510-4851-9981-84B099A6869D}"/>
              </a:ext>
            </a:extLst>
          </p:cNvPr>
          <p:cNvSpPr>
            <a:spLocks xmlns:a="http://schemas.openxmlformats.org/drawingml/2006/main" noGrp="1"/>
          </p:cNvSpPr>
          <p:nvPr/>
        </p:nvSpPr>
        <p:spPr>
          <a:xfrm xmlns:a="http://schemas.openxmlformats.org/drawingml/2006/main">
            <a:off x="752475" y="1724025"/>
            <a:ext cx="1209675" cy="3333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FFFFFF"/>
                </a:solidFill>
                <a:latin typeface="Aptos"/>
                <a:ea typeface="Aptos"/>
                <a:cs typeface="Aptos"/>
              </a:defRPr>
            </a:pPr>
            <a:r>
              <a:rPr sz="900" b="1">
                <a:solidFill>
                  <a:srgbClr val="FFFFFF"/>
                </a:solidFill>
                <a:latin typeface="Aptos"/>
                <a:ea typeface="Aptos"/>
                <a:cs typeface="Aptos"/>
              </a:rPr>
              <a:t>缩写</a:t>
            </a:r>
          </a:p>
        </p:txBody>
      </p:sp>
      <p:sp>
        <p:nvSpPr>
          <p:cNvPr id="7" name="">
            <a:extLst xmlns:a="http://schemas.openxmlformats.org/drawingml/2006/main">
              <a:ext uri="{FF2B5EF4-FFF2-40B4-BE49-F238E27FC236}">
                <a16:creationId xmlns:a16="http://schemas.microsoft.com/office/drawing/2014/main" id="{24B697EC-F698-43C9-B401-BFF15C84B8A4}"/>
              </a:ext>
            </a:extLst>
          </p:cNvPr>
          <p:cNvSpPr>
            <a:spLocks xmlns:a="http://schemas.openxmlformats.org/drawingml/2006/main" noGrp="1"/>
          </p:cNvSpPr>
          <p:nvPr/>
        </p:nvSpPr>
        <p:spPr>
          <a:xfrm xmlns:a="http://schemas.openxmlformats.org/drawingml/2006/main">
            <a:off x="2047875" y="1657350"/>
            <a:ext cx="3000375" cy="428625"/>
          </a:xfrm>
          <a:prstGeom xmlns:a="http://schemas.openxmlformats.org/drawingml/2006/main" prst="rect">
            <a:avLst/>
          </a:prstGeom>
          <a:solidFill xmlns:a="http://schemas.openxmlformats.org/drawingml/2006/main">
            <a:srgbClr val="1D1B18"/>
          </a:solidFill>
          <a:ln xmlns:a="http://schemas.openxmlformats.org/drawingml/2006/main" w="6668">
            <a:solidFill>
              <a:srgbClr val="D8D1C4"/>
            </a:solidFill>
            <a:prstDash val="solid"/>
          </a:ln>
        </p:spPr>
      </p:sp>
      <p:sp>
        <p:nvSpPr>
          <p:cNvPr id="8" name="">
            <a:extLst xmlns:a="http://schemas.openxmlformats.org/drawingml/2006/main">
              <a:ext uri="{FF2B5EF4-FFF2-40B4-BE49-F238E27FC236}">
                <a16:creationId xmlns:a16="http://schemas.microsoft.com/office/drawing/2014/main" id="{51B4F160-A400-480E-A08B-2F7F0131FB60}"/>
              </a:ext>
            </a:extLst>
          </p:cNvPr>
          <p:cNvSpPr>
            <a:spLocks xmlns:a="http://schemas.openxmlformats.org/drawingml/2006/main" noGrp="1"/>
          </p:cNvSpPr>
          <p:nvPr/>
        </p:nvSpPr>
        <p:spPr>
          <a:xfrm xmlns:a="http://schemas.openxmlformats.org/drawingml/2006/main">
            <a:off x="2133600" y="1724025"/>
            <a:ext cx="2828925" cy="3333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FFFFFF"/>
                </a:solidFill>
                <a:latin typeface="Aptos"/>
                <a:ea typeface="Aptos"/>
                <a:cs typeface="Aptos"/>
              </a:defRPr>
            </a:pPr>
            <a:r>
              <a:rPr sz="900" b="1">
                <a:solidFill>
                  <a:srgbClr val="FFFFFF"/>
                </a:solidFill>
                <a:latin typeface="Aptos"/>
                <a:ea typeface="Aptos"/>
                <a:cs typeface="Aptos"/>
              </a:rPr>
              <a:t>全称</a:t>
            </a:r>
          </a:p>
        </p:txBody>
      </p:sp>
      <p:sp>
        <p:nvSpPr>
          <p:cNvPr id="9" name="">
            <a:extLst xmlns:a="http://schemas.openxmlformats.org/drawingml/2006/main">
              <a:ext uri="{FF2B5EF4-FFF2-40B4-BE49-F238E27FC236}">
                <a16:creationId xmlns:a16="http://schemas.microsoft.com/office/drawing/2014/main" id="{2D3D7477-5F27-4F8B-9166-C5FCC574AC9F}"/>
              </a:ext>
            </a:extLst>
          </p:cNvPr>
          <p:cNvSpPr>
            <a:spLocks xmlns:a="http://schemas.openxmlformats.org/drawingml/2006/main" noGrp="1"/>
          </p:cNvSpPr>
          <p:nvPr/>
        </p:nvSpPr>
        <p:spPr>
          <a:xfrm xmlns:a="http://schemas.openxmlformats.org/drawingml/2006/main">
            <a:off x="5048250" y="1657350"/>
            <a:ext cx="5981700" cy="428625"/>
          </a:xfrm>
          <a:prstGeom xmlns:a="http://schemas.openxmlformats.org/drawingml/2006/main" prst="rect">
            <a:avLst/>
          </a:prstGeom>
          <a:solidFill xmlns:a="http://schemas.openxmlformats.org/drawingml/2006/main">
            <a:srgbClr val="1D1B18"/>
          </a:solidFill>
          <a:ln xmlns:a="http://schemas.openxmlformats.org/drawingml/2006/main" w="6668">
            <a:solidFill>
              <a:srgbClr val="D8D1C4"/>
            </a:solidFill>
            <a:prstDash val="solid"/>
          </a:ln>
        </p:spPr>
      </p:sp>
      <p:sp>
        <p:nvSpPr>
          <p:cNvPr id="10" name="">
            <a:extLst xmlns:a="http://schemas.openxmlformats.org/drawingml/2006/main">
              <a:ext uri="{FF2B5EF4-FFF2-40B4-BE49-F238E27FC236}">
                <a16:creationId xmlns:a16="http://schemas.microsoft.com/office/drawing/2014/main" id="{A1DB5E59-D2A2-4E6E-AA33-2E28E75F4532}"/>
              </a:ext>
            </a:extLst>
          </p:cNvPr>
          <p:cNvSpPr>
            <a:spLocks xmlns:a="http://schemas.openxmlformats.org/drawingml/2006/main" noGrp="1"/>
          </p:cNvSpPr>
          <p:nvPr/>
        </p:nvSpPr>
        <p:spPr>
          <a:xfrm xmlns:a="http://schemas.openxmlformats.org/drawingml/2006/main">
            <a:off x="5133975" y="1724025"/>
            <a:ext cx="5810250" cy="3333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FFFFFF"/>
                </a:solidFill>
                <a:latin typeface="Aptos"/>
                <a:ea typeface="Aptos"/>
                <a:cs typeface="Aptos"/>
              </a:defRPr>
            </a:pPr>
            <a:r>
              <a:rPr sz="900" b="1">
                <a:solidFill>
                  <a:srgbClr val="FFFFFF"/>
                </a:solidFill>
                <a:latin typeface="Aptos"/>
                <a:ea typeface="Aptos"/>
                <a:cs typeface="Aptos"/>
              </a:rPr>
              <a:t>本研究中的意思</a:t>
            </a:r>
          </a:p>
        </p:txBody>
      </p:sp>
      <p:sp>
        <p:nvSpPr>
          <p:cNvPr id="11" name="">
            <a:extLst xmlns:a="http://schemas.openxmlformats.org/drawingml/2006/main">
              <a:ext uri="{FF2B5EF4-FFF2-40B4-BE49-F238E27FC236}">
                <a16:creationId xmlns:a16="http://schemas.microsoft.com/office/drawing/2014/main" id="{9A7084A4-73EC-45EF-8270-2A8E00E11C1B}"/>
              </a:ext>
            </a:extLst>
          </p:cNvPr>
          <p:cNvSpPr>
            <a:spLocks xmlns:a="http://schemas.openxmlformats.org/drawingml/2006/main" noGrp="1"/>
          </p:cNvSpPr>
          <p:nvPr/>
        </p:nvSpPr>
        <p:spPr>
          <a:xfrm xmlns:a="http://schemas.openxmlformats.org/drawingml/2006/main">
            <a:off x="666750" y="2085975"/>
            <a:ext cx="1381125" cy="428625"/>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12" name="">
            <a:extLst xmlns:a="http://schemas.openxmlformats.org/drawingml/2006/main">
              <a:ext uri="{FF2B5EF4-FFF2-40B4-BE49-F238E27FC236}">
                <a16:creationId xmlns:a16="http://schemas.microsoft.com/office/drawing/2014/main" id="{3C21B9DA-64CA-45F8-8105-8AFAD2EC8AC1}"/>
              </a:ext>
            </a:extLst>
          </p:cNvPr>
          <p:cNvSpPr>
            <a:spLocks xmlns:a="http://schemas.openxmlformats.org/drawingml/2006/main" noGrp="1"/>
          </p:cNvSpPr>
          <p:nvPr/>
        </p:nvSpPr>
        <p:spPr>
          <a:xfrm xmlns:a="http://schemas.openxmlformats.org/drawingml/2006/main">
            <a:off x="752475" y="2152650"/>
            <a:ext cx="1209675" cy="3333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0" b="0">
                <a:solidFill>
                  <a:srgbClr val="1D1B18"/>
                </a:solidFill>
                <a:latin typeface="Aptos"/>
                <a:ea typeface="Aptos"/>
                <a:cs typeface="Aptos"/>
              </a:defRPr>
            </a:pPr>
            <a:r>
              <a:rPr sz="930" b="0">
                <a:solidFill>
                  <a:srgbClr val="1D1B18"/>
                </a:solidFill>
                <a:latin typeface="Aptos"/>
                <a:ea typeface="Aptos"/>
                <a:cs typeface="Aptos"/>
              </a:rPr>
              <a:t>NOAA</a:t>
            </a:r>
          </a:p>
        </p:txBody>
      </p:sp>
      <p:sp>
        <p:nvSpPr>
          <p:cNvPr id="13" name="">
            <a:extLst xmlns:a="http://schemas.openxmlformats.org/drawingml/2006/main">
              <a:ext uri="{FF2B5EF4-FFF2-40B4-BE49-F238E27FC236}">
                <a16:creationId xmlns:a16="http://schemas.microsoft.com/office/drawing/2014/main" id="{64C9778E-A3FF-4C92-8A0A-623975D0AAAC}"/>
              </a:ext>
            </a:extLst>
          </p:cNvPr>
          <p:cNvSpPr>
            <a:spLocks xmlns:a="http://schemas.openxmlformats.org/drawingml/2006/main" noGrp="1"/>
          </p:cNvSpPr>
          <p:nvPr/>
        </p:nvSpPr>
        <p:spPr>
          <a:xfrm xmlns:a="http://schemas.openxmlformats.org/drawingml/2006/main">
            <a:off x="2047875" y="2085975"/>
            <a:ext cx="3000375" cy="428625"/>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14" name="">
            <a:extLst xmlns:a="http://schemas.openxmlformats.org/drawingml/2006/main">
              <a:ext uri="{FF2B5EF4-FFF2-40B4-BE49-F238E27FC236}">
                <a16:creationId xmlns:a16="http://schemas.microsoft.com/office/drawing/2014/main" id="{4D24624C-E114-46C0-A119-7D63FD1B4589}"/>
              </a:ext>
            </a:extLst>
          </p:cNvPr>
          <p:cNvSpPr>
            <a:spLocks xmlns:a="http://schemas.openxmlformats.org/drawingml/2006/main" noGrp="1"/>
          </p:cNvSpPr>
          <p:nvPr/>
        </p:nvSpPr>
        <p:spPr>
          <a:xfrm xmlns:a="http://schemas.openxmlformats.org/drawingml/2006/main">
            <a:off x="2133600" y="2152650"/>
            <a:ext cx="2828925" cy="3333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0" b="0">
                <a:solidFill>
                  <a:srgbClr val="1D1B18"/>
                </a:solidFill>
                <a:latin typeface="Aptos"/>
                <a:ea typeface="Aptos"/>
                <a:cs typeface="Aptos"/>
              </a:defRPr>
            </a:pPr>
            <a:r>
              <a:rPr sz="930" b="0">
                <a:solidFill>
                  <a:srgbClr val="1D1B18"/>
                </a:solidFill>
                <a:latin typeface="Aptos"/>
                <a:ea typeface="Aptos"/>
                <a:cs typeface="Aptos"/>
              </a:rPr>
              <a:t>美国国家海洋和大气管理局</a:t>
            </a:r>
          </a:p>
        </p:txBody>
      </p:sp>
      <p:sp>
        <p:nvSpPr>
          <p:cNvPr id="15" name="">
            <a:extLst xmlns:a="http://schemas.openxmlformats.org/drawingml/2006/main">
              <a:ext uri="{FF2B5EF4-FFF2-40B4-BE49-F238E27FC236}">
                <a16:creationId xmlns:a16="http://schemas.microsoft.com/office/drawing/2014/main" id="{F2DD00DB-1915-4FA3-AA71-99EFD2E92C78}"/>
              </a:ext>
            </a:extLst>
          </p:cNvPr>
          <p:cNvSpPr>
            <a:spLocks xmlns:a="http://schemas.openxmlformats.org/drawingml/2006/main" noGrp="1"/>
          </p:cNvSpPr>
          <p:nvPr/>
        </p:nvSpPr>
        <p:spPr>
          <a:xfrm xmlns:a="http://schemas.openxmlformats.org/drawingml/2006/main">
            <a:off x="5048250" y="2085975"/>
            <a:ext cx="5981700" cy="428625"/>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16" name="">
            <a:extLst xmlns:a="http://schemas.openxmlformats.org/drawingml/2006/main">
              <a:ext uri="{FF2B5EF4-FFF2-40B4-BE49-F238E27FC236}">
                <a16:creationId xmlns:a16="http://schemas.microsoft.com/office/drawing/2014/main" id="{D10A1AC8-9E9F-4201-BE17-0465743726B5}"/>
              </a:ext>
            </a:extLst>
          </p:cNvPr>
          <p:cNvSpPr>
            <a:spLocks xmlns:a="http://schemas.openxmlformats.org/drawingml/2006/main" noGrp="1"/>
          </p:cNvSpPr>
          <p:nvPr/>
        </p:nvSpPr>
        <p:spPr>
          <a:xfrm xmlns:a="http://schemas.openxmlformats.org/drawingml/2006/main">
            <a:off x="5133975" y="2152650"/>
            <a:ext cx="5810250" cy="3333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0" b="0">
                <a:solidFill>
                  <a:srgbClr val="1D1B18"/>
                </a:solidFill>
                <a:latin typeface="Aptos"/>
                <a:ea typeface="Aptos"/>
                <a:cs typeface="Aptos"/>
              </a:defRPr>
            </a:pPr>
            <a:r>
              <a:rPr sz="930" b="0">
                <a:solidFill>
                  <a:srgbClr val="1D1B18"/>
                </a:solidFill>
                <a:latin typeface="Aptos"/>
                <a:ea typeface="Aptos"/>
                <a:cs typeface="Aptos"/>
              </a:rPr>
              <a:t>OISST、OLR 等资料的重要发布机构。</a:t>
            </a:r>
          </a:p>
        </p:txBody>
      </p:sp>
      <p:sp>
        <p:nvSpPr>
          <p:cNvPr id="17" name="">
            <a:extLst xmlns:a="http://schemas.openxmlformats.org/drawingml/2006/main">
              <a:ext uri="{FF2B5EF4-FFF2-40B4-BE49-F238E27FC236}">
                <a16:creationId xmlns:a16="http://schemas.microsoft.com/office/drawing/2014/main" id="{186AE1DA-A7D0-4CD5-A5ED-8977BFF561DD}"/>
              </a:ext>
            </a:extLst>
          </p:cNvPr>
          <p:cNvSpPr>
            <a:spLocks xmlns:a="http://schemas.openxmlformats.org/drawingml/2006/main" noGrp="1"/>
          </p:cNvSpPr>
          <p:nvPr/>
        </p:nvSpPr>
        <p:spPr>
          <a:xfrm xmlns:a="http://schemas.openxmlformats.org/drawingml/2006/main">
            <a:off x="666750" y="2514600"/>
            <a:ext cx="1381125" cy="428625"/>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18" name="">
            <a:extLst xmlns:a="http://schemas.openxmlformats.org/drawingml/2006/main">
              <a:ext uri="{FF2B5EF4-FFF2-40B4-BE49-F238E27FC236}">
                <a16:creationId xmlns:a16="http://schemas.microsoft.com/office/drawing/2014/main" id="{1BF486E6-8A33-4748-9E06-C4A7B298813C}"/>
              </a:ext>
            </a:extLst>
          </p:cNvPr>
          <p:cNvSpPr>
            <a:spLocks xmlns:a="http://schemas.openxmlformats.org/drawingml/2006/main" noGrp="1"/>
          </p:cNvSpPr>
          <p:nvPr/>
        </p:nvSpPr>
        <p:spPr>
          <a:xfrm xmlns:a="http://schemas.openxmlformats.org/drawingml/2006/main">
            <a:off x="752475" y="2581275"/>
            <a:ext cx="1209675" cy="3333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0" b="0">
                <a:solidFill>
                  <a:srgbClr val="1D1B18"/>
                </a:solidFill>
                <a:latin typeface="Aptos"/>
                <a:ea typeface="Aptos"/>
                <a:cs typeface="Aptos"/>
              </a:defRPr>
            </a:pPr>
            <a:r>
              <a:rPr sz="930" b="0">
                <a:solidFill>
                  <a:srgbClr val="1D1B18"/>
                </a:solidFill>
                <a:latin typeface="Aptos"/>
                <a:ea typeface="Aptos"/>
                <a:cs typeface="Aptos"/>
              </a:rPr>
              <a:t>NCEP/NCAR R1</a:t>
            </a:r>
          </a:p>
        </p:txBody>
      </p:sp>
      <p:sp>
        <p:nvSpPr>
          <p:cNvPr id="19" name="">
            <a:extLst xmlns:a="http://schemas.openxmlformats.org/drawingml/2006/main">
              <a:ext uri="{FF2B5EF4-FFF2-40B4-BE49-F238E27FC236}">
                <a16:creationId xmlns:a16="http://schemas.microsoft.com/office/drawing/2014/main" id="{BEB38537-1A94-45B1-A766-9BE93F200B20}"/>
              </a:ext>
            </a:extLst>
          </p:cNvPr>
          <p:cNvSpPr>
            <a:spLocks xmlns:a="http://schemas.openxmlformats.org/drawingml/2006/main" noGrp="1"/>
          </p:cNvSpPr>
          <p:nvPr/>
        </p:nvSpPr>
        <p:spPr>
          <a:xfrm xmlns:a="http://schemas.openxmlformats.org/drawingml/2006/main">
            <a:off x="2047875" y="2514600"/>
            <a:ext cx="3000375" cy="428625"/>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20" name="">
            <a:extLst xmlns:a="http://schemas.openxmlformats.org/drawingml/2006/main">
              <a:ext uri="{FF2B5EF4-FFF2-40B4-BE49-F238E27FC236}">
                <a16:creationId xmlns:a16="http://schemas.microsoft.com/office/drawing/2014/main" id="{DE832D44-DC6D-4154-BD76-459CE79C0CF8}"/>
              </a:ext>
            </a:extLst>
          </p:cNvPr>
          <p:cNvSpPr>
            <a:spLocks xmlns:a="http://schemas.openxmlformats.org/drawingml/2006/main" noGrp="1"/>
          </p:cNvSpPr>
          <p:nvPr/>
        </p:nvSpPr>
        <p:spPr>
          <a:xfrm xmlns:a="http://schemas.openxmlformats.org/drawingml/2006/main">
            <a:off x="2133600" y="2581275"/>
            <a:ext cx="2828925" cy="3333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0" b="0">
                <a:solidFill>
                  <a:srgbClr val="1D1B18"/>
                </a:solidFill>
                <a:latin typeface="Aptos"/>
                <a:ea typeface="Aptos"/>
                <a:cs typeface="Aptos"/>
              </a:defRPr>
            </a:pPr>
            <a:r>
              <a:rPr sz="930" b="0">
                <a:solidFill>
                  <a:srgbClr val="1D1B18"/>
                </a:solidFill>
                <a:latin typeface="Aptos"/>
                <a:ea typeface="Aptos"/>
                <a:cs typeface="Aptos"/>
              </a:rPr>
              <a:t>NCEP/NCAR 第一代再分析</a:t>
            </a:r>
          </a:p>
        </p:txBody>
      </p:sp>
      <p:sp>
        <p:nvSpPr>
          <p:cNvPr id="21" name="">
            <a:extLst xmlns:a="http://schemas.openxmlformats.org/drawingml/2006/main">
              <a:ext uri="{FF2B5EF4-FFF2-40B4-BE49-F238E27FC236}">
                <a16:creationId xmlns:a16="http://schemas.microsoft.com/office/drawing/2014/main" id="{E5FA27C3-8CA5-4FB7-A632-6CBB6A03D0C9}"/>
              </a:ext>
            </a:extLst>
          </p:cNvPr>
          <p:cNvSpPr>
            <a:spLocks xmlns:a="http://schemas.openxmlformats.org/drawingml/2006/main" noGrp="1"/>
          </p:cNvSpPr>
          <p:nvPr/>
        </p:nvSpPr>
        <p:spPr>
          <a:xfrm xmlns:a="http://schemas.openxmlformats.org/drawingml/2006/main">
            <a:off x="5048250" y="2514600"/>
            <a:ext cx="5981700" cy="428625"/>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22" name="">
            <a:extLst xmlns:a="http://schemas.openxmlformats.org/drawingml/2006/main">
              <a:ext uri="{FF2B5EF4-FFF2-40B4-BE49-F238E27FC236}">
                <a16:creationId xmlns:a16="http://schemas.microsoft.com/office/drawing/2014/main" id="{FD672531-BC37-48F8-9B55-B555F63F0192}"/>
              </a:ext>
            </a:extLst>
          </p:cNvPr>
          <p:cNvSpPr>
            <a:spLocks xmlns:a="http://schemas.openxmlformats.org/drawingml/2006/main" noGrp="1"/>
          </p:cNvSpPr>
          <p:nvPr/>
        </p:nvSpPr>
        <p:spPr>
          <a:xfrm xmlns:a="http://schemas.openxmlformats.org/drawingml/2006/main">
            <a:off x="5133975" y="2581275"/>
            <a:ext cx="5810250" cy="3333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0" b="0">
                <a:solidFill>
                  <a:srgbClr val="1D1B18"/>
                </a:solidFill>
                <a:latin typeface="Aptos"/>
                <a:ea typeface="Aptos"/>
                <a:cs typeface="Aptos"/>
              </a:defRPr>
            </a:pPr>
            <a:r>
              <a:rPr sz="930" b="0">
                <a:solidFill>
                  <a:srgbClr val="1D1B18"/>
                </a:solidFill>
                <a:latin typeface="Aptos"/>
                <a:ea typeface="Aptos"/>
                <a:cs typeface="Aptos"/>
              </a:rPr>
              <a:t>当前低层风和海平面气压的 fallback 验证资料。</a:t>
            </a:r>
          </a:p>
        </p:txBody>
      </p:sp>
      <p:sp>
        <p:nvSpPr>
          <p:cNvPr id="23" name="">
            <a:extLst xmlns:a="http://schemas.openxmlformats.org/drawingml/2006/main">
              <a:ext uri="{FF2B5EF4-FFF2-40B4-BE49-F238E27FC236}">
                <a16:creationId xmlns:a16="http://schemas.microsoft.com/office/drawing/2014/main" id="{D95837E5-C932-4546-B727-8210D116D1A6}"/>
              </a:ext>
            </a:extLst>
          </p:cNvPr>
          <p:cNvSpPr>
            <a:spLocks xmlns:a="http://schemas.openxmlformats.org/drawingml/2006/main" noGrp="1"/>
          </p:cNvSpPr>
          <p:nvPr/>
        </p:nvSpPr>
        <p:spPr>
          <a:xfrm xmlns:a="http://schemas.openxmlformats.org/drawingml/2006/main">
            <a:off x="666750" y="2943225"/>
            <a:ext cx="1381125" cy="428625"/>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24" name="">
            <a:extLst xmlns:a="http://schemas.openxmlformats.org/drawingml/2006/main">
              <a:ext uri="{FF2B5EF4-FFF2-40B4-BE49-F238E27FC236}">
                <a16:creationId xmlns:a16="http://schemas.microsoft.com/office/drawing/2014/main" id="{4C2A5EAB-4191-428D-AA9B-57A54AE80218}"/>
              </a:ext>
            </a:extLst>
          </p:cNvPr>
          <p:cNvSpPr>
            <a:spLocks xmlns:a="http://schemas.openxmlformats.org/drawingml/2006/main" noGrp="1"/>
          </p:cNvSpPr>
          <p:nvPr/>
        </p:nvSpPr>
        <p:spPr>
          <a:xfrm xmlns:a="http://schemas.openxmlformats.org/drawingml/2006/main">
            <a:off x="752475" y="3009900"/>
            <a:ext cx="1209675" cy="3333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0" b="0">
                <a:solidFill>
                  <a:srgbClr val="1D1B18"/>
                </a:solidFill>
                <a:latin typeface="Aptos"/>
                <a:ea typeface="Aptos"/>
                <a:cs typeface="Aptos"/>
              </a:defRPr>
            </a:pPr>
            <a:r>
              <a:rPr sz="930" b="0">
                <a:solidFill>
                  <a:srgbClr val="1D1B18"/>
                </a:solidFill>
                <a:latin typeface="Aptos"/>
                <a:ea typeface="Aptos"/>
                <a:cs typeface="Aptos"/>
              </a:rPr>
              <a:t>ERA5</a:t>
            </a:r>
          </a:p>
        </p:txBody>
      </p:sp>
      <p:sp>
        <p:nvSpPr>
          <p:cNvPr id="25" name="">
            <a:extLst xmlns:a="http://schemas.openxmlformats.org/drawingml/2006/main">
              <a:ext uri="{FF2B5EF4-FFF2-40B4-BE49-F238E27FC236}">
                <a16:creationId xmlns:a16="http://schemas.microsoft.com/office/drawing/2014/main" id="{F9DF4AD8-F1BE-42D4-806D-2D762E4A900A}"/>
              </a:ext>
            </a:extLst>
          </p:cNvPr>
          <p:cNvSpPr>
            <a:spLocks xmlns:a="http://schemas.openxmlformats.org/drawingml/2006/main" noGrp="1"/>
          </p:cNvSpPr>
          <p:nvPr/>
        </p:nvSpPr>
        <p:spPr>
          <a:xfrm xmlns:a="http://schemas.openxmlformats.org/drawingml/2006/main">
            <a:off x="2047875" y="2943225"/>
            <a:ext cx="3000375" cy="428625"/>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26" name="">
            <a:extLst xmlns:a="http://schemas.openxmlformats.org/drawingml/2006/main">
              <a:ext uri="{FF2B5EF4-FFF2-40B4-BE49-F238E27FC236}">
                <a16:creationId xmlns:a16="http://schemas.microsoft.com/office/drawing/2014/main" id="{37DECC01-BABC-4A91-B9A9-DC08BCDBADF8}"/>
              </a:ext>
            </a:extLst>
          </p:cNvPr>
          <p:cNvSpPr>
            <a:spLocks xmlns:a="http://schemas.openxmlformats.org/drawingml/2006/main" noGrp="1"/>
          </p:cNvSpPr>
          <p:nvPr/>
        </p:nvSpPr>
        <p:spPr>
          <a:xfrm xmlns:a="http://schemas.openxmlformats.org/drawingml/2006/main">
            <a:off x="2133600" y="3009900"/>
            <a:ext cx="2828925" cy="3333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0" b="0">
                <a:solidFill>
                  <a:srgbClr val="1D1B18"/>
                </a:solidFill>
                <a:latin typeface="Aptos"/>
                <a:ea typeface="Aptos"/>
                <a:cs typeface="Aptos"/>
              </a:defRPr>
            </a:pPr>
            <a:r>
              <a:rPr sz="930" b="0">
                <a:solidFill>
                  <a:srgbClr val="1D1B18"/>
                </a:solidFill>
                <a:latin typeface="Aptos"/>
                <a:ea typeface="Aptos"/>
                <a:cs typeface="Aptos"/>
              </a:rPr>
              <a:t>ECMWF 第五代再分析</a:t>
            </a:r>
          </a:p>
        </p:txBody>
      </p:sp>
      <p:sp>
        <p:nvSpPr>
          <p:cNvPr id="27" name="">
            <a:extLst xmlns:a="http://schemas.openxmlformats.org/drawingml/2006/main">
              <a:ext uri="{FF2B5EF4-FFF2-40B4-BE49-F238E27FC236}">
                <a16:creationId xmlns:a16="http://schemas.microsoft.com/office/drawing/2014/main" id="{E4B9D4D9-7DB2-42E9-A282-2FF0603B489A}"/>
              </a:ext>
            </a:extLst>
          </p:cNvPr>
          <p:cNvSpPr>
            <a:spLocks xmlns:a="http://schemas.openxmlformats.org/drawingml/2006/main" noGrp="1"/>
          </p:cNvSpPr>
          <p:nvPr/>
        </p:nvSpPr>
        <p:spPr>
          <a:xfrm xmlns:a="http://schemas.openxmlformats.org/drawingml/2006/main">
            <a:off x="5048250" y="2943225"/>
            <a:ext cx="5981700" cy="428625"/>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28" name="">
            <a:extLst xmlns:a="http://schemas.openxmlformats.org/drawingml/2006/main">
              <a:ext uri="{FF2B5EF4-FFF2-40B4-BE49-F238E27FC236}">
                <a16:creationId xmlns:a16="http://schemas.microsoft.com/office/drawing/2014/main" id="{EA0AACA2-FD55-4711-8539-D753E225762A}"/>
              </a:ext>
            </a:extLst>
          </p:cNvPr>
          <p:cNvSpPr>
            <a:spLocks xmlns:a="http://schemas.openxmlformats.org/drawingml/2006/main" noGrp="1"/>
          </p:cNvSpPr>
          <p:nvPr/>
        </p:nvSpPr>
        <p:spPr>
          <a:xfrm xmlns:a="http://schemas.openxmlformats.org/drawingml/2006/main">
            <a:off x="5133975" y="3009900"/>
            <a:ext cx="5810250" cy="3333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0" b="0">
                <a:solidFill>
                  <a:srgbClr val="1D1B18"/>
                </a:solidFill>
                <a:latin typeface="Aptos"/>
                <a:ea typeface="Aptos"/>
                <a:cs typeface="Aptos"/>
              </a:defRPr>
            </a:pPr>
            <a:r>
              <a:rPr sz="930" b="0">
                <a:solidFill>
                  <a:srgbClr val="1D1B18"/>
                </a:solidFill>
                <a:latin typeface="Aptos"/>
                <a:ea typeface="Aptos"/>
                <a:cs typeface="Aptos"/>
              </a:rPr>
              <a:t>single-level u10 和 SLP 已进入主诊断；pressure-level Walker 环流仍待补。</a:t>
            </a:r>
          </a:p>
        </p:txBody>
      </p:sp>
      <p:sp>
        <p:nvSpPr>
          <p:cNvPr id="29" name="">
            <a:extLst xmlns:a="http://schemas.openxmlformats.org/drawingml/2006/main">
              <a:ext uri="{FF2B5EF4-FFF2-40B4-BE49-F238E27FC236}">
                <a16:creationId xmlns:a16="http://schemas.microsoft.com/office/drawing/2014/main" id="{F0429FC0-0A71-4F99-9FDF-7C8C0CACC55D}"/>
              </a:ext>
            </a:extLst>
          </p:cNvPr>
          <p:cNvSpPr>
            <a:spLocks xmlns:a="http://schemas.openxmlformats.org/drawingml/2006/main" noGrp="1"/>
          </p:cNvSpPr>
          <p:nvPr/>
        </p:nvSpPr>
        <p:spPr>
          <a:xfrm xmlns:a="http://schemas.openxmlformats.org/drawingml/2006/main">
            <a:off x="666750" y="3371850"/>
            <a:ext cx="1381125" cy="428625"/>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30" name="">
            <a:extLst xmlns:a="http://schemas.openxmlformats.org/drawingml/2006/main">
              <a:ext uri="{FF2B5EF4-FFF2-40B4-BE49-F238E27FC236}">
                <a16:creationId xmlns:a16="http://schemas.microsoft.com/office/drawing/2014/main" id="{76223C96-822A-4526-8F09-112B847EF92E}"/>
              </a:ext>
            </a:extLst>
          </p:cNvPr>
          <p:cNvSpPr>
            <a:spLocks xmlns:a="http://schemas.openxmlformats.org/drawingml/2006/main" noGrp="1"/>
          </p:cNvSpPr>
          <p:nvPr/>
        </p:nvSpPr>
        <p:spPr>
          <a:xfrm xmlns:a="http://schemas.openxmlformats.org/drawingml/2006/main">
            <a:off x="752475" y="3438525"/>
            <a:ext cx="1209675" cy="3333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0" b="0">
                <a:solidFill>
                  <a:srgbClr val="1D1B18"/>
                </a:solidFill>
                <a:latin typeface="Aptos"/>
                <a:ea typeface="Aptos"/>
                <a:cs typeface="Aptos"/>
              </a:defRPr>
            </a:pPr>
            <a:r>
              <a:rPr sz="930" b="0">
                <a:solidFill>
                  <a:srgbClr val="1D1B18"/>
                </a:solidFill>
                <a:latin typeface="Aptos"/>
                <a:ea typeface="Aptos"/>
                <a:cs typeface="Aptos"/>
              </a:rPr>
              <a:t>ERSSTv5</a:t>
            </a:r>
          </a:p>
        </p:txBody>
      </p:sp>
      <p:sp>
        <p:nvSpPr>
          <p:cNvPr id="31" name="">
            <a:extLst xmlns:a="http://schemas.openxmlformats.org/drawingml/2006/main">
              <a:ext uri="{FF2B5EF4-FFF2-40B4-BE49-F238E27FC236}">
                <a16:creationId xmlns:a16="http://schemas.microsoft.com/office/drawing/2014/main" id="{9B869779-830B-4A91-A17A-00BAA6731CB2}"/>
              </a:ext>
            </a:extLst>
          </p:cNvPr>
          <p:cNvSpPr>
            <a:spLocks xmlns:a="http://schemas.openxmlformats.org/drawingml/2006/main" noGrp="1"/>
          </p:cNvSpPr>
          <p:nvPr/>
        </p:nvSpPr>
        <p:spPr>
          <a:xfrm xmlns:a="http://schemas.openxmlformats.org/drawingml/2006/main">
            <a:off x="2047875" y="3371850"/>
            <a:ext cx="3000375" cy="428625"/>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32" name="">
            <a:extLst xmlns:a="http://schemas.openxmlformats.org/drawingml/2006/main">
              <a:ext uri="{FF2B5EF4-FFF2-40B4-BE49-F238E27FC236}">
                <a16:creationId xmlns:a16="http://schemas.microsoft.com/office/drawing/2014/main" id="{65CD4B11-D55A-45D3-9A7D-46CA636274E5}"/>
              </a:ext>
            </a:extLst>
          </p:cNvPr>
          <p:cNvSpPr>
            <a:spLocks xmlns:a="http://schemas.openxmlformats.org/drawingml/2006/main" noGrp="1"/>
          </p:cNvSpPr>
          <p:nvPr/>
        </p:nvSpPr>
        <p:spPr>
          <a:xfrm xmlns:a="http://schemas.openxmlformats.org/drawingml/2006/main">
            <a:off x="2133600" y="3438525"/>
            <a:ext cx="2828925" cy="3333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0" b="0">
                <a:solidFill>
                  <a:srgbClr val="1D1B18"/>
                </a:solidFill>
                <a:latin typeface="Aptos"/>
                <a:ea typeface="Aptos"/>
                <a:cs typeface="Aptos"/>
              </a:defRPr>
            </a:pPr>
            <a:r>
              <a:rPr sz="930" b="0">
                <a:solidFill>
                  <a:srgbClr val="1D1B18"/>
                </a:solidFill>
                <a:latin typeface="Aptos"/>
                <a:ea typeface="Aptos"/>
                <a:cs typeface="Aptos"/>
              </a:rPr>
              <a:t>扩展重建海表温度第 5 版</a:t>
            </a:r>
          </a:p>
        </p:txBody>
      </p:sp>
      <p:sp>
        <p:nvSpPr>
          <p:cNvPr id="33" name="">
            <a:extLst xmlns:a="http://schemas.openxmlformats.org/drawingml/2006/main">
              <a:ext uri="{FF2B5EF4-FFF2-40B4-BE49-F238E27FC236}">
                <a16:creationId xmlns:a16="http://schemas.microsoft.com/office/drawing/2014/main" id="{DA44E19F-3E0D-4785-AA5A-64465997C1A6}"/>
              </a:ext>
            </a:extLst>
          </p:cNvPr>
          <p:cNvSpPr>
            <a:spLocks xmlns:a="http://schemas.openxmlformats.org/drawingml/2006/main" noGrp="1"/>
          </p:cNvSpPr>
          <p:nvPr/>
        </p:nvSpPr>
        <p:spPr>
          <a:xfrm xmlns:a="http://schemas.openxmlformats.org/drawingml/2006/main">
            <a:off x="5048250" y="3371850"/>
            <a:ext cx="5981700" cy="428625"/>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34" name="">
            <a:extLst xmlns:a="http://schemas.openxmlformats.org/drawingml/2006/main">
              <a:ext uri="{FF2B5EF4-FFF2-40B4-BE49-F238E27FC236}">
                <a16:creationId xmlns:a16="http://schemas.microsoft.com/office/drawing/2014/main" id="{2E0FCCA0-C6CE-4C21-B18B-02DA0E6234F0}"/>
              </a:ext>
            </a:extLst>
          </p:cNvPr>
          <p:cNvSpPr>
            <a:spLocks xmlns:a="http://schemas.openxmlformats.org/drawingml/2006/main" noGrp="1"/>
          </p:cNvSpPr>
          <p:nvPr/>
        </p:nvSpPr>
        <p:spPr>
          <a:xfrm xmlns:a="http://schemas.openxmlformats.org/drawingml/2006/main">
            <a:off x="5133975" y="3438525"/>
            <a:ext cx="5810250" cy="3333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0" b="0">
                <a:solidFill>
                  <a:srgbClr val="1D1B18"/>
                </a:solidFill>
                <a:latin typeface="Aptos"/>
                <a:ea typeface="Aptos"/>
                <a:cs typeface="Aptos"/>
              </a:defRPr>
            </a:pPr>
            <a:r>
              <a:rPr sz="930" b="0">
                <a:solidFill>
                  <a:srgbClr val="1D1B18"/>
                </a:solidFill>
                <a:latin typeface="Aptos"/>
                <a:ea typeface="Aptos"/>
                <a:cs typeface="Aptos"/>
              </a:rPr>
              <a:t>用于长记录历史强厄尔尼诺稳健性检查。</a:t>
            </a:r>
          </a:p>
        </p:txBody>
      </p:sp>
      <p:sp>
        <p:nvSpPr>
          <p:cNvPr id="35" name="">
            <a:extLst xmlns:a="http://schemas.openxmlformats.org/drawingml/2006/main">
              <a:ext uri="{FF2B5EF4-FFF2-40B4-BE49-F238E27FC236}">
                <a16:creationId xmlns:a16="http://schemas.microsoft.com/office/drawing/2014/main" id="{441F4C25-087B-4694-B7F3-88D6161C9C3D}"/>
              </a:ext>
            </a:extLst>
          </p:cNvPr>
          <p:cNvSpPr>
            <a:spLocks xmlns:a="http://schemas.openxmlformats.org/drawingml/2006/main" noGrp="1"/>
          </p:cNvSpPr>
          <p:nvPr/>
        </p:nvSpPr>
        <p:spPr>
          <a:xfrm xmlns:a="http://schemas.openxmlformats.org/drawingml/2006/main">
            <a:off x="666750" y="3800475"/>
            <a:ext cx="1381125" cy="428625"/>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36" name="">
            <a:extLst xmlns:a="http://schemas.openxmlformats.org/drawingml/2006/main">
              <a:ext uri="{FF2B5EF4-FFF2-40B4-BE49-F238E27FC236}">
                <a16:creationId xmlns:a16="http://schemas.microsoft.com/office/drawing/2014/main" id="{02899A0B-068E-4615-9665-6F14D45EE29C}"/>
              </a:ext>
            </a:extLst>
          </p:cNvPr>
          <p:cNvSpPr>
            <a:spLocks xmlns:a="http://schemas.openxmlformats.org/drawingml/2006/main" noGrp="1"/>
          </p:cNvSpPr>
          <p:nvPr/>
        </p:nvSpPr>
        <p:spPr>
          <a:xfrm xmlns:a="http://schemas.openxmlformats.org/drawingml/2006/main">
            <a:off x="752475" y="3867150"/>
            <a:ext cx="1209675" cy="3333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0" b="0">
                <a:solidFill>
                  <a:srgbClr val="1D1B18"/>
                </a:solidFill>
                <a:latin typeface="Aptos"/>
                <a:ea typeface="Aptos"/>
                <a:cs typeface="Aptos"/>
              </a:defRPr>
            </a:pPr>
            <a:r>
              <a:rPr sz="930" b="0">
                <a:solidFill>
                  <a:srgbClr val="1D1B18"/>
                </a:solidFill>
                <a:latin typeface="Aptos"/>
                <a:ea typeface="Aptos"/>
                <a:cs typeface="Aptos"/>
              </a:rPr>
              <a:t>AGCM</a:t>
            </a:r>
          </a:p>
        </p:txBody>
      </p:sp>
      <p:sp>
        <p:nvSpPr>
          <p:cNvPr id="37" name="">
            <a:extLst xmlns:a="http://schemas.openxmlformats.org/drawingml/2006/main">
              <a:ext uri="{FF2B5EF4-FFF2-40B4-BE49-F238E27FC236}">
                <a16:creationId xmlns:a16="http://schemas.microsoft.com/office/drawing/2014/main" id="{8E3B731B-1B40-42DD-9254-6F35DD8DA5E4}"/>
              </a:ext>
            </a:extLst>
          </p:cNvPr>
          <p:cNvSpPr>
            <a:spLocks xmlns:a="http://schemas.openxmlformats.org/drawingml/2006/main" noGrp="1"/>
          </p:cNvSpPr>
          <p:nvPr/>
        </p:nvSpPr>
        <p:spPr>
          <a:xfrm xmlns:a="http://schemas.openxmlformats.org/drawingml/2006/main">
            <a:off x="2047875" y="3800475"/>
            <a:ext cx="3000375" cy="428625"/>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38" name="">
            <a:extLst xmlns:a="http://schemas.openxmlformats.org/drawingml/2006/main">
              <a:ext uri="{FF2B5EF4-FFF2-40B4-BE49-F238E27FC236}">
                <a16:creationId xmlns:a16="http://schemas.microsoft.com/office/drawing/2014/main" id="{3B51F96E-AE88-438E-B30E-B08BEEB7B0D8}"/>
              </a:ext>
            </a:extLst>
          </p:cNvPr>
          <p:cNvSpPr>
            <a:spLocks xmlns:a="http://schemas.openxmlformats.org/drawingml/2006/main" noGrp="1"/>
          </p:cNvSpPr>
          <p:nvPr/>
        </p:nvSpPr>
        <p:spPr>
          <a:xfrm xmlns:a="http://schemas.openxmlformats.org/drawingml/2006/main">
            <a:off x="2133600" y="3867150"/>
            <a:ext cx="2828925" cy="3333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0" b="0">
                <a:solidFill>
                  <a:srgbClr val="1D1B18"/>
                </a:solidFill>
                <a:latin typeface="Aptos"/>
                <a:ea typeface="Aptos"/>
                <a:cs typeface="Aptos"/>
              </a:defRPr>
            </a:pPr>
            <a:r>
              <a:rPr sz="930" b="0">
                <a:solidFill>
                  <a:srgbClr val="1D1B18"/>
                </a:solidFill>
                <a:latin typeface="Aptos"/>
                <a:ea typeface="Aptos"/>
                <a:cs typeface="Aptos"/>
              </a:rPr>
              <a:t>大气环流模式</a:t>
            </a:r>
          </a:p>
        </p:txBody>
      </p:sp>
      <p:sp>
        <p:nvSpPr>
          <p:cNvPr id="39" name="">
            <a:extLst xmlns:a="http://schemas.openxmlformats.org/drawingml/2006/main">
              <a:ext uri="{FF2B5EF4-FFF2-40B4-BE49-F238E27FC236}">
                <a16:creationId xmlns:a16="http://schemas.microsoft.com/office/drawing/2014/main" id="{72A087B5-14DE-43D1-A7DE-9D390A3FD4B2}"/>
              </a:ext>
            </a:extLst>
          </p:cNvPr>
          <p:cNvSpPr>
            <a:spLocks xmlns:a="http://schemas.openxmlformats.org/drawingml/2006/main" noGrp="1"/>
          </p:cNvSpPr>
          <p:nvPr/>
        </p:nvSpPr>
        <p:spPr>
          <a:xfrm xmlns:a="http://schemas.openxmlformats.org/drawingml/2006/main">
            <a:off x="5048250" y="3800475"/>
            <a:ext cx="5981700" cy="428625"/>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40" name="">
            <a:extLst xmlns:a="http://schemas.openxmlformats.org/drawingml/2006/main">
              <a:ext uri="{FF2B5EF4-FFF2-40B4-BE49-F238E27FC236}">
                <a16:creationId xmlns:a16="http://schemas.microsoft.com/office/drawing/2014/main" id="{11910C3A-A691-403D-BFD6-4B8E0ACF4A13}"/>
              </a:ext>
            </a:extLst>
          </p:cNvPr>
          <p:cNvSpPr>
            <a:spLocks xmlns:a="http://schemas.openxmlformats.org/drawingml/2006/main" noGrp="1"/>
          </p:cNvSpPr>
          <p:nvPr/>
        </p:nvSpPr>
        <p:spPr>
          <a:xfrm xmlns:a="http://schemas.openxmlformats.org/drawingml/2006/main">
            <a:off x="5133975" y="3867150"/>
            <a:ext cx="5810250" cy="3333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0" b="0">
                <a:solidFill>
                  <a:srgbClr val="1D1B18"/>
                </a:solidFill>
                <a:latin typeface="Aptos"/>
                <a:ea typeface="Aptos"/>
                <a:cs typeface="Aptos"/>
              </a:defRPr>
            </a:pPr>
            <a:r>
              <a:rPr sz="930" b="0">
                <a:solidFill>
                  <a:srgbClr val="1D1B18"/>
                </a:solidFill>
                <a:latin typeface="Aptos"/>
                <a:ea typeface="Aptos"/>
                <a:cs typeface="Aptos"/>
              </a:rPr>
              <a:t>用规定海表温度作为边界条件，检验大气响应来源。</a:t>
            </a:r>
          </a:p>
        </p:txBody>
      </p:sp>
      <p:sp>
        <p:nvSpPr>
          <p:cNvPr id="41" name="">
            <a:extLst xmlns:a="http://schemas.openxmlformats.org/drawingml/2006/main">
              <a:ext uri="{FF2B5EF4-FFF2-40B4-BE49-F238E27FC236}">
                <a16:creationId xmlns:a16="http://schemas.microsoft.com/office/drawing/2014/main" id="{AFA6BB1F-63D8-4432-A61B-FA87D80ABA95}"/>
              </a:ext>
            </a:extLst>
          </p:cNvPr>
          <p:cNvSpPr>
            <a:spLocks xmlns:a="http://schemas.openxmlformats.org/drawingml/2006/main" noGrp="1"/>
          </p:cNvSpPr>
          <p:nvPr/>
        </p:nvSpPr>
        <p:spPr>
          <a:xfrm xmlns:a="http://schemas.openxmlformats.org/drawingml/2006/main">
            <a:off x="666750" y="4229100"/>
            <a:ext cx="1381125" cy="428625"/>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42" name="">
            <a:extLst xmlns:a="http://schemas.openxmlformats.org/drawingml/2006/main">
              <a:ext uri="{FF2B5EF4-FFF2-40B4-BE49-F238E27FC236}">
                <a16:creationId xmlns:a16="http://schemas.microsoft.com/office/drawing/2014/main" id="{556418C3-4BF0-4A7D-8C1A-38AA6776CDE9}"/>
              </a:ext>
            </a:extLst>
          </p:cNvPr>
          <p:cNvSpPr>
            <a:spLocks xmlns:a="http://schemas.openxmlformats.org/drawingml/2006/main" noGrp="1"/>
          </p:cNvSpPr>
          <p:nvPr/>
        </p:nvSpPr>
        <p:spPr>
          <a:xfrm xmlns:a="http://schemas.openxmlformats.org/drawingml/2006/main">
            <a:off x="752475" y="4295775"/>
            <a:ext cx="1209675" cy="3333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0" b="0">
                <a:solidFill>
                  <a:srgbClr val="1D1B18"/>
                </a:solidFill>
                <a:latin typeface="Aptos"/>
                <a:ea typeface="Aptos"/>
                <a:cs typeface="Aptos"/>
              </a:defRPr>
            </a:pPr>
            <a:r>
              <a:rPr sz="930" b="0">
                <a:solidFill>
                  <a:srgbClr val="1D1B18"/>
                </a:solidFill>
                <a:latin typeface="Aptos"/>
                <a:ea typeface="Aptos"/>
                <a:cs typeface="Aptos"/>
              </a:rPr>
              <a:t>ENSO</a:t>
            </a:r>
          </a:p>
        </p:txBody>
      </p:sp>
      <p:sp>
        <p:nvSpPr>
          <p:cNvPr id="43" name="">
            <a:extLst xmlns:a="http://schemas.openxmlformats.org/drawingml/2006/main">
              <a:ext uri="{FF2B5EF4-FFF2-40B4-BE49-F238E27FC236}">
                <a16:creationId xmlns:a16="http://schemas.microsoft.com/office/drawing/2014/main" id="{270AD29E-3F33-4320-92D0-BC854FCB408F}"/>
              </a:ext>
            </a:extLst>
          </p:cNvPr>
          <p:cNvSpPr>
            <a:spLocks xmlns:a="http://schemas.openxmlformats.org/drawingml/2006/main" noGrp="1"/>
          </p:cNvSpPr>
          <p:nvPr/>
        </p:nvSpPr>
        <p:spPr>
          <a:xfrm xmlns:a="http://schemas.openxmlformats.org/drawingml/2006/main">
            <a:off x="2047875" y="4229100"/>
            <a:ext cx="3000375" cy="428625"/>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44" name="">
            <a:extLst xmlns:a="http://schemas.openxmlformats.org/drawingml/2006/main">
              <a:ext uri="{FF2B5EF4-FFF2-40B4-BE49-F238E27FC236}">
                <a16:creationId xmlns:a16="http://schemas.microsoft.com/office/drawing/2014/main" id="{CB02014D-3CF1-4E8E-9AA4-EC5F190B523B}"/>
              </a:ext>
            </a:extLst>
          </p:cNvPr>
          <p:cNvSpPr>
            <a:spLocks xmlns:a="http://schemas.openxmlformats.org/drawingml/2006/main" noGrp="1"/>
          </p:cNvSpPr>
          <p:nvPr/>
        </p:nvSpPr>
        <p:spPr>
          <a:xfrm xmlns:a="http://schemas.openxmlformats.org/drawingml/2006/main">
            <a:off x="2133600" y="4295775"/>
            <a:ext cx="2828925" cy="3333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0" b="0">
                <a:solidFill>
                  <a:srgbClr val="1D1B18"/>
                </a:solidFill>
                <a:latin typeface="Aptos"/>
                <a:ea typeface="Aptos"/>
                <a:cs typeface="Aptos"/>
              </a:defRPr>
            </a:pPr>
            <a:r>
              <a:rPr sz="930" b="0">
                <a:solidFill>
                  <a:srgbClr val="1D1B18"/>
                </a:solidFill>
                <a:latin typeface="Aptos"/>
                <a:ea typeface="Aptos"/>
                <a:cs typeface="Aptos"/>
              </a:rPr>
              <a:t>厄尔尼诺-南方涛动</a:t>
            </a:r>
          </a:p>
        </p:txBody>
      </p:sp>
      <p:sp>
        <p:nvSpPr>
          <p:cNvPr id="45" name="">
            <a:extLst xmlns:a="http://schemas.openxmlformats.org/drawingml/2006/main">
              <a:ext uri="{FF2B5EF4-FFF2-40B4-BE49-F238E27FC236}">
                <a16:creationId xmlns:a16="http://schemas.microsoft.com/office/drawing/2014/main" id="{083876BD-521E-4612-9E47-6241F694A783}"/>
              </a:ext>
            </a:extLst>
          </p:cNvPr>
          <p:cNvSpPr>
            <a:spLocks xmlns:a="http://schemas.openxmlformats.org/drawingml/2006/main" noGrp="1"/>
          </p:cNvSpPr>
          <p:nvPr/>
        </p:nvSpPr>
        <p:spPr>
          <a:xfrm xmlns:a="http://schemas.openxmlformats.org/drawingml/2006/main">
            <a:off x="5048250" y="4229100"/>
            <a:ext cx="5981700" cy="428625"/>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46" name="">
            <a:extLst xmlns:a="http://schemas.openxmlformats.org/drawingml/2006/main">
              <a:ext uri="{FF2B5EF4-FFF2-40B4-BE49-F238E27FC236}">
                <a16:creationId xmlns:a16="http://schemas.microsoft.com/office/drawing/2014/main" id="{80E56B77-BF83-409C-A7C8-C406C7A61147}"/>
              </a:ext>
            </a:extLst>
          </p:cNvPr>
          <p:cNvSpPr>
            <a:spLocks xmlns:a="http://schemas.openxmlformats.org/drawingml/2006/main" noGrp="1"/>
          </p:cNvSpPr>
          <p:nvPr/>
        </p:nvSpPr>
        <p:spPr>
          <a:xfrm xmlns:a="http://schemas.openxmlformats.org/drawingml/2006/main">
            <a:off x="5133975" y="4295775"/>
            <a:ext cx="5810250" cy="3333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0" b="0">
                <a:solidFill>
                  <a:srgbClr val="1D1B18"/>
                </a:solidFill>
                <a:latin typeface="Aptos"/>
                <a:ea typeface="Aptos"/>
                <a:cs typeface="Aptos"/>
              </a:defRPr>
            </a:pPr>
            <a:r>
              <a:rPr sz="930" b="0">
                <a:solidFill>
                  <a:srgbClr val="1D1B18"/>
                </a:solidFill>
                <a:latin typeface="Aptos"/>
                <a:ea typeface="Aptos"/>
                <a:cs typeface="Aptos"/>
              </a:rPr>
              <a:t>El Niño 和 La Niña 所属的热带太平洋海气耦合系统。</a:t>
            </a:r>
          </a:p>
        </p:txBody>
      </p:sp>
      <p:sp>
        <p:nvSpPr>
          <p:cNvPr id="47" name="">
            <a:extLst xmlns:a="http://schemas.openxmlformats.org/drawingml/2006/main">
              <a:ext uri="{FF2B5EF4-FFF2-40B4-BE49-F238E27FC236}">
                <a16:creationId xmlns:a16="http://schemas.microsoft.com/office/drawing/2014/main" id="{EB9A44BA-902A-4C07-841C-BF93D0946091}"/>
              </a:ext>
            </a:extLst>
          </p:cNvPr>
          <p:cNvSpPr>
            <a:spLocks xmlns:a="http://schemas.openxmlformats.org/drawingml/2006/main" noGrp="1"/>
          </p:cNvSpPr>
          <p:nvPr/>
        </p:nvSpPr>
        <p:spPr>
          <a:xfrm xmlns:a="http://schemas.openxmlformats.org/drawingml/2006/main">
            <a:off x="666750" y="4657725"/>
            <a:ext cx="1381125" cy="428625"/>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48" name="">
            <a:extLst xmlns:a="http://schemas.openxmlformats.org/drawingml/2006/main">
              <a:ext uri="{FF2B5EF4-FFF2-40B4-BE49-F238E27FC236}">
                <a16:creationId xmlns:a16="http://schemas.microsoft.com/office/drawing/2014/main" id="{9B3EEBD8-AA44-4C12-913E-7B30EB1D9DCE}"/>
              </a:ext>
            </a:extLst>
          </p:cNvPr>
          <p:cNvSpPr>
            <a:spLocks xmlns:a="http://schemas.openxmlformats.org/drawingml/2006/main" noGrp="1"/>
          </p:cNvSpPr>
          <p:nvPr/>
        </p:nvSpPr>
        <p:spPr>
          <a:xfrm xmlns:a="http://schemas.openxmlformats.org/drawingml/2006/main">
            <a:off x="752475" y="4724400"/>
            <a:ext cx="1209675" cy="3333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0" b="0">
                <a:solidFill>
                  <a:srgbClr val="1D1B18"/>
                </a:solidFill>
                <a:latin typeface="Aptos"/>
                <a:ea typeface="Aptos"/>
                <a:cs typeface="Aptos"/>
              </a:defRPr>
            </a:pPr>
            <a:r>
              <a:rPr sz="930" b="0">
                <a:solidFill>
                  <a:srgbClr val="1D1B18"/>
                </a:solidFill>
                <a:latin typeface="Aptos"/>
                <a:ea typeface="Aptos"/>
                <a:cs typeface="Aptos"/>
              </a:rPr>
              <a:t>CWP</a:t>
            </a:r>
          </a:p>
        </p:txBody>
      </p:sp>
      <p:sp>
        <p:nvSpPr>
          <p:cNvPr id="49" name="">
            <a:extLst xmlns:a="http://schemas.openxmlformats.org/drawingml/2006/main">
              <a:ext uri="{FF2B5EF4-FFF2-40B4-BE49-F238E27FC236}">
                <a16:creationId xmlns:a16="http://schemas.microsoft.com/office/drawing/2014/main" id="{03B50D65-C9ED-44C7-B2D3-85AA45639138}"/>
              </a:ext>
            </a:extLst>
          </p:cNvPr>
          <p:cNvSpPr>
            <a:spLocks xmlns:a="http://schemas.openxmlformats.org/drawingml/2006/main" noGrp="1"/>
          </p:cNvSpPr>
          <p:nvPr/>
        </p:nvSpPr>
        <p:spPr>
          <a:xfrm xmlns:a="http://schemas.openxmlformats.org/drawingml/2006/main">
            <a:off x="2047875" y="4657725"/>
            <a:ext cx="3000375" cy="428625"/>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50" name="">
            <a:extLst xmlns:a="http://schemas.openxmlformats.org/drawingml/2006/main">
              <a:ext uri="{FF2B5EF4-FFF2-40B4-BE49-F238E27FC236}">
                <a16:creationId xmlns:a16="http://schemas.microsoft.com/office/drawing/2014/main" id="{3F175A5F-EB5B-4708-8B55-8F3C3902A1B2}"/>
              </a:ext>
            </a:extLst>
          </p:cNvPr>
          <p:cNvSpPr>
            <a:spLocks xmlns:a="http://schemas.openxmlformats.org/drawingml/2006/main" noGrp="1"/>
          </p:cNvSpPr>
          <p:nvPr/>
        </p:nvSpPr>
        <p:spPr>
          <a:xfrm xmlns:a="http://schemas.openxmlformats.org/drawingml/2006/main">
            <a:off x="2133600" y="4724400"/>
            <a:ext cx="2828925" cy="3333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0" b="0">
                <a:solidFill>
                  <a:srgbClr val="1D1B18"/>
                </a:solidFill>
                <a:latin typeface="Aptos"/>
                <a:ea typeface="Aptos"/>
                <a:cs typeface="Aptos"/>
              </a:defRPr>
            </a:pPr>
            <a:r>
              <a:rPr sz="930" b="0">
                <a:solidFill>
                  <a:srgbClr val="1D1B18"/>
                </a:solidFill>
                <a:latin typeface="Aptos"/>
                <a:ea typeface="Aptos"/>
                <a:cs typeface="Aptos"/>
              </a:rPr>
              <a:t>中西太平洋</a:t>
            </a:r>
          </a:p>
        </p:txBody>
      </p:sp>
      <p:sp>
        <p:nvSpPr>
          <p:cNvPr id="51" name="">
            <a:extLst xmlns:a="http://schemas.openxmlformats.org/drawingml/2006/main">
              <a:ext uri="{FF2B5EF4-FFF2-40B4-BE49-F238E27FC236}">
                <a16:creationId xmlns:a16="http://schemas.microsoft.com/office/drawing/2014/main" id="{8FF1AAC6-16B8-4881-AE3F-D428F2936727}"/>
              </a:ext>
            </a:extLst>
          </p:cNvPr>
          <p:cNvSpPr>
            <a:spLocks xmlns:a="http://schemas.openxmlformats.org/drawingml/2006/main" noGrp="1"/>
          </p:cNvSpPr>
          <p:nvPr/>
        </p:nvSpPr>
        <p:spPr>
          <a:xfrm xmlns:a="http://schemas.openxmlformats.org/drawingml/2006/main">
            <a:off x="5048250" y="4657725"/>
            <a:ext cx="5981700" cy="428625"/>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52" name="">
            <a:extLst xmlns:a="http://schemas.openxmlformats.org/drawingml/2006/main">
              <a:ext uri="{FF2B5EF4-FFF2-40B4-BE49-F238E27FC236}">
                <a16:creationId xmlns:a16="http://schemas.microsoft.com/office/drawing/2014/main" id="{4E68261F-1937-4D6B-8201-C201FF8BD11D}"/>
              </a:ext>
            </a:extLst>
          </p:cNvPr>
          <p:cNvSpPr>
            <a:spLocks xmlns:a="http://schemas.openxmlformats.org/drawingml/2006/main" noGrp="1"/>
          </p:cNvSpPr>
          <p:nvPr/>
        </p:nvSpPr>
        <p:spPr>
          <a:xfrm xmlns:a="http://schemas.openxmlformats.org/drawingml/2006/main">
            <a:off x="5133975" y="4724400"/>
            <a:ext cx="5810250" cy="3333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0" b="0">
                <a:solidFill>
                  <a:srgbClr val="1D1B18"/>
                </a:solidFill>
                <a:latin typeface="Aptos"/>
                <a:ea typeface="Aptos"/>
                <a:cs typeface="Aptos"/>
              </a:defRPr>
            </a:pPr>
            <a:r>
              <a:rPr sz="930" b="0">
                <a:solidFill>
                  <a:srgbClr val="1D1B18"/>
                </a:solidFill>
                <a:latin typeface="Aptos"/>
                <a:ea typeface="Aptos"/>
                <a:cs typeface="Aptos"/>
              </a:rPr>
              <a:t>本研究中低层风响应的关键区域。</a:t>
            </a:r>
          </a:p>
        </p:txBody>
      </p:sp>
      <p:sp>
        <p:nvSpPr>
          <p:cNvPr id="53" name="">
            <a:extLst xmlns:a="http://schemas.openxmlformats.org/drawingml/2006/main">
              <a:ext uri="{FF2B5EF4-FFF2-40B4-BE49-F238E27FC236}">
                <a16:creationId xmlns:a16="http://schemas.microsoft.com/office/drawing/2014/main" id="{C589AEE5-E3E1-406F-8242-53F18B673491}"/>
              </a:ext>
            </a:extLst>
          </p:cNvPr>
          <p:cNvSpPr>
            <a:spLocks xmlns:a="http://schemas.openxmlformats.org/drawingml/2006/main" noGrp="1"/>
          </p:cNvSpPr>
          <p:nvPr/>
        </p:nvSpPr>
        <p:spPr>
          <a:xfrm xmlns:a="http://schemas.openxmlformats.org/drawingml/2006/main">
            <a:off x="666750" y="5086350"/>
            <a:ext cx="1381125" cy="428625"/>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54" name="">
            <a:extLst xmlns:a="http://schemas.openxmlformats.org/drawingml/2006/main">
              <a:ext uri="{FF2B5EF4-FFF2-40B4-BE49-F238E27FC236}">
                <a16:creationId xmlns:a16="http://schemas.microsoft.com/office/drawing/2014/main" id="{B412D3EF-AF3C-4BF5-8178-F99FF40C6B58}"/>
              </a:ext>
            </a:extLst>
          </p:cNvPr>
          <p:cNvSpPr>
            <a:spLocks xmlns:a="http://schemas.openxmlformats.org/drawingml/2006/main" noGrp="1"/>
          </p:cNvSpPr>
          <p:nvPr/>
        </p:nvSpPr>
        <p:spPr>
          <a:xfrm xmlns:a="http://schemas.openxmlformats.org/drawingml/2006/main">
            <a:off x="752475" y="5153025"/>
            <a:ext cx="1209675" cy="3333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0" b="0">
                <a:solidFill>
                  <a:srgbClr val="1D1B18"/>
                </a:solidFill>
                <a:latin typeface="Aptos"/>
                <a:ea typeface="Aptos"/>
                <a:cs typeface="Aptos"/>
              </a:defRPr>
            </a:pPr>
            <a:r>
              <a:rPr sz="930" b="0">
                <a:solidFill>
                  <a:srgbClr val="1D1B18"/>
                </a:solidFill>
                <a:latin typeface="Aptos"/>
                <a:ea typeface="Aptos"/>
                <a:cs typeface="Aptos"/>
              </a:rPr>
              <a:t>MJO/RMM</a:t>
            </a:r>
          </a:p>
        </p:txBody>
      </p:sp>
      <p:sp>
        <p:nvSpPr>
          <p:cNvPr id="55" name="">
            <a:extLst xmlns:a="http://schemas.openxmlformats.org/drawingml/2006/main">
              <a:ext uri="{FF2B5EF4-FFF2-40B4-BE49-F238E27FC236}">
                <a16:creationId xmlns:a16="http://schemas.microsoft.com/office/drawing/2014/main" id="{AF6A98E3-EC47-4C60-AA7F-FF5CB56128F6}"/>
              </a:ext>
            </a:extLst>
          </p:cNvPr>
          <p:cNvSpPr>
            <a:spLocks xmlns:a="http://schemas.openxmlformats.org/drawingml/2006/main" noGrp="1"/>
          </p:cNvSpPr>
          <p:nvPr/>
        </p:nvSpPr>
        <p:spPr>
          <a:xfrm xmlns:a="http://schemas.openxmlformats.org/drawingml/2006/main">
            <a:off x="2047875" y="5086350"/>
            <a:ext cx="3000375" cy="428625"/>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56" name="">
            <a:extLst xmlns:a="http://schemas.openxmlformats.org/drawingml/2006/main">
              <a:ext uri="{FF2B5EF4-FFF2-40B4-BE49-F238E27FC236}">
                <a16:creationId xmlns:a16="http://schemas.microsoft.com/office/drawing/2014/main" id="{19A3197D-58B9-4086-954C-5C6ADE4757EF}"/>
              </a:ext>
            </a:extLst>
          </p:cNvPr>
          <p:cNvSpPr>
            <a:spLocks xmlns:a="http://schemas.openxmlformats.org/drawingml/2006/main" noGrp="1"/>
          </p:cNvSpPr>
          <p:nvPr/>
        </p:nvSpPr>
        <p:spPr>
          <a:xfrm xmlns:a="http://schemas.openxmlformats.org/drawingml/2006/main">
            <a:off x="2133600" y="5153025"/>
            <a:ext cx="2828925" cy="3333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0" b="0">
                <a:solidFill>
                  <a:srgbClr val="1D1B18"/>
                </a:solidFill>
                <a:latin typeface="Aptos"/>
                <a:ea typeface="Aptos"/>
                <a:cs typeface="Aptos"/>
              </a:defRPr>
            </a:pPr>
            <a:r>
              <a:rPr sz="930" b="0">
                <a:solidFill>
                  <a:srgbClr val="1D1B18"/>
                </a:solidFill>
                <a:latin typeface="Aptos"/>
                <a:ea typeface="Aptos"/>
                <a:cs typeface="Aptos"/>
              </a:rPr>
              <a:t>Madden-Julian Oscillation / Real-time Multivariate MJO index</a:t>
            </a:r>
          </a:p>
        </p:txBody>
      </p:sp>
      <p:sp>
        <p:nvSpPr>
          <p:cNvPr id="57" name="">
            <a:extLst xmlns:a="http://schemas.openxmlformats.org/drawingml/2006/main">
              <a:ext uri="{FF2B5EF4-FFF2-40B4-BE49-F238E27FC236}">
                <a16:creationId xmlns:a16="http://schemas.microsoft.com/office/drawing/2014/main" id="{580A9F24-4CB6-4B0E-9BDE-0E04067BCE7B}"/>
              </a:ext>
            </a:extLst>
          </p:cNvPr>
          <p:cNvSpPr>
            <a:spLocks xmlns:a="http://schemas.openxmlformats.org/drawingml/2006/main" noGrp="1"/>
          </p:cNvSpPr>
          <p:nvPr/>
        </p:nvSpPr>
        <p:spPr>
          <a:xfrm xmlns:a="http://schemas.openxmlformats.org/drawingml/2006/main">
            <a:off x="5048250" y="5086350"/>
            <a:ext cx="5981700" cy="428625"/>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58" name="">
            <a:extLst xmlns:a="http://schemas.openxmlformats.org/drawingml/2006/main">
              <a:ext uri="{FF2B5EF4-FFF2-40B4-BE49-F238E27FC236}">
                <a16:creationId xmlns:a16="http://schemas.microsoft.com/office/drawing/2014/main" id="{0F32C8A5-CE95-4DAE-BF9B-2EBBE40574F6}"/>
              </a:ext>
            </a:extLst>
          </p:cNvPr>
          <p:cNvSpPr>
            <a:spLocks xmlns:a="http://schemas.openxmlformats.org/drawingml/2006/main" noGrp="1"/>
          </p:cNvSpPr>
          <p:nvPr/>
        </p:nvSpPr>
        <p:spPr>
          <a:xfrm xmlns:a="http://schemas.openxmlformats.org/drawingml/2006/main">
            <a:off x="5133975" y="5153025"/>
            <a:ext cx="5810250" cy="3333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0" b="0">
                <a:solidFill>
                  <a:srgbClr val="1D1B18"/>
                </a:solidFill>
                <a:latin typeface="Aptos"/>
                <a:ea typeface="Aptos"/>
                <a:cs typeface="Aptos"/>
              </a:defRPr>
            </a:pPr>
            <a:r>
              <a:rPr sz="930" b="0">
                <a:solidFill>
                  <a:srgbClr val="1D1B18"/>
                </a:solidFill>
                <a:latin typeface="Aptos"/>
                <a:ea typeface="Aptos"/>
                <a:cs typeface="Aptos"/>
              </a:rPr>
              <a:t>用于后续区分季节内振荡对关键月份的影响。</a:t>
            </a:r>
          </a:p>
        </p:txBody>
      </p:sp>
      <p:sp>
        <p:nvSpPr>
          <p:cNvPr id="59" name="">
            <a:extLst xmlns:a="http://schemas.openxmlformats.org/drawingml/2006/main">
              <a:ext uri="{FF2B5EF4-FFF2-40B4-BE49-F238E27FC236}">
                <a16:creationId xmlns:a16="http://schemas.microsoft.com/office/drawing/2014/main" id="{B6585703-6584-436F-95F0-A831574DB347}"/>
              </a:ext>
            </a:extLst>
          </p:cNvPr>
          <p:cNvSpPr>
            <a:spLocks xmlns:a="http://schemas.openxmlformats.org/drawingml/2006/main" noGrp="1"/>
          </p:cNvSpPr>
          <p:nvPr/>
        </p:nvSpPr>
        <p:spPr>
          <a:xfrm xmlns:a="http://schemas.openxmlformats.org/drawingml/2006/main">
            <a:off x="666750" y="5514975"/>
            <a:ext cx="1381125" cy="428625"/>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60" name="">
            <a:extLst xmlns:a="http://schemas.openxmlformats.org/drawingml/2006/main">
              <a:ext uri="{FF2B5EF4-FFF2-40B4-BE49-F238E27FC236}">
                <a16:creationId xmlns:a16="http://schemas.microsoft.com/office/drawing/2014/main" id="{4FD5F791-3FC8-4AB8-9AAC-4B1C1AEF7ADE}"/>
              </a:ext>
            </a:extLst>
          </p:cNvPr>
          <p:cNvSpPr>
            <a:spLocks xmlns:a="http://schemas.openxmlformats.org/drawingml/2006/main" noGrp="1"/>
          </p:cNvSpPr>
          <p:nvPr/>
        </p:nvSpPr>
        <p:spPr>
          <a:xfrm xmlns:a="http://schemas.openxmlformats.org/drawingml/2006/main">
            <a:off x="752475" y="5581650"/>
            <a:ext cx="1209675" cy="3333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0" b="0">
                <a:solidFill>
                  <a:srgbClr val="1D1B18"/>
                </a:solidFill>
                <a:latin typeface="Aptos"/>
                <a:ea typeface="Aptos"/>
                <a:cs typeface="Aptos"/>
              </a:defRPr>
            </a:pPr>
            <a:r>
              <a:rPr sz="930" b="0">
                <a:solidFill>
                  <a:srgbClr val="1D1B18"/>
                </a:solidFill>
                <a:latin typeface="Aptos"/>
                <a:ea typeface="Aptos"/>
                <a:cs typeface="Aptos"/>
              </a:rPr>
              <a:t>CTRL</a:t>
            </a:r>
          </a:p>
        </p:txBody>
      </p:sp>
      <p:sp>
        <p:nvSpPr>
          <p:cNvPr id="61" name="">
            <a:extLst xmlns:a="http://schemas.openxmlformats.org/drawingml/2006/main">
              <a:ext uri="{FF2B5EF4-FFF2-40B4-BE49-F238E27FC236}">
                <a16:creationId xmlns:a16="http://schemas.microsoft.com/office/drawing/2014/main" id="{8171808A-6BB4-4B6D-9FC4-B8D7BECEC784}"/>
              </a:ext>
            </a:extLst>
          </p:cNvPr>
          <p:cNvSpPr>
            <a:spLocks xmlns:a="http://schemas.openxmlformats.org/drawingml/2006/main" noGrp="1"/>
          </p:cNvSpPr>
          <p:nvPr/>
        </p:nvSpPr>
        <p:spPr>
          <a:xfrm xmlns:a="http://schemas.openxmlformats.org/drawingml/2006/main">
            <a:off x="2047875" y="5514975"/>
            <a:ext cx="3000375" cy="428625"/>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62" name="">
            <a:extLst xmlns:a="http://schemas.openxmlformats.org/drawingml/2006/main">
              <a:ext uri="{FF2B5EF4-FFF2-40B4-BE49-F238E27FC236}">
                <a16:creationId xmlns:a16="http://schemas.microsoft.com/office/drawing/2014/main" id="{7559D72E-9EBA-4320-B972-B22B5C90A5B1}"/>
              </a:ext>
            </a:extLst>
          </p:cNvPr>
          <p:cNvSpPr>
            <a:spLocks xmlns:a="http://schemas.openxmlformats.org/drawingml/2006/main" noGrp="1"/>
          </p:cNvSpPr>
          <p:nvPr/>
        </p:nvSpPr>
        <p:spPr>
          <a:xfrm xmlns:a="http://schemas.openxmlformats.org/drawingml/2006/main">
            <a:off x="2133600" y="5581650"/>
            <a:ext cx="2828925" cy="3333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0" b="0">
                <a:solidFill>
                  <a:srgbClr val="1D1B18"/>
                </a:solidFill>
                <a:latin typeface="Aptos"/>
                <a:ea typeface="Aptos"/>
                <a:cs typeface="Aptos"/>
              </a:defRPr>
            </a:pPr>
            <a:r>
              <a:rPr sz="930" b="0">
                <a:solidFill>
                  <a:srgbClr val="1D1B18"/>
                </a:solidFill>
                <a:latin typeface="Aptos"/>
                <a:ea typeface="Aptos"/>
                <a:cs typeface="Aptos"/>
              </a:rPr>
              <a:t>Control experiment，控制实验</a:t>
            </a:r>
          </a:p>
        </p:txBody>
      </p:sp>
      <p:sp>
        <p:nvSpPr>
          <p:cNvPr id="63" name="">
            <a:extLst xmlns:a="http://schemas.openxmlformats.org/drawingml/2006/main">
              <a:ext uri="{FF2B5EF4-FFF2-40B4-BE49-F238E27FC236}">
                <a16:creationId xmlns:a16="http://schemas.microsoft.com/office/drawing/2014/main" id="{474C1DEF-0083-445D-ABB5-2C0A4E629DCA}"/>
              </a:ext>
            </a:extLst>
          </p:cNvPr>
          <p:cNvSpPr>
            <a:spLocks xmlns:a="http://schemas.openxmlformats.org/drawingml/2006/main" noGrp="1"/>
          </p:cNvSpPr>
          <p:nvPr/>
        </p:nvSpPr>
        <p:spPr>
          <a:xfrm xmlns:a="http://schemas.openxmlformats.org/drawingml/2006/main">
            <a:off x="5048250" y="5514975"/>
            <a:ext cx="5981700" cy="428625"/>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64" name="">
            <a:extLst xmlns:a="http://schemas.openxmlformats.org/drawingml/2006/main">
              <a:ext uri="{FF2B5EF4-FFF2-40B4-BE49-F238E27FC236}">
                <a16:creationId xmlns:a16="http://schemas.microsoft.com/office/drawing/2014/main" id="{A05F7F15-27C1-4B20-8D01-4D18DFD833AC}"/>
              </a:ext>
            </a:extLst>
          </p:cNvPr>
          <p:cNvSpPr>
            <a:spLocks xmlns:a="http://schemas.openxmlformats.org/drawingml/2006/main" noGrp="1"/>
          </p:cNvSpPr>
          <p:nvPr/>
        </p:nvSpPr>
        <p:spPr>
          <a:xfrm xmlns:a="http://schemas.openxmlformats.org/drawingml/2006/main">
            <a:off x="5133975" y="5581650"/>
            <a:ext cx="5810250" cy="3333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0" b="0">
                <a:solidFill>
                  <a:srgbClr val="1D1B18"/>
                </a:solidFill>
                <a:latin typeface="Aptos"/>
                <a:ea typeface="Aptos"/>
                <a:cs typeface="Aptos"/>
              </a:defRPr>
            </a:pPr>
            <a:r>
              <a:rPr sz="930" b="0">
                <a:solidFill>
                  <a:srgbClr val="1D1B18"/>
                </a:solidFill>
                <a:latin typeface="Aptos"/>
                <a:ea typeface="Aptos"/>
                <a:cs typeface="Aptos"/>
              </a:rPr>
              <a:t>模式实验中的基准组，用于和敏感性实验比较。</a:t>
            </a:r>
          </a:p>
        </p:txBody>
      </p:sp>
      <p:sp>
        <p:nvSpPr>
          <p:cNvPr id="65" name="">
            <a:extLst xmlns:a="http://schemas.openxmlformats.org/drawingml/2006/main">
              <a:ext uri="{FF2B5EF4-FFF2-40B4-BE49-F238E27FC236}">
                <a16:creationId xmlns:a16="http://schemas.microsoft.com/office/drawing/2014/main" id="{CAB5941B-B354-495E-AF56-536378BC028C}"/>
              </a:ext>
            </a:extLst>
          </p:cNvPr>
          <p:cNvSpPr>
            <a:spLocks xmlns:a="http://schemas.openxmlformats.org/drawingml/2006/main" noGrp="1"/>
          </p:cNvSpPr>
          <p:nvPr/>
        </p:nvSpPr>
        <p:spPr>
          <a:xfrm xmlns:a="http://schemas.openxmlformats.org/drawingml/2006/main">
            <a:off x="552450" y="6477000"/>
            <a:ext cx="106680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5D574F"/>
                </a:solidFill>
                <a:latin typeface="Aptos"/>
                <a:ea typeface="Aptos"/>
                <a:cs typeface="Aptos"/>
              </a:defRPr>
            </a:pPr>
            <a:r>
              <a:rPr sz="788" b="0">
                <a:solidFill>
                  <a:srgbClr val="5D574F"/>
                </a:solidFill>
                <a:latin typeface="Aptos"/>
                <a:ea typeface="Aptos"/>
                <a:cs typeface="Aptos"/>
              </a:rPr>
              <a:t>Acronyms checked against all detailed slide text.</a:t>
            </a:r>
          </a:p>
        </p:txBody>
      </p:sp>
    </p:spTree>
    <p:extLst>
      <p:ext uri="{BB962C8B-B14F-4D97-AF65-F5344CB8AC3E}">
        <p14:creationId xmlns:p14="http://schemas.microsoft.com/office/powerpoint/2010/main" val="1341988729"/>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EF88221D-D2A9-4E63-B3C0-5354821A035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3EA"/>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DFECE711-7157-4B99-BEB9-F61E4477BFA9}"/>
              </a:ext>
            </a:extLst>
          </p:cNvPr>
          <p:cNvSpPr>
            <a:spLocks xmlns:a="http://schemas.openxmlformats.org/drawingml/2006/main" noGrp="1"/>
          </p:cNvSpPr>
          <p:nvPr/>
        </p:nvSpPr>
        <p:spPr>
          <a:xfrm xmlns:a="http://schemas.openxmlformats.org/drawingml/2006/main">
            <a:off x="552450" y="285750"/>
            <a:ext cx="3429000" cy="23812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CC5A43"/>
                </a:solidFill>
                <a:latin typeface="Aptos"/>
                <a:ea typeface="Aptos"/>
                <a:cs typeface="Aptos"/>
              </a:defRPr>
            </a:pPr>
            <a:r>
              <a:rPr sz="1050" b="1">
                <a:solidFill>
                  <a:srgbClr val="CC5A43"/>
                </a:solidFill>
                <a:latin typeface="Aptos"/>
                <a:ea typeface="Aptos"/>
                <a:cs typeface="Aptos"/>
              </a:rPr>
              <a:t>原文贡献</a:t>
            </a:r>
          </a:p>
        </p:txBody>
      </p:sp>
      <p:sp>
        <p:nvSpPr>
          <p:cNvPr id="3" name="">
            <a:extLst xmlns:a="http://schemas.openxmlformats.org/drawingml/2006/main">
              <a:ext uri="{FF2B5EF4-FFF2-40B4-BE49-F238E27FC236}">
                <a16:creationId xmlns:a16="http://schemas.microsoft.com/office/drawing/2014/main" id="{81FE49E6-2AE9-423F-86A8-05B89ADDBB6B}"/>
              </a:ext>
            </a:extLst>
          </p:cNvPr>
          <p:cNvSpPr>
            <a:spLocks xmlns:a="http://schemas.openxmlformats.org/drawingml/2006/main" noGrp="1"/>
          </p:cNvSpPr>
          <p:nvPr/>
        </p:nvSpPr>
        <p:spPr>
          <a:xfrm xmlns:a="http://schemas.openxmlformats.org/drawingml/2006/main">
            <a:off x="552450" y="609600"/>
            <a:ext cx="104775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175" b="1">
                <a:solidFill>
                  <a:srgbClr val="1D1B18"/>
                </a:solidFill>
                <a:latin typeface="Aptos Display"/>
                <a:ea typeface="Aptos Display"/>
                <a:cs typeface="Aptos Display"/>
              </a:defRPr>
            </a:pPr>
            <a:r>
              <a:rPr sz="2175" b="1">
                <a:solidFill>
                  <a:srgbClr val="1D1B18"/>
                </a:solidFill>
                <a:latin typeface="Aptos Display"/>
                <a:ea typeface="Aptos Display"/>
                <a:cs typeface="Aptos Display"/>
              </a:rPr>
              <a:t>Peng et al. 2025 主要回答了：强 2023/24 El Niño 是怎样生成的</a:t>
            </a:r>
          </a:p>
        </p:txBody>
      </p:sp>
      <p:sp>
        <p:nvSpPr>
          <p:cNvPr id="4" name="">
            <a:extLst xmlns:a="http://schemas.openxmlformats.org/drawingml/2006/main">
              <a:ext uri="{FF2B5EF4-FFF2-40B4-BE49-F238E27FC236}">
                <a16:creationId xmlns:a16="http://schemas.microsoft.com/office/drawing/2014/main" id="{9CA27671-9CE5-4EFF-9B9A-9E6ED5F7195B}"/>
              </a:ext>
            </a:extLst>
          </p:cNvPr>
          <p:cNvSpPr>
            <a:spLocks xmlns:a="http://schemas.openxmlformats.org/drawingml/2006/main" noGrp="1"/>
          </p:cNvSpPr>
          <p:nvPr/>
        </p:nvSpPr>
        <p:spPr>
          <a:xfrm xmlns:a="http://schemas.openxmlformats.org/drawingml/2006/main">
            <a:off x="552450" y="1409700"/>
            <a:ext cx="10763250" cy="14288"/>
          </a:xfrm>
          <a:prstGeom xmlns:a="http://schemas.openxmlformats.org/drawingml/2006/main" prst="rect">
            <a:avLst/>
          </a:prstGeom>
          <a:solidFill xmlns:a="http://schemas.openxmlformats.org/drawingml/2006/main">
            <a:srgbClr val="D8D1C4"/>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B24F06D6-7318-4F5E-9BA6-FC10EF593ABA}"/>
              </a:ext>
            </a:extLst>
          </p:cNvPr>
          <p:cNvSpPr>
            <a:spLocks xmlns:a="http://schemas.openxmlformats.org/drawingml/2006/main" noGrp="1"/>
          </p:cNvSpPr>
          <p:nvPr/>
        </p:nvSpPr>
        <p:spPr>
          <a:xfrm xmlns:a="http://schemas.openxmlformats.org/drawingml/2006/main">
            <a:off x="666750" y="1714500"/>
            <a:ext cx="1809750" cy="552450"/>
          </a:xfrm>
          <a:prstGeom xmlns:a="http://schemas.openxmlformats.org/drawingml/2006/main" prst="rect">
            <a:avLst/>
          </a:prstGeom>
          <a:solidFill xmlns:a="http://schemas.openxmlformats.org/drawingml/2006/main">
            <a:srgbClr val="1D1B18"/>
          </a:solidFill>
          <a:ln xmlns:a="http://schemas.openxmlformats.org/drawingml/2006/main" w="6668">
            <a:solidFill>
              <a:srgbClr val="D8D1C4"/>
            </a:solidFill>
            <a:prstDash val="solid"/>
          </a:ln>
        </p:spPr>
      </p:sp>
      <p:sp>
        <p:nvSpPr>
          <p:cNvPr id="6" name="">
            <a:extLst xmlns:a="http://schemas.openxmlformats.org/drawingml/2006/main">
              <a:ext uri="{FF2B5EF4-FFF2-40B4-BE49-F238E27FC236}">
                <a16:creationId xmlns:a16="http://schemas.microsoft.com/office/drawing/2014/main" id="{BBA73464-9472-4DDD-B8C5-31EB2BF197D9}"/>
              </a:ext>
            </a:extLst>
          </p:cNvPr>
          <p:cNvSpPr>
            <a:spLocks xmlns:a="http://schemas.openxmlformats.org/drawingml/2006/main" noGrp="1"/>
          </p:cNvSpPr>
          <p:nvPr/>
        </p:nvSpPr>
        <p:spPr>
          <a:xfrm xmlns:a="http://schemas.openxmlformats.org/drawingml/2006/main">
            <a:off x="752475" y="1781175"/>
            <a:ext cx="16383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FFFFFF"/>
                </a:solidFill>
                <a:latin typeface="Aptos"/>
                <a:ea typeface="Aptos"/>
                <a:cs typeface="Aptos"/>
              </a:defRPr>
            </a:pPr>
            <a:r>
              <a:rPr sz="900" b="1">
                <a:solidFill>
                  <a:srgbClr val="FFFFFF"/>
                </a:solidFill>
                <a:latin typeface="Aptos"/>
                <a:ea typeface="Aptos"/>
                <a:cs typeface="Aptos"/>
              </a:rPr>
              <a:t>层面</a:t>
            </a:r>
          </a:p>
        </p:txBody>
      </p:sp>
      <p:sp>
        <p:nvSpPr>
          <p:cNvPr id="7" name="">
            <a:extLst xmlns:a="http://schemas.openxmlformats.org/drawingml/2006/main">
              <a:ext uri="{FF2B5EF4-FFF2-40B4-BE49-F238E27FC236}">
                <a16:creationId xmlns:a16="http://schemas.microsoft.com/office/drawing/2014/main" id="{A199E229-1D50-4450-8F37-5CBDFF4322C8}"/>
              </a:ext>
            </a:extLst>
          </p:cNvPr>
          <p:cNvSpPr>
            <a:spLocks xmlns:a="http://schemas.openxmlformats.org/drawingml/2006/main" noGrp="1"/>
          </p:cNvSpPr>
          <p:nvPr/>
        </p:nvSpPr>
        <p:spPr>
          <a:xfrm xmlns:a="http://schemas.openxmlformats.org/drawingml/2006/main">
            <a:off x="2476500" y="1714500"/>
            <a:ext cx="4095750" cy="552450"/>
          </a:xfrm>
          <a:prstGeom xmlns:a="http://schemas.openxmlformats.org/drawingml/2006/main" prst="rect">
            <a:avLst/>
          </a:prstGeom>
          <a:solidFill xmlns:a="http://schemas.openxmlformats.org/drawingml/2006/main">
            <a:srgbClr val="1D1B18"/>
          </a:solidFill>
          <a:ln xmlns:a="http://schemas.openxmlformats.org/drawingml/2006/main" w="6668">
            <a:solidFill>
              <a:srgbClr val="D8D1C4"/>
            </a:solidFill>
            <a:prstDash val="solid"/>
          </a:ln>
        </p:spPr>
      </p:sp>
      <p:sp>
        <p:nvSpPr>
          <p:cNvPr id="8" name="">
            <a:extLst xmlns:a="http://schemas.openxmlformats.org/drawingml/2006/main">
              <a:ext uri="{FF2B5EF4-FFF2-40B4-BE49-F238E27FC236}">
                <a16:creationId xmlns:a16="http://schemas.microsoft.com/office/drawing/2014/main" id="{6C256234-755B-4530-80F1-3F465CB76FD2}"/>
              </a:ext>
            </a:extLst>
          </p:cNvPr>
          <p:cNvSpPr>
            <a:spLocks xmlns:a="http://schemas.openxmlformats.org/drawingml/2006/main" noGrp="1"/>
          </p:cNvSpPr>
          <p:nvPr/>
        </p:nvSpPr>
        <p:spPr>
          <a:xfrm xmlns:a="http://schemas.openxmlformats.org/drawingml/2006/main">
            <a:off x="2562225" y="1781175"/>
            <a:ext cx="39243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FFFFFF"/>
                </a:solidFill>
                <a:latin typeface="Aptos"/>
                <a:ea typeface="Aptos"/>
                <a:cs typeface="Aptos"/>
              </a:defRPr>
            </a:pPr>
            <a:r>
              <a:rPr sz="900" b="1">
                <a:solidFill>
                  <a:srgbClr val="FFFFFF"/>
                </a:solidFill>
                <a:latin typeface="Aptos"/>
                <a:ea typeface="Aptos"/>
                <a:cs typeface="Aptos"/>
              </a:rPr>
              <a:t>原文结论</a:t>
            </a:r>
          </a:p>
        </p:txBody>
      </p:sp>
      <p:sp>
        <p:nvSpPr>
          <p:cNvPr id="9" name="">
            <a:extLst xmlns:a="http://schemas.openxmlformats.org/drawingml/2006/main">
              <a:ext uri="{FF2B5EF4-FFF2-40B4-BE49-F238E27FC236}">
                <a16:creationId xmlns:a16="http://schemas.microsoft.com/office/drawing/2014/main" id="{CF31CE6B-6EDC-4BD2-926A-D77BA3319FCB}"/>
              </a:ext>
            </a:extLst>
          </p:cNvPr>
          <p:cNvSpPr>
            <a:spLocks xmlns:a="http://schemas.openxmlformats.org/drawingml/2006/main" noGrp="1"/>
          </p:cNvSpPr>
          <p:nvPr/>
        </p:nvSpPr>
        <p:spPr>
          <a:xfrm xmlns:a="http://schemas.openxmlformats.org/drawingml/2006/main">
            <a:off x="6572250" y="1714500"/>
            <a:ext cx="4457700" cy="552450"/>
          </a:xfrm>
          <a:prstGeom xmlns:a="http://schemas.openxmlformats.org/drawingml/2006/main" prst="rect">
            <a:avLst/>
          </a:prstGeom>
          <a:solidFill xmlns:a="http://schemas.openxmlformats.org/drawingml/2006/main">
            <a:srgbClr val="1D1B18"/>
          </a:solidFill>
          <a:ln xmlns:a="http://schemas.openxmlformats.org/drawingml/2006/main" w="6668">
            <a:solidFill>
              <a:srgbClr val="D8D1C4"/>
            </a:solidFill>
            <a:prstDash val="solid"/>
          </a:ln>
        </p:spPr>
      </p:sp>
      <p:sp>
        <p:nvSpPr>
          <p:cNvPr id="10" name="">
            <a:extLst xmlns:a="http://schemas.openxmlformats.org/drawingml/2006/main">
              <a:ext uri="{FF2B5EF4-FFF2-40B4-BE49-F238E27FC236}">
                <a16:creationId xmlns:a16="http://schemas.microsoft.com/office/drawing/2014/main" id="{15DDE37A-D977-4BC8-879D-D0AA2A7A69A3}"/>
              </a:ext>
            </a:extLst>
          </p:cNvPr>
          <p:cNvSpPr>
            <a:spLocks xmlns:a="http://schemas.openxmlformats.org/drawingml/2006/main" noGrp="1"/>
          </p:cNvSpPr>
          <p:nvPr/>
        </p:nvSpPr>
        <p:spPr>
          <a:xfrm xmlns:a="http://schemas.openxmlformats.org/drawingml/2006/main">
            <a:off x="6657975" y="1781175"/>
            <a:ext cx="428625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FFFFFF"/>
                </a:solidFill>
                <a:latin typeface="Aptos"/>
                <a:ea typeface="Aptos"/>
                <a:cs typeface="Aptos"/>
              </a:defRPr>
            </a:pPr>
            <a:r>
              <a:rPr sz="900" b="1">
                <a:solidFill>
                  <a:srgbClr val="FFFFFF"/>
                </a:solidFill>
                <a:latin typeface="Aptos"/>
                <a:ea typeface="Aptos"/>
                <a:cs typeface="Aptos"/>
              </a:rPr>
              <a:t>对本研究的作用</a:t>
            </a:r>
          </a:p>
        </p:txBody>
      </p:sp>
      <p:sp>
        <p:nvSpPr>
          <p:cNvPr id="11" name="">
            <a:extLst xmlns:a="http://schemas.openxmlformats.org/drawingml/2006/main">
              <a:ext uri="{FF2B5EF4-FFF2-40B4-BE49-F238E27FC236}">
                <a16:creationId xmlns:a16="http://schemas.microsoft.com/office/drawing/2014/main" id="{DF5DB806-80CE-4A01-8DBA-48E15E6E8534}"/>
              </a:ext>
            </a:extLst>
          </p:cNvPr>
          <p:cNvSpPr>
            <a:spLocks xmlns:a="http://schemas.openxmlformats.org/drawingml/2006/main" noGrp="1"/>
          </p:cNvSpPr>
          <p:nvPr/>
        </p:nvSpPr>
        <p:spPr>
          <a:xfrm xmlns:a="http://schemas.openxmlformats.org/drawingml/2006/main">
            <a:off x="666750" y="2266950"/>
            <a:ext cx="1809750" cy="552450"/>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12" name="">
            <a:extLst xmlns:a="http://schemas.openxmlformats.org/drawingml/2006/main">
              <a:ext uri="{FF2B5EF4-FFF2-40B4-BE49-F238E27FC236}">
                <a16:creationId xmlns:a16="http://schemas.microsoft.com/office/drawing/2014/main" id="{E469480F-445E-4E3D-B4F3-A14885CF25E4}"/>
              </a:ext>
            </a:extLst>
          </p:cNvPr>
          <p:cNvSpPr>
            <a:spLocks xmlns:a="http://schemas.openxmlformats.org/drawingml/2006/main" noGrp="1"/>
          </p:cNvSpPr>
          <p:nvPr/>
        </p:nvSpPr>
        <p:spPr>
          <a:xfrm xmlns:a="http://schemas.openxmlformats.org/drawingml/2006/main">
            <a:off x="752475" y="2333625"/>
            <a:ext cx="16383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1D1B18"/>
                </a:solidFill>
                <a:latin typeface="Aptos"/>
                <a:ea typeface="Aptos"/>
                <a:cs typeface="Aptos"/>
              </a:defRPr>
            </a:pPr>
            <a:r>
              <a:rPr sz="945" b="0">
                <a:solidFill>
                  <a:srgbClr val="1D1B18"/>
                </a:solidFill>
                <a:latin typeface="Aptos"/>
                <a:ea typeface="Aptos"/>
                <a:cs typeface="Aptos"/>
              </a:rPr>
              <a:t>海洋端</a:t>
            </a:r>
          </a:p>
        </p:txBody>
      </p:sp>
      <p:sp>
        <p:nvSpPr>
          <p:cNvPr id="13" name="">
            <a:extLst xmlns:a="http://schemas.openxmlformats.org/drawingml/2006/main">
              <a:ext uri="{FF2B5EF4-FFF2-40B4-BE49-F238E27FC236}">
                <a16:creationId xmlns:a16="http://schemas.microsoft.com/office/drawing/2014/main" id="{50565A31-B889-485F-A3CA-1263FE23E2FE}"/>
              </a:ext>
            </a:extLst>
          </p:cNvPr>
          <p:cNvSpPr>
            <a:spLocks xmlns:a="http://schemas.openxmlformats.org/drawingml/2006/main" noGrp="1"/>
          </p:cNvSpPr>
          <p:nvPr/>
        </p:nvSpPr>
        <p:spPr>
          <a:xfrm xmlns:a="http://schemas.openxmlformats.org/drawingml/2006/main">
            <a:off x="2476500" y="2266950"/>
            <a:ext cx="4095750" cy="552450"/>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14" name="">
            <a:extLst xmlns:a="http://schemas.openxmlformats.org/drawingml/2006/main">
              <a:ext uri="{FF2B5EF4-FFF2-40B4-BE49-F238E27FC236}">
                <a16:creationId xmlns:a16="http://schemas.microsoft.com/office/drawing/2014/main" id="{DAEBFCAE-8D92-4771-AF6A-0A7584AE031B}"/>
              </a:ext>
            </a:extLst>
          </p:cNvPr>
          <p:cNvSpPr>
            <a:spLocks xmlns:a="http://schemas.openxmlformats.org/drawingml/2006/main" noGrp="1"/>
          </p:cNvSpPr>
          <p:nvPr/>
        </p:nvSpPr>
        <p:spPr>
          <a:xfrm xmlns:a="http://schemas.openxmlformats.org/drawingml/2006/main">
            <a:off x="2562225" y="2333625"/>
            <a:ext cx="39243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1D1B18"/>
                </a:solidFill>
                <a:latin typeface="Aptos"/>
                <a:ea typeface="Aptos"/>
                <a:cs typeface="Aptos"/>
              </a:defRPr>
            </a:pPr>
            <a:r>
              <a:rPr sz="945" b="0">
                <a:solidFill>
                  <a:srgbClr val="1D1B18"/>
                </a:solidFill>
                <a:latin typeface="Aptos"/>
                <a:ea typeface="Aptos"/>
                <a:cs typeface="Aptos"/>
              </a:rPr>
              <a:t>赤道太平洋海洋动力和热含量过程使 2023/24 事件变强。</a:t>
            </a:r>
          </a:p>
        </p:txBody>
      </p:sp>
      <p:sp>
        <p:nvSpPr>
          <p:cNvPr id="15" name="">
            <a:extLst xmlns:a="http://schemas.openxmlformats.org/drawingml/2006/main">
              <a:ext uri="{FF2B5EF4-FFF2-40B4-BE49-F238E27FC236}">
                <a16:creationId xmlns:a16="http://schemas.microsoft.com/office/drawing/2014/main" id="{0C2C1E10-68E5-4039-A4DB-9935FD3113FE}"/>
              </a:ext>
            </a:extLst>
          </p:cNvPr>
          <p:cNvSpPr>
            <a:spLocks xmlns:a="http://schemas.openxmlformats.org/drawingml/2006/main" noGrp="1"/>
          </p:cNvSpPr>
          <p:nvPr/>
        </p:nvSpPr>
        <p:spPr>
          <a:xfrm xmlns:a="http://schemas.openxmlformats.org/drawingml/2006/main">
            <a:off x="6572250" y="2266950"/>
            <a:ext cx="4457700" cy="552450"/>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16" name="">
            <a:extLst xmlns:a="http://schemas.openxmlformats.org/drawingml/2006/main">
              <a:ext uri="{FF2B5EF4-FFF2-40B4-BE49-F238E27FC236}">
                <a16:creationId xmlns:a16="http://schemas.microsoft.com/office/drawing/2014/main" id="{60B41262-1ADB-4EDF-865B-50EA897EC931}"/>
              </a:ext>
            </a:extLst>
          </p:cNvPr>
          <p:cNvSpPr>
            <a:spLocks xmlns:a="http://schemas.openxmlformats.org/drawingml/2006/main" noGrp="1"/>
          </p:cNvSpPr>
          <p:nvPr/>
        </p:nvSpPr>
        <p:spPr>
          <a:xfrm xmlns:a="http://schemas.openxmlformats.org/drawingml/2006/main">
            <a:off x="6657975" y="2333625"/>
            <a:ext cx="428625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1D1B18"/>
                </a:solidFill>
                <a:latin typeface="Aptos"/>
                <a:ea typeface="Aptos"/>
                <a:cs typeface="Aptos"/>
              </a:defRPr>
            </a:pPr>
            <a:r>
              <a:rPr sz="945" b="0">
                <a:solidFill>
                  <a:srgbClr val="1D1B18"/>
                </a:solidFill>
                <a:latin typeface="Aptos"/>
                <a:ea typeface="Aptos"/>
                <a:cs typeface="Aptos"/>
              </a:rPr>
              <a:t>提供了“海温为什么强”的基础。</a:t>
            </a:r>
          </a:p>
        </p:txBody>
      </p:sp>
      <p:sp>
        <p:nvSpPr>
          <p:cNvPr id="17" name="">
            <a:extLst xmlns:a="http://schemas.openxmlformats.org/drawingml/2006/main">
              <a:ext uri="{FF2B5EF4-FFF2-40B4-BE49-F238E27FC236}">
                <a16:creationId xmlns:a16="http://schemas.microsoft.com/office/drawing/2014/main" id="{18F28CAE-865A-4337-8745-23C2E52B466E}"/>
              </a:ext>
            </a:extLst>
          </p:cNvPr>
          <p:cNvSpPr>
            <a:spLocks xmlns:a="http://schemas.openxmlformats.org/drawingml/2006/main" noGrp="1"/>
          </p:cNvSpPr>
          <p:nvPr/>
        </p:nvSpPr>
        <p:spPr>
          <a:xfrm xmlns:a="http://schemas.openxmlformats.org/drawingml/2006/main">
            <a:off x="666750" y="2819400"/>
            <a:ext cx="1809750" cy="552450"/>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18" name="">
            <a:extLst xmlns:a="http://schemas.openxmlformats.org/drawingml/2006/main">
              <a:ext uri="{FF2B5EF4-FFF2-40B4-BE49-F238E27FC236}">
                <a16:creationId xmlns:a16="http://schemas.microsoft.com/office/drawing/2014/main" id="{21ED8D68-52DC-4AB1-BF91-A4D0DDE0F542}"/>
              </a:ext>
            </a:extLst>
          </p:cNvPr>
          <p:cNvSpPr>
            <a:spLocks xmlns:a="http://schemas.openxmlformats.org/drawingml/2006/main" noGrp="1"/>
          </p:cNvSpPr>
          <p:nvPr/>
        </p:nvSpPr>
        <p:spPr>
          <a:xfrm xmlns:a="http://schemas.openxmlformats.org/drawingml/2006/main">
            <a:off x="752475" y="2886075"/>
            <a:ext cx="16383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1D1B18"/>
                </a:solidFill>
                <a:latin typeface="Aptos"/>
                <a:ea typeface="Aptos"/>
                <a:cs typeface="Aptos"/>
              </a:defRPr>
            </a:pPr>
            <a:r>
              <a:rPr sz="945" b="0">
                <a:solidFill>
                  <a:srgbClr val="1D1B18"/>
                </a:solidFill>
                <a:latin typeface="Aptos"/>
                <a:ea typeface="Aptos"/>
                <a:cs typeface="Aptos"/>
              </a:rPr>
              <a:t>大气端</a:t>
            </a:r>
          </a:p>
        </p:txBody>
      </p:sp>
      <p:sp>
        <p:nvSpPr>
          <p:cNvPr id="19" name="">
            <a:extLst xmlns:a="http://schemas.openxmlformats.org/drawingml/2006/main">
              <a:ext uri="{FF2B5EF4-FFF2-40B4-BE49-F238E27FC236}">
                <a16:creationId xmlns:a16="http://schemas.microsoft.com/office/drawing/2014/main" id="{B56757D5-1763-4D13-A251-6F5B315A2D7B}"/>
              </a:ext>
            </a:extLst>
          </p:cNvPr>
          <p:cNvSpPr>
            <a:spLocks xmlns:a="http://schemas.openxmlformats.org/drawingml/2006/main" noGrp="1"/>
          </p:cNvSpPr>
          <p:nvPr/>
        </p:nvSpPr>
        <p:spPr>
          <a:xfrm xmlns:a="http://schemas.openxmlformats.org/drawingml/2006/main">
            <a:off x="2476500" y="2819400"/>
            <a:ext cx="4095750" cy="552450"/>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20" name="">
            <a:extLst xmlns:a="http://schemas.openxmlformats.org/drawingml/2006/main">
              <a:ext uri="{FF2B5EF4-FFF2-40B4-BE49-F238E27FC236}">
                <a16:creationId xmlns:a16="http://schemas.microsoft.com/office/drawing/2014/main" id="{74A50D69-DCC6-403A-A20D-8B1BD56A15D1}"/>
              </a:ext>
            </a:extLst>
          </p:cNvPr>
          <p:cNvSpPr>
            <a:spLocks xmlns:a="http://schemas.openxmlformats.org/drawingml/2006/main" noGrp="1"/>
          </p:cNvSpPr>
          <p:nvPr/>
        </p:nvSpPr>
        <p:spPr>
          <a:xfrm xmlns:a="http://schemas.openxmlformats.org/drawingml/2006/main">
            <a:off x="2562225" y="2886075"/>
            <a:ext cx="39243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1D1B18"/>
                </a:solidFill>
                <a:latin typeface="Aptos"/>
                <a:ea typeface="Aptos"/>
                <a:cs typeface="Aptos"/>
              </a:defRPr>
            </a:pPr>
            <a:r>
              <a:rPr sz="945" b="0">
                <a:solidFill>
                  <a:srgbClr val="1D1B18"/>
                </a:solidFill>
                <a:latin typeface="Aptos"/>
                <a:ea typeface="Aptos"/>
                <a:cs typeface="Aptos"/>
              </a:rPr>
              <a:t>相对于历史强厄尔尼诺，大气风压反馈偏弱。</a:t>
            </a:r>
          </a:p>
        </p:txBody>
      </p:sp>
      <p:sp>
        <p:nvSpPr>
          <p:cNvPr id="21" name="">
            <a:extLst xmlns:a="http://schemas.openxmlformats.org/drawingml/2006/main">
              <a:ext uri="{FF2B5EF4-FFF2-40B4-BE49-F238E27FC236}">
                <a16:creationId xmlns:a16="http://schemas.microsoft.com/office/drawing/2014/main" id="{8648BBC6-25BD-4964-8623-63EC5285D4BB}"/>
              </a:ext>
            </a:extLst>
          </p:cNvPr>
          <p:cNvSpPr>
            <a:spLocks xmlns:a="http://schemas.openxmlformats.org/drawingml/2006/main" noGrp="1"/>
          </p:cNvSpPr>
          <p:nvPr/>
        </p:nvSpPr>
        <p:spPr>
          <a:xfrm xmlns:a="http://schemas.openxmlformats.org/drawingml/2006/main">
            <a:off x="6572250" y="2819400"/>
            <a:ext cx="4457700" cy="552450"/>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22" name="">
            <a:extLst xmlns:a="http://schemas.openxmlformats.org/drawingml/2006/main">
              <a:ext uri="{FF2B5EF4-FFF2-40B4-BE49-F238E27FC236}">
                <a16:creationId xmlns:a16="http://schemas.microsoft.com/office/drawing/2014/main" id="{960510D1-674E-4DDD-93D0-CEC2F0E0A843}"/>
              </a:ext>
            </a:extLst>
          </p:cNvPr>
          <p:cNvSpPr>
            <a:spLocks xmlns:a="http://schemas.openxmlformats.org/drawingml/2006/main" noGrp="1"/>
          </p:cNvSpPr>
          <p:nvPr/>
        </p:nvSpPr>
        <p:spPr>
          <a:xfrm xmlns:a="http://schemas.openxmlformats.org/drawingml/2006/main">
            <a:off x="6657975" y="2886075"/>
            <a:ext cx="428625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1D1B18"/>
                </a:solidFill>
                <a:latin typeface="Aptos"/>
                <a:ea typeface="Aptos"/>
                <a:cs typeface="Aptos"/>
              </a:defRPr>
            </a:pPr>
            <a:r>
              <a:rPr sz="945" b="0">
                <a:solidFill>
                  <a:srgbClr val="1D1B18"/>
                </a:solidFill>
                <a:latin typeface="Aptos"/>
                <a:ea typeface="Aptos"/>
                <a:cs typeface="Aptos"/>
              </a:rPr>
              <a:t>引出“强海温为何没有强响应”的问题。</a:t>
            </a:r>
          </a:p>
        </p:txBody>
      </p:sp>
      <p:sp>
        <p:nvSpPr>
          <p:cNvPr id="23" name="">
            <a:extLst xmlns:a="http://schemas.openxmlformats.org/drawingml/2006/main">
              <a:ext uri="{FF2B5EF4-FFF2-40B4-BE49-F238E27FC236}">
                <a16:creationId xmlns:a16="http://schemas.microsoft.com/office/drawing/2014/main" id="{80B910CA-B0D2-45A6-82E9-4FBC59D74BEA}"/>
              </a:ext>
            </a:extLst>
          </p:cNvPr>
          <p:cNvSpPr>
            <a:spLocks xmlns:a="http://schemas.openxmlformats.org/drawingml/2006/main" noGrp="1"/>
          </p:cNvSpPr>
          <p:nvPr/>
        </p:nvSpPr>
        <p:spPr>
          <a:xfrm xmlns:a="http://schemas.openxmlformats.org/drawingml/2006/main">
            <a:off x="666750" y="3371850"/>
            <a:ext cx="1809750" cy="552450"/>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24" name="">
            <a:extLst xmlns:a="http://schemas.openxmlformats.org/drawingml/2006/main">
              <a:ext uri="{FF2B5EF4-FFF2-40B4-BE49-F238E27FC236}">
                <a16:creationId xmlns:a16="http://schemas.microsoft.com/office/drawing/2014/main" id="{339F976C-B05C-4570-8202-06811FC7F839}"/>
              </a:ext>
            </a:extLst>
          </p:cNvPr>
          <p:cNvSpPr>
            <a:spLocks xmlns:a="http://schemas.openxmlformats.org/drawingml/2006/main" noGrp="1"/>
          </p:cNvSpPr>
          <p:nvPr/>
        </p:nvSpPr>
        <p:spPr>
          <a:xfrm xmlns:a="http://schemas.openxmlformats.org/drawingml/2006/main">
            <a:off x="752475" y="3438525"/>
            <a:ext cx="16383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1D1B18"/>
                </a:solidFill>
                <a:latin typeface="Aptos"/>
                <a:ea typeface="Aptos"/>
                <a:cs typeface="Aptos"/>
              </a:defRPr>
            </a:pPr>
            <a:r>
              <a:rPr sz="945" b="0">
                <a:solidFill>
                  <a:srgbClr val="1D1B18"/>
                </a:solidFill>
                <a:latin typeface="Aptos"/>
                <a:ea typeface="Aptos"/>
                <a:cs typeface="Aptos"/>
              </a:rPr>
              <a:t>外海盆</a:t>
            </a:r>
          </a:p>
        </p:txBody>
      </p:sp>
      <p:sp>
        <p:nvSpPr>
          <p:cNvPr id="25" name="">
            <a:extLst xmlns:a="http://schemas.openxmlformats.org/drawingml/2006/main">
              <a:ext uri="{FF2B5EF4-FFF2-40B4-BE49-F238E27FC236}">
                <a16:creationId xmlns:a16="http://schemas.microsoft.com/office/drawing/2014/main" id="{55803B08-AC2A-46EA-BD09-95783E1F6904}"/>
              </a:ext>
            </a:extLst>
          </p:cNvPr>
          <p:cNvSpPr>
            <a:spLocks xmlns:a="http://schemas.openxmlformats.org/drawingml/2006/main" noGrp="1"/>
          </p:cNvSpPr>
          <p:nvPr/>
        </p:nvSpPr>
        <p:spPr>
          <a:xfrm xmlns:a="http://schemas.openxmlformats.org/drawingml/2006/main">
            <a:off x="2476500" y="3371850"/>
            <a:ext cx="4095750" cy="552450"/>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26" name="">
            <a:extLst xmlns:a="http://schemas.openxmlformats.org/drawingml/2006/main">
              <a:ext uri="{FF2B5EF4-FFF2-40B4-BE49-F238E27FC236}">
                <a16:creationId xmlns:a16="http://schemas.microsoft.com/office/drawing/2014/main" id="{D2B1A63F-99A8-4C7E-BB07-14A1C8397709}"/>
              </a:ext>
            </a:extLst>
          </p:cNvPr>
          <p:cNvSpPr>
            <a:spLocks xmlns:a="http://schemas.openxmlformats.org/drawingml/2006/main" noGrp="1"/>
          </p:cNvSpPr>
          <p:nvPr/>
        </p:nvSpPr>
        <p:spPr>
          <a:xfrm xmlns:a="http://schemas.openxmlformats.org/drawingml/2006/main">
            <a:off x="2562225" y="3438525"/>
            <a:ext cx="39243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1D1B18"/>
                </a:solidFill>
                <a:latin typeface="Aptos"/>
                <a:ea typeface="Aptos"/>
                <a:cs typeface="Aptos"/>
              </a:defRPr>
            </a:pPr>
            <a:r>
              <a:rPr sz="945" b="0">
                <a:solidFill>
                  <a:srgbClr val="1D1B18"/>
                </a:solidFill>
                <a:latin typeface="Aptos"/>
                <a:ea typeface="Aptos"/>
                <a:cs typeface="Aptos"/>
              </a:rPr>
              <a:t>印度洋和大西洋 SST 可能抵消部分太平洋强迫。</a:t>
            </a:r>
          </a:p>
        </p:txBody>
      </p:sp>
      <p:sp>
        <p:nvSpPr>
          <p:cNvPr id="27" name="">
            <a:extLst xmlns:a="http://schemas.openxmlformats.org/drawingml/2006/main">
              <a:ext uri="{FF2B5EF4-FFF2-40B4-BE49-F238E27FC236}">
                <a16:creationId xmlns:a16="http://schemas.microsoft.com/office/drawing/2014/main" id="{5F7B02B6-164B-4AF0-8C90-1DBBEF40EE23}"/>
              </a:ext>
            </a:extLst>
          </p:cNvPr>
          <p:cNvSpPr>
            <a:spLocks xmlns:a="http://schemas.openxmlformats.org/drawingml/2006/main" noGrp="1"/>
          </p:cNvSpPr>
          <p:nvPr/>
        </p:nvSpPr>
        <p:spPr>
          <a:xfrm xmlns:a="http://schemas.openxmlformats.org/drawingml/2006/main">
            <a:off x="6572250" y="3371850"/>
            <a:ext cx="4457700" cy="552450"/>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28" name="">
            <a:extLst xmlns:a="http://schemas.openxmlformats.org/drawingml/2006/main">
              <a:ext uri="{FF2B5EF4-FFF2-40B4-BE49-F238E27FC236}">
                <a16:creationId xmlns:a16="http://schemas.microsoft.com/office/drawing/2014/main" id="{7A383538-4318-4ED8-9A57-D69905206A64}"/>
              </a:ext>
            </a:extLst>
          </p:cNvPr>
          <p:cNvSpPr>
            <a:spLocks xmlns:a="http://schemas.openxmlformats.org/drawingml/2006/main" noGrp="1"/>
          </p:cNvSpPr>
          <p:nvPr/>
        </p:nvSpPr>
        <p:spPr>
          <a:xfrm xmlns:a="http://schemas.openxmlformats.org/drawingml/2006/main">
            <a:off x="6657975" y="3438525"/>
            <a:ext cx="428625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1D1B18"/>
                </a:solidFill>
                <a:latin typeface="Aptos"/>
                <a:ea typeface="Aptos"/>
                <a:cs typeface="Aptos"/>
              </a:defRPr>
            </a:pPr>
            <a:r>
              <a:rPr sz="945" b="0">
                <a:solidFill>
                  <a:srgbClr val="1D1B18"/>
                </a:solidFill>
                <a:latin typeface="Aptos"/>
                <a:ea typeface="Aptos"/>
                <a:cs typeface="Aptos"/>
              </a:rPr>
              <a:t>提示外海盆背景态可能是机制切口。</a:t>
            </a:r>
          </a:p>
        </p:txBody>
      </p:sp>
      <p:sp>
        <p:nvSpPr>
          <p:cNvPr id="29" name="">
            <a:extLst xmlns:a="http://schemas.openxmlformats.org/drawingml/2006/main">
              <a:ext uri="{FF2B5EF4-FFF2-40B4-BE49-F238E27FC236}">
                <a16:creationId xmlns:a16="http://schemas.microsoft.com/office/drawing/2014/main" id="{B2AA5276-CC33-40D2-9DE4-DB139FCB1FC9}"/>
              </a:ext>
            </a:extLst>
          </p:cNvPr>
          <p:cNvSpPr>
            <a:spLocks xmlns:a="http://schemas.openxmlformats.org/drawingml/2006/main" noGrp="1"/>
          </p:cNvSpPr>
          <p:nvPr/>
        </p:nvSpPr>
        <p:spPr>
          <a:xfrm xmlns:a="http://schemas.openxmlformats.org/drawingml/2006/main">
            <a:off x="666750" y="3924300"/>
            <a:ext cx="1809750" cy="552450"/>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30" name="">
            <a:extLst xmlns:a="http://schemas.openxmlformats.org/drawingml/2006/main">
              <a:ext uri="{FF2B5EF4-FFF2-40B4-BE49-F238E27FC236}">
                <a16:creationId xmlns:a16="http://schemas.microsoft.com/office/drawing/2014/main" id="{D9190875-2B3C-4F8F-91B9-8227211A3C07}"/>
              </a:ext>
            </a:extLst>
          </p:cNvPr>
          <p:cNvSpPr>
            <a:spLocks xmlns:a="http://schemas.openxmlformats.org/drawingml/2006/main" noGrp="1"/>
          </p:cNvSpPr>
          <p:nvPr/>
        </p:nvSpPr>
        <p:spPr>
          <a:xfrm xmlns:a="http://schemas.openxmlformats.org/drawingml/2006/main">
            <a:off x="752475" y="3990975"/>
            <a:ext cx="16383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1D1B18"/>
                </a:solidFill>
                <a:latin typeface="Aptos"/>
                <a:ea typeface="Aptos"/>
                <a:cs typeface="Aptos"/>
              </a:defRPr>
            </a:pPr>
            <a:r>
              <a:rPr sz="945" b="0">
                <a:solidFill>
                  <a:srgbClr val="1D1B18"/>
                </a:solidFill>
                <a:latin typeface="Aptos"/>
                <a:ea typeface="Aptos"/>
                <a:cs typeface="Aptos"/>
              </a:rPr>
              <a:t>模式实验</a:t>
            </a:r>
          </a:p>
        </p:txBody>
      </p:sp>
      <p:sp>
        <p:nvSpPr>
          <p:cNvPr id="31" name="">
            <a:extLst xmlns:a="http://schemas.openxmlformats.org/drawingml/2006/main">
              <a:ext uri="{FF2B5EF4-FFF2-40B4-BE49-F238E27FC236}">
                <a16:creationId xmlns:a16="http://schemas.microsoft.com/office/drawing/2014/main" id="{3D5819C7-7047-403D-823F-F43572C3C353}"/>
              </a:ext>
            </a:extLst>
          </p:cNvPr>
          <p:cNvSpPr>
            <a:spLocks xmlns:a="http://schemas.openxmlformats.org/drawingml/2006/main" noGrp="1"/>
          </p:cNvSpPr>
          <p:nvPr/>
        </p:nvSpPr>
        <p:spPr>
          <a:xfrm xmlns:a="http://schemas.openxmlformats.org/drawingml/2006/main">
            <a:off x="2476500" y="3924300"/>
            <a:ext cx="4095750" cy="552450"/>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32" name="">
            <a:extLst xmlns:a="http://schemas.openxmlformats.org/drawingml/2006/main">
              <a:ext uri="{FF2B5EF4-FFF2-40B4-BE49-F238E27FC236}">
                <a16:creationId xmlns:a16="http://schemas.microsoft.com/office/drawing/2014/main" id="{DA1D8E9F-1D50-41E6-BCAD-5FF7EBB00608}"/>
              </a:ext>
            </a:extLst>
          </p:cNvPr>
          <p:cNvSpPr>
            <a:spLocks xmlns:a="http://schemas.openxmlformats.org/drawingml/2006/main" noGrp="1"/>
          </p:cNvSpPr>
          <p:nvPr/>
        </p:nvSpPr>
        <p:spPr>
          <a:xfrm xmlns:a="http://schemas.openxmlformats.org/drawingml/2006/main">
            <a:off x="2562225" y="3990975"/>
            <a:ext cx="39243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1D1B18"/>
                </a:solidFill>
                <a:latin typeface="Aptos"/>
                <a:ea typeface="Aptos"/>
                <a:cs typeface="Aptos"/>
              </a:defRPr>
            </a:pPr>
            <a:r>
              <a:rPr sz="945" b="0">
                <a:solidFill>
                  <a:srgbClr val="1D1B18"/>
                </a:solidFill>
                <a:latin typeface="Aptos"/>
                <a:ea typeface="Aptos"/>
                <a:cs typeface="Aptos"/>
              </a:rPr>
              <a:t>AGCM 和风应力实验区分了海温边界和风场强迫。</a:t>
            </a:r>
          </a:p>
        </p:txBody>
      </p:sp>
      <p:sp>
        <p:nvSpPr>
          <p:cNvPr id="33" name="">
            <a:extLst xmlns:a="http://schemas.openxmlformats.org/drawingml/2006/main">
              <a:ext uri="{FF2B5EF4-FFF2-40B4-BE49-F238E27FC236}">
                <a16:creationId xmlns:a16="http://schemas.microsoft.com/office/drawing/2014/main" id="{178FA3A2-6711-45CF-98EF-96F56DCC5248}"/>
              </a:ext>
            </a:extLst>
          </p:cNvPr>
          <p:cNvSpPr>
            <a:spLocks xmlns:a="http://schemas.openxmlformats.org/drawingml/2006/main" noGrp="1"/>
          </p:cNvSpPr>
          <p:nvPr/>
        </p:nvSpPr>
        <p:spPr>
          <a:xfrm xmlns:a="http://schemas.openxmlformats.org/drawingml/2006/main">
            <a:off x="6572250" y="3924300"/>
            <a:ext cx="4457700" cy="552450"/>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34" name="">
            <a:extLst xmlns:a="http://schemas.openxmlformats.org/drawingml/2006/main">
              <a:ext uri="{FF2B5EF4-FFF2-40B4-BE49-F238E27FC236}">
                <a16:creationId xmlns:a16="http://schemas.microsoft.com/office/drawing/2014/main" id="{D764D87D-1F12-4C21-93E4-04D07D96C766}"/>
              </a:ext>
            </a:extLst>
          </p:cNvPr>
          <p:cNvSpPr>
            <a:spLocks xmlns:a="http://schemas.openxmlformats.org/drawingml/2006/main" noGrp="1"/>
          </p:cNvSpPr>
          <p:nvPr/>
        </p:nvSpPr>
        <p:spPr>
          <a:xfrm xmlns:a="http://schemas.openxmlformats.org/drawingml/2006/main">
            <a:off x="6657975" y="3990975"/>
            <a:ext cx="428625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1D1B18"/>
                </a:solidFill>
                <a:latin typeface="Aptos"/>
                <a:ea typeface="Aptos"/>
                <a:cs typeface="Aptos"/>
              </a:defRPr>
            </a:pPr>
            <a:r>
              <a:rPr sz="945" b="0">
                <a:solidFill>
                  <a:srgbClr val="1D1B18"/>
                </a:solidFill>
                <a:latin typeface="Aptos"/>
                <a:ea typeface="Aptos"/>
                <a:cs typeface="Aptos"/>
              </a:rPr>
              <a:t>为后续设计 Pacific-only / external-basin 实验提供模板。</a:t>
            </a:r>
          </a:p>
        </p:txBody>
      </p:sp>
      <p:sp>
        <p:nvSpPr>
          <p:cNvPr id="35" name="">
            <a:extLst xmlns:a="http://schemas.openxmlformats.org/drawingml/2006/main">
              <a:ext uri="{FF2B5EF4-FFF2-40B4-BE49-F238E27FC236}">
                <a16:creationId xmlns:a16="http://schemas.microsoft.com/office/drawing/2014/main" id="{FA24B3AD-D2F5-49C8-A8FA-BF58471053FF}"/>
              </a:ext>
            </a:extLst>
          </p:cNvPr>
          <p:cNvSpPr>
            <a:spLocks xmlns:a="http://schemas.openxmlformats.org/drawingml/2006/main" noGrp="1"/>
          </p:cNvSpPr>
          <p:nvPr/>
        </p:nvSpPr>
        <p:spPr>
          <a:xfrm xmlns:a="http://schemas.openxmlformats.org/drawingml/2006/main">
            <a:off x="723900" y="5162550"/>
            <a:ext cx="9906000" cy="1009650"/>
          </a:xfrm>
          <a:prstGeom xmlns:a="http://schemas.openxmlformats.org/drawingml/2006/main" prst="rect">
            <a:avLst/>
          </a:prstGeom>
          <a:solidFill xmlns:a="http://schemas.openxmlformats.org/drawingml/2006/main">
            <a:srgbClr val="EDF3EF"/>
          </a:solidFill>
          <a:ln xmlns:a="http://schemas.openxmlformats.org/drawingml/2006/main" w="7620">
            <a:solidFill>
              <a:srgbClr val="D8D1C4"/>
            </a:solidFill>
            <a:prstDash val="solid"/>
          </a:ln>
        </p:spPr>
      </p:sp>
      <p:sp>
        <p:nvSpPr>
          <p:cNvPr id="36" name="">
            <a:extLst xmlns:a="http://schemas.openxmlformats.org/drawingml/2006/main">
              <a:ext uri="{FF2B5EF4-FFF2-40B4-BE49-F238E27FC236}">
                <a16:creationId xmlns:a16="http://schemas.microsoft.com/office/drawing/2014/main" id="{403F1820-8997-4EF2-AEC9-836741FD649F}"/>
              </a:ext>
            </a:extLst>
          </p:cNvPr>
          <p:cNvSpPr>
            <a:spLocks xmlns:a="http://schemas.openxmlformats.org/drawingml/2006/main" noGrp="1"/>
          </p:cNvSpPr>
          <p:nvPr/>
        </p:nvSpPr>
        <p:spPr>
          <a:xfrm xmlns:a="http://schemas.openxmlformats.org/drawingml/2006/main">
            <a:off x="857250" y="5276850"/>
            <a:ext cx="96393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2F6F73"/>
                </a:solidFill>
                <a:latin typeface="Aptos"/>
                <a:ea typeface="Aptos"/>
                <a:cs typeface="Aptos"/>
              </a:defRPr>
            </a:pPr>
            <a:r>
              <a:rPr sz="1050" b="1">
                <a:solidFill>
                  <a:srgbClr val="2F6F73"/>
                </a:solidFill>
                <a:latin typeface="Aptos"/>
                <a:ea typeface="Aptos"/>
                <a:cs typeface="Aptos"/>
              </a:rPr>
              <a:t>Reading note</a:t>
            </a:r>
          </a:p>
        </p:txBody>
      </p:sp>
      <p:sp>
        <p:nvSpPr>
          <p:cNvPr id="37" name="">
            <a:extLst xmlns:a="http://schemas.openxmlformats.org/drawingml/2006/main">
              <a:ext uri="{FF2B5EF4-FFF2-40B4-BE49-F238E27FC236}">
                <a16:creationId xmlns:a16="http://schemas.microsoft.com/office/drawing/2014/main" id="{C8B6DE61-2698-4C98-B2F4-6A75A83A83D2}"/>
              </a:ext>
            </a:extLst>
          </p:cNvPr>
          <p:cNvSpPr>
            <a:spLocks xmlns:a="http://schemas.openxmlformats.org/drawingml/2006/main" noGrp="1"/>
          </p:cNvSpPr>
          <p:nvPr/>
        </p:nvSpPr>
        <p:spPr>
          <a:xfrm xmlns:a="http://schemas.openxmlformats.org/drawingml/2006/main">
            <a:off x="857250" y="5562600"/>
            <a:ext cx="9639300" cy="533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88" b="0">
                <a:solidFill>
                  <a:srgbClr val="1D1B18"/>
                </a:solidFill>
                <a:latin typeface="Aptos"/>
                <a:ea typeface="Aptos"/>
                <a:cs typeface="Aptos"/>
              </a:defRPr>
            </a:pPr>
            <a:r>
              <a:rPr sz="1088" b="0">
                <a:solidFill>
                  <a:srgbClr val="1D1B18"/>
                </a:solidFill>
                <a:latin typeface="Aptos"/>
                <a:ea typeface="Aptos"/>
                <a:cs typeface="Aptos"/>
              </a:rPr>
              <a:t>所以，我不是推翻原文，而是在原文基础上把问题往大气耦合端推进：原文解释了强海温的生成，本研究解释强海温为什么没有带来同步的大气响应。</a:t>
            </a:r>
          </a:p>
        </p:txBody>
      </p:sp>
      <p:sp>
        <p:nvSpPr>
          <p:cNvPr id="38" name="">
            <a:extLst xmlns:a="http://schemas.openxmlformats.org/drawingml/2006/main">
              <a:ext uri="{FF2B5EF4-FFF2-40B4-BE49-F238E27FC236}">
                <a16:creationId xmlns:a16="http://schemas.microsoft.com/office/drawing/2014/main" id="{A787B4D2-3F3E-4066-9BF4-1E729CAA05F8}"/>
              </a:ext>
            </a:extLst>
          </p:cNvPr>
          <p:cNvSpPr>
            <a:spLocks xmlns:a="http://schemas.openxmlformats.org/drawingml/2006/main" noGrp="1"/>
          </p:cNvSpPr>
          <p:nvPr/>
        </p:nvSpPr>
        <p:spPr>
          <a:xfrm xmlns:a="http://schemas.openxmlformats.org/drawingml/2006/main">
            <a:off x="552450" y="6477000"/>
            <a:ext cx="106680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5D574F"/>
                </a:solidFill>
                <a:latin typeface="Aptos"/>
                <a:ea typeface="Aptos"/>
                <a:cs typeface="Aptos"/>
              </a:defRPr>
            </a:pPr>
            <a:r>
              <a:rPr sz="788" b="0">
                <a:solidFill>
                  <a:srgbClr val="5D574F"/>
                </a:solidFill>
                <a:latin typeface="Aptos"/>
                <a:ea typeface="Aptos"/>
                <a:cs typeface="Aptos"/>
              </a:rPr>
              <a:t>L1: Peng et al. 2025 Nature Geoscience.</a:t>
            </a:r>
          </a:p>
        </p:txBody>
      </p:sp>
    </p:spTree>
    <p:extLst>
      <p:ext uri="{BB962C8B-B14F-4D97-AF65-F5344CB8AC3E}">
        <p14:creationId xmlns:p14="http://schemas.microsoft.com/office/powerpoint/2010/main" val="1260972837"/>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8B0848AE-3025-4D3B-AA2F-5E6BBC713D28}"/>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3EA"/>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DAB86E8F-BF39-479C-B0C8-9F9449EBD01E}"/>
              </a:ext>
            </a:extLst>
          </p:cNvPr>
          <p:cNvSpPr>
            <a:spLocks xmlns:a="http://schemas.openxmlformats.org/drawingml/2006/main" noGrp="1"/>
          </p:cNvSpPr>
          <p:nvPr/>
        </p:nvSpPr>
        <p:spPr>
          <a:xfrm xmlns:a="http://schemas.openxmlformats.org/drawingml/2006/main">
            <a:off x="552450" y="285750"/>
            <a:ext cx="3429000" cy="23812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CC5A43"/>
                </a:solidFill>
                <a:latin typeface="Aptos"/>
                <a:ea typeface="Aptos"/>
                <a:cs typeface="Aptos"/>
              </a:defRPr>
            </a:pPr>
            <a:r>
              <a:rPr sz="1050" b="1">
                <a:solidFill>
                  <a:srgbClr val="CC5A43"/>
                </a:solidFill>
                <a:latin typeface="Aptos"/>
                <a:ea typeface="Aptos"/>
                <a:cs typeface="Aptos"/>
              </a:rPr>
              <a:t>原文复现 Fig. 1</a:t>
            </a:r>
          </a:p>
        </p:txBody>
      </p:sp>
      <p:sp>
        <p:nvSpPr>
          <p:cNvPr id="3" name="">
            <a:extLst xmlns:a="http://schemas.openxmlformats.org/drawingml/2006/main">
              <a:ext uri="{FF2B5EF4-FFF2-40B4-BE49-F238E27FC236}">
                <a16:creationId xmlns:a16="http://schemas.microsoft.com/office/drawing/2014/main" id="{6AC1E893-2046-48C8-BAD8-2985106356EF}"/>
              </a:ext>
            </a:extLst>
          </p:cNvPr>
          <p:cNvSpPr>
            <a:spLocks xmlns:a="http://schemas.openxmlformats.org/drawingml/2006/main" noGrp="1"/>
          </p:cNvSpPr>
          <p:nvPr/>
        </p:nvSpPr>
        <p:spPr>
          <a:xfrm xmlns:a="http://schemas.openxmlformats.org/drawingml/2006/main">
            <a:off x="552450" y="609600"/>
            <a:ext cx="104775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175" b="1">
                <a:solidFill>
                  <a:srgbClr val="1D1B18"/>
                </a:solidFill>
                <a:latin typeface="Aptos Display"/>
                <a:ea typeface="Aptos Display"/>
                <a:cs typeface="Aptos Display"/>
              </a:defRPr>
            </a:pPr>
            <a:r>
              <a:rPr sz="2175" b="1">
                <a:solidFill>
                  <a:srgbClr val="1D1B18"/>
                </a:solidFill>
                <a:latin typeface="Aptos Display"/>
                <a:ea typeface="Aptos Display"/>
                <a:cs typeface="Aptos Display"/>
              </a:rPr>
              <a:t>图中数据名称：SST、海平面气压/10米风、Niño-3 与大气响应散点</a:t>
            </a:r>
          </a:p>
        </p:txBody>
      </p:sp>
      <p:sp>
        <p:nvSpPr>
          <p:cNvPr id="4" name="">
            <a:extLst xmlns:a="http://schemas.openxmlformats.org/drawingml/2006/main">
              <a:ext uri="{FF2B5EF4-FFF2-40B4-BE49-F238E27FC236}">
                <a16:creationId xmlns:a16="http://schemas.microsoft.com/office/drawing/2014/main" id="{CE2588E8-DEE7-41CD-874E-50E3D62989E2}"/>
              </a:ext>
            </a:extLst>
          </p:cNvPr>
          <p:cNvSpPr>
            <a:spLocks xmlns:a="http://schemas.openxmlformats.org/drawingml/2006/main" noGrp="1"/>
          </p:cNvSpPr>
          <p:nvPr/>
        </p:nvSpPr>
        <p:spPr>
          <a:xfrm xmlns:a="http://schemas.openxmlformats.org/drawingml/2006/main">
            <a:off x="552450" y="1409700"/>
            <a:ext cx="10763250" cy="14288"/>
          </a:xfrm>
          <a:prstGeom xmlns:a="http://schemas.openxmlformats.org/drawingml/2006/main" prst="rect">
            <a:avLst/>
          </a:prstGeom>
          <a:solidFill xmlns:a="http://schemas.openxmlformats.org/drawingml/2006/main">
            <a:srgbClr val="D8D1C4"/>
          </a:solidFill>
          <a:ln xmlns:a="http://schemas.openxmlformats.org/drawingml/2006/main" w="0">
            <a:solidFill>
              <a:srgbClr val="000000">
                <a:alpha val="0"/>
              </a:srgbClr>
            </a:solidFill>
            <a:prstDash val="solid"/>
          </a:ln>
        </p:spPr>
      </p:sp>
      <p:pic>
        <p:nvPicPr>
          <p:cNvPr id="5" name=""/>
          <p:cNvPicPr>
            <a:picLocks xmlns:a="http://schemas.openxmlformats.org/drawingml/2006/main" noChangeAspect="1"/>
          </p:cNvPicPr>
          <p:nvPr/>
        </p:nvPicPr>
        <p:blipFill>
          <a:blip xmlns:r="http://schemas.openxmlformats.org/officeDocument/2006/relationships" xmlns:a="http://schemas.openxmlformats.org/drawingml/2006/main" r:embed="Rf24272b4d1fb4a8b"/>
          <a:stretch xmlns:a="http://schemas.openxmlformats.org/drawingml/2006/main"/>
        </p:blipFill>
        <p:spPr>
          <a:xfrm xmlns:a="http://schemas.openxmlformats.org/drawingml/2006/main">
            <a:off x="1335002" y="1733550"/>
            <a:ext cx="4187996" cy="34861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7EE4DF80-47CD-4656-80DA-2F7FCC0D35E8}"/>
              </a:ext>
            </a:extLst>
          </p:cNvPr>
          <p:cNvSpPr>
            <a:spLocks xmlns:a="http://schemas.openxmlformats.org/drawingml/2006/main" noGrp="1"/>
          </p:cNvSpPr>
          <p:nvPr/>
        </p:nvSpPr>
        <p:spPr>
          <a:xfrm xmlns:a="http://schemas.openxmlformats.org/drawingml/2006/main">
            <a:off x="6610350" y="1600200"/>
            <a:ext cx="4305300" cy="1123950"/>
          </a:xfrm>
          <a:prstGeom xmlns:a="http://schemas.openxmlformats.org/drawingml/2006/main" prst="rect">
            <a:avLst/>
          </a:prstGeom>
          <a:solidFill xmlns:a="http://schemas.openxmlformats.org/drawingml/2006/main">
            <a:srgbClr val="F5E5DF"/>
          </a:solidFill>
          <a:ln xmlns:a="http://schemas.openxmlformats.org/drawingml/2006/main" w="7620">
            <a:solidFill>
              <a:srgbClr val="D8D1C4"/>
            </a:solidFill>
            <a:prstDash val="solid"/>
          </a:ln>
        </p:spPr>
      </p:sp>
      <p:sp>
        <p:nvSpPr>
          <p:cNvPr id="7" name="">
            <a:extLst xmlns:a="http://schemas.openxmlformats.org/drawingml/2006/main">
              <a:ext uri="{FF2B5EF4-FFF2-40B4-BE49-F238E27FC236}">
                <a16:creationId xmlns:a16="http://schemas.microsoft.com/office/drawing/2014/main" id="{0CF747D3-2CCE-478B-A29F-15D20BAEF5D0}"/>
              </a:ext>
            </a:extLst>
          </p:cNvPr>
          <p:cNvSpPr>
            <a:spLocks xmlns:a="http://schemas.openxmlformats.org/drawingml/2006/main" noGrp="1"/>
          </p:cNvSpPr>
          <p:nvPr/>
        </p:nvSpPr>
        <p:spPr>
          <a:xfrm xmlns:a="http://schemas.openxmlformats.org/drawingml/2006/main">
            <a:off x="6743700" y="1714500"/>
            <a:ext cx="40386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2F6F73"/>
                </a:solidFill>
                <a:latin typeface="Aptos"/>
                <a:ea typeface="Aptos"/>
                <a:cs typeface="Aptos"/>
              </a:defRPr>
            </a:pPr>
            <a:r>
              <a:rPr sz="1050" b="1">
                <a:solidFill>
                  <a:srgbClr val="2F6F73"/>
                </a:solidFill>
                <a:latin typeface="Aptos"/>
                <a:ea typeface="Aptos"/>
                <a:cs typeface="Aptos"/>
              </a:rPr>
              <a:t>这幅图是什么数据</a:t>
            </a:r>
          </a:p>
        </p:txBody>
      </p:sp>
      <p:sp>
        <p:nvSpPr>
          <p:cNvPr id="8" name="">
            <a:extLst xmlns:a="http://schemas.openxmlformats.org/drawingml/2006/main">
              <a:ext uri="{FF2B5EF4-FFF2-40B4-BE49-F238E27FC236}">
                <a16:creationId xmlns:a16="http://schemas.microsoft.com/office/drawing/2014/main" id="{5BA5D6FB-9032-4DA6-8340-538EF1DEB2DC}"/>
              </a:ext>
            </a:extLst>
          </p:cNvPr>
          <p:cNvSpPr>
            <a:spLocks xmlns:a="http://schemas.openxmlformats.org/drawingml/2006/main" noGrp="1"/>
          </p:cNvSpPr>
          <p:nvPr/>
        </p:nvSpPr>
        <p:spPr>
          <a:xfrm xmlns:a="http://schemas.openxmlformats.org/drawingml/2006/main">
            <a:off x="6743700" y="2000250"/>
            <a:ext cx="403860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88" b="0">
                <a:solidFill>
                  <a:srgbClr val="1D1B18"/>
                </a:solidFill>
                <a:latin typeface="Aptos"/>
                <a:ea typeface="Aptos"/>
                <a:cs typeface="Aptos"/>
              </a:defRPr>
            </a:pPr>
            <a:r>
              <a:rPr sz="1088" b="0">
                <a:solidFill>
                  <a:srgbClr val="1D1B18"/>
                </a:solidFill>
                <a:latin typeface="Aptos"/>
                <a:ea typeface="Aptos"/>
                <a:cs typeface="Aptos"/>
              </a:rPr>
              <a:t>Peng et al. Fig. 1 的源数据。上半部分是 2023/24 与历史强事件的海表温度、海平面气压和 10 米风异常；下半部分是 Niño-3 海温与 u10、SOI 的历史关系。</a:t>
            </a:r>
          </a:p>
        </p:txBody>
      </p:sp>
      <p:sp>
        <p:nvSpPr>
          <p:cNvPr id="9" name="">
            <a:extLst xmlns:a="http://schemas.openxmlformats.org/drawingml/2006/main">
              <a:ext uri="{FF2B5EF4-FFF2-40B4-BE49-F238E27FC236}">
                <a16:creationId xmlns:a16="http://schemas.microsoft.com/office/drawing/2014/main" id="{913350D7-952D-41DF-8D9D-EFB60E7D0968}"/>
              </a:ext>
            </a:extLst>
          </p:cNvPr>
          <p:cNvSpPr>
            <a:spLocks xmlns:a="http://schemas.openxmlformats.org/drawingml/2006/main" noGrp="1"/>
          </p:cNvSpPr>
          <p:nvPr/>
        </p:nvSpPr>
        <p:spPr>
          <a:xfrm xmlns:a="http://schemas.openxmlformats.org/drawingml/2006/main">
            <a:off x="6610350" y="2876550"/>
            <a:ext cx="4305300" cy="1123950"/>
          </a:xfrm>
          <a:prstGeom xmlns:a="http://schemas.openxmlformats.org/drawingml/2006/main" prst="rect">
            <a:avLst/>
          </a:prstGeom>
          <a:solidFill xmlns:a="http://schemas.openxmlformats.org/drawingml/2006/main">
            <a:srgbClr val="EDF3EF"/>
          </a:solidFill>
          <a:ln xmlns:a="http://schemas.openxmlformats.org/drawingml/2006/main" w="7620">
            <a:solidFill>
              <a:srgbClr val="D8D1C4"/>
            </a:solidFill>
            <a:prstDash val="solid"/>
          </a:ln>
        </p:spPr>
      </p:sp>
      <p:sp>
        <p:nvSpPr>
          <p:cNvPr id="10" name="">
            <a:extLst xmlns:a="http://schemas.openxmlformats.org/drawingml/2006/main">
              <a:ext uri="{FF2B5EF4-FFF2-40B4-BE49-F238E27FC236}">
                <a16:creationId xmlns:a16="http://schemas.microsoft.com/office/drawing/2014/main" id="{7C08FEBC-4958-4829-9FCA-2A609F3953D2}"/>
              </a:ext>
            </a:extLst>
          </p:cNvPr>
          <p:cNvSpPr>
            <a:spLocks xmlns:a="http://schemas.openxmlformats.org/drawingml/2006/main" noGrp="1"/>
          </p:cNvSpPr>
          <p:nvPr/>
        </p:nvSpPr>
        <p:spPr>
          <a:xfrm xmlns:a="http://schemas.openxmlformats.org/drawingml/2006/main">
            <a:off x="6743700" y="2990850"/>
            <a:ext cx="40386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2F6F73"/>
                </a:solidFill>
                <a:latin typeface="Aptos"/>
                <a:ea typeface="Aptos"/>
                <a:cs typeface="Aptos"/>
              </a:defRPr>
            </a:pPr>
            <a:r>
              <a:rPr sz="1050" b="1">
                <a:solidFill>
                  <a:srgbClr val="2F6F73"/>
                </a:solidFill>
                <a:latin typeface="Aptos"/>
                <a:ea typeface="Aptos"/>
                <a:cs typeface="Aptos"/>
              </a:rPr>
              <a:t>它反映了什么</a:t>
            </a:r>
          </a:p>
        </p:txBody>
      </p:sp>
      <p:sp>
        <p:nvSpPr>
          <p:cNvPr id="11" name="">
            <a:extLst xmlns:a="http://schemas.openxmlformats.org/drawingml/2006/main">
              <a:ext uri="{FF2B5EF4-FFF2-40B4-BE49-F238E27FC236}">
                <a16:creationId xmlns:a16="http://schemas.microsoft.com/office/drawing/2014/main" id="{DE1C435E-DF16-41D2-ACD6-9272031DA2B9}"/>
              </a:ext>
            </a:extLst>
          </p:cNvPr>
          <p:cNvSpPr>
            <a:spLocks xmlns:a="http://schemas.openxmlformats.org/drawingml/2006/main" noGrp="1"/>
          </p:cNvSpPr>
          <p:nvPr/>
        </p:nvSpPr>
        <p:spPr>
          <a:xfrm xmlns:a="http://schemas.openxmlformats.org/drawingml/2006/main">
            <a:off x="6743700" y="3276600"/>
            <a:ext cx="403860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88" b="0">
                <a:solidFill>
                  <a:srgbClr val="1D1B18"/>
                </a:solidFill>
                <a:latin typeface="Aptos"/>
                <a:ea typeface="Aptos"/>
                <a:cs typeface="Aptos"/>
              </a:defRPr>
            </a:pPr>
            <a:r>
              <a:rPr sz="1088" b="0">
                <a:solidFill>
                  <a:srgbClr val="1D1B18"/>
                </a:solidFill>
                <a:latin typeface="Aptos"/>
                <a:ea typeface="Aptos"/>
                <a:cs typeface="Aptos"/>
              </a:rPr>
              <a:t>2023/24 的 Niño-3 海温很强，但对应的近地面风和气压响应偏弱，说明海洋强度和大气响应强度没有按历史经验同步增长。</a:t>
            </a:r>
          </a:p>
        </p:txBody>
      </p:sp>
      <p:sp>
        <p:nvSpPr>
          <p:cNvPr id="12" name="">
            <a:extLst xmlns:a="http://schemas.openxmlformats.org/drawingml/2006/main">
              <a:ext uri="{FF2B5EF4-FFF2-40B4-BE49-F238E27FC236}">
                <a16:creationId xmlns:a16="http://schemas.microsoft.com/office/drawing/2014/main" id="{7C1AC8DA-6E71-43A9-9868-401EB50BCEFE}"/>
              </a:ext>
            </a:extLst>
          </p:cNvPr>
          <p:cNvSpPr>
            <a:spLocks xmlns:a="http://schemas.openxmlformats.org/drawingml/2006/main" noGrp="1"/>
          </p:cNvSpPr>
          <p:nvPr/>
        </p:nvSpPr>
        <p:spPr>
          <a:xfrm xmlns:a="http://schemas.openxmlformats.org/drawingml/2006/main">
            <a:off x="6610350" y="4152900"/>
            <a:ext cx="4305300" cy="1123950"/>
          </a:xfrm>
          <a:prstGeom xmlns:a="http://schemas.openxmlformats.org/drawingml/2006/main" prst="rect">
            <a:avLst/>
          </a:prstGeom>
          <a:solidFill xmlns:a="http://schemas.openxmlformats.org/drawingml/2006/main">
            <a:srgbClr val="F5E5DF"/>
          </a:solidFill>
          <a:ln xmlns:a="http://schemas.openxmlformats.org/drawingml/2006/main" w="7620">
            <a:solidFill>
              <a:srgbClr val="D8D1C4"/>
            </a:solidFill>
            <a:prstDash val="solid"/>
          </a:ln>
        </p:spPr>
      </p:sp>
      <p:sp>
        <p:nvSpPr>
          <p:cNvPr id="13" name="">
            <a:extLst xmlns:a="http://schemas.openxmlformats.org/drawingml/2006/main">
              <a:ext uri="{FF2B5EF4-FFF2-40B4-BE49-F238E27FC236}">
                <a16:creationId xmlns:a16="http://schemas.microsoft.com/office/drawing/2014/main" id="{B36B4328-F846-4BE4-BB78-67FC5465F925}"/>
              </a:ext>
            </a:extLst>
          </p:cNvPr>
          <p:cNvSpPr>
            <a:spLocks xmlns:a="http://schemas.openxmlformats.org/drawingml/2006/main" noGrp="1"/>
          </p:cNvSpPr>
          <p:nvPr/>
        </p:nvSpPr>
        <p:spPr>
          <a:xfrm xmlns:a="http://schemas.openxmlformats.org/drawingml/2006/main">
            <a:off x="6743700" y="4267200"/>
            <a:ext cx="40386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2F6F73"/>
                </a:solidFill>
                <a:latin typeface="Aptos"/>
                <a:ea typeface="Aptos"/>
                <a:cs typeface="Aptos"/>
              </a:defRPr>
            </a:pPr>
            <a:r>
              <a:rPr sz="1050" b="1">
                <a:solidFill>
                  <a:srgbClr val="2F6F73"/>
                </a:solidFill>
                <a:latin typeface="Aptos"/>
                <a:ea typeface="Aptos"/>
                <a:cs typeface="Aptos"/>
              </a:rPr>
              <a:t>对应原文与我的创新</a:t>
            </a:r>
          </a:p>
        </p:txBody>
      </p:sp>
      <p:sp>
        <p:nvSpPr>
          <p:cNvPr id="14" name="">
            <a:extLst xmlns:a="http://schemas.openxmlformats.org/drawingml/2006/main">
              <a:ext uri="{FF2B5EF4-FFF2-40B4-BE49-F238E27FC236}">
                <a16:creationId xmlns:a16="http://schemas.microsoft.com/office/drawing/2014/main" id="{63BCEFD0-9AF3-40DB-BA67-57A8077C3812}"/>
              </a:ext>
            </a:extLst>
          </p:cNvPr>
          <p:cNvSpPr>
            <a:spLocks xmlns:a="http://schemas.openxmlformats.org/drawingml/2006/main" noGrp="1"/>
          </p:cNvSpPr>
          <p:nvPr/>
        </p:nvSpPr>
        <p:spPr>
          <a:xfrm xmlns:a="http://schemas.openxmlformats.org/drawingml/2006/main">
            <a:off x="6743700" y="4552950"/>
            <a:ext cx="403860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88" b="0">
                <a:solidFill>
                  <a:srgbClr val="1D1B18"/>
                </a:solidFill>
                <a:latin typeface="Aptos"/>
                <a:ea typeface="Aptos"/>
                <a:cs typeface="Aptos"/>
              </a:defRPr>
            </a:pPr>
            <a:r>
              <a:rPr sz="1088" b="0">
                <a:solidFill>
                  <a:srgbClr val="1D1B18"/>
                </a:solidFill>
                <a:latin typeface="Aptos"/>
                <a:ea typeface="Aptos"/>
                <a:cs typeface="Aptos"/>
              </a:rPr>
              <a:t>对应原文的核心事实复现。创新不是这页本身，而是后续把这个全年/成熟期事实拆到 AMJ/JJA 发展前期，追问弱响应何时开始。</a:t>
            </a:r>
          </a:p>
        </p:txBody>
      </p:sp>
      <p:sp>
        <p:nvSpPr>
          <p:cNvPr id="15" name="">
            <a:extLst xmlns:a="http://schemas.openxmlformats.org/drawingml/2006/main">
              <a:ext uri="{FF2B5EF4-FFF2-40B4-BE49-F238E27FC236}">
                <a16:creationId xmlns:a16="http://schemas.microsoft.com/office/drawing/2014/main" id="{FE1D0648-3800-4055-B325-0C3142BEBDE9}"/>
              </a:ext>
            </a:extLst>
          </p:cNvPr>
          <p:cNvSpPr>
            <a:spLocks xmlns:a="http://schemas.openxmlformats.org/drawingml/2006/main" noGrp="1"/>
          </p:cNvSpPr>
          <p:nvPr/>
        </p:nvSpPr>
        <p:spPr>
          <a:xfrm xmlns:a="http://schemas.openxmlformats.org/drawingml/2006/main">
            <a:off x="552450" y="6477000"/>
            <a:ext cx="106680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5D574F"/>
                </a:solidFill>
                <a:latin typeface="Aptos"/>
                <a:ea typeface="Aptos"/>
                <a:cs typeface="Aptos"/>
              </a:defRPr>
            </a:pPr>
            <a:r>
              <a:rPr sz="788" b="0">
                <a:solidFill>
                  <a:srgbClr val="5D574F"/>
                </a:solidFill>
                <a:latin typeface="Aptos"/>
                <a:ea typeface="Aptos"/>
                <a:cs typeface="Aptos"/>
              </a:rPr>
              <a:t>Data: Peng et al. source archive; local file Fig1.png; table fig1_event_coupling.csv.</a:t>
            </a:r>
          </a:p>
        </p:txBody>
      </p:sp>
    </p:spTree>
    <p:extLst>
      <p:ext uri="{BB962C8B-B14F-4D97-AF65-F5344CB8AC3E}">
        <p14:creationId xmlns:p14="http://schemas.microsoft.com/office/powerpoint/2010/main" val="368791330"/>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FF5D182-2755-493B-9A51-DB77C31102A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3EA"/>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4F1DD01A-4E0D-4D46-99B6-2A4261F4AB49}"/>
              </a:ext>
            </a:extLst>
          </p:cNvPr>
          <p:cNvSpPr>
            <a:spLocks xmlns:a="http://schemas.openxmlformats.org/drawingml/2006/main" noGrp="1"/>
          </p:cNvSpPr>
          <p:nvPr/>
        </p:nvSpPr>
        <p:spPr>
          <a:xfrm xmlns:a="http://schemas.openxmlformats.org/drawingml/2006/main">
            <a:off x="552450" y="285750"/>
            <a:ext cx="3429000" cy="23812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CC5A43"/>
                </a:solidFill>
                <a:latin typeface="Aptos"/>
                <a:ea typeface="Aptos"/>
                <a:cs typeface="Aptos"/>
              </a:defRPr>
            </a:pPr>
            <a:r>
              <a:rPr sz="1050" b="1">
                <a:solidFill>
                  <a:srgbClr val="CC5A43"/>
                </a:solidFill>
                <a:latin typeface="Aptos"/>
                <a:ea typeface="Aptos"/>
                <a:cs typeface="Aptos"/>
              </a:rPr>
              <a:t>复现数值化 Fig. 1</a:t>
            </a:r>
          </a:p>
        </p:txBody>
      </p:sp>
      <p:sp>
        <p:nvSpPr>
          <p:cNvPr id="3" name="">
            <a:extLst xmlns:a="http://schemas.openxmlformats.org/drawingml/2006/main">
              <a:ext uri="{FF2B5EF4-FFF2-40B4-BE49-F238E27FC236}">
                <a16:creationId xmlns:a16="http://schemas.microsoft.com/office/drawing/2014/main" id="{CABAE962-BF73-4CA5-9B49-0E1EAC278825}"/>
              </a:ext>
            </a:extLst>
          </p:cNvPr>
          <p:cNvSpPr>
            <a:spLocks xmlns:a="http://schemas.openxmlformats.org/drawingml/2006/main" noGrp="1"/>
          </p:cNvSpPr>
          <p:nvPr/>
        </p:nvSpPr>
        <p:spPr>
          <a:xfrm xmlns:a="http://schemas.openxmlformats.org/drawingml/2006/main">
            <a:off x="552450" y="609600"/>
            <a:ext cx="104775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175" b="1">
                <a:solidFill>
                  <a:srgbClr val="1D1B18"/>
                </a:solidFill>
                <a:latin typeface="Aptos Display"/>
                <a:ea typeface="Aptos Display"/>
                <a:cs typeface="Aptos Display"/>
              </a:defRPr>
            </a:pPr>
            <a:r>
              <a:rPr sz="2175" b="1">
                <a:solidFill>
                  <a:srgbClr val="1D1B18"/>
                </a:solidFill>
                <a:latin typeface="Aptos Display"/>
                <a:ea typeface="Aptos Display"/>
                <a:cs typeface="Aptos Display"/>
              </a:rPr>
              <a:t>图中数据名称：u10 和 SOI 相对历史强事件的响应比</a:t>
            </a:r>
          </a:p>
        </p:txBody>
      </p:sp>
      <p:sp>
        <p:nvSpPr>
          <p:cNvPr id="4" name="">
            <a:extLst xmlns:a="http://schemas.openxmlformats.org/drawingml/2006/main">
              <a:ext uri="{FF2B5EF4-FFF2-40B4-BE49-F238E27FC236}">
                <a16:creationId xmlns:a16="http://schemas.microsoft.com/office/drawing/2014/main" id="{E4D3D9B5-EE3E-43BC-8620-A7D21E06CAF0}"/>
              </a:ext>
            </a:extLst>
          </p:cNvPr>
          <p:cNvSpPr>
            <a:spLocks xmlns:a="http://schemas.openxmlformats.org/drawingml/2006/main" noGrp="1"/>
          </p:cNvSpPr>
          <p:nvPr/>
        </p:nvSpPr>
        <p:spPr>
          <a:xfrm xmlns:a="http://schemas.openxmlformats.org/drawingml/2006/main">
            <a:off x="552450" y="1409700"/>
            <a:ext cx="10763250" cy="14288"/>
          </a:xfrm>
          <a:prstGeom xmlns:a="http://schemas.openxmlformats.org/drawingml/2006/main" prst="rect">
            <a:avLst/>
          </a:prstGeom>
          <a:solidFill xmlns:a="http://schemas.openxmlformats.org/drawingml/2006/main">
            <a:srgbClr val="D8D1C4"/>
          </a:solidFill>
          <a:ln xmlns:a="http://schemas.openxmlformats.org/drawingml/2006/main" w="0">
            <a:solidFill>
              <a:srgbClr val="000000">
                <a:alpha val="0"/>
              </a:srgbClr>
            </a:solidFill>
            <a:prstDash val="solid"/>
          </a:ln>
        </p:spPr>
      </p:sp>
      <p:pic>
        <p:nvPicPr>
          <p:cNvPr id="5" name=""/>
          <p:cNvPicPr>
            <a:picLocks xmlns:a="http://schemas.openxmlformats.org/drawingml/2006/main" noChangeAspect="1"/>
          </p:cNvPicPr>
          <p:nvPr/>
        </p:nvPicPr>
        <p:blipFill>
          <a:blip xmlns:r="http://schemas.openxmlformats.org/officeDocument/2006/relationships" xmlns:a="http://schemas.openxmlformats.org/drawingml/2006/main" r:embed="Rd3b2ba3cf2954c73"/>
          <a:stretch xmlns:a="http://schemas.openxmlformats.org/drawingml/2006/main"/>
        </p:blipFill>
        <p:spPr>
          <a:xfrm xmlns:a="http://schemas.openxmlformats.org/drawingml/2006/main">
            <a:off x="571500" y="2261112"/>
            <a:ext cx="5715000" cy="2431027"/>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7873280A-8CBA-453B-88C2-733C7CF4CBC3}"/>
              </a:ext>
            </a:extLst>
          </p:cNvPr>
          <p:cNvSpPr>
            <a:spLocks xmlns:a="http://schemas.openxmlformats.org/drawingml/2006/main" noGrp="1"/>
          </p:cNvSpPr>
          <p:nvPr/>
        </p:nvSpPr>
        <p:spPr>
          <a:xfrm xmlns:a="http://schemas.openxmlformats.org/drawingml/2006/main">
            <a:off x="6610350" y="1600200"/>
            <a:ext cx="4305300" cy="1123950"/>
          </a:xfrm>
          <a:prstGeom xmlns:a="http://schemas.openxmlformats.org/drawingml/2006/main" prst="rect">
            <a:avLst/>
          </a:prstGeom>
          <a:solidFill xmlns:a="http://schemas.openxmlformats.org/drawingml/2006/main">
            <a:srgbClr val="F5E5DF"/>
          </a:solidFill>
          <a:ln xmlns:a="http://schemas.openxmlformats.org/drawingml/2006/main" w="7620">
            <a:solidFill>
              <a:srgbClr val="D8D1C4"/>
            </a:solidFill>
            <a:prstDash val="solid"/>
          </a:ln>
        </p:spPr>
      </p:sp>
      <p:sp>
        <p:nvSpPr>
          <p:cNvPr id="7" name="">
            <a:extLst xmlns:a="http://schemas.openxmlformats.org/drawingml/2006/main">
              <a:ext uri="{FF2B5EF4-FFF2-40B4-BE49-F238E27FC236}">
                <a16:creationId xmlns:a16="http://schemas.microsoft.com/office/drawing/2014/main" id="{A7182575-E6C2-48FA-A0E3-DE5ED34ABBC1}"/>
              </a:ext>
            </a:extLst>
          </p:cNvPr>
          <p:cNvSpPr>
            <a:spLocks xmlns:a="http://schemas.openxmlformats.org/drawingml/2006/main" noGrp="1"/>
          </p:cNvSpPr>
          <p:nvPr/>
        </p:nvSpPr>
        <p:spPr>
          <a:xfrm xmlns:a="http://schemas.openxmlformats.org/drawingml/2006/main">
            <a:off x="6743700" y="1714500"/>
            <a:ext cx="40386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2F6F73"/>
                </a:solidFill>
                <a:latin typeface="Aptos"/>
                <a:ea typeface="Aptos"/>
                <a:cs typeface="Aptos"/>
              </a:defRPr>
            </a:pPr>
            <a:r>
              <a:rPr sz="1050" b="1">
                <a:solidFill>
                  <a:srgbClr val="2F6F73"/>
                </a:solidFill>
                <a:latin typeface="Aptos"/>
                <a:ea typeface="Aptos"/>
                <a:cs typeface="Aptos"/>
              </a:rPr>
              <a:t>这幅图是什么数据</a:t>
            </a:r>
          </a:p>
        </p:txBody>
      </p:sp>
      <p:sp>
        <p:nvSpPr>
          <p:cNvPr id="8" name="">
            <a:extLst xmlns:a="http://schemas.openxmlformats.org/drawingml/2006/main">
              <a:ext uri="{FF2B5EF4-FFF2-40B4-BE49-F238E27FC236}">
                <a16:creationId xmlns:a16="http://schemas.microsoft.com/office/drawing/2014/main" id="{2DF51E41-0F92-44C8-9BDE-C2640571B221}"/>
              </a:ext>
            </a:extLst>
          </p:cNvPr>
          <p:cNvSpPr>
            <a:spLocks xmlns:a="http://schemas.openxmlformats.org/drawingml/2006/main" noGrp="1"/>
          </p:cNvSpPr>
          <p:nvPr/>
        </p:nvSpPr>
        <p:spPr>
          <a:xfrm xmlns:a="http://schemas.openxmlformats.org/drawingml/2006/main">
            <a:off x="6743700" y="2000250"/>
            <a:ext cx="403860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88" b="0">
                <a:solidFill>
                  <a:srgbClr val="1D1B18"/>
                </a:solidFill>
                <a:latin typeface="Aptos"/>
                <a:ea typeface="Aptos"/>
                <a:cs typeface="Aptos"/>
              </a:defRPr>
            </a:pPr>
            <a:r>
              <a:rPr sz="1088" b="0">
                <a:solidFill>
                  <a:srgbClr val="1D1B18"/>
                </a:solidFill>
                <a:latin typeface="Aptos"/>
                <a:ea typeface="Aptos"/>
                <a:cs typeface="Aptos"/>
              </a:rPr>
              <a:t>从 fig1_event_coupling.csv 提取的事件指标。Niño-3 表示海温强度，u10 表示 10 米纬向风，SOI 表示南方涛动指数。</a:t>
            </a:r>
          </a:p>
        </p:txBody>
      </p:sp>
      <p:sp>
        <p:nvSpPr>
          <p:cNvPr id="9" name="">
            <a:extLst xmlns:a="http://schemas.openxmlformats.org/drawingml/2006/main">
              <a:ext uri="{FF2B5EF4-FFF2-40B4-BE49-F238E27FC236}">
                <a16:creationId xmlns:a16="http://schemas.microsoft.com/office/drawing/2014/main" id="{054EF77A-1569-462E-917E-06F09372F33F}"/>
              </a:ext>
            </a:extLst>
          </p:cNvPr>
          <p:cNvSpPr>
            <a:spLocks xmlns:a="http://schemas.openxmlformats.org/drawingml/2006/main" noGrp="1"/>
          </p:cNvSpPr>
          <p:nvPr/>
        </p:nvSpPr>
        <p:spPr>
          <a:xfrm xmlns:a="http://schemas.openxmlformats.org/drawingml/2006/main">
            <a:off x="6610350" y="2876550"/>
            <a:ext cx="4305300" cy="1123950"/>
          </a:xfrm>
          <a:prstGeom xmlns:a="http://schemas.openxmlformats.org/drawingml/2006/main" prst="rect">
            <a:avLst/>
          </a:prstGeom>
          <a:solidFill xmlns:a="http://schemas.openxmlformats.org/drawingml/2006/main">
            <a:srgbClr val="EDF3EF"/>
          </a:solidFill>
          <a:ln xmlns:a="http://schemas.openxmlformats.org/drawingml/2006/main" w="7620">
            <a:solidFill>
              <a:srgbClr val="D8D1C4"/>
            </a:solidFill>
            <a:prstDash val="solid"/>
          </a:ln>
        </p:spPr>
      </p:sp>
      <p:sp>
        <p:nvSpPr>
          <p:cNvPr id="10" name="">
            <a:extLst xmlns:a="http://schemas.openxmlformats.org/drawingml/2006/main">
              <a:ext uri="{FF2B5EF4-FFF2-40B4-BE49-F238E27FC236}">
                <a16:creationId xmlns:a16="http://schemas.microsoft.com/office/drawing/2014/main" id="{EFAE1772-4DD9-4FF4-9FFB-9D029933679A}"/>
              </a:ext>
            </a:extLst>
          </p:cNvPr>
          <p:cNvSpPr>
            <a:spLocks xmlns:a="http://schemas.openxmlformats.org/drawingml/2006/main" noGrp="1"/>
          </p:cNvSpPr>
          <p:nvPr/>
        </p:nvSpPr>
        <p:spPr>
          <a:xfrm xmlns:a="http://schemas.openxmlformats.org/drawingml/2006/main">
            <a:off x="6743700" y="2990850"/>
            <a:ext cx="40386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2F6F73"/>
                </a:solidFill>
                <a:latin typeface="Aptos"/>
                <a:ea typeface="Aptos"/>
                <a:cs typeface="Aptos"/>
              </a:defRPr>
            </a:pPr>
            <a:r>
              <a:rPr sz="1050" b="1">
                <a:solidFill>
                  <a:srgbClr val="2F6F73"/>
                </a:solidFill>
                <a:latin typeface="Aptos"/>
                <a:ea typeface="Aptos"/>
                <a:cs typeface="Aptos"/>
              </a:rPr>
              <a:t>它反映了什么</a:t>
            </a:r>
          </a:p>
        </p:txBody>
      </p:sp>
      <p:sp>
        <p:nvSpPr>
          <p:cNvPr id="11" name="">
            <a:extLst xmlns:a="http://schemas.openxmlformats.org/drawingml/2006/main">
              <a:ext uri="{FF2B5EF4-FFF2-40B4-BE49-F238E27FC236}">
                <a16:creationId xmlns:a16="http://schemas.microsoft.com/office/drawing/2014/main" id="{6545699C-44E0-47F9-8D3E-430FB1D319CF}"/>
              </a:ext>
            </a:extLst>
          </p:cNvPr>
          <p:cNvSpPr>
            <a:spLocks xmlns:a="http://schemas.openxmlformats.org/drawingml/2006/main" noGrp="1"/>
          </p:cNvSpPr>
          <p:nvPr/>
        </p:nvSpPr>
        <p:spPr>
          <a:xfrm xmlns:a="http://schemas.openxmlformats.org/drawingml/2006/main">
            <a:off x="6743700" y="3276600"/>
            <a:ext cx="403860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88" b="0">
                <a:solidFill>
                  <a:srgbClr val="1D1B18"/>
                </a:solidFill>
                <a:latin typeface="Aptos"/>
                <a:ea typeface="Aptos"/>
                <a:cs typeface="Aptos"/>
              </a:defRPr>
            </a:pPr>
            <a:r>
              <a:rPr sz="1088" b="0">
                <a:solidFill>
                  <a:srgbClr val="1D1B18"/>
                </a:solidFill>
                <a:latin typeface="Aptos"/>
                <a:ea typeface="Aptos"/>
                <a:cs typeface="Aptos"/>
              </a:rPr>
              <a:t>2023 年 u10 响应比约 0.27，SOI 响应比约 0.31，即大气响应只有历史强厄尔尼诺期望值的大约三分之一。</a:t>
            </a:r>
          </a:p>
        </p:txBody>
      </p:sp>
      <p:sp>
        <p:nvSpPr>
          <p:cNvPr id="12" name="">
            <a:extLst xmlns:a="http://schemas.openxmlformats.org/drawingml/2006/main">
              <a:ext uri="{FF2B5EF4-FFF2-40B4-BE49-F238E27FC236}">
                <a16:creationId xmlns:a16="http://schemas.microsoft.com/office/drawing/2014/main" id="{5D76430B-44D1-4C8D-8148-E958DBB663FB}"/>
              </a:ext>
            </a:extLst>
          </p:cNvPr>
          <p:cNvSpPr>
            <a:spLocks xmlns:a="http://schemas.openxmlformats.org/drawingml/2006/main" noGrp="1"/>
          </p:cNvSpPr>
          <p:nvPr/>
        </p:nvSpPr>
        <p:spPr>
          <a:xfrm xmlns:a="http://schemas.openxmlformats.org/drawingml/2006/main">
            <a:off x="6610350" y="4152900"/>
            <a:ext cx="4305300" cy="1123950"/>
          </a:xfrm>
          <a:prstGeom xmlns:a="http://schemas.openxmlformats.org/drawingml/2006/main" prst="rect">
            <a:avLst/>
          </a:prstGeom>
          <a:solidFill xmlns:a="http://schemas.openxmlformats.org/drawingml/2006/main">
            <a:srgbClr val="F5E5DF"/>
          </a:solidFill>
          <a:ln xmlns:a="http://schemas.openxmlformats.org/drawingml/2006/main" w="7620">
            <a:solidFill>
              <a:srgbClr val="D8D1C4"/>
            </a:solidFill>
            <a:prstDash val="solid"/>
          </a:ln>
        </p:spPr>
      </p:sp>
      <p:sp>
        <p:nvSpPr>
          <p:cNvPr id="13" name="">
            <a:extLst xmlns:a="http://schemas.openxmlformats.org/drawingml/2006/main">
              <a:ext uri="{FF2B5EF4-FFF2-40B4-BE49-F238E27FC236}">
                <a16:creationId xmlns:a16="http://schemas.microsoft.com/office/drawing/2014/main" id="{B3FE471C-D823-4F50-A35F-7DF0C78F6684}"/>
              </a:ext>
            </a:extLst>
          </p:cNvPr>
          <p:cNvSpPr>
            <a:spLocks xmlns:a="http://schemas.openxmlformats.org/drawingml/2006/main" noGrp="1"/>
          </p:cNvSpPr>
          <p:nvPr/>
        </p:nvSpPr>
        <p:spPr>
          <a:xfrm xmlns:a="http://schemas.openxmlformats.org/drawingml/2006/main">
            <a:off x="6743700" y="4267200"/>
            <a:ext cx="40386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2F6F73"/>
                </a:solidFill>
                <a:latin typeface="Aptos"/>
                <a:ea typeface="Aptos"/>
                <a:cs typeface="Aptos"/>
              </a:defRPr>
            </a:pPr>
            <a:r>
              <a:rPr sz="1050" b="1">
                <a:solidFill>
                  <a:srgbClr val="2F6F73"/>
                </a:solidFill>
                <a:latin typeface="Aptos"/>
                <a:ea typeface="Aptos"/>
                <a:cs typeface="Aptos"/>
              </a:rPr>
              <a:t>对应原文与我的创新</a:t>
            </a:r>
          </a:p>
        </p:txBody>
      </p:sp>
      <p:sp>
        <p:nvSpPr>
          <p:cNvPr id="14" name="">
            <a:extLst xmlns:a="http://schemas.openxmlformats.org/drawingml/2006/main">
              <a:ext uri="{FF2B5EF4-FFF2-40B4-BE49-F238E27FC236}">
                <a16:creationId xmlns:a16="http://schemas.microsoft.com/office/drawing/2014/main" id="{A0A7F7D7-75D0-41CA-B51E-5B99349A6B9E}"/>
              </a:ext>
            </a:extLst>
          </p:cNvPr>
          <p:cNvSpPr>
            <a:spLocks xmlns:a="http://schemas.openxmlformats.org/drawingml/2006/main" noGrp="1"/>
          </p:cNvSpPr>
          <p:nvPr/>
        </p:nvSpPr>
        <p:spPr>
          <a:xfrm xmlns:a="http://schemas.openxmlformats.org/drawingml/2006/main">
            <a:off x="6743700" y="4552950"/>
            <a:ext cx="403860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88" b="0">
                <a:solidFill>
                  <a:srgbClr val="1D1B18"/>
                </a:solidFill>
                <a:latin typeface="Aptos"/>
                <a:ea typeface="Aptos"/>
                <a:cs typeface="Aptos"/>
              </a:defRPr>
            </a:pPr>
            <a:r>
              <a:rPr sz="1088" b="0">
                <a:solidFill>
                  <a:srgbClr val="1D1B18"/>
                </a:solidFill>
                <a:latin typeface="Aptos"/>
                <a:ea typeface="Aptos"/>
                <a:cs typeface="Aptos"/>
              </a:rPr>
              <a:t>对应原文 Fig. 1 的“强海温、弱大气”结论。我的创新是把 observed / expected response 思路扩展到 AMJ/JJA/SON/DJF 的季节尺度，而不是只做全年单点对比。</a:t>
            </a:r>
          </a:p>
        </p:txBody>
      </p:sp>
      <p:sp>
        <p:nvSpPr>
          <p:cNvPr id="15" name="">
            <a:extLst xmlns:a="http://schemas.openxmlformats.org/drawingml/2006/main">
              <a:ext uri="{FF2B5EF4-FFF2-40B4-BE49-F238E27FC236}">
                <a16:creationId xmlns:a16="http://schemas.microsoft.com/office/drawing/2014/main" id="{19D0F545-CFDD-4A93-A45D-78D59067C7CA}"/>
              </a:ext>
            </a:extLst>
          </p:cNvPr>
          <p:cNvSpPr>
            <a:spLocks xmlns:a="http://schemas.openxmlformats.org/drawingml/2006/main" noGrp="1"/>
          </p:cNvSpPr>
          <p:nvPr/>
        </p:nvSpPr>
        <p:spPr>
          <a:xfrm xmlns:a="http://schemas.openxmlformats.org/drawingml/2006/main">
            <a:off x="552450" y="6477000"/>
            <a:ext cx="106680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5D574F"/>
                </a:solidFill>
                <a:latin typeface="Aptos"/>
                <a:ea typeface="Aptos"/>
                <a:cs typeface="Aptos"/>
              </a:defRPr>
            </a:pPr>
            <a:r>
              <a:rPr sz="788" b="0">
                <a:solidFill>
                  <a:srgbClr val="5D574F"/>
                </a:solidFill>
                <a:latin typeface="Aptos"/>
                <a:ea typeface="Aptos"/>
                <a:cs typeface="Aptos"/>
              </a:rPr>
              <a:t>Derived table: data/derived/peng2025_repro/tables/fig1_event_coupling.csv.</a:t>
            </a:r>
          </a:p>
        </p:txBody>
      </p:sp>
    </p:spTree>
    <p:extLst>
      <p:ext uri="{BB962C8B-B14F-4D97-AF65-F5344CB8AC3E}">
        <p14:creationId xmlns:p14="http://schemas.microsoft.com/office/powerpoint/2010/main" val="10502332"/>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EC8BCA2C-36E3-4067-B314-54EA10F09ED6}"/>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3EA"/>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6C16D1CC-ECB5-42E3-819E-8401CF3E51A7}"/>
              </a:ext>
            </a:extLst>
          </p:cNvPr>
          <p:cNvSpPr>
            <a:spLocks xmlns:a="http://schemas.openxmlformats.org/drawingml/2006/main" noGrp="1"/>
          </p:cNvSpPr>
          <p:nvPr/>
        </p:nvSpPr>
        <p:spPr>
          <a:xfrm xmlns:a="http://schemas.openxmlformats.org/drawingml/2006/main">
            <a:off x="552450" y="285750"/>
            <a:ext cx="3429000" cy="23812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CC5A43"/>
                </a:solidFill>
                <a:latin typeface="Aptos"/>
                <a:ea typeface="Aptos"/>
                <a:cs typeface="Aptos"/>
              </a:defRPr>
            </a:pPr>
            <a:r>
              <a:rPr sz="1050" b="1">
                <a:solidFill>
                  <a:srgbClr val="CC5A43"/>
                </a:solidFill>
                <a:latin typeface="Aptos"/>
                <a:ea typeface="Aptos"/>
                <a:cs typeface="Aptos"/>
              </a:rPr>
              <a:t>原文复现 Fig. 2</a:t>
            </a:r>
          </a:p>
        </p:txBody>
      </p:sp>
      <p:sp>
        <p:nvSpPr>
          <p:cNvPr id="3" name="">
            <a:extLst xmlns:a="http://schemas.openxmlformats.org/drawingml/2006/main">
              <a:ext uri="{FF2B5EF4-FFF2-40B4-BE49-F238E27FC236}">
                <a16:creationId xmlns:a16="http://schemas.microsoft.com/office/drawing/2014/main" id="{69C42040-43EC-4733-9249-2FF8622011B0}"/>
              </a:ext>
            </a:extLst>
          </p:cNvPr>
          <p:cNvSpPr>
            <a:spLocks xmlns:a="http://schemas.openxmlformats.org/drawingml/2006/main" noGrp="1"/>
          </p:cNvSpPr>
          <p:nvPr/>
        </p:nvSpPr>
        <p:spPr>
          <a:xfrm xmlns:a="http://schemas.openxmlformats.org/drawingml/2006/main">
            <a:off x="552450" y="609600"/>
            <a:ext cx="104775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175" b="1">
                <a:solidFill>
                  <a:srgbClr val="1D1B18"/>
                </a:solidFill>
                <a:latin typeface="Aptos Display"/>
                <a:ea typeface="Aptos Display"/>
                <a:cs typeface="Aptos Display"/>
              </a:defRPr>
            </a:pPr>
            <a:r>
              <a:rPr sz="2175" b="1">
                <a:solidFill>
                  <a:srgbClr val="1D1B18"/>
                </a:solidFill>
                <a:latin typeface="Aptos Display"/>
                <a:ea typeface="Aptos Display"/>
                <a:cs typeface="Aptos Display"/>
              </a:rPr>
              <a:t>图中数据名称：赤道太平洋传播、次表层热结构和海洋动力诊断</a:t>
            </a:r>
          </a:p>
        </p:txBody>
      </p:sp>
      <p:sp>
        <p:nvSpPr>
          <p:cNvPr id="4" name="">
            <a:extLst xmlns:a="http://schemas.openxmlformats.org/drawingml/2006/main">
              <a:ext uri="{FF2B5EF4-FFF2-40B4-BE49-F238E27FC236}">
                <a16:creationId xmlns:a16="http://schemas.microsoft.com/office/drawing/2014/main" id="{B6C5A823-C665-4926-8ED9-8609037DB62C}"/>
              </a:ext>
            </a:extLst>
          </p:cNvPr>
          <p:cNvSpPr>
            <a:spLocks xmlns:a="http://schemas.openxmlformats.org/drawingml/2006/main" noGrp="1"/>
          </p:cNvSpPr>
          <p:nvPr/>
        </p:nvSpPr>
        <p:spPr>
          <a:xfrm xmlns:a="http://schemas.openxmlformats.org/drawingml/2006/main">
            <a:off x="552450" y="1409700"/>
            <a:ext cx="10763250" cy="14288"/>
          </a:xfrm>
          <a:prstGeom xmlns:a="http://schemas.openxmlformats.org/drawingml/2006/main" prst="rect">
            <a:avLst/>
          </a:prstGeom>
          <a:solidFill xmlns:a="http://schemas.openxmlformats.org/drawingml/2006/main">
            <a:srgbClr val="D8D1C4"/>
          </a:solidFill>
          <a:ln xmlns:a="http://schemas.openxmlformats.org/drawingml/2006/main" w="0">
            <a:solidFill>
              <a:srgbClr val="000000">
                <a:alpha val="0"/>
              </a:srgbClr>
            </a:solidFill>
            <a:prstDash val="solid"/>
          </a:ln>
        </p:spPr>
      </p:sp>
      <p:pic>
        <p:nvPicPr>
          <p:cNvPr id="5" name=""/>
          <p:cNvPicPr>
            <a:picLocks xmlns:a="http://schemas.openxmlformats.org/drawingml/2006/main" noChangeAspect="1"/>
          </p:cNvPicPr>
          <p:nvPr/>
        </p:nvPicPr>
        <p:blipFill>
          <a:blip xmlns:r="http://schemas.openxmlformats.org/officeDocument/2006/relationships" xmlns:a="http://schemas.openxmlformats.org/drawingml/2006/main" r:embed="R5c7d0b11b45f4a1b"/>
          <a:stretch xmlns:a="http://schemas.openxmlformats.org/drawingml/2006/main"/>
        </p:blipFill>
        <p:spPr>
          <a:xfrm xmlns:a="http://schemas.openxmlformats.org/drawingml/2006/main">
            <a:off x="1953807" y="1733550"/>
            <a:ext cx="2950387" cy="34861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C82778C9-EEFD-433E-BD83-09FDD0F910B9}"/>
              </a:ext>
            </a:extLst>
          </p:cNvPr>
          <p:cNvSpPr>
            <a:spLocks xmlns:a="http://schemas.openxmlformats.org/drawingml/2006/main" noGrp="1"/>
          </p:cNvSpPr>
          <p:nvPr/>
        </p:nvSpPr>
        <p:spPr>
          <a:xfrm xmlns:a="http://schemas.openxmlformats.org/drawingml/2006/main">
            <a:off x="6610350" y="1600200"/>
            <a:ext cx="4305300" cy="1123950"/>
          </a:xfrm>
          <a:prstGeom xmlns:a="http://schemas.openxmlformats.org/drawingml/2006/main" prst="rect">
            <a:avLst/>
          </a:prstGeom>
          <a:solidFill xmlns:a="http://schemas.openxmlformats.org/drawingml/2006/main">
            <a:srgbClr val="F5E5DF"/>
          </a:solidFill>
          <a:ln xmlns:a="http://schemas.openxmlformats.org/drawingml/2006/main" w="7620">
            <a:solidFill>
              <a:srgbClr val="D8D1C4"/>
            </a:solidFill>
            <a:prstDash val="solid"/>
          </a:ln>
        </p:spPr>
      </p:sp>
      <p:sp>
        <p:nvSpPr>
          <p:cNvPr id="7" name="">
            <a:extLst xmlns:a="http://schemas.openxmlformats.org/drawingml/2006/main">
              <a:ext uri="{FF2B5EF4-FFF2-40B4-BE49-F238E27FC236}">
                <a16:creationId xmlns:a16="http://schemas.microsoft.com/office/drawing/2014/main" id="{53BA0EA9-BC65-4591-820F-64226F10EEC8}"/>
              </a:ext>
            </a:extLst>
          </p:cNvPr>
          <p:cNvSpPr>
            <a:spLocks xmlns:a="http://schemas.openxmlformats.org/drawingml/2006/main" noGrp="1"/>
          </p:cNvSpPr>
          <p:nvPr/>
        </p:nvSpPr>
        <p:spPr>
          <a:xfrm xmlns:a="http://schemas.openxmlformats.org/drawingml/2006/main">
            <a:off x="6743700" y="1714500"/>
            <a:ext cx="40386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2F6F73"/>
                </a:solidFill>
                <a:latin typeface="Aptos"/>
                <a:ea typeface="Aptos"/>
                <a:cs typeface="Aptos"/>
              </a:defRPr>
            </a:pPr>
            <a:r>
              <a:rPr sz="1050" b="1">
                <a:solidFill>
                  <a:srgbClr val="2F6F73"/>
                </a:solidFill>
                <a:latin typeface="Aptos"/>
                <a:ea typeface="Aptos"/>
                <a:cs typeface="Aptos"/>
              </a:rPr>
              <a:t>这幅图是什么数据</a:t>
            </a:r>
          </a:p>
        </p:txBody>
      </p:sp>
      <p:sp>
        <p:nvSpPr>
          <p:cNvPr id="8" name="">
            <a:extLst xmlns:a="http://schemas.openxmlformats.org/drawingml/2006/main">
              <a:ext uri="{FF2B5EF4-FFF2-40B4-BE49-F238E27FC236}">
                <a16:creationId xmlns:a16="http://schemas.microsoft.com/office/drawing/2014/main" id="{E98D9E1E-DD37-46FA-887A-BD6F0E4E19D0}"/>
              </a:ext>
            </a:extLst>
          </p:cNvPr>
          <p:cNvSpPr>
            <a:spLocks xmlns:a="http://schemas.openxmlformats.org/drawingml/2006/main" noGrp="1"/>
          </p:cNvSpPr>
          <p:nvPr/>
        </p:nvSpPr>
        <p:spPr>
          <a:xfrm xmlns:a="http://schemas.openxmlformats.org/drawingml/2006/main">
            <a:off x="6743700" y="2000250"/>
            <a:ext cx="403860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88" b="0">
                <a:solidFill>
                  <a:srgbClr val="1D1B18"/>
                </a:solidFill>
                <a:latin typeface="Aptos"/>
                <a:ea typeface="Aptos"/>
                <a:cs typeface="Aptos"/>
              </a:defRPr>
            </a:pPr>
            <a:r>
              <a:rPr sz="1088" b="0">
                <a:solidFill>
                  <a:srgbClr val="1D1B18"/>
                </a:solidFill>
                <a:latin typeface="Aptos"/>
                <a:ea typeface="Aptos"/>
                <a:cs typeface="Aptos"/>
              </a:rPr>
              <a:t>Peng et al. Fig. 2 的赤道剖面和时间-经度诊断，展示海温、次表层热异常、传播特征和风应力相关信号。</a:t>
            </a:r>
          </a:p>
        </p:txBody>
      </p:sp>
      <p:sp>
        <p:nvSpPr>
          <p:cNvPr id="9" name="">
            <a:extLst xmlns:a="http://schemas.openxmlformats.org/drawingml/2006/main">
              <a:ext uri="{FF2B5EF4-FFF2-40B4-BE49-F238E27FC236}">
                <a16:creationId xmlns:a16="http://schemas.microsoft.com/office/drawing/2014/main" id="{F37788EB-B3A8-4F24-85D2-B4D16C71448A}"/>
              </a:ext>
            </a:extLst>
          </p:cNvPr>
          <p:cNvSpPr>
            <a:spLocks xmlns:a="http://schemas.openxmlformats.org/drawingml/2006/main" noGrp="1"/>
          </p:cNvSpPr>
          <p:nvPr/>
        </p:nvSpPr>
        <p:spPr>
          <a:xfrm xmlns:a="http://schemas.openxmlformats.org/drawingml/2006/main">
            <a:off x="6610350" y="2876550"/>
            <a:ext cx="4305300" cy="1123950"/>
          </a:xfrm>
          <a:prstGeom xmlns:a="http://schemas.openxmlformats.org/drawingml/2006/main" prst="rect">
            <a:avLst/>
          </a:prstGeom>
          <a:solidFill xmlns:a="http://schemas.openxmlformats.org/drawingml/2006/main">
            <a:srgbClr val="EDF3EF"/>
          </a:solidFill>
          <a:ln xmlns:a="http://schemas.openxmlformats.org/drawingml/2006/main" w="7620">
            <a:solidFill>
              <a:srgbClr val="D8D1C4"/>
            </a:solidFill>
            <a:prstDash val="solid"/>
          </a:ln>
        </p:spPr>
      </p:sp>
      <p:sp>
        <p:nvSpPr>
          <p:cNvPr id="10" name="">
            <a:extLst xmlns:a="http://schemas.openxmlformats.org/drawingml/2006/main">
              <a:ext uri="{FF2B5EF4-FFF2-40B4-BE49-F238E27FC236}">
                <a16:creationId xmlns:a16="http://schemas.microsoft.com/office/drawing/2014/main" id="{9E0BC4FE-E232-4978-BB55-EE232DEC0A7F}"/>
              </a:ext>
            </a:extLst>
          </p:cNvPr>
          <p:cNvSpPr>
            <a:spLocks xmlns:a="http://schemas.openxmlformats.org/drawingml/2006/main" noGrp="1"/>
          </p:cNvSpPr>
          <p:nvPr/>
        </p:nvSpPr>
        <p:spPr>
          <a:xfrm xmlns:a="http://schemas.openxmlformats.org/drawingml/2006/main">
            <a:off x="6743700" y="2990850"/>
            <a:ext cx="40386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2F6F73"/>
                </a:solidFill>
                <a:latin typeface="Aptos"/>
                <a:ea typeface="Aptos"/>
                <a:cs typeface="Aptos"/>
              </a:defRPr>
            </a:pPr>
            <a:r>
              <a:rPr sz="1050" b="1">
                <a:solidFill>
                  <a:srgbClr val="2F6F73"/>
                </a:solidFill>
                <a:latin typeface="Aptos"/>
                <a:ea typeface="Aptos"/>
                <a:cs typeface="Aptos"/>
              </a:rPr>
              <a:t>它反映了什么</a:t>
            </a:r>
          </a:p>
        </p:txBody>
      </p:sp>
      <p:sp>
        <p:nvSpPr>
          <p:cNvPr id="11" name="">
            <a:extLst xmlns:a="http://schemas.openxmlformats.org/drawingml/2006/main">
              <a:ext uri="{FF2B5EF4-FFF2-40B4-BE49-F238E27FC236}">
                <a16:creationId xmlns:a16="http://schemas.microsoft.com/office/drawing/2014/main" id="{0C526685-9869-4818-9F06-D3A9559D38BD}"/>
              </a:ext>
            </a:extLst>
          </p:cNvPr>
          <p:cNvSpPr>
            <a:spLocks xmlns:a="http://schemas.openxmlformats.org/drawingml/2006/main" noGrp="1"/>
          </p:cNvSpPr>
          <p:nvPr/>
        </p:nvSpPr>
        <p:spPr>
          <a:xfrm xmlns:a="http://schemas.openxmlformats.org/drawingml/2006/main">
            <a:off x="6743700" y="3276600"/>
            <a:ext cx="403860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88" b="0">
                <a:solidFill>
                  <a:srgbClr val="1D1B18"/>
                </a:solidFill>
                <a:latin typeface="Aptos"/>
                <a:ea typeface="Aptos"/>
                <a:cs typeface="Aptos"/>
              </a:defRPr>
            </a:pPr>
            <a:r>
              <a:rPr sz="1088" b="0">
                <a:solidFill>
                  <a:srgbClr val="1D1B18"/>
                </a:solidFill>
                <a:latin typeface="Aptos"/>
                <a:ea typeface="Aptos"/>
                <a:cs typeface="Aptos"/>
              </a:rPr>
              <a:t>原文用这组图证明 2023/24 强海温不是偶然表层变暖，而是受到赤道太平洋海洋动力过程支持。</a:t>
            </a:r>
          </a:p>
        </p:txBody>
      </p:sp>
      <p:sp>
        <p:nvSpPr>
          <p:cNvPr id="12" name="">
            <a:extLst xmlns:a="http://schemas.openxmlformats.org/drawingml/2006/main">
              <a:ext uri="{FF2B5EF4-FFF2-40B4-BE49-F238E27FC236}">
                <a16:creationId xmlns:a16="http://schemas.microsoft.com/office/drawing/2014/main" id="{8F69908D-DCF9-4911-A154-C899D05FDD63}"/>
              </a:ext>
            </a:extLst>
          </p:cNvPr>
          <p:cNvSpPr>
            <a:spLocks xmlns:a="http://schemas.openxmlformats.org/drawingml/2006/main" noGrp="1"/>
          </p:cNvSpPr>
          <p:nvPr/>
        </p:nvSpPr>
        <p:spPr>
          <a:xfrm xmlns:a="http://schemas.openxmlformats.org/drawingml/2006/main">
            <a:off x="6610350" y="4152900"/>
            <a:ext cx="4305300" cy="1123950"/>
          </a:xfrm>
          <a:prstGeom xmlns:a="http://schemas.openxmlformats.org/drawingml/2006/main" prst="rect">
            <a:avLst/>
          </a:prstGeom>
          <a:solidFill xmlns:a="http://schemas.openxmlformats.org/drawingml/2006/main">
            <a:srgbClr val="F5E5DF"/>
          </a:solidFill>
          <a:ln xmlns:a="http://schemas.openxmlformats.org/drawingml/2006/main" w="7620">
            <a:solidFill>
              <a:srgbClr val="D8D1C4"/>
            </a:solidFill>
            <a:prstDash val="solid"/>
          </a:ln>
        </p:spPr>
      </p:sp>
      <p:sp>
        <p:nvSpPr>
          <p:cNvPr id="13" name="">
            <a:extLst xmlns:a="http://schemas.openxmlformats.org/drawingml/2006/main">
              <a:ext uri="{FF2B5EF4-FFF2-40B4-BE49-F238E27FC236}">
                <a16:creationId xmlns:a16="http://schemas.microsoft.com/office/drawing/2014/main" id="{F82B04B8-C99D-45CC-A543-DE471238C38C}"/>
              </a:ext>
            </a:extLst>
          </p:cNvPr>
          <p:cNvSpPr>
            <a:spLocks xmlns:a="http://schemas.openxmlformats.org/drawingml/2006/main" noGrp="1"/>
          </p:cNvSpPr>
          <p:nvPr/>
        </p:nvSpPr>
        <p:spPr>
          <a:xfrm xmlns:a="http://schemas.openxmlformats.org/drawingml/2006/main">
            <a:off x="6743700" y="4267200"/>
            <a:ext cx="40386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2F6F73"/>
                </a:solidFill>
                <a:latin typeface="Aptos"/>
                <a:ea typeface="Aptos"/>
                <a:cs typeface="Aptos"/>
              </a:defRPr>
            </a:pPr>
            <a:r>
              <a:rPr sz="1050" b="1">
                <a:solidFill>
                  <a:srgbClr val="2F6F73"/>
                </a:solidFill>
                <a:latin typeface="Aptos"/>
                <a:ea typeface="Aptos"/>
                <a:cs typeface="Aptos"/>
              </a:rPr>
              <a:t>对应原文与我的创新</a:t>
            </a:r>
          </a:p>
        </p:txBody>
      </p:sp>
      <p:sp>
        <p:nvSpPr>
          <p:cNvPr id="14" name="">
            <a:extLst xmlns:a="http://schemas.openxmlformats.org/drawingml/2006/main">
              <a:ext uri="{FF2B5EF4-FFF2-40B4-BE49-F238E27FC236}">
                <a16:creationId xmlns:a16="http://schemas.microsoft.com/office/drawing/2014/main" id="{29B6F4ED-E386-41F2-89B7-828C4AA54970}"/>
              </a:ext>
            </a:extLst>
          </p:cNvPr>
          <p:cNvSpPr>
            <a:spLocks xmlns:a="http://schemas.openxmlformats.org/drawingml/2006/main" noGrp="1"/>
          </p:cNvSpPr>
          <p:nvPr/>
        </p:nvSpPr>
        <p:spPr>
          <a:xfrm xmlns:a="http://schemas.openxmlformats.org/drawingml/2006/main">
            <a:off x="6743700" y="4552950"/>
            <a:ext cx="403860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88" b="0">
                <a:solidFill>
                  <a:srgbClr val="1D1B18"/>
                </a:solidFill>
                <a:latin typeface="Aptos"/>
                <a:ea typeface="Aptos"/>
                <a:cs typeface="Aptos"/>
              </a:defRPr>
            </a:pPr>
            <a:r>
              <a:rPr sz="1088" b="0">
                <a:solidFill>
                  <a:srgbClr val="1D1B18"/>
                </a:solidFill>
                <a:latin typeface="Aptos"/>
                <a:ea typeface="Aptos"/>
                <a:cs typeface="Aptos"/>
              </a:rPr>
              <a:t>对应原文的海洋动力归因部分。本研究接受这个结论，并把研究焦点转向：既然海洋端足够强，为什么大气端没有同步跟上？</a:t>
            </a:r>
          </a:p>
        </p:txBody>
      </p:sp>
      <p:sp>
        <p:nvSpPr>
          <p:cNvPr id="15" name="">
            <a:extLst xmlns:a="http://schemas.openxmlformats.org/drawingml/2006/main">
              <a:ext uri="{FF2B5EF4-FFF2-40B4-BE49-F238E27FC236}">
                <a16:creationId xmlns:a16="http://schemas.microsoft.com/office/drawing/2014/main" id="{92B9AE73-75D0-4C13-91DC-FE23F3240E54}"/>
              </a:ext>
            </a:extLst>
          </p:cNvPr>
          <p:cNvSpPr>
            <a:spLocks xmlns:a="http://schemas.openxmlformats.org/drawingml/2006/main" noGrp="1"/>
          </p:cNvSpPr>
          <p:nvPr/>
        </p:nvSpPr>
        <p:spPr>
          <a:xfrm xmlns:a="http://schemas.openxmlformats.org/drawingml/2006/main">
            <a:off x="552450" y="6477000"/>
            <a:ext cx="106680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5D574F"/>
                </a:solidFill>
                <a:latin typeface="Aptos"/>
                <a:ea typeface="Aptos"/>
                <a:cs typeface="Aptos"/>
              </a:defRPr>
            </a:pPr>
            <a:r>
              <a:rPr sz="788" b="0">
                <a:solidFill>
                  <a:srgbClr val="5D574F"/>
                </a:solidFill>
                <a:latin typeface="Aptos"/>
                <a:ea typeface="Aptos"/>
                <a:cs typeface="Aptos"/>
              </a:rPr>
              <a:t>Data: Peng et al. source archive; local Fig2.png; table fig2_equatorial_summary.csv.</a:t>
            </a:r>
          </a:p>
        </p:txBody>
      </p:sp>
    </p:spTree>
    <p:extLst>
      <p:ext uri="{BB962C8B-B14F-4D97-AF65-F5344CB8AC3E}">
        <p14:creationId xmlns:p14="http://schemas.microsoft.com/office/powerpoint/2010/main" val="207934258"/>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FC8FD4FF-6D2B-4623-8A37-3B9FD05491A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3EA"/>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D7DCB1E4-C45F-4679-9F7D-E5125BAC514F}"/>
              </a:ext>
            </a:extLst>
          </p:cNvPr>
          <p:cNvSpPr>
            <a:spLocks xmlns:a="http://schemas.openxmlformats.org/drawingml/2006/main" noGrp="1"/>
          </p:cNvSpPr>
          <p:nvPr/>
        </p:nvSpPr>
        <p:spPr>
          <a:xfrm xmlns:a="http://schemas.openxmlformats.org/drawingml/2006/main">
            <a:off x="552450" y="285750"/>
            <a:ext cx="3429000" cy="23812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CC5A43"/>
                </a:solidFill>
                <a:latin typeface="Aptos"/>
                <a:ea typeface="Aptos"/>
                <a:cs typeface="Aptos"/>
              </a:defRPr>
            </a:pPr>
            <a:r>
              <a:rPr sz="1050" b="1">
                <a:solidFill>
                  <a:srgbClr val="CC5A43"/>
                </a:solidFill>
                <a:latin typeface="Aptos"/>
                <a:ea typeface="Aptos"/>
                <a:cs typeface="Aptos"/>
              </a:rPr>
              <a:t>原文复现 Fig. 3</a:t>
            </a:r>
          </a:p>
        </p:txBody>
      </p:sp>
      <p:sp>
        <p:nvSpPr>
          <p:cNvPr id="3" name="">
            <a:extLst xmlns:a="http://schemas.openxmlformats.org/drawingml/2006/main">
              <a:ext uri="{FF2B5EF4-FFF2-40B4-BE49-F238E27FC236}">
                <a16:creationId xmlns:a16="http://schemas.microsoft.com/office/drawing/2014/main" id="{3C2819E3-74EB-488B-B9BA-1EBA7F9F3A1D}"/>
              </a:ext>
            </a:extLst>
          </p:cNvPr>
          <p:cNvSpPr>
            <a:spLocks xmlns:a="http://schemas.openxmlformats.org/drawingml/2006/main" noGrp="1"/>
          </p:cNvSpPr>
          <p:nvPr/>
        </p:nvSpPr>
        <p:spPr>
          <a:xfrm xmlns:a="http://schemas.openxmlformats.org/drawingml/2006/main">
            <a:off x="552450" y="609600"/>
            <a:ext cx="104775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175" b="1">
                <a:solidFill>
                  <a:srgbClr val="1D1B18"/>
                </a:solidFill>
                <a:latin typeface="Aptos Display"/>
                <a:ea typeface="Aptos Display"/>
                <a:cs typeface="Aptos Display"/>
              </a:defRPr>
            </a:pPr>
            <a:r>
              <a:rPr sz="2175" b="1">
                <a:solidFill>
                  <a:srgbClr val="1D1B18"/>
                </a:solidFill>
                <a:latin typeface="Aptos Display"/>
                <a:ea typeface="Aptos Display"/>
                <a:cs typeface="Aptos Display"/>
              </a:rPr>
              <a:t>图中数据名称：AGCM 海温强迫实验中的风应力响应</a:t>
            </a:r>
          </a:p>
        </p:txBody>
      </p:sp>
      <p:sp>
        <p:nvSpPr>
          <p:cNvPr id="4" name="">
            <a:extLst xmlns:a="http://schemas.openxmlformats.org/drawingml/2006/main">
              <a:ext uri="{FF2B5EF4-FFF2-40B4-BE49-F238E27FC236}">
                <a16:creationId xmlns:a16="http://schemas.microsoft.com/office/drawing/2014/main" id="{7098C6B3-8116-41D8-9B6B-C5959A0195D8}"/>
              </a:ext>
            </a:extLst>
          </p:cNvPr>
          <p:cNvSpPr>
            <a:spLocks xmlns:a="http://schemas.openxmlformats.org/drawingml/2006/main" noGrp="1"/>
          </p:cNvSpPr>
          <p:nvPr/>
        </p:nvSpPr>
        <p:spPr>
          <a:xfrm xmlns:a="http://schemas.openxmlformats.org/drawingml/2006/main">
            <a:off x="552450" y="1409700"/>
            <a:ext cx="10763250" cy="14288"/>
          </a:xfrm>
          <a:prstGeom xmlns:a="http://schemas.openxmlformats.org/drawingml/2006/main" prst="rect">
            <a:avLst/>
          </a:prstGeom>
          <a:solidFill xmlns:a="http://schemas.openxmlformats.org/drawingml/2006/main">
            <a:srgbClr val="D8D1C4"/>
          </a:solidFill>
          <a:ln xmlns:a="http://schemas.openxmlformats.org/drawingml/2006/main" w="0">
            <a:solidFill>
              <a:srgbClr val="000000">
                <a:alpha val="0"/>
              </a:srgbClr>
            </a:solidFill>
            <a:prstDash val="solid"/>
          </a:ln>
        </p:spPr>
      </p:sp>
      <p:pic>
        <p:nvPicPr>
          <p:cNvPr id="5" name=""/>
          <p:cNvPicPr>
            <a:picLocks xmlns:a="http://schemas.openxmlformats.org/drawingml/2006/main" noChangeAspect="1"/>
          </p:cNvPicPr>
          <p:nvPr/>
        </p:nvPicPr>
        <p:blipFill>
          <a:blip xmlns:r="http://schemas.openxmlformats.org/officeDocument/2006/relationships" xmlns:a="http://schemas.openxmlformats.org/drawingml/2006/main" r:embed="Re7e1e98e9908479c"/>
          <a:stretch xmlns:a="http://schemas.openxmlformats.org/drawingml/2006/main"/>
        </p:blipFill>
        <p:spPr>
          <a:xfrm xmlns:a="http://schemas.openxmlformats.org/drawingml/2006/main">
            <a:off x="1220684" y="1733550"/>
            <a:ext cx="4416631" cy="34861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A4DD7534-3FFD-472A-91B7-77B14C8ED8C9}"/>
              </a:ext>
            </a:extLst>
          </p:cNvPr>
          <p:cNvSpPr>
            <a:spLocks xmlns:a="http://schemas.openxmlformats.org/drawingml/2006/main" noGrp="1"/>
          </p:cNvSpPr>
          <p:nvPr/>
        </p:nvSpPr>
        <p:spPr>
          <a:xfrm xmlns:a="http://schemas.openxmlformats.org/drawingml/2006/main">
            <a:off x="6610350" y="1600200"/>
            <a:ext cx="4305300" cy="1123950"/>
          </a:xfrm>
          <a:prstGeom xmlns:a="http://schemas.openxmlformats.org/drawingml/2006/main" prst="rect">
            <a:avLst/>
          </a:prstGeom>
          <a:solidFill xmlns:a="http://schemas.openxmlformats.org/drawingml/2006/main">
            <a:srgbClr val="F5E5DF"/>
          </a:solidFill>
          <a:ln xmlns:a="http://schemas.openxmlformats.org/drawingml/2006/main" w="7620">
            <a:solidFill>
              <a:srgbClr val="D8D1C4"/>
            </a:solidFill>
            <a:prstDash val="solid"/>
          </a:ln>
        </p:spPr>
      </p:sp>
      <p:sp>
        <p:nvSpPr>
          <p:cNvPr id="7" name="">
            <a:extLst xmlns:a="http://schemas.openxmlformats.org/drawingml/2006/main">
              <a:ext uri="{FF2B5EF4-FFF2-40B4-BE49-F238E27FC236}">
                <a16:creationId xmlns:a16="http://schemas.microsoft.com/office/drawing/2014/main" id="{CC72396E-635E-4643-97EB-901E052FE410}"/>
              </a:ext>
            </a:extLst>
          </p:cNvPr>
          <p:cNvSpPr>
            <a:spLocks xmlns:a="http://schemas.openxmlformats.org/drawingml/2006/main" noGrp="1"/>
          </p:cNvSpPr>
          <p:nvPr/>
        </p:nvSpPr>
        <p:spPr>
          <a:xfrm xmlns:a="http://schemas.openxmlformats.org/drawingml/2006/main">
            <a:off x="6743700" y="1714500"/>
            <a:ext cx="40386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2F6F73"/>
                </a:solidFill>
                <a:latin typeface="Aptos"/>
                <a:ea typeface="Aptos"/>
                <a:cs typeface="Aptos"/>
              </a:defRPr>
            </a:pPr>
            <a:r>
              <a:rPr sz="1050" b="1">
                <a:solidFill>
                  <a:srgbClr val="2F6F73"/>
                </a:solidFill>
                <a:latin typeface="Aptos"/>
                <a:ea typeface="Aptos"/>
                <a:cs typeface="Aptos"/>
              </a:rPr>
              <a:t>这幅图是什么数据</a:t>
            </a:r>
          </a:p>
        </p:txBody>
      </p:sp>
      <p:sp>
        <p:nvSpPr>
          <p:cNvPr id="8" name="">
            <a:extLst xmlns:a="http://schemas.openxmlformats.org/drawingml/2006/main">
              <a:ext uri="{FF2B5EF4-FFF2-40B4-BE49-F238E27FC236}">
                <a16:creationId xmlns:a16="http://schemas.microsoft.com/office/drawing/2014/main" id="{8AB7287F-BE8B-40D3-B819-A1FDF940E4A1}"/>
              </a:ext>
            </a:extLst>
          </p:cNvPr>
          <p:cNvSpPr>
            <a:spLocks xmlns:a="http://schemas.openxmlformats.org/drawingml/2006/main" noGrp="1"/>
          </p:cNvSpPr>
          <p:nvPr/>
        </p:nvSpPr>
        <p:spPr>
          <a:xfrm xmlns:a="http://schemas.openxmlformats.org/drawingml/2006/main">
            <a:off x="6743700" y="2000250"/>
            <a:ext cx="403860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88" b="0">
                <a:solidFill>
                  <a:srgbClr val="1D1B18"/>
                </a:solidFill>
                <a:latin typeface="Aptos"/>
                <a:ea typeface="Aptos"/>
                <a:cs typeface="Aptos"/>
              </a:defRPr>
            </a:pPr>
            <a:r>
              <a:rPr sz="1088" b="0">
                <a:solidFill>
                  <a:srgbClr val="1D1B18"/>
                </a:solidFill>
                <a:latin typeface="Aptos"/>
                <a:ea typeface="Aptos"/>
                <a:cs typeface="Aptos"/>
              </a:rPr>
              <a:t>AGCM 即大气环流模式实验。原文把全球 SST、太平洋 SST、印度洋/大西洋 SST 等边界条件分开，比较大气风应力响应。</a:t>
            </a:r>
          </a:p>
        </p:txBody>
      </p:sp>
      <p:sp>
        <p:nvSpPr>
          <p:cNvPr id="9" name="">
            <a:extLst xmlns:a="http://schemas.openxmlformats.org/drawingml/2006/main">
              <a:ext uri="{FF2B5EF4-FFF2-40B4-BE49-F238E27FC236}">
                <a16:creationId xmlns:a16="http://schemas.microsoft.com/office/drawing/2014/main" id="{2078DDF2-1D53-44EC-8567-BEDC54CDB115}"/>
              </a:ext>
            </a:extLst>
          </p:cNvPr>
          <p:cNvSpPr>
            <a:spLocks xmlns:a="http://schemas.openxmlformats.org/drawingml/2006/main" noGrp="1"/>
          </p:cNvSpPr>
          <p:nvPr/>
        </p:nvSpPr>
        <p:spPr>
          <a:xfrm xmlns:a="http://schemas.openxmlformats.org/drawingml/2006/main">
            <a:off x="6610350" y="2876550"/>
            <a:ext cx="4305300" cy="1123950"/>
          </a:xfrm>
          <a:prstGeom xmlns:a="http://schemas.openxmlformats.org/drawingml/2006/main" prst="rect">
            <a:avLst/>
          </a:prstGeom>
          <a:solidFill xmlns:a="http://schemas.openxmlformats.org/drawingml/2006/main">
            <a:srgbClr val="EDF3EF"/>
          </a:solidFill>
          <a:ln xmlns:a="http://schemas.openxmlformats.org/drawingml/2006/main" w="7620">
            <a:solidFill>
              <a:srgbClr val="D8D1C4"/>
            </a:solidFill>
            <a:prstDash val="solid"/>
          </a:ln>
        </p:spPr>
      </p:sp>
      <p:sp>
        <p:nvSpPr>
          <p:cNvPr id="10" name="">
            <a:extLst xmlns:a="http://schemas.openxmlformats.org/drawingml/2006/main">
              <a:ext uri="{FF2B5EF4-FFF2-40B4-BE49-F238E27FC236}">
                <a16:creationId xmlns:a16="http://schemas.microsoft.com/office/drawing/2014/main" id="{49E96BA1-F4FD-4EBE-97F6-8CDC7D97AB7A}"/>
              </a:ext>
            </a:extLst>
          </p:cNvPr>
          <p:cNvSpPr>
            <a:spLocks xmlns:a="http://schemas.openxmlformats.org/drawingml/2006/main" noGrp="1"/>
          </p:cNvSpPr>
          <p:nvPr/>
        </p:nvSpPr>
        <p:spPr>
          <a:xfrm xmlns:a="http://schemas.openxmlformats.org/drawingml/2006/main">
            <a:off x="6743700" y="2990850"/>
            <a:ext cx="40386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2F6F73"/>
                </a:solidFill>
                <a:latin typeface="Aptos"/>
                <a:ea typeface="Aptos"/>
                <a:cs typeface="Aptos"/>
              </a:defRPr>
            </a:pPr>
            <a:r>
              <a:rPr sz="1050" b="1">
                <a:solidFill>
                  <a:srgbClr val="2F6F73"/>
                </a:solidFill>
                <a:latin typeface="Aptos"/>
                <a:ea typeface="Aptos"/>
                <a:cs typeface="Aptos"/>
              </a:rPr>
              <a:t>它反映了什么</a:t>
            </a:r>
          </a:p>
        </p:txBody>
      </p:sp>
      <p:sp>
        <p:nvSpPr>
          <p:cNvPr id="11" name="">
            <a:extLst xmlns:a="http://schemas.openxmlformats.org/drawingml/2006/main">
              <a:ext uri="{FF2B5EF4-FFF2-40B4-BE49-F238E27FC236}">
                <a16:creationId xmlns:a16="http://schemas.microsoft.com/office/drawing/2014/main" id="{73FCE066-D66B-47E0-93F0-29B1F36158E5}"/>
              </a:ext>
            </a:extLst>
          </p:cNvPr>
          <p:cNvSpPr>
            <a:spLocks xmlns:a="http://schemas.openxmlformats.org/drawingml/2006/main" noGrp="1"/>
          </p:cNvSpPr>
          <p:nvPr/>
        </p:nvSpPr>
        <p:spPr>
          <a:xfrm xmlns:a="http://schemas.openxmlformats.org/drawingml/2006/main">
            <a:off x="6743700" y="3276600"/>
            <a:ext cx="403860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88" b="0">
                <a:solidFill>
                  <a:srgbClr val="1D1B18"/>
                </a:solidFill>
                <a:latin typeface="Aptos"/>
                <a:ea typeface="Aptos"/>
                <a:cs typeface="Aptos"/>
              </a:defRPr>
            </a:pPr>
            <a:r>
              <a:rPr sz="1088" b="0">
                <a:solidFill>
                  <a:srgbClr val="1D1B18"/>
                </a:solidFill>
                <a:latin typeface="Aptos"/>
                <a:ea typeface="Aptos"/>
                <a:cs typeface="Aptos"/>
              </a:rPr>
              <a:t>太平洋暖 SST 本应激发较强大气响应，但印度洋和大西洋背景可能提供相反或抵消作用。表格中 aPac 风应力为正，aIndAtl 风应力为负。</a:t>
            </a:r>
          </a:p>
        </p:txBody>
      </p:sp>
      <p:sp>
        <p:nvSpPr>
          <p:cNvPr id="12" name="">
            <a:extLst xmlns:a="http://schemas.openxmlformats.org/drawingml/2006/main">
              <a:ext uri="{FF2B5EF4-FFF2-40B4-BE49-F238E27FC236}">
                <a16:creationId xmlns:a16="http://schemas.microsoft.com/office/drawing/2014/main" id="{17BACDA6-F3B7-4ADB-9617-408981CC0CE2}"/>
              </a:ext>
            </a:extLst>
          </p:cNvPr>
          <p:cNvSpPr>
            <a:spLocks xmlns:a="http://schemas.openxmlformats.org/drawingml/2006/main" noGrp="1"/>
          </p:cNvSpPr>
          <p:nvPr/>
        </p:nvSpPr>
        <p:spPr>
          <a:xfrm xmlns:a="http://schemas.openxmlformats.org/drawingml/2006/main">
            <a:off x="6610350" y="4152900"/>
            <a:ext cx="4305300" cy="1123950"/>
          </a:xfrm>
          <a:prstGeom xmlns:a="http://schemas.openxmlformats.org/drawingml/2006/main" prst="rect">
            <a:avLst/>
          </a:prstGeom>
          <a:solidFill xmlns:a="http://schemas.openxmlformats.org/drawingml/2006/main">
            <a:srgbClr val="F5E5DF"/>
          </a:solidFill>
          <a:ln xmlns:a="http://schemas.openxmlformats.org/drawingml/2006/main" w="7620">
            <a:solidFill>
              <a:srgbClr val="D8D1C4"/>
            </a:solidFill>
            <a:prstDash val="solid"/>
          </a:ln>
        </p:spPr>
      </p:sp>
      <p:sp>
        <p:nvSpPr>
          <p:cNvPr id="13" name="">
            <a:extLst xmlns:a="http://schemas.openxmlformats.org/drawingml/2006/main">
              <a:ext uri="{FF2B5EF4-FFF2-40B4-BE49-F238E27FC236}">
                <a16:creationId xmlns:a16="http://schemas.microsoft.com/office/drawing/2014/main" id="{F15A6861-457D-4F09-9D11-8EDB3B193D69}"/>
              </a:ext>
            </a:extLst>
          </p:cNvPr>
          <p:cNvSpPr>
            <a:spLocks xmlns:a="http://schemas.openxmlformats.org/drawingml/2006/main" noGrp="1"/>
          </p:cNvSpPr>
          <p:nvPr/>
        </p:nvSpPr>
        <p:spPr>
          <a:xfrm xmlns:a="http://schemas.openxmlformats.org/drawingml/2006/main">
            <a:off x="6743700" y="4267200"/>
            <a:ext cx="40386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2F6F73"/>
                </a:solidFill>
                <a:latin typeface="Aptos"/>
                <a:ea typeface="Aptos"/>
                <a:cs typeface="Aptos"/>
              </a:defRPr>
            </a:pPr>
            <a:r>
              <a:rPr sz="1050" b="1">
                <a:solidFill>
                  <a:srgbClr val="2F6F73"/>
                </a:solidFill>
                <a:latin typeface="Aptos"/>
                <a:ea typeface="Aptos"/>
                <a:cs typeface="Aptos"/>
              </a:rPr>
              <a:t>对应原文与我的创新</a:t>
            </a:r>
          </a:p>
        </p:txBody>
      </p:sp>
      <p:sp>
        <p:nvSpPr>
          <p:cNvPr id="14" name="">
            <a:extLst xmlns:a="http://schemas.openxmlformats.org/drawingml/2006/main">
              <a:ext uri="{FF2B5EF4-FFF2-40B4-BE49-F238E27FC236}">
                <a16:creationId xmlns:a16="http://schemas.microsoft.com/office/drawing/2014/main" id="{FBFFB6A0-AF95-4C2F-AF7B-4AE45C98BCED}"/>
              </a:ext>
            </a:extLst>
          </p:cNvPr>
          <p:cNvSpPr>
            <a:spLocks xmlns:a="http://schemas.openxmlformats.org/drawingml/2006/main" noGrp="1"/>
          </p:cNvSpPr>
          <p:nvPr/>
        </p:nvSpPr>
        <p:spPr>
          <a:xfrm xmlns:a="http://schemas.openxmlformats.org/drawingml/2006/main">
            <a:off x="6743700" y="4552950"/>
            <a:ext cx="403860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88" b="0">
                <a:solidFill>
                  <a:srgbClr val="1D1B18"/>
                </a:solidFill>
                <a:latin typeface="Aptos"/>
                <a:ea typeface="Aptos"/>
                <a:cs typeface="Aptos"/>
              </a:defRPr>
            </a:pPr>
            <a:r>
              <a:rPr sz="1088" b="0">
                <a:solidFill>
                  <a:srgbClr val="1D1B18"/>
                </a:solidFill>
                <a:latin typeface="Aptos"/>
                <a:ea typeface="Aptos"/>
                <a:cs typeface="Aptos"/>
              </a:rPr>
              <a:t>对应原文外海盆调制思路。我的创新是先不用马上跑模式，而是用观测资料分季节诊断外海盆暖异常是否与弱大气响应同步出现。</a:t>
            </a:r>
          </a:p>
        </p:txBody>
      </p:sp>
      <p:sp>
        <p:nvSpPr>
          <p:cNvPr id="15" name="">
            <a:extLst xmlns:a="http://schemas.openxmlformats.org/drawingml/2006/main">
              <a:ext uri="{FF2B5EF4-FFF2-40B4-BE49-F238E27FC236}">
                <a16:creationId xmlns:a16="http://schemas.microsoft.com/office/drawing/2014/main" id="{DF95BE65-3D3F-482C-8236-409D751D9459}"/>
              </a:ext>
            </a:extLst>
          </p:cNvPr>
          <p:cNvSpPr>
            <a:spLocks xmlns:a="http://schemas.openxmlformats.org/drawingml/2006/main" noGrp="1"/>
          </p:cNvSpPr>
          <p:nvPr/>
        </p:nvSpPr>
        <p:spPr>
          <a:xfrm xmlns:a="http://schemas.openxmlformats.org/drawingml/2006/main">
            <a:off x="552450" y="6477000"/>
            <a:ext cx="106680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5D574F"/>
                </a:solidFill>
                <a:latin typeface="Aptos"/>
                <a:ea typeface="Aptos"/>
                <a:cs typeface="Aptos"/>
              </a:defRPr>
            </a:pPr>
            <a:r>
              <a:rPr sz="788" b="0">
                <a:solidFill>
                  <a:srgbClr val="5D574F"/>
                </a:solidFill>
                <a:latin typeface="Aptos"/>
                <a:ea typeface="Aptos"/>
                <a:cs typeface="Aptos"/>
              </a:rPr>
              <a:t>Data: Peng et al. source archive; table fig3_agcm_summary.csv.</a:t>
            </a:r>
          </a:p>
        </p:txBody>
      </p:sp>
    </p:spTree>
    <p:extLst>
      <p:ext uri="{BB962C8B-B14F-4D97-AF65-F5344CB8AC3E}">
        <p14:creationId xmlns:p14="http://schemas.microsoft.com/office/powerpoint/2010/main" val="1542187437"/>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3227464-4786-4369-9081-608224068DE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3EA"/>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959612C2-23B9-4AD9-80F0-05A58AB41E06}"/>
              </a:ext>
            </a:extLst>
          </p:cNvPr>
          <p:cNvSpPr>
            <a:spLocks xmlns:a="http://schemas.openxmlformats.org/drawingml/2006/main" noGrp="1"/>
          </p:cNvSpPr>
          <p:nvPr/>
        </p:nvSpPr>
        <p:spPr>
          <a:xfrm xmlns:a="http://schemas.openxmlformats.org/drawingml/2006/main">
            <a:off x="552450" y="285750"/>
            <a:ext cx="3429000" cy="23812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CC5A43"/>
                </a:solidFill>
                <a:latin typeface="Aptos"/>
                <a:ea typeface="Aptos"/>
                <a:cs typeface="Aptos"/>
              </a:defRPr>
            </a:pPr>
            <a:r>
              <a:rPr sz="1050" b="1">
                <a:solidFill>
                  <a:srgbClr val="CC5A43"/>
                </a:solidFill>
                <a:latin typeface="Aptos"/>
                <a:ea typeface="Aptos"/>
                <a:cs typeface="Aptos"/>
              </a:rPr>
              <a:t>原文复现 Fig. 4</a:t>
            </a:r>
          </a:p>
        </p:txBody>
      </p:sp>
      <p:sp>
        <p:nvSpPr>
          <p:cNvPr id="3" name="">
            <a:extLst xmlns:a="http://schemas.openxmlformats.org/drawingml/2006/main">
              <a:ext uri="{FF2B5EF4-FFF2-40B4-BE49-F238E27FC236}">
                <a16:creationId xmlns:a16="http://schemas.microsoft.com/office/drawing/2014/main" id="{3F9D678E-43C9-4719-B1B9-29B2CEBD8087}"/>
              </a:ext>
            </a:extLst>
          </p:cNvPr>
          <p:cNvSpPr>
            <a:spLocks xmlns:a="http://schemas.openxmlformats.org/drawingml/2006/main" noGrp="1"/>
          </p:cNvSpPr>
          <p:nvPr/>
        </p:nvSpPr>
        <p:spPr>
          <a:xfrm xmlns:a="http://schemas.openxmlformats.org/drawingml/2006/main">
            <a:off x="552450" y="609600"/>
            <a:ext cx="104775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175" b="1">
                <a:solidFill>
                  <a:srgbClr val="1D1B18"/>
                </a:solidFill>
                <a:latin typeface="Aptos Display"/>
                <a:ea typeface="Aptos Display"/>
                <a:cs typeface="Aptos Display"/>
              </a:defRPr>
            </a:pPr>
            <a:r>
              <a:rPr sz="2175" b="1">
                <a:solidFill>
                  <a:srgbClr val="1D1B18"/>
                </a:solidFill>
                <a:latin typeface="Aptos Display"/>
                <a:ea typeface="Aptos Display"/>
                <a:cs typeface="Aptos Display"/>
              </a:rPr>
              <a:t>图中数据名称：风应力实验对 Niño-3 海温发展的影响</a:t>
            </a:r>
          </a:p>
        </p:txBody>
      </p:sp>
      <p:sp>
        <p:nvSpPr>
          <p:cNvPr id="4" name="">
            <a:extLst xmlns:a="http://schemas.openxmlformats.org/drawingml/2006/main">
              <a:ext uri="{FF2B5EF4-FFF2-40B4-BE49-F238E27FC236}">
                <a16:creationId xmlns:a16="http://schemas.microsoft.com/office/drawing/2014/main" id="{74B0E352-2E49-4D50-931D-FA01DCB9BEBD}"/>
              </a:ext>
            </a:extLst>
          </p:cNvPr>
          <p:cNvSpPr>
            <a:spLocks xmlns:a="http://schemas.openxmlformats.org/drawingml/2006/main" noGrp="1"/>
          </p:cNvSpPr>
          <p:nvPr/>
        </p:nvSpPr>
        <p:spPr>
          <a:xfrm xmlns:a="http://schemas.openxmlformats.org/drawingml/2006/main">
            <a:off x="552450" y="1409700"/>
            <a:ext cx="10763250" cy="14288"/>
          </a:xfrm>
          <a:prstGeom xmlns:a="http://schemas.openxmlformats.org/drawingml/2006/main" prst="rect">
            <a:avLst/>
          </a:prstGeom>
          <a:solidFill xmlns:a="http://schemas.openxmlformats.org/drawingml/2006/main">
            <a:srgbClr val="D8D1C4"/>
          </a:solidFill>
          <a:ln xmlns:a="http://schemas.openxmlformats.org/drawingml/2006/main" w="0">
            <a:solidFill>
              <a:srgbClr val="000000">
                <a:alpha val="0"/>
              </a:srgbClr>
            </a:solidFill>
            <a:prstDash val="solid"/>
          </a:ln>
        </p:spPr>
      </p:sp>
      <p:pic>
        <p:nvPicPr>
          <p:cNvPr id="5" name=""/>
          <p:cNvPicPr>
            <a:picLocks xmlns:a="http://schemas.openxmlformats.org/drawingml/2006/main" noChangeAspect="1"/>
          </p:cNvPicPr>
          <p:nvPr/>
        </p:nvPicPr>
        <p:blipFill>
          <a:blip xmlns:r="http://schemas.openxmlformats.org/officeDocument/2006/relationships" xmlns:a="http://schemas.openxmlformats.org/drawingml/2006/main" r:embed="Rc8bb6bca3d3042ed"/>
          <a:stretch xmlns:a="http://schemas.openxmlformats.org/drawingml/2006/main"/>
        </p:blipFill>
        <p:spPr>
          <a:xfrm xmlns:a="http://schemas.openxmlformats.org/drawingml/2006/main">
            <a:off x="2114109" y="1733550"/>
            <a:ext cx="2629783" cy="34861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47BFB758-A462-4515-8665-DA31686A724C}"/>
              </a:ext>
            </a:extLst>
          </p:cNvPr>
          <p:cNvSpPr>
            <a:spLocks xmlns:a="http://schemas.openxmlformats.org/drawingml/2006/main" noGrp="1"/>
          </p:cNvSpPr>
          <p:nvPr/>
        </p:nvSpPr>
        <p:spPr>
          <a:xfrm xmlns:a="http://schemas.openxmlformats.org/drawingml/2006/main">
            <a:off x="6610350" y="1600200"/>
            <a:ext cx="4305300" cy="1123950"/>
          </a:xfrm>
          <a:prstGeom xmlns:a="http://schemas.openxmlformats.org/drawingml/2006/main" prst="rect">
            <a:avLst/>
          </a:prstGeom>
          <a:solidFill xmlns:a="http://schemas.openxmlformats.org/drawingml/2006/main">
            <a:srgbClr val="F5E5DF"/>
          </a:solidFill>
          <a:ln xmlns:a="http://schemas.openxmlformats.org/drawingml/2006/main" w="7620">
            <a:solidFill>
              <a:srgbClr val="D8D1C4"/>
            </a:solidFill>
            <a:prstDash val="solid"/>
          </a:ln>
        </p:spPr>
      </p:sp>
      <p:sp>
        <p:nvSpPr>
          <p:cNvPr id="7" name="">
            <a:extLst xmlns:a="http://schemas.openxmlformats.org/drawingml/2006/main">
              <a:ext uri="{FF2B5EF4-FFF2-40B4-BE49-F238E27FC236}">
                <a16:creationId xmlns:a16="http://schemas.microsoft.com/office/drawing/2014/main" id="{63DC4326-1BC7-430F-9086-3D3E16778AC3}"/>
              </a:ext>
            </a:extLst>
          </p:cNvPr>
          <p:cNvSpPr>
            <a:spLocks xmlns:a="http://schemas.openxmlformats.org/drawingml/2006/main" noGrp="1"/>
          </p:cNvSpPr>
          <p:nvPr/>
        </p:nvSpPr>
        <p:spPr>
          <a:xfrm xmlns:a="http://schemas.openxmlformats.org/drawingml/2006/main">
            <a:off x="6743700" y="1714500"/>
            <a:ext cx="40386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2F6F73"/>
                </a:solidFill>
                <a:latin typeface="Aptos"/>
                <a:ea typeface="Aptos"/>
                <a:cs typeface="Aptos"/>
              </a:defRPr>
            </a:pPr>
            <a:r>
              <a:rPr sz="1050" b="1">
                <a:solidFill>
                  <a:srgbClr val="2F6F73"/>
                </a:solidFill>
                <a:latin typeface="Aptos"/>
                <a:ea typeface="Aptos"/>
                <a:cs typeface="Aptos"/>
              </a:rPr>
              <a:t>这幅图是什么数据</a:t>
            </a:r>
          </a:p>
        </p:txBody>
      </p:sp>
      <p:sp>
        <p:nvSpPr>
          <p:cNvPr id="8" name="">
            <a:extLst xmlns:a="http://schemas.openxmlformats.org/drawingml/2006/main">
              <a:ext uri="{FF2B5EF4-FFF2-40B4-BE49-F238E27FC236}">
                <a16:creationId xmlns:a16="http://schemas.microsoft.com/office/drawing/2014/main" id="{76BB4BE6-3E18-4D4B-84A9-1B490D590303}"/>
              </a:ext>
            </a:extLst>
          </p:cNvPr>
          <p:cNvSpPr>
            <a:spLocks xmlns:a="http://schemas.openxmlformats.org/drawingml/2006/main" noGrp="1"/>
          </p:cNvSpPr>
          <p:nvPr/>
        </p:nvSpPr>
        <p:spPr>
          <a:xfrm xmlns:a="http://schemas.openxmlformats.org/drawingml/2006/main">
            <a:off x="6743700" y="2000250"/>
            <a:ext cx="403860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88" b="0">
                <a:solidFill>
                  <a:srgbClr val="1D1B18"/>
                </a:solidFill>
                <a:latin typeface="Aptos"/>
                <a:ea typeface="Aptos"/>
                <a:cs typeface="Aptos"/>
              </a:defRPr>
            </a:pPr>
            <a:r>
              <a:rPr sz="1088" b="0">
                <a:solidFill>
                  <a:srgbClr val="1D1B18"/>
                </a:solidFill>
                <a:latin typeface="Aptos"/>
                <a:ea typeface="Aptos"/>
                <a:cs typeface="Aptos"/>
              </a:rPr>
              <a:t>原文风应力实验，比较不同风场设定下 Niño-3 海温的发展。关键数值包括 Dec Niño-3 CTRL=2.344，Wind2023=0.681。</a:t>
            </a:r>
          </a:p>
        </p:txBody>
      </p:sp>
      <p:sp>
        <p:nvSpPr>
          <p:cNvPr id="9" name="">
            <a:extLst xmlns:a="http://schemas.openxmlformats.org/drawingml/2006/main">
              <a:ext uri="{FF2B5EF4-FFF2-40B4-BE49-F238E27FC236}">
                <a16:creationId xmlns:a16="http://schemas.microsoft.com/office/drawing/2014/main" id="{6FB8D1B8-3C5D-4B4A-95D0-821810D28A72}"/>
              </a:ext>
            </a:extLst>
          </p:cNvPr>
          <p:cNvSpPr>
            <a:spLocks xmlns:a="http://schemas.openxmlformats.org/drawingml/2006/main" noGrp="1"/>
          </p:cNvSpPr>
          <p:nvPr/>
        </p:nvSpPr>
        <p:spPr>
          <a:xfrm xmlns:a="http://schemas.openxmlformats.org/drawingml/2006/main">
            <a:off x="6610350" y="2876550"/>
            <a:ext cx="4305300" cy="1123950"/>
          </a:xfrm>
          <a:prstGeom xmlns:a="http://schemas.openxmlformats.org/drawingml/2006/main" prst="rect">
            <a:avLst/>
          </a:prstGeom>
          <a:solidFill xmlns:a="http://schemas.openxmlformats.org/drawingml/2006/main">
            <a:srgbClr val="EDF3EF"/>
          </a:solidFill>
          <a:ln xmlns:a="http://schemas.openxmlformats.org/drawingml/2006/main" w="7620">
            <a:solidFill>
              <a:srgbClr val="D8D1C4"/>
            </a:solidFill>
            <a:prstDash val="solid"/>
          </a:ln>
        </p:spPr>
      </p:sp>
      <p:sp>
        <p:nvSpPr>
          <p:cNvPr id="10" name="">
            <a:extLst xmlns:a="http://schemas.openxmlformats.org/drawingml/2006/main">
              <a:ext uri="{FF2B5EF4-FFF2-40B4-BE49-F238E27FC236}">
                <a16:creationId xmlns:a16="http://schemas.microsoft.com/office/drawing/2014/main" id="{F217DBED-3487-45F7-8CC9-BCCC83A0BC94}"/>
              </a:ext>
            </a:extLst>
          </p:cNvPr>
          <p:cNvSpPr>
            <a:spLocks xmlns:a="http://schemas.openxmlformats.org/drawingml/2006/main" noGrp="1"/>
          </p:cNvSpPr>
          <p:nvPr/>
        </p:nvSpPr>
        <p:spPr>
          <a:xfrm xmlns:a="http://schemas.openxmlformats.org/drawingml/2006/main">
            <a:off x="6743700" y="2990850"/>
            <a:ext cx="40386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2F6F73"/>
                </a:solidFill>
                <a:latin typeface="Aptos"/>
                <a:ea typeface="Aptos"/>
                <a:cs typeface="Aptos"/>
              </a:defRPr>
            </a:pPr>
            <a:r>
              <a:rPr sz="1050" b="1">
                <a:solidFill>
                  <a:srgbClr val="2F6F73"/>
                </a:solidFill>
                <a:latin typeface="Aptos"/>
                <a:ea typeface="Aptos"/>
                <a:cs typeface="Aptos"/>
              </a:rPr>
              <a:t>它反映了什么</a:t>
            </a:r>
          </a:p>
        </p:txBody>
      </p:sp>
      <p:sp>
        <p:nvSpPr>
          <p:cNvPr id="11" name="">
            <a:extLst xmlns:a="http://schemas.openxmlformats.org/drawingml/2006/main">
              <a:ext uri="{FF2B5EF4-FFF2-40B4-BE49-F238E27FC236}">
                <a16:creationId xmlns:a16="http://schemas.microsoft.com/office/drawing/2014/main" id="{318AA25B-D4B0-4D92-ADB6-8086D01249A9}"/>
              </a:ext>
            </a:extLst>
          </p:cNvPr>
          <p:cNvSpPr>
            <a:spLocks xmlns:a="http://schemas.openxmlformats.org/drawingml/2006/main" noGrp="1"/>
          </p:cNvSpPr>
          <p:nvPr/>
        </p:nvSpPr>
        <p:spPr>
          <a:xfrm xmlns:a="http://schemas.openxmlformats.org/drawingml/2006/main">
            <a:off x="6743700" y="3276600"/>
            <a:ext cx="403860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88" b="0">
                <a:solidFill>
                  <a:srgbClr val="1D1B18"/>
                </a:solidFill>
                <a:latin typeface="Aptos"/>
                <a:ea typeface="Aptos"/>
                <a:cs typeface="Aptos"/>
              </a:defRPr>
            </a:pPr>
            <a:r>
              <a:rPr sz="1088" b="0">
                <a:solidFill>
                  <a:srgbClr val="1D1B18"/>
                </a:solidFill>
                <a:latin typeface="Aptos"/>
                <a:ea typeface="Aptos"/>
                <a:cs typeface="Aptos"/>
              </a:rPr>
              <a:t>2023 年实际风场并没有像典型强厄尔尼诺那样强力推动海温增长，说明大气风强迫本身偏弱。</a:t>
            </a:r>
          </a:p>
        </p:txBody>
      </p:sp>
      <p:sp>
        <p:nvSpPr>
          <p:cNvPr id="12" name="">
            <a:extLst xmlns:a="http://schemas.openxmlformats.org/drawingml/2006/main">
              <a:ext uri="{FF2B5EF4-FFF2-40B4-BE49-F238E27FC236}">
                <a16:creationId xmlns:a16="http://schemas.microsoft.com/office/drawing/2014/main" id="{BFCACDEC-4701-4E69-8EF4-40D8B58E28E7}"/>
              </a:ext>
            </a:extLst>
          </p:cNvPr>
          <p:cNvSpPr>
            <a:spLocks xmlns:a="http://schemas.openxmlformats.org/drawingml/2006/main" noGrp="1"/>
          </p:cNvSpPr>
          <p:nvPr/>
        </p:nvSpPr>
        <p:spPr>
          <a:xfrm xmlns:a="http://schemas.openxmlformats.org/drawingml/2006/main">
            <a:off x="6610350" y="4152900"/>
            <a:ext cx="4305300" cy="1123950"/>
          </a:xfrm>
          <a:prstGeom xmlns:a="http://schemas.openxmlformats.org/drawingml/2006/main" prst="rect">
            <a:avLst/>
          </a:prstGeom>
          <a:solidFill xmlns:a="http://schemas.openxmlformats.org/drawingml/2006/main">
            <a:srgbClr val="F5E5DF"/>
          </a:solidFill>
          <a:ln xmlns:a="http://schemas.openxmlformats.org/drawingml/2006/main" w="7620">
            <a:solidFill>
              <a:srgbClr val="D8D1C4"/>
            </a:solidFill>
            <a:prstDash val="solid"/>
          </a:ln>
        </p:spPr>
      </p:sp>
      <p:sp>
        <p:nvSpPr>
          <p:cNvPr id="13" name="">
            <a:extLst xmlns:a="http://schemas.openxmlformats.org/drawingml/2006/main">
              <a:ext uri="{FF2B5EF4-FFF2-40B4-BE49-F238E27FC236}">
                <a16:creationId xmlns:a16="http://schemas.microsoft.com/office/drawing/2014/main" id="{FCF32FA4-993E-4C51-A23E-740601EA41D0}"/>
              </a:ext>
            </a:extLst>
          </p:cNvPr>
          <p:cNvSpPr>
            <a:spLocks xmlns:a="http://schemas.openxmlformats.org/drawingml/2006/main" noGrp="1"/>
          </p:cNvSpPr>
          <p:nvPr/>
        </p:nvSpPr>
        <p:spPr>
          <a:xfrm xmlns:a="http://schemas.openxmlformats.org/drawingml/2006/main">
            <a:off x="6743700" y="4267200"/>
            <a:ext cx="40386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2F6F73"/>
                </a:solidFill>
                <a:latin typeface="Aptos"/>
                <a:ea typeface="Aptos"/>
                <a:cs typeface="Aptos"/>
              </a:defRPr>
            </a:pPr>
            <a:r>
              <a:rPr sz="1050" b="1">
                <a:solidFill>
                  <a:srgbClr val="2F6F73"/>
                </a:solidFill>
                <a:latin typeface="Aptos"/>
                <a:ea typeface="Aptos"/>
                <a:cs typeface="Aptos"/>
              </a:rPr>
              <a:t>对应原文与我的创新</a:t>
            </a:r>
          </a:p>
        </p:txBody>
      </p:sp>
      <p:sp>
        <p:nvSpPr>
          <p:cNvPr id="14" name="">
            <a:extLst xmlns:a="http://schemas.openxmlformats.org/drawingml/2006/main">
              <a:ext uri="{FF2B5EF4-FFF2-40B4-BE49-F238E27FC236}">
                <a16:creationId xmlns:a16="http://schemas.microsoft.com/office/drawing/2014/main" id="{DFBE75CB-C8C7-4674-A444-C6CD2E7BA943}"/>
              </a:ext>
            </a:extLst>
          </p:cNvPr>
          <p:cNvSpPr>
            <a:spLocks xmlns:a="http://schemas.openxmlformats.org/drawingml/2006/main" noGrp="1"/>
          </p:cNvSpPr>
          <p:nvPr/>
        </p:nvSpPr>
        <p:spPr>
          <a:xfrm xmlns:a="http://schemas.openxmlformats.org/drawingml/2006/main">
            <a:off x="6743700" y="4552950"/>
            <a:ext cx="403860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88" b="0">
                <a:solidFill>
                  <a:srgbClr val="1D1B18"/>
                </a:solidFill>
                <a:latin typeface="Aptos"/>
                <a:ea typeface="Aptos"/>
                <a:cs typeface="Aptos"/>
              </a:defRPr>
            </a:pPr>
            <a:r>
              <a:rPr sz="1088" b="0">
                <a:solidFill>
                  <a:srgbClr val="1D1B18"/>
                </a:solidFill>
                <a:latin typeface="Aptos"/>
                <a:ea typeface="Aptos"/>
                <a:cs typeface="Aptos"/>
              </a:rPr>
              <a:t>对应原文“2023 风场偏弱”的实验佐证。我的创新是把这个偏弱风场进一步定位到 AMJ/JJA 发展季，并与降水、气压一起比较。</a:t>
            </a:r>
          </a:p>
        </p:txBody>
      </p:sp>
      <p:sp>
        <p:nvSpPr>
          <p:cNvPr id="15" name="">
            <a:extLst xmlns:a="http://schemas.openxmlformats.org/drawingml/2006/main">
              <a:ext uri="{FF2B5EF4-FFF2-40B4-BE49-F238E27FC236}">
                <a16:creationId xmlns:a16="http://schemas.microsoft.com/office/drawing/2014/main" id="{AB573169-0954-419E-AA5B-1483B9941950}"/>
              </a:ext>
            </a:extLst>
          </p:cNvPr>
          <p:cNvSpPr>
            <a:spLocks xmlns:a="http://schemas.openxmlformats.org/drawingml/2006/main" noGrp="1"/>
          </p:cNvSpPr>
          <p:nvPr/>
        </p:nvSpPr>
        <p:spPr>
          <a:xfrm xmlns:a="http://schemas.openxmlformats.org/drawingml/2006/main">
            <a:off x="552450" y="6477000"/>
            <a:ext cx="106680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5D574F"/>
                </a:solidFill>
                <a:latin typeface="Aptos"/>
                <a:ea typeface="Aptos"/>
                <a:cs typeface="Aptos"/>
              </a:defRPr>
            </a:pPr>
            <a:r>
              <a:rPr sz="788" b="0">
                <a:solidFill>
                  <a:srgbClr val="5D574F"/>
                </a:solidFill>
                <a:latin typeface="Aptos"/>
                <a:ea typeface="Aptos"/>
                <a:cs typeface="Aptos"/>
              </a:rPr>
              <a:t>Data: Peng et al. source archive; table fig4_wind_experiment_summary.csv.</a:t>
            </a:r>
          </a:p>
        </p:txBody>
      </p:sp>
    </p:spTree>
    <p:extLst>
      <p:ext uri="{BB962C8B-B14F-4D97-AF65-F5344CB8AC3E}">
        <p14:creationId xmlns:p14="http://schemas.microsoft.com/office/powerpoint/2010/main" val="1642009963"/>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A74A5A12-9E38-47FE-A48E-14D79B15BB2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3EA"/>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1AD2496A-EB42-490C-8CF8-241A5E2EF0D6}"/>
              </a:ext>
            </a:extLst>
          </p:cNvPr>
          <p:cNvSpPr>
            <a:spLocks xmlns:a="http://schemas.openxmlformats.org/drawingml/2006/main" noGrp="1"/>
          </p:cNvSpPr>
          <p:nvPr/>
        </p:nvSpPr>
        <p:spPr>
          <a:xfrm xmlns:a="http://schemas.openxmlformats.org/drawingml/2006/main">
            <a:off x="552450" y="285750"/>
            <a:ext cx="3429000" cy="23812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CC5A43"/>
                </a:solidFill>
                <a:latin typeface="Aptos"/>
                <a:ea typeface="Aptos"/>
                <a:cs typeface="Aptos"/>
              </a:defRPr>
            </a:pPr>
            <a:r>
              <a:rPr sz="1050" b="1">
                <a:solidFill>
                  <a:srgbClr val="CC5A43"/>
                </a:solidFill>
                <a:latin typeface="Aptos"/>
                <a:ea typeface="Aptos"/>
                <a:cs typeface="Aptos"/>
              </a:rPr>
              <a:t>从原文到新问题</a:t>
            </a:r>
          </a:p>
        </p:txBody>
      </p:sp>
      <p:sp>
        <p:nvSpPr>
          <p:cNvPr id="3" name="">
            <a:extLst xmlns:a="http://schemas.openxmlformats.org/drawingml/2006/main">
              <a:ext uri="{FF2B5EF4-FFF2-40B4-BE49-F238E27FC236}">
                <a16:creationId xmlns:a16="http://schemas.microsoft.com/office/drawing/2014/main" id="{11DD9A86-BA2C-44AD-BE50-0208D2840E0A}"/>
              </a:ext>
            </a:extLst>
          </p:cNvPr>
          <p:cNvSpPr>
            <a:spLocks xmlns:a="http://schemas.openxmlformats.org/drawingml/2006/main" noGrp="1"/>
          </p:cNvSpPr>
          <p:nvPr/>
        </p:nvSpPr>
        <p:spPr>
          <a:xfrm xmlns:a="http://schemas.openxmlformats.org/drawingml/2006/main">
            <a:off x="552450" y="609600"/>
            <a:ext cx="104775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175" b="1">
                <a:solidFill>
                  <a:srgbClr val="1D1B18"/>
                </a:solidFill>
                <a:latin typeface="Aptos Display"/>
                <a:ea typeface="Aptos Display"/>
                <a:cs typeface="Aptos Display"/>
              </a:defRPr>
            </a:pPr>
            <a:r>
              <a:rPr sz="2175" b="1">
                <a:solidFill>
                  <a:srgbClr val="1D1B18"/>
                </a:solidFill>
                <a:latin typeface="Aptos Display"/>
                <a:ea typeface="Aptos Display"/>
                <a:cs typeface="Aptos Display"/>
              </a:rPr>
              <a:t>原文留下的缺口：弱耦合是何时出现的？是否与外海盆背景态有关？</a:t>
            </a:r>
          </a:p>
        </p:txBody>
      </p:sp>
      <p:sp>
        <p:nvSpPr>
          <p:cNvPr id="4" name="">
            <a:extLst xmlns:a="http://schemas.openxmlformats.org/drawingml/2006/main">
              <a:ext uri="{FF2B5EF4-FFF2-40B4-BE49-F238E27FC236}">
                <a16:creationId xmlns:a16="http://schemas.microsoft.com/office/drawing/2014/main" id="{A42F52A5-D89E-4736-B7AD-1D17176900A7}"/>
              </a:ext>
            </a:extLst>
          </p:cNvPr>
          <p:cNvSpPr>
            <a:spLocks xmlns:a="http://schemas.openxmlformats.org/drawingml/2006/main" noGrp="1"/>
          </p:cNvSpPr>
          <p:nvPr/>
        </p:nvSpPr>
        <p:spPr>
          <a:xfrm xmlns:a="http://schemas.openxmlformats.org/drawingml/2006/main">
            <a:off x="552450" y="1409700"/>
            <a:ext cx="10763250" cy="14288"/>
          </a:xfrm>
          <a:prstGeom xmlns:a="http://schemas.openxmlformats.org/drawingml/2006/main" prst="rect">
            <a:avLst/>
          </a:prstGeom>
          <a:solidFill xmlns:a="http://schemas.openxmlformats.org/drawingml/2006/main">
            <a:srgbClr val="D8D1C4"/>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DC418F53-E0D5-4D73-9DC8-3CA06C4730E7}"/>
              </a:ext>
            </a:extLst>
          </p:cNvPr>
          <p:cNvSpPr>
            <a:spLocks xmlns:a="http://schemas.openxmlformats.org/drawingml/2006/main" noGrp="1"/>
          </p:cNvSpPr>
          <p:nvPr/>
        </p:nvSpPr>
        <p:spPr>
          <a:xfrm xmlns:a="http://schemas.openxmlformats.org/drawingml/2006/main">
            <a:off x="723900" y="1695450"/>
            <a:ext cx="9906000" cy="1257300"/>
          </a:xfrm>
          <a:prstGeom xmlns:a="http://schemas.openxmlformats.org/drawingml/2006/main" prst="rect">
            <a:avLst/>
          </a:prstGeom>
          <a:solidFill xmlns:a="http://schemas.openxmlformats.org/drawingml/2006/main">
            <a:srgbClr val="F5E5DF"/>
          </a:solidFill>
          <a:ln xmlns:a="http://schemas.openxmlformats.org/drawingml/2006/main" w="9525">
            <a:solidFill>
              <a:srgbClr val="D8D1C4"/>
            </a:solidFill>
            <a:prstDash val="solid"/>
          </a:ln>
        </p:spPr>
      </p:sp>
      <p:sp>
        <p:nvSpPr>
          <p:cNvPr id="6" name="">
            <a:extLst xmlns:a="http://schemas.openxmlformats.org/drawingml/2006/main">
              <a:ext uri="{FF2B5EF4-FFF2-40B4-BE49-F238E27FC236}">
                <a16:creationId xmlns:a16="http://schemas.microsoft.com/office/drawing/2014/main" id="{936074FE-5DF6-452E-A2A0-A3A8E6C0F5F1}"/>
              </a:ext>
            </a:extLst>
          </p:cNvPr>
          <p:cNvSpPr>
            <a:spLocks xmlns:a="http://schemas.openxmlformats.org/drawingml/2006/main" noGrp="1"/>
          </p:cNvSpPr>
          <p:nvPr/>
        </p:nvSpPr>
        <p:spPr>
          <a:xfrm xmlns:a="http://schemas.openxmlformats.org/drawingml/2006/main">
            <a:off x="933450" y="1924050"/>
            <a:ext cx="9486900" cy="8763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75" b="1">
                <a:solidFill>
                  <a:srgbClr val="1D1B18"/>
                </a:solidFill>
                <a:latin typeface="Aptos"/>
                <a:ea typeface="Aptos"/>
                <a:cs typeface="Aptos"/>
              </a:defRPr>
            </a:pPr>
            <a:r>
              <a:rPr sz="1575" b="1">
                <a:solidFill>
                  <a:srgbClr val="1D1B18"/>
                </a:solidFill>
                <a:latin typeface="Aptos"/>
                <a:ea typeface="Aptos"/>
                <a:cs typeface="Aptos"/>
              </a:rPr>
              <a:t>如果只说“2023/24 大气响应弱”，还不够形成新论文。必须进一步回答：弱响应发生在发展季、成熟期，还是全程？哪些变量最先低于历史 Niño-3 关系的预期？</a:t>
            </a:r>
          </a:p>
        </p:txBody>
      </p:sp>
      <p:sp>
        <p:nvSpPr>
          <p:cNvPr id="7" name="">
            <a:extLst xmlns:a="http://schemas.openxmlformats.org/drawingml/2006/main">
              <a:ext uri="{FF2B5EF4-FFF2-40B4-BE49-F238E27FC236}">
                <a16:creationId xmlns:a16="http://schemas.microsoft.com/office/drawing/2014/main" id="{7ADDD0BC-7565-48B9-A28F-5FBC52DD1A4A}"/>
              </a:ext>
            </a:extLst>
          </p:cNvPr>
          <p:cNvSpPr>
            <a:spLocks xmlns:a="http://schemas.openxmlformats.org/drawingml/2006/main" noGrp="1"/>
          </p:cNvSpPr>
          <p:nvPr/>
        </p:nvSpPr>
        <p:spPr>
          <a:xfrm xmlns:a="http://schemas.openxmlformats.org/drawingml/2006/main">
            <a:off x="876300" y="3419475"/>
            <a:ext cx="66675" cy="66675"/>
          </a:xfrm>
          <a:prstGeom xmlns:a="http://schemas.openxmlformats.org/drawingml/2006/main" prst="ellipse">
            <a:avLst/>
          </a:prstGeom>
          <a:solidFill xmlns:a="http://schemas.openxmlformats.org/drawingml/2006/main">
            <a:srgbClr val="CC5A43"/>
          </a:solidFill>
          <a:ln xmlns:a="http://schemas.openxmlformats.org/drawingml/2006/main" w="0">
            <a:solidFill>
              <a:srgbClr val="000000">
                <a:alpha val="0"/>
              </a:srgbClr>
            </a:solidFill>
            <a:prstDash val="solid"/>
          </a:ln>
        </p:spPr>
      </p:sp>
      <p:sp>
        <p:nvSpPr>
          <p:cNvPr id="8" name="">
            <a:extLst xmlns:a="http://schemas.openxmlformats.org/drawingml/2006/main">
              <a:ext uri="{FF2B5EF4-FFF2-40B4-BE49-F238E27FC236}">
                <a16:creationId xmlns:a16="http://schemas.microsoft.com/office/drawing/2014/main" id="{8BBC2432-DB96-4D81-A192-DD4F10C65686}"/>
              </a:ext>
            </a:extLst>
          </p:cNvPr>
          <p:cNvSpPr>
            <a:spLocks xmlns:a="http://schemas.openxmlformats.org/drawingml/2006/main" noGrp="1"/>
          </p:cNvSpPr>
          <p:nvPr/>
        </p:nvSpPr>
        <p:spPr>
          <a:xfrm xmlns:a="http://schemas.openxmlformats.org/drawingml/2006/main">
            <a:off x="1066800" y="3333750"/>
            <a:ext cx="9144000" cy="628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D1B18"/>
                </a:solidFill>
                <a:latin typeface="Aptos"/>
                <a:ea typeface="Aptos"/>
                <a:cs typeface="Aptos"/>
              </a:defRPr>
            </a:pPr>
            <a:r>
              <a:rPr sz="1350" b="0">
                <a:solidFill>
                  <a:srgbClr val="1D1B18"/>
                </a:solidFill>
                <a:latin typeface="Aptos"/>
                <a:ea typeface="Aptos"/>
                <a:cs typeface="Aptos"/>
              </a:rPr>
              <a:t>原文主要围绕事件生成和海洋动力过程展开，季节性的风压/降水/对流不同步还没有被系统展开。</a:t>
            </a:r>
          </a:p>
        </p:txBody>
      </p:sp>
      <p:sp>
        <p:nvSpPr>
          <p:cNvPr id="9" name="">
            <a:extLst xmlns:a="http://schemas.openxmlformats.org/drawingml/2006/main">
              <a:ext uri="{FF2B5EF4-FFF2-40B4-BE49-F238E27FC236}">
                <a16:creationId xmlns:a16="http://schemas.microsoft.com/office/drawing/2014/main" id="{24D71EB4-E480-4315-99CF-43127482EB68}"/>
              </a:ext>
            </a:extLst>
          </p:cNvPr>
          <p:cNvSpPr>
            <a:spLocks xmlns:a="http://schemas.openxmlformats.org/drawingml/2006/main" noGrp="1"/>
          </p:cNvSpPr>
          <p:nvPr/>
        </p:nvSpPr>
        <p:spPr>
          <a:xfrm xmlns:a="http://schemas.openxmlformats.org/drawingml/2006/main">
            <a:off x="876300" y="4086225"/>
            <a:ext cx="66675" cy="66675"/>
          </a:xfrm>
          <a:prstGeom xmlns:a="http://schemas.openxmlformats.org/drawingml/2006/main" prst="ellipse">
            <a:avLst/>
          </a:prstGeom>
          <a:solidFill xmlns:a="http://schemas.openxmlformats.org/drawingml/2006/main">
            <a:srgbClr val="CC5A43"/>
          </a:solidFill>
          <a:ln xmlns:a="http://schemas.openxmlformats.org/drawingml/2006/main" w="0">
            <a:solidFill>
              <a:srgbClr val="000000">
                <a:alpha val="0"/>
              </a:srgbClr>
            </a:solidFill>
            <a:prstDash val="solid"/>
          </a:ln>
        </p:spPr>
      </p:sp>
      <p:sp>
        <p:nvSpPr>
          <p:cNvPr id="10" name="">
            <a:extLst xmlns:a="http://schemas.openxmlformats.org/drawingml/2006/main">
              <a:ext uri="{FF2B5EF4-FFF2-40B4-BE49-F238E27FC236}">
                <a16:creationId xmlns:a16="http://schemas.microsoft.com/office/drawing/2014/main" id="{00B0426C-F832-4FF1-8B97-A726904B4FCE}"/>
              </a:ext>
            </a:extLst>
          </p:cNvPr>
          <p:cNvSpPr>
            <a:spLocks xmlns:a="http://schemas.openxmlformats.org/drawingml/2006/main" noGrp="1"/>
          </p:cNvSpPr>
          <p:nvPr/>
        </p:nvSpPr>
        <p:spPr>
          <a:xfrm xmlns:a="http://schemas.openxmlformats.org/drawingml/2006/main">
            <a:off x="1066800" y="4000500"/>
            <a:ext cx="9144000" cy="628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D1B18"/>
                </a:solidFill>
                <a:latin typeface="Aptos"/>
                <a:ea typeface="Aptos"/>
                <a:cs typeface="Aptos"/>
              </a:defRPr>
            </a:pPr>
            <a:r>
              <a:rPr sz="1350" b="0">
                <a:solidFill>
                  <a:srgbClr val="1D1B18"/>
                </a:solidFill>
                <a:latin typeface="Aptos"/>
                <a:ea typeface="Aptos"/>
                <a:cs typeface="Aptos"/>
              </a:rPr>
              <a:t>我的研究把响应变量拆成海表温度、低层风、海平面气压、降水、OLR 和 Walker 环流，再按 AMJ/JJA/SON/DJF 比较。</a:t>
            </a:r>
          </a:p>
        </p:txBody>
      </p:sp>
      <p:sp>
        <p:nvSpPr>
          <p:cNvPr id="11" name="">
            <a:extLst xmlns:a="http://schemas.openxmlformats.org/drawingml/2006/main">
              <a:ext uri="{FF2B5EF4-FFF2-40B4-BE49-F238E27FC236}">
                <a16:creationId xmlns:a16="http://schemas.microsoft.com/office/drawing/2014/main" id="{5AD474F6-66BF-48AC-B757-0161DA1EC193}"/>
              </a:ext>
            </a:extLst>
          </p:cNvPr>
          <p:cNvSpPr>
            <a:spLocks xmlns:a="http://schemas.openxmlformats.org/drawingml/2006/main" noGrp="1"/>
          </p:cNvSpPr>
          <p:nvPr/>
        </p:nvSpPr>
        <p:spPr>
          <a:xfrm xmlns:a="http://schemas.openxmlformats.org/drawingml/2006/main">
            <a:off x="876300" y="4752975"/>
            <a:ext cx="66675" cy="66675"/>
          </a:xfrm>
          <a:prstGeom xmlns:a="http://schemas.openxmlformats.org/drawingml/2006/main" prst="ellipse">
            <a:avLst/>
          </a:prstGeom>
          <a:solidFill xmlns:a="http://schemas.openxmlformats.org/drawingml/2006/main">
            <a:srgbClr val="CC5A43"/>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3BE10713-BC7C-4240-BC0E-C6DB9B1EE1CC}"/>
              </a:ext>
            </a:extLst>
          </p:cNvPr>
          <p:cNvSpPr>
            <a:spLocks xmlns:a="http://schemas.openxmlformats.org/drawingml/2006/main" noGrp="1"/>
          </p:cNvSpPr>
          <p:nvPr/>
        </p:nvSpPr>
        <p:spPr>
          <a:xfrm xmlns:a="http://schemas.openxmlformats.org/drawingml/2006/main">
            <a:off x="1066800" y="4667250"/>
            <a:ext cx="9144000" cy="628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D1B18"/>
                </a:solidFill>
                <a:latin typeface="Aptos"/>
                <a:ea typeface="Aptos"/>
                <a:cs typeface="Aptos"/>
              </a:defRPr>
            </a:pPr>
            <a:r>
              <a:rPr sz="1350" b="0">
                <a:solidFill>
                  <a:srgbClr val="1D1B18"/>
                </a:solidFill>
                <a:latin typeface="Aptos"/>
                <a:ea typeface="Aptos"/>
                <a:cs typeface="Aptos"/>
              </a:rPr>
              <a:t>目前主方法沿用原文 observed / expected response 思路：每个季节分别用历史 Niño-3 与大气变量的回归关系估计预期响应，再看 2023 实际响应偏离多少。</a:t>
            </a:r>
          </a:p>
        </p:txBody>
      </p:sp>
      <p:sp>
        <p:nvSpPr>
          <p:cNvPr id="13" name="">
            <a:extLst xmlns:a="http://schemas.openxmlformats.org/drawingml/2006/main">
              <a:ext uri="{FF2B5EF4-FFF2-40B4-BE49-F238E27FC236}">
                <a16:creationId xmlns:a16="http://schemas.microsoft.com/office/drawing/2014/main" id="{05196AB9-950F-475B-BB2D-202563D7745D}"/>
              </a:ext>
            </a:extLst>
          </p:cNvPr>
          <p:cNvSpPr>
            <a:spLocks xmlns:a="http://schemas.openxmlformats.org/drawingml/2006/main" noGrp="1"/>
          </p:cNvSpPr>
          <p:nvPr/>
        </p:nvSpPr>
        <p:spPr>
          <a:xfrm xmlns:a="http://schemas.openxmlformats.org/drawingml/2006/main">
            <a:off x="552450" y="6477000"/>
            <a:ext cx="106680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5D574F"/>
                </a:solidFill>
                <a:latin typeface="Aptos"/>
                <a:ea typeface="Aptos"/>
                <a:cs typeface="Aptos"/>
              </a:defRPr>
            </a:pPr>
            <a:r>
              <a:rPr sz="788" b="0">
                <a:solidFill>
                  <a:srgbClr val="5D574F"/>
                </a:solidFill>
                <a:latin typeface="Aptos"/>
                <a:ea typeface="Aptos"/>
                <a:cs typeface="Aptos"/>
              </a:rPr>
              <a:t>Research transition based on L1 and local seasonal diagnostics.</a:t>
            </a:r>
          </a:p>
        </p:txBody>
      </p:sp>
    </p:spTree>
    <p:extLst>
      <p:ext uri="{BB962C8B-B14F-4D97-AF65-F5344CB8AC3E}">
        <p14:creationId xmlns:p14="http://schemas.microsoft.com/office/powerpoint/2010/main" val="596355891"/>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8109D92D-D66E-486F-8E62-71BFB975DCE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3EA"/>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B170D08F-0AE0-4580-AF2A-1708E4392DBD}"/>
              </a:ext>
            </a:extLst>
          </p:cNvPr>
          <p:cNvSpPr>
            <a:spLocks xmlns:a="http://schemas.openxmlformats.org/drawingml/2006/main" noGrp="1"/>
          </p:cNvSpPr>
          <p:nvPr/>
        </p:nvSpPr>
        <p:spPr>
          <a:xfrm xmlns:a="http://schemas.openxmlformats.org/drawingml/2006/main">
            <a:off x="552450" y="285750"/>
            <a:ext cx="3429000" cy="23812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CC5A43"/>
                </a:solidFill>
                <a:latin typeface="Aptos"/>
                <a:ea typeface="Aptos"/>
                <a:cs typeface="Aptos"/>
              </a:defRPr>
            </a:pPr>
            <a:r>
              <a:rPr sz="1050" b="1">
                <a:solidFill>
                  <a:srgbClr val="CC5A43"/>
                </a:solidFill>
                <a:latin typeface="Aptos"/>
                <a:ea typeface="Aptos"/>
                <a:cs typeface="Aptos"/>
              </a:rPr>
              <a:t>独立资料验证</a:t>
            </a:r>
          </a:p>
        </p:txBody>
      </p:sp>
      <p:sp>
        <p:nvSpPr>
          <p:cNvPr id="3" name="">
            <a:extLst xmlns:a="http://schemas.openxmlformats.org/drawingml/2006/main">
              <a:ext uri="{FF2B5EF4-FFF2-40B4-BE49-F238E27FC236}">
                <a16:creationId xmlns:a16="http://schemas.microsoft.com/office/drawing/2014/main" id="{55D7809C-52AD-4E5C-84AA-9DB0C8BC2275}"/>
              </a:ext>
            </a:extLst>
          </p:cNvPr>
          <p:cNvSpPr>
            <a:spLocks xmlns:a="http://schemas.openxmlformats.org/drawingml/2006/main" noGrp="1"/>
          </p:cNvSpPr>
          <p:nvPr/>
        </p:nvSpPr>
        <p:spPr>
          <a:xfrm xmlns:a="http://schemas.openxmlformats.org/drawingml/2006/main">
            <a:off x="552450" y="609600"/>
            <a:ext cx="104775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175" b="1">
                <a:solidFill>
                  <a:srgbClr val="1D1B18"/>
                </a:solidFill>
                <a:latin typeface="Aptos Display"/>
                <a:ea typeface="Aptos Display"/>
                <a:cs typeface="Aptos Display"/>
              </a:defRPr>
            </a:pPr>
            <a:r>
              <a:rPr sz="2175" b="1">
                <a:solidFill>
                  <a:srgbClr val="1D1B18"/>
                </a:solidFill>
                <a:latin typeface="Aptos Display"/>
                <a:ea typeface="Aptos Display"/>
                <a:cs typeface="Aptos Display"/>
              </a:rPr>
              <a:t>图中数据名称：OISST、GPCP、NCEP/NCAR 对原文指标的再计算</a:t>
            </a:r>
          </a:p>
        </p:txBody>
      </p:sp>
      <p:sp>
        <p:nvSpPr>
          <p:cNvPr id="4" name="">
            <a:extLst xmlns:a="http://schemas.openxmlformats.org/drawingml/2006/main">
              <a:ext uri="{FF2B5EF4-FFF2-40B4-BE49-F238E27FC236}">
                <a16:creationId xmlns:a16="http://schemas.microsoft.com/office/drawing/2014/main" id="{21309A6E-9F28-4882-A4DB-818D9E592735}"/>
              </a:ext>
            </a:extLst>
          </p:cNvPr>
          <p:cNvSpPr>
            <a:spLocks xmlns:a="http://schemas.openxmlformats.org/drawingml/2006/main" noGrp="1"/>
          </p:cNvSpPr>
          <p:nvPr/>
        </p:nvSpPr>
        <p:spPr>
          <a:xfrm xmlns:a="http://schemas.openxmlformats.org/drawingml/2006/main">
            <a:off x="552450" y="1409700"/>
            <a:ext cx="10763250" cy="14288"/>
          </a:xfrm>
          <a:prstGeom xmlns:a="http://schemas.openxmlformats.org/drawingml/2006/main" prst="rect">
            <a:avLst/>
          </a:prstGeom>
          <a:solidFill xmlns:a="http://schemas.openxmlformats.org/drawingml/2006/main">
            <a:srgbClr val="D8D1C4"/>
          </a:solidFill>
          <a:ln xmlns:a="http://schemas.openxmlformats.org/drawingml/2006/main" w="0">
            <a:solidFill>
              <a:srgbClr val="000000">
                <a:alpha val="0"/>
              </a:srgbClr>
            </a:solidFill>
            <a:prstDash val="solid"/>
          </a:ln>
        </p:spPr>
      </p:sp>
      <p:pic>
        <p:nvPicPr>
          <p:cNvPr id="5" name=""/>
          <p:cNvPicPr>
            <a:picLocks xmlns:a="http://schemas.openxmlformats.org/drawingml/2006/main" noChangeAspect="1"/>
          </p:cNvPicPr>
          <p:nvPr/>
        </p:nvPicPr>
        <p:blipFill>
          <a:blip xmlns:r="http://schemas.openxmlformats.org/officeDocument/2006/relationships" xmlns:a="http://schemas.openxmlformats.org/drawingml/2006/main" r:embed="Re18c5b34df4045ff"/>
          <a:stretch xmlns:a="http://schemas.openxmlformats.org/drawingml/2006/main"/>
        </p:blipFill>
        <p:spPr>
          <a:xfrm xmlns:a="http://schemas.openxmlformats.org/drawingml/2006/main">
            <a:off x="756410" y="1733550"/>
            <a:ext cx="5345181" cy="34861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5671796F-ED9D-4379-87E1-55FFBF53227B}"/>
              </a:ext>
            </a:extLst>
          </p:cNvPr>
          <p:cNvSpPr>
            <a:spLocks xmlns:a="http://schemas.openxmlformats.org/drawingml/2006/main" noGrp="1"/>
          </p:cNvSpPr>
          <p:nvPr/>
        </p:nvSpPr>
        <p:spPr>
          <a:xfrm xmlns:a="http://schemas.openxmlformats.org/drawingml/2006/main">
            <a:off x="6610350" y="1600200"/>
            <a:ext cx="4305300" cy="1123950"/>
          </a:xfrm>
          <a:prstGeom xmlns:a="http://schemas.openxmlformats.org/drawingml/2006/main" prst="rect">
            <a:avLst/>
          </a:prstGeom>
          <a:solidFill xmlns:a="http://schemas.openxmlformats.org/drawingml/2006/main">
            <a:srgbClr val="F5E5DF"/>
          </a:solidFill>
          <a:ln xmlns:a="http://schemas.openxmlformats.org/drawingml/2006/main" w="7620">
            <a:solidFill>
              <a:srgbClr val="D8D1C4"/>
            </a:solidFill>
            <a:prstDash val="solid"/>
          </a:ln>
        </p:spPr>
      </p:sp>
      <p:sp>
        <p:nvSpPr>
          <p:cNvPr id="7" name="">
            <a:extLst xmlns:a="http://schemas.openxmlformats.org/drawingml/2006/main">
              <a:ext uri="{FF2B5EF4-FFF2-40B4-BE49-F238E27FC236}">
                <a16:creationId xmlns:a16="http://schemas.microsoft.com/office/drawing/2014/main" id="{C27DF9A7-EF5E-4C5C-BA55-0417E0A6B5CC}"/>
              </a:ext>
            </a:extLst>
          </p:cNvPr>
          <p:cNvSpPr>
            <a:spLocks xmlns:a="http://schemas.openxmlformats.org/drawingml/2006/main" noGrp="1"/>
          </p:cNvSpPr>
          <p:nvPr/>
        </p:nvSpPr>
        <p:spPr>
          <a:xfrm xmlns:a="http://schemas.openxmlformats.org/drawingml/2006/main">
            <a:off x="6743700" y="1714500"/>
            <a:ext cx="40386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2F6F73"/>
                </a:solidFill>
                <a:latin typeface="Aptos"/>
                <a:ea typeface="Aptos"/>
                <a:cs typeface="Aptos"/>
              </a:defRPr>
            </a:pPr>
            <a:r>
              <a:rPr sz="1050" b="1">
                <a:solidFill>
                  <a:srgbClr val="2F6F73"/>
                </a:solidFill>
                <a:latin typeface="Aptos"/>
                <a:ea typeface="Aptos"/>
                <a:cs typeface="Aptos"/>
              </a:rPr>
              <a:t>这幅图是什么数据</a:t>
            </a:r>
          </a:p>
        </p:txBody>
      </p:sp>
      <p:sp>
        <p:nvSpPr>
          <p:cNvPr id="8" name="">
            <a:extLst xmlns:a="http://schemas.openxmlformats.org/drawingml/2006/main">
              <a:ext uri="{FF2B5EF4-FFF2-40B4-BE49-F238E27FC236}">
                <a16:creationId xmlns:a16="http://schemas.microsoft.com/office/drawing/2014/main" id="{DFEF9C0E-59BD-4A9E-A6AB-968A6D7AF98B}"/>
              </a:ext>
            </a:extLst>
          </p:cNvPr>
          <p:cNvSpPr>
            <a:spLocks xmlns:a="http://schemas.openxmlformats.org/drawingml/2006/main" noGrp="1"/>
          </p:cNvSpPr>
          <p:nvPr/>
        </p:nvSpPr>
        <p:spPr>
          <a:xfrm xmlns:a="http://schemas.openxmlformats.org/drawingml/2006/main">
            <a:off x="6743700" y="2000250"/>
            <a:ext cx="403860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88" b="0">
                <a:solidFill>
                  <a:srgbClr val="1D1B18"/>
                </a:solidFill>
                <a:latin typeface="Aptos"/>
                <a:ea typeface="Aptos"/>
                <a:cs typeface="Aptos"/>
              </a:defRPr>
            </a:pPr>
            <a:r>
              <a:rPr sz="1088" b="0">
                <a:solidFill>
                  <a:srgbClr val="1D1B18"/>
                </a:solidFill>
                <a:latin typeface="Aptos"/>
                <a:ea typeface="Aptos"/>
                <a:cs typeface="Aptos"/>
              </a:rPr>
              <a:t>OISST 是 NOAA 海表温度资料，GPCP 是全球降水资料，NCEP/NCAR R1 是再分析风压资料。图中显示它们与复现指标的相关或一致性。</a:t>
            </a:r>
          </a:p>
        </p:txBody>
      </p:sp>
      <p:sp>
        <p:nvSpPr>
          <p:cNvPr id="9" name="">
            <a:extLst xmlns:a="http://schemas.openxmlformats.org/drawingml/2006/main">
              <a:ext uri="{FF2B5EF4-FFF2-40B4-BE49-F238E27FC236}">
                <a16:creationId xmlns:a16="http://schemas.microsoft.com/office/drawing/2014/main" id="{A90D1D82-D7DE-4464-87E4-9022FFB3F740}"/>
              </a:ext>
            </a:extLst>
          </p:cNvPr>
          <p:cNvSpPr>
            <a:spLocks xmlns:a="http://schemas.openxmlformats.org/drawingml/2006/main" noGrp="1"/>
          </p:cNvSpPr>
          <p:nvPr/>
        </p:nvSpPr>
        <p:spPr>
          <a:xfrm xmlns:a="http://schemas.openxmlformats.org/drawingml/2006/main">
            <a:off x="6610350" y="2876550"/>
            <a:ext cx="4305300" cy="1123950"/>
          </a:xfrm>
          <a:prstGeom xmlns:a="http://schemas.openxmlformats.org/drawingml/2006/main" prst="rect">
            <a:avLst/>
          </a:prstGeom>
          <a:solidFill xmlns:a="http://schemas.openxmlformats.org/drawingml/2006/main">
            <a:srgbClr val="EDF3EF"/>
          </a:solidFill>
          <a:ln xmlns:a="http://schemas.openxmlformats.org/drawingml/2006/main" w="7620">
            <a:solidFill>
              <a:srgbClr val="D8D1C4"/>
            </a:solidFill>
            <a:prstDash val="solid"/>
          </a:ln>
        </p:spPr>
      </p:sp>
      <p:sp>
        <p:nvSpPr>
          <p:cNvPr id="10" name="">
            <a:extLst xmlns:a="http://schemas.openxmlformats.org/drawingml/2006/main">
              <a:ext uri="{FF2B5EF4-FFF2-40B4-BE49-F238E27FC236}">
                <a16:creationId xmlns:a16="http://schemas.microsoft.com/office/drawing/2014/main" id="{7E3068FA-4CF0-49C5-92C9-C16C7B76A5D1}"/>
              </a:ext>
            </a:extLst>
          </p:cNvPr>
          <p:cNvSpPr>
            <a:spLocks xmlns:a="http://schemas.openxmlformats.org/drawingml/2006/main" noGrp="1"/>
          </p:cNvSpPr>
          <p:nvPr/>
        </p:nvSpPr>
        <p:spPr>
          <a:xfrm xmlns:a="http://schemas.openxmlformats.org/drawingml/2006/main">
            <a:off x="6743700" y="2990850"/>
            <a:ext cx="40386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2F6F73"/>
                </a:solidFill>
                <a:latin typeface="Aptos"/>
                <a:ea typeface="Aptos"/>
                <a:cs typeface="Aptos"/>
              </a:defRPr>
            </a:pPr>
            <a:r>
              <a:rPr sz="1050" b="1">
                <a:solidFill>
                  <a:srgbClr val="2F6F73"/>
                </a:solidFill>
                <a:latin typeface="Aptos"/>
                <a:ea typeface="Aptos"/>
                <a:cs typeface="Aptos"/>
              </a:rPr>
              <a:t>它反映了什么</a:t>
            </a:r>
          </a:p>
        </p:txBody>
      </p:sp>
      <p:sp>
        <p:nvSpPr>
          <p:cNvPr id="11" name="">
            <a:extLst xmlns:a="http://schemas.openxmlformats.org/drawingml/2006/main">
              <a:ext uri="{FF2B5EF4-FFF2-40B4-BE49-F238E27FC236}">
                <a16:creationId xmlns:a16="http://schemas.microsoft.com/office/drawing/2014/main" id="{2A47E4B9-1F97-4B8F-9F6A-8410352C2D39}"/>
              </a:ext>
            </a:extLst>
          </p:cNvPr>
          <p:cNvSpPr>
            <a:spLocks xmlns:a="http://schemas.openxmlformats.org/drawingml/2006/main" noGrp="1"/>
          </p:cNvSpPr>
          <p:nvPr/>
        </p:nvSpPr>
        <p:spPr>
          <a:xfrm xmlns:a="http://schemas.openxmlformats.org/drawingml/2006/main">
            <a:off x="6743700" y="3276600"/>
            <a:ext cx="403860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88" b="0">
                <a:solidFill>
                  <a:srgbClr val="1D1B18"/>
                </a:solidFill>
                <a:latin typeface="Aptos"/>
                <a:ea typeface="Aptos"/>
                <a:cs typeface="Aptos"/>
              </a:defRPr>
            </a:pPr>
            <a:r>
              <a:rPr sz="1088" b="0">
                <a:solidFill>
                  <a:srgbClr val="1D1B18"/>
                </a:solidFill>
                <a:latin typeface="Aptos"/>
                <a:ea typeface="Aptos"/>
                <a:cs typeface="Aptos"/>
              </a:rPr>
              <a:t>OISST Niño-3 与原文复现相关 0.9999；NCEP 风和类 SOI 压力梯度也高度一致。这说明核心事实不是单一论文数据集造成的。</a:t>
            </a:r>
          </a:p>
        </p:txBody>
      </p:sp>
      <p:sp>
        <p:nvSpPr>
          <p:cNvPr id="12" name="">
            <a:extLst xmlns:a="http://schemas.openxmlformats.org/drawingml/2006/main">
              <a:ext uri="{FF2B5EF4-FFF2-40B4-BE49-F238E27FC236}">
                <a16:creationId xmlns:a16="http://schemas.microsoft.com/office/drawing/2014/main" id="{FE0AFC20-0D66-4BB0-98C4-347FFEEAC1A0}"/>
              </a:ext>
            </a:extLst>
          </p:cNvPr>
          <p:cNvSpPr>
            <a:spLocks xmlns:a="http://schemas.openxmlformats.org/drawingml/2006/main" noGrp="1"/>
          </p:cNvSpPr>
          <p:nvPr/>
        </p:nvSpPr>
        <p:spPr>
          <a:xfrm xmlns:a="http://schemas.openxmlformats.org/drawingml/2006/main">
            <a:off x="6610350" y="4152900"/>
            <a:ext cx="4305300" cy="1123950"/>
          </a:xfrm>
          <a:prstGeom xmlns:a="http://schemas.openxmlformats.org/drawingml/2006/main" prst="rect">
            <a:avLst/>
          </a:prstGeom>
          <a:solidFill xmlns:a="http://schemas.openxmlformats.org/drawingml/2006/main">
            <a:srgbClr val="F5E5DF"/>
          </a:solidFill>
          <a:ln xmlns:a="http://schemas.openxmlformats.org/drawingml/2006/main" w="7620">
            <a:solidFill>
              <a:srgbClr val="D8D1C4"/>
            </a:solidFill>
            <a:prstDash val="solid"/>
          </a:ln>
        </p:spPr>
      </p:sp>
      <p:sp>
        <p:nvSpPr>
          <p:cNvPr id="13" name="">
            <a:extLst xmlns:a="http://schemas.openxmlformats.org/drawingml/2006/main">
              <a:ext uri="{FF2B5EF4-FFF2-40B4-BE49-F238E27FC236}">
                <a16:creationId xmlns:a16="http://schemas.microsoft.com/office/drawing/2014/main" id="{6C77A3A9-0018-415C-91E9-AA50B2982938}"/>
              </a:ext>
            </a:extLst>
          </p:cNvPr>
          <p:cNvSpPr>
            <a:spLocks xmlns:a="http://schemas.openxmlformats.org/drawingml/2006/main" noGrp="1"/>
          </p:cNvSpPr>
          <p:nvPr/>
        </p:nvSpPr>
        <p:spPr>
          <a:xfrm xmlns:a="http://schemas.openxmlformats.org/drawingml/2006/main">
            <a:off x="6743700" y="4267200"/>
            <a:ext cx="40386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2F6F73"/>
                </a:solidFill>
                <a:latin typeface="Aptos"/>
                <a:ea typeface="Aptos"/>
                <a:cs typeface="Aptos"/>
              </a:defRPr>
            </a:pPr>
            <a:r>
              <a:rPr sz="1050" b="1">
                <a:solidFill>
                  <a:srgbClr val="2F6F73"/>
                </a:solidFill>
                <a:latin typeface="Aptos"/>
                <a:ea typeface="Aptos"/>
                <a:cs typeface="Aptos"/>
              </a:rPr>
              <a:t>对应原文与我的创新</a:t>
            </a:r>
          </a:p>
        </p:txBody>
      </p:sp>
      <p:sp>
        <p:nvSpPr>
          <p:cNvPr id="14" name="">
            <a:extLst xmlns:a="http://schemas.openxmlformats.org/drawingml/2006/main">
              <a:ext uri="{FF2B5EF4-FFF2-40B4-BE49-F238E27FC236}">
                <a16:creationId xmlns:a16="http://schemas.microsoft.com/office/drawing/2014/main" id="{FD67AFE5-C27E-4CF6-985A-CA03A61ECFF8}"/>
              </a:ext>
            </a:extLst>
          </p:cNvPr>
          <p:cNvSpPr>
            <a:spLocks xmlns:a="http://schemas.openxmlformats.org/drawingml/2006/main" noGrp="1"/>
          </p:cNvSpPr>
          <p:nvPr/>
        </p:nvSpPr>
        <p:spPr>
          <a:xfrm xmlns:a="http://schemas.openxmlformats.org/drawingml/2006/main">
            <a:off x="6743700" y="4552950"/>
            <a:ext cx="403860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88" b="0">
                <a:solidFill>
                  <a:srgbClr val="1D1B18"/>
                </a:solidFill>
                <a:latin typeface="Aptos"/>
                <a:ea typeface="Aptos"/>
                <a:cs typeface="Aptos"/>
              </a:defRPr>
            </a:pPr>
            <a:r>
              <a:rPr sz="1088" b="0">
                <a:solidFill>
                  <a:srgbClr val="1D1B18"/>
                </a:solidFill>
                <a:latin typeface="Aptos"/>
                <a:ea typeface="Aptos"/>
                <a:cs typeface="Aptos"/>
              </a:rPr>
              <a:t>对应原文 Fig. 1-2 的外部资料验证。创新是把复现结果转为公开数据链条，为后续自己的季节诊断建立可追溯基础。</a:t>
            </a:r>
          </a:p>
        </p:txBody>
      </p:sp>
      <p:sp>
        <p:nvSpPr>
          <p:cNvPr id="15" name="">
            <a:extLst xmlns:a="http://schemas.openxmlformats.org/drawingml/2006/main">
              <a:ext uri="{FF2B5EF4-FFF2-40B4-BE49-F238E27FC236}">
                <a16:creationId xmlns:a16="http://schemas.microsoft.com/office/drawing/2014/main" id="{C804C0D5-DF91-4D3E-89D9-E17A85AA635F}"/>
              </a:ext>
            </a:extLst>
          </p:cNvPr>
          <p:cNvSpPr>
            <a:spLocks xmlns:a="http://schemas.openxmlformats.org/drawingml/2006/main" noGrp="1"/>
          </p:cNvSpPr>
          <p:nvPr/>
        </p:nvSpPr>
        <p:spPr>
          <a:xfrm xmlns:a="http://schemas.openxmlformats.org/drawingml/2006/main">
            <a:off x="552450" y="6477000"/>
            <a:ext cx="106680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5D574F"/>
                </a:solidFill>
                <a:latin typeface="Aptos"/>
                <a:ea typeface="Aptos"/>
                <a:cs typeface="Aptos"/>
              </a:defRPr>
            </a:pPr>
            <a:r>
              <a:rPr sz="788" b="0">
                <a:solidFill>
                  <a:srgbClr val="5D574F"/>
                </a:solidFill>
                <a:latin typeface="Aptos"/>
                <a:ea typeface="Aptos"/>
                <a:cs typeface="Aptos"/>
              </a:rPr>
              <a:t>Tables: oisst_vs_fig1_nino3.csv; gpcp_vs_fig2_precip.csv; ncep_vs_fig1_atmosphere.csv.</a:t>
            </a:r>
          </a:p>
        </p:txBody>
      </p:sp>
    </p:spTree>
    <p:extLst>
      <p:ext uri="{BB962C8B-B14F-4D97-AF65-F5344CB8AC3E}">
        <p14:creationId xmlns:p14="http://schemas.microsoft.com/office/powerpoint/2010/main" val="144284565"/>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5F4E58E3-7A2A-41C1-A6C4-B2FE166A4532}"/>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3EA"/>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0D6C8129-5959-418B-B53A-87C7E821CA8D}"/>
              </a:ext>
            </a:extLst>
          </p:cNvPr>
          <p:cNvSpPr>
            <a:spLocks xmlns:a="http://schemas.openxmlformats.org/drawingml/2006/main" noGrp="1"/>
          </p:cNvSpPr>
          <p:nvPr/>
        </p:nvSpPr>
        <p:spPr>
          <a:xfrm xmlns:a="http://schemas.openxmlformats.org/drawingml/2006/main">
            <a:off x="552450" y="285750"/>
            <a:ext cx="3429000" cy="23812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CC5A43"/>
                </a:solidFill>
                <a:latin typeface="Aptos"/>
                <a:ea typeface="Aptos"/>
                <a:cs typeface="Aptos"/>
              </a:defRPr>
            </a:pPr>
            <a:r>
              <a:rPr sz="1050" b="1">
                <a:solidFill>
                  <a:srgbClr val="CC5A43"/>
                </a:solidFill>
                <a:latin typeface="Aptos"/>
                <a:ea typeface="Aptos"/>
                <a:cs typeface="Aptos"/>
              </a:rPr>
              <a:t>新研究发现 1</a:t>
            </a:r>
          </a:p>
        </p:txBody>
      </p:sp>
      <p:sp>
        <p:nvSpPr>
          <p:cNvPr id="3" name="">
            <a:extLst xmlns:a="http://schemas.openxmlformats.org/drawingml/2006/main">
              <a:ext uri="{FF2B5EF4-FFF2-40B4-BE49-F238E27FC236}">
                <a16:creationId xmlns:a16="http://schemas.microsoft.com/office/drawing/2014/main" id="{07383346-2596-4864-88DA-D0A71367EA47}"/>
              </a:ext>
            </a:extLst>
          </p:cNvPr>
          <p:cNvSpPr>
            <a:spLocks xmlns:a="http://schemas.openxmlformats.org/drawingml/2006/main" noGrp="1"/>
          </p:cNvSpPr>
          <p:nvPr/>
        </p:nvSpPr>
        <p:spPr>
          <a:xfrm xmlns:a="http://schemas.openxmlformats.org/drawingml/2006/main">
            <a:off x="552450" y="609600"/>
            <a:ext cx="104775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175" b="1">
                <a:solidFill>
                  <a:srgbClr val="1D1B18"/>
                </a:solidFill>
                <a:latin typeface="Aptos Display"/>
                <a:ea typeface="Aptos Display"/>
                <a:cs typeface="Aptos Display"/>
              </a:defRPr>
            </a:pPr>
            <a:r>
              <a:rPr sz="2175" b="1">
                <a:solidFill>
                  <a:srgbClr val="1D1B18"/>
                </a:solidFill>
                <a:latin typeface="Aptos Display"/>
                <a:ea typeface="Aptos Display"/>
                <a:cs typeface="Aptos Display"/>
              </a:rPr>
              <a:t>图中数据名称：AMJ/JJA/SON/DJF 分季节回归预期响应矩阵</a:t>
            </a:r>
          </a:p>
        </p:txBody>
      </p:sp>
      <p:sp>
        <p:nvSpPr>
          <p:cNvPr id="4" name="">
            <a:extLst xmlns:a="http://schemas.openxmlformats.org/drawingml/2006/main">
              <a:ext uri="{FF2B5EF4-FFF2-40B4-BE49-F238E27FC236}">
                <a16:creationId xmlns:a16="http://schemas.microsoft.com/office/drawing/2014/main" id="{CA70E67C-B050-4CB3-BDFB-80710332A131}"/>
              </a:ext>
            </a:extLst>
          </p:cNvPr>
          <p:cNvSpPr>
            <a:spLocks xmlns:a="http://schemas.openxmlformats.org/drawingml/2006/main" noGrp="1"/>
          </p:cNvSpPr>
          <p:nvPr/>
        </p:nvSpPr>
        <p:spPr>
          <a:xfrm xmlns:a="http://schemas.openxmlformats.org/drawingml/2006/main">
            <a:off x="552450" y="1409700"/>
            <a:ext cx="10763250" cy="14288"/>
          </a:xfrm>
          <a:prstGeom xmlns:a="http://schemas.openxmlformats.org/drawingml/2006/main" prst="rect">
            <a:avLst/>
          </a:prstGeom>
          <a:solidFill xmlns:a="http://schemas.openxmlformats.org/drawingml/2006/main">
            <a:srgbClr val="D8D1C4"/>
          </a:solidFill>
          <a:ln xmlns:a="http://schemas.openxmlformats.org/drawingml/2006/main" w="0">
            <a:solidFill>
              <a:srgbClr val="000000">
                <a:alpha val="0"/>
              </a:srgbClr>
            </a:solidFill>
            <a:prstDash val="solid"/>
          </a:ln>
        </p:spPr>
      </p:sp>
      <p:pic>
        <p:nvPicPr>
          <p:cNvPr id="5" name=""/>
          <p:cNvPicPr>
            <a:picLocks xmlns:a="http://schemas.openxmlformats.org/drawingml/2006/main" noChangeAspect="1"/>
          </p:cNvPicPr>
          <p:nvPr/>
        </p:nvPicPr>
        <p:blipFill>
          <a:blip xmlns:r="http://schemas.openxmlformats.org/officeDocument/2006/relationships" xmlns:a="http://schemas.openxmlformats.org/drawingml/2006/main" r:embed="R2a2625a28a76408c"/>
          <a:stretch xmlns:a="http://schemas.openxmlformats.org/drawingml/2006/main"/>
        </p:blipFill>
        <p:spPr>
          <a:xfrm xmlns:a="http://schemas.openxmlformats.org/drawingml/2006/main">
            <a:off x="571500" y="2345055"/>
            <a:ext cx="5715000" cy="226314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103B9E8B-614E-4185-B841-D4A679F5195A}"/>
              </a:ext>
            </a:extLst>
          </p:cNvPr>
          <p:cNvSpPr>
            <a:spLocks xmlns:a="http://schemas.openxmlformats.org/drawingml/2006/main" noGrp="1"/>
          </p:cNvSpPr>
          <p:nvPr/>
        </p:nvSpPr>
        <p:spPr>
          <a:xfrm xmlns:a="http://schemas.openxmlformats.org/drawingml/2006/main">
            <a:off x="6610350" y="1600200"/>
            <a:ext cx="4305300" cy="1123950"/>
          </a:xfrm>
          <a:prstGeom xmlns:a="http://schemas.openxmlformats.org/drawingml/2006/main" prst="rect">
            <a:avLst/>
          </a:prstGeom>
          <a:solidFill xmlns:a="http://schemas.openxmlformats.org/drawingml/2006/main">
            <a:srgbClr val="F5E5DF"/>
          </a:solidFill>
          <a:ln xmlns:a="http://schemas.openxmlformats.org/drawingml/2006/main" w="7620">
            <a:solidFill>
              <a:srgbClr val="D8D1C4"/>
            </a:solidFill>
            <a:prstDash val="solid"/>
          </a:ln>
        </p:spPr>
      </p:sp>
      <p:sp>
        <p:nvSpPr>
          <p:cNvPr id="7" name="">
            <a:extLst xmlns:a="http://schemas.openxmlformats.org/drawingml/2006/main">
              <a:ext uri="{FF2B5EF4-FFF2-40B4-BE49-F238E27FC236}">
                <a16:creationId xmlns:a16="http://schemas.microsoft.com/office/drawing/2014/main" id="{5360E47A-14E4-41A6-82C7-170BF13F17EE}"/>
              </a:ext>
            </a:extLst>
          </p:cNvPr>
          <p:cNvSpPr>
            <a:spLocks xmlns:a="http://schemas.openxmlformats.org/drawingml/2006/main" noGrp="1"/>
          </p:cNvSpPr>
          <p:nvPr/>
        </p:nvSpPr>
        <p:spPr>
          <a:xfrm xmlns:a="http://schemas.openxmlformats.org/drawingml/2006/main">
            <a:off x="6743700" y="1714500"/>
            <a:ext cx="40386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2F6F73"/>
                </a:solidFill>
                <a:latin typeface="Aptos"/>
                <a:ea typeface="Aptos"/>
                <a:cs typeface="Aptos"/>
              </a:defRPr>
            </a:pPr>
            <a:r>
              <a:rPr sz="1050" b="1">
                <a:solidFill>
                  <a:srgbClr val="2F6F73"/>
                </a:solidFill>
                <a:latin typeface="Aptos"/>
                <a:ea typeface="Aptos"/>
                <a:cs typeface="Aptos"/>
              </a:rPr>
              <a:t>这幅图是什么数据</a:t>
            </a:r>
          </a:p>
        </p:txBody>
      </p:sp>
      <p:sp>
        <p:nvSpPr>
          <p:cNvPr id="8" name="">
            <a:extLst xmlns:a="http://schemas.openxmlformats.org/drawingml/2006/main">
              <a:ext uri="{FF2B5EF4-FFF2-40B4-BE49-F238E27FC236}">
                <a16:creationId xmlns:a16="http://schemas.microsoft.com/office/drawing/2014/main" id="{F6EC7A4D-838A-45F3-B40D-3B8CCE43705E}"/>
              </a:ext>
            </a:extLst>
          </p:cNvPr>
          <p:cNvSpPr>
            <a:spLocks xmlns:a="http://schemas.openxmlformats.org/drawingml/2006/main" noGrp="1"/>
          </p:cNvSpPr>
          <p:nvPr/>
        </p:nvSpPr>
        <p:spPr>
          <a:xfrm xmlns:a="http://schemas.openxmlformats.org/drawingml/2006/main">
            <a:off x="6743700" y="2000250"/>
            <a:ext cx="403860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88" b="0">
                <a:solidFill>
                  <a:srgbClr val="1D1B18"/>
                </a:solidFill>
                <a:latin typeface="Aptos"/>
                <a:ea typeface="Aptos"/>
                <a:cs typeface="Aptos"/>
              </a:defRPr>
            </a:pPr>
            <a:r>
              <a:rPr sz="1088" b="0">
                <a:solidFill>
                  <a:srgbClr val="1D1B18"/>
                </a:solidFill>
                <a:latin typeface="Aptos"/>
                <a:ea typeface="Aptos"/>
                <a:cs typeface="Aptos"/>
              </a:rPr>
              <a:t>左图为 2023 年实际大气响应除以历史 Niño-3 回归关系给出的预期响应，分别计算 AMJ、JJA、SON、DJF。右图为外海盆 SST 相对历史强事件 composite 的差值。</a:t>
            </a:r>
          </a:p>
        </p:txBody>
      </p:sp>
      <p:sp>
        <p:nvSpPr>
          <p:cNvPr id="9" name="">
            <a:extLst xmlns:a="http://schemas.openxmlformats.org/drawingml/2006/main">
              <a:ext uri="{FF2B5EF4-FFF2-40B4-BE49-F238E27FC236}">
                <a16:creationId xmlns:a16="http://schemas.microsoft.com/office/drawing/2014/main" id="{4FCB2E1B-0DFD-4ED2-88F6-8E5DB2B944C8}"/>
              </a:ext>
            </a:extLst>
          </p:cNvPr>
          <p:cNvSpPr>
            <a:spLocks xmlns:a="http://schemas.openxmlformats.org/drawingml/2006/main" noGrp="1"/>
          </p:cNvSpPr>
          <p:nvPr/>
        </p:nvSpPr>
        <p:spPr>
          <a:xfrm xmlns:a="http://schemas.openxmlformats.org/drawingml/2006/main">
            <a:off x="6610350" y="2876550"/>
            <a:ext cx="4305300" cy="1123950"/>
          </a:xfrm>
          <a:prstGeom xmlns:a="http://schemas.openxmlformats.org/drawingml/2006/main" prst="rect">
            <a:avLst/>
          </a:prstGeom>
          <a:solidFill xmlns:a="http://schemas.openxmlformats.org/drawingml/2006/main">
            <a:srgbClr val="EDF3EF"/>
          </a:solidFill>
          <a:ln xmlns:a="http://schemas.openxmlformats.org/drawingml/2006/main" w="7620">
            <a:solidFill>
              <a:srgbClr val="D8D1C4"/>
            </a:solidFill>
            <a:prstDash val="solid"/>
          </a:ln>
        </p:spPr>
      </p:sp>
      <p:sp>
        <p:nvSpPr>
          <p:cNvPr id="10" name="">
            <a:extLst xmlns:a="http://schemas.openxmlformats.org/drawingml/2006/main">
              <a:ext uri="{FF2B5EF4-FFF2-40B4-BE49-F238E27FC236}">
                <a16:creationId xmlns:a16="http://schemas.microsoft.com/office/drawing/2014/main" id="{29B1328C-1C1F-4BA5-8BD6-199D95F7A0E4}"/>
              </a:ext>
            </a:extLst>
          </p:cNvPr>
          <p:cNvSpPr>
            <a:spLocks xmlns:a="http://schemas.openxmlformats.org/drawingml/2006/main" noGrp="1"/>
          </p:cNvSpPr>
          <p:nvPr/>
        </p:nvSpPr>
        <p:spPr>
          <a:xfrm xmlns:a="http://schemas.openxmlformats.org/drawingml/2006/main">
            <a:off x="6743700" y="2990850"/>
            <a:ext cx="40386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2F6F73"/>
                </a:solidFill>
                <a:latin typeface="Aptos"/>
                <a:ea typeface="Aptos"/>
                <a:cs typeface="Aptos"/>
              </a:defRPr>
            </a:pPr>
            <a:r>
              <a:rPr sz="1050" b="1">
                <a:solidFill>
                  <a:srgbClr val="2F6F73"/>
                </a:solidFill>
                <a:latin typeface="Aptos"/>
                <a:ea typeface="Aptos"/>
                <a:cs typeface="Aptos"/>
              </a:rPr>
              <a:t>它反映了什么</a:t>
            </a:r>
          </a:p>
        </p:txBody>
      </p:sp>
      <p:sp>
        <p:nvSpPr>
          <p:cNvPr id="11" name="">
            <a:extLst xmlns:a="http://schemas.openxmlformats.org/drawingml/2006/main">
              <a:ext uri="{FF2B5EF4-FFF2-40B4-BE49-F238E27FC236}">
                <a16:creationId xmlns:a16="http://schemas.microsoft.com/office/drawing/2014/main" id="{61193E85-D59E-4E06-81D3-EB2E2218ECFE}"/>
              </a:ext>
            </a:extLst>
          </p:cNvPr>
          <p:cNvSpPr>
            <a:spLocks xmlns:a="http://schemas.openxmlformats.org/drawingml/2006/main" noGrp="1"/>
          </p:cNvSpPr>
          <p:nvPr/>
        </p:nvSpPr>
        <p:spPr>
          <a:xfrm xmlns:a="http://schemas.openxmlformats.org/drawingml/2006/main">
            <a:off x="6743700" y="3276600"/>
            <a:ext cx="403860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88" b="0">
                <a:solidFill>
                  <a:srgbClr val="1D1B18"/>
                </a:solidFill>
                <a:latin typeface="Aptos"/>
                <a:ea typeface="Aptos"/>
                <a:cs typeface="Aptos"/>
              </a:defRPr>
            </a:pPr>
            <a:r>
              <a:rPr sz="1088" b="0">
                <a:solidFill>
                  <a:srgbClr val="1D1B18"/>
                </a:solidFill>
                <a:latin typeface="Aptos"/>
                <a:ea typeface="Aptos"/>
                <a:cs typeface="Aptos"/>
              </a:rPr>
              <a:t>AMJ/JJA 已经出现明显弱响应：ERA5 中西太平洋 u10 在 AMJ 为 -0.38、JJA 为 0.06；SOI-like、GPCP 降水和 CPC OLR 也均低于 1。</a:t>
            </a:r>
          </a:p>
        </p:txBody>
      </p:sp>
      <p:sp>
        <p:nvSpPr>
          <p:cNvPr id="12" name="">
            <a:extLst xmlns:a="http://schemas.openxmlformats.org/drawingml/2006/main">
              <a:ext uri="{FF2B5EF4-FFF2-40B4-BE49-F238E27FC236}">
                <a16:creationId xmlns:a16="http://schemas.microsoft.com/office/drawing/2014/main" id="{807100F3-BD1C-4306-82B9-76964AB0579F}"/>
              </a:ext>
            </a:extLst>
          </p:cNvPr>
          <p:cNvSpPr>
            <a:spLocks xmlns:a="http://schemas.openxmlformats.org/drawingml/2006/main" noGrp="1"/>
          </p:cNvSpPr>
          <p:nvPr/>
        </p:nvSpPr>
        <p:spPr>
          <a:xfrm xmlns:a="http://schemas.openxmlformats.org/drawingml/2006/main">
            <a:off x="6610350" y="4152900"/>
            <a:ext cx="4305300" cy="1123950"/>
          </a:xfrm>
          <a:prstGeom xmlns:a="http://schemas.openxmlformats.org/drawingml/2006/main" prst="rect">
            <a:avLst/>
          </a:prstGeom>
          <a:solidFill xmlns:a="http://schemas.openxmlformats.org/drawingml/2006/main">
            <a:srgbClr val="F5E5DF"/>
          </a:solidFill>
          <a:ln xmlns:a="http://schemas.openxmlformats.org/drawingml/2006/main" w="7620">
            <a:solidFill>
              <a:srgbClr val="D8D1C4"/>
            </a:solidFill>
            <a:prstDash val="solid"/>
          </a:ln>
        </p:spPr>
      </p:sp>
      <p:sp>
        <p:nvSpPr>
          <p:cNvPr id="13" name="">
            <a:extLst xmlns:a="http://schemas.openxmlformats.org/drawingml/2006/main">
              <a:ext uri="{FF2B5EF4-FFF2-40B4-BE49-F238E27FC236}">
                <a16:creationId xmlns:a16="http://schemas.microsoft.com/office/drawing/2014/main" id="{A8ACCAD7-329E-4921-8D25-0122BEFCBA85}"/>
              </a:ext>
            </a:extLst>
          </p:cNvPr>
          <p:cNvSpPr>
            <a:spLocks xmlns:a="http://schemas.openxmlformats.org/drawingml/2006/main" noGrp="1"/>
          </p:cNvSpPr>
          <p:nvPr/>
        </p:nvSpPr>
        <p:spPr>
          <a:xfrm xmlns:a="http://schemas.openxmlformats.org/drawingml/2006/main">
            <a:off x="6743700" y="4267200"/>
            <a:ext cx="40386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2F6F73"/>
                </a:solidFill>
                <a:latin typeface="Aptos"/>
                <a:ea typeface="Aptos"/>
                <a:cs typeface="Aptos"/>
              </a:defRPr>
            </a:pPr>
            <a:r>
              <a:rPr sz="1050" b="1">
                <a:solidFill>
                  <a:srgbClr val="2F6F73"/>
                </a:solidFill>
                <a:latin typeface="Aptos"/>
                <a:ea typeface="Aptos"/>
                <a:cs typeface="Aptos"/>
              </a:rPr>
              <a:t>对应原文与我的创新</a:t>
            </a:r>
          </a:p>
        </p:txBody>
      </p:sp>
      <p:sp>
        <p:nvSpPr>
          <p:cNvPr id="14" name="">
            <a:extLst xmlns:a="http://schemas.openxmlformats.org/drawingml/2006/main">
              <a:ext uri="{FF2B5EF4-FFF2-40B4-BE49-F238E27FC236}">
                <a16:creationId xmlns:a16="http://schemas.microsoft.com/office/drawing/2014/main" id="{F7430221-C8C0-4A21-A4D5-2FCC552025FA}"/>
              </a:ext>
            </a:extLst>
          </p:cNvPr>
          <p:cNvSpPr>
            <a:spLocks xmlns:a="http://schemas.openxmlformats.org/drawingml/2006/main" noGrp="1"/>
          </p:cNvSpPr>
          <p:nvPr/>
        </p:nvSpPr>
        <p:spPr>
          <a:xfrm xmlns:a="http://schemas.openxmlformats.org/drawingml/2006/main">
            <a:off x="6743700" y="4552950"/>
            <a:ext cx="403860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88" b="0">
                <a:solidFill>
                  <a:srgbClr val="1D1B18"/>
                </a:solidFill>
                <a:latin typeface="Aptos"/>
                <a:ea typeface="Aptos"/>
                <a:cs typeface="Aptos"/>
              </a:defRPr>
            </a:pPr>
            <a:r>
              <a:rPr sz="1088" b="0">
                <a:solidFill>
                  <a:srgbClr val="1D1B18"/>
                </a:solidFill>
                <a:latin typeface="Aptos"/>
                <a:ea typeface="Aptos"/>
                <a:cs typeface="Aptos"/>
              </a:rPr>
              <a:t>原文在事件尺度比较 observed 与 expected response；本研究把同一逻辑季节化，并扩展到风压、降水和对流链条。</a:t>
            </a:r>
          </a:p>
        </p:txBody>
      </p:sp>
      <p:sp>
        <p:nvSpPr>
          <p:cNvPr id="15" name="">
            <a:extLst xmlns:a="http://schemas.openxmlformats.org/drawingml/2006/main">
              <a:ext uri="{FF2B5EF4-FFF2-40B4-BE49-F238E27FC236}">
                <a16:creationId xmlns:a16="http://schemas.microsoft.com/office/drawing/2014/main" id="{464C0628-3CAF-41D1-B7A4-CCB15556AF0F}"/>
              </a:ext>
            </a:extLst>
          </p:cNvPr>
          <p:cNvSpPr>
            <a:spLocks xmlns:a="http://schemas.openxmlformats.org/drawingml/2006/main" noGrp="1"/>
          </p:cNvSpPr>
          <p:nvPr/>
        </p:nvSpPr>
        <p:spPr>
          <a:xfrm xmlns:a="http://schemas.openxmlformats.org/drawingml/2006/main">
            <a:off x="552450" y="6477000"/>
            <a:ext cx="106680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5D574F"/>
                </a:solidFill>
                <a:latin typeface="Aptos"/>
                <a:ea typeface="Aptos"/>
                <a:cs typeface="Aptos"/>
              </a:defRPr>
            </a:pPr>
            <a:r>
              <a:rPr sz="788" b="0">
                <a:solidFill>
                  <a:srgbClr val="5D574F"/>
                </a:solidFill>
                <a:latin typeface="Aptos"/>
                <a:ea typeface="Aptos"/>
                <a:cs typeface="Aptos"/>
              </a:rPr>
              <a:t>Tables: seasonal_regression_expected_response.csv; external_basin_seasonal_summary.csv.</a:t>
            </a:r>
          </a:p>
        </p:txBody>
      </p:sp>
    </p:spTree>
    <p:extLst>
      <p:ext uri="{BB962C8B-B14F-4D97-AF65-F5344CB8AC3E}">
        <p14:creationId xmlns:p14="http://schemas.microsoft.com/office/powerpoint/2010/main" val="857305903"/>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A17AD760-A63A-4FB7-91AF-F90F190F8E1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3EA"/>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5D12F766-77E8-4C06-A380-66F3AEE18810}"/>
              </a:ext>
            </a:extLst>
          </p:cNvPr>
          <p:cNvSpPr>
            <a:spLocks xmlns:a="http://schemas.openxmlformats.org/drawingml/2006/main" noGrp="1"/>
          </p:cNvSpPr>
          <p:nvPr/>
        </p:nvSpPr>
        <p:spPr>
          <a:xfrm xmlns:a="http://schemas.openxmlformats.org/drawingml/2006/main">
            <a:off x="552450" y="285750"/>
            <a:ext cx="3429000" cy="23812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CC5A43"/>
                </a:solidFill>
                <a:latin typeface="Aptos"/>
                <a:ea typeface="Aptos"/>
                <a:cs typeface="Aptos"/>
              </a:defRPr>
            </a:pPr>
            <a:r>
              <a:rPr sz="1050" b="1">
                <a:solidFill>
                  <a:srgbClr val="CC5A43"/>
                </a:solidFill>
                <a:latin typeface="Aptos"/>
                <a:ea typeface="Aptos"/>
                <a:cs typeface="Aptos"/>
              </a:rPr>
              <a:t>新研究发现 2</a:t>
            </a:r>
          </a:p>
        </p:txBody>
      </p:sp>
      <p:sp>
        <p:nvSpPr>
          <p:cNvPr id="3" name="">
            <a:extLst xmlns:a="http://schemas.openxmlformats.org/drawingml/2006/main">
              <a:ext uri="{FF2B5EF4-FFF2-40B4-BE49-F238E27FC236}">
                <a16:creationId xmlns:a16="http://schemas.microsoft.com/office/drawing/2014/main" id="{BB97A172-FEA2-41C3-9C46-CF2A3D32A5B9}"/>
              </a:ext>
            </a:extLst>
          </p:cNvPr>
          <p:cNvSpPr>
            <a:spLocks xmlns:a="http://schemas.openxmlformats.org/drawingml/2006/main" noGrp="1"/>
          </p:cNvSpPr>
          <p:nvPr/>
        </p:nvSpPr>
        <p:spPr>
          <a:xfrm xmlns:a="http://schemas.openxmlformats.org/drawingml/2006/main">
            <a:off x="552450" y="609600"/>
            <a:ext cx="104775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175" b="1">
                <a:solidFill>
                  <a:srgbClr val="1D1B18"/>
                </a:solidFill>
                <a:latin typeface="Aptos Display"/>
                <a:ea typeface="Aptos Display"/>
                <a:cs typeface="Aptos Display"/>
              </a:defRPr>
            </a:pPr>
            <a:r>
              <a:rPr sz="2175" b="1">
                <a:solidFill>
                  <a:srgbClr val="1D1B18"/>
                </a:solidFill>
                <a:latin typeface="Aptos Display"/>
                <a:ea typeface="Aptos Display"/>
                <a:cs typeface="Aptos Display"/>
              </a:rPr>
              <a:t>图中数据名称：AMJ/JJA 海表温度和 GPCP 降水空间异常</a:t>
            </a:r>
          </a:p>
        </p:txBody>
      </p:sp>
      <p:sp>
        <p:nvSpPr>
          <p:cNvPr id="4" name="">
            <a:extLst xmlns:a="http://schemas.openxmlformats.org/drawingml/2006/main">
              <a:ext uri="{FF2B5EF4-FFF2-40B4-BE49-F238E27FC236}">
                <a16:creationId xmlns:a16="http://schemas.microsoft.com/office/drawing/2014/main" id="{045F5BA8-6C72-4C16-B4E9-DBA15CC9AF56}"/>
              </a:ext>
            </a:extLst>
          </p:cNvPr>
          <p:cNvSpPr>
            <a:spLocks xmlns:a="http://schemas.openxmlformats.org/drawingml/2006/main" noGrp="1"/>
          </p:cNvSpPr>
          <p:nvPr/>
        </p:nvSpPr>
        <p:spPr>
          <a:xfrm xmlns:a="http://schemas.openxmlformats.org/drawingml/2006/main">
            <a:off x="552450" y="1409700"/>
            <a:ext cx="10763250" cy="14288"/>
          </a:xfrm>
          <a:prstGeom xmlns:a="http://schemas.openxmlformats.org/drawingml/2006/main" prst="rect">
            <a:avLst/>
          </a:prstGeom>
          <a:solidFill xmlns:a="http://schemas.openxmlformats.org/drawingml/2006/main">
            <a:srgbClr val="D8D1C4"/>
          </a:solidFill>
          <a:ln xmlns:a="http://schemas.openxmlformats.org/drawingml/2006/main" w="0">
            <a:solidFill>
              <a:srgbClr val="000000">
                <a:alpha val="0"/>
              </a:srgbClr>
            </a:solidFill>
            <a:prstDash val="solid"/>
          </a:ln>
        </p:spPr>
      </p:sp>
      <p:pic>
        <p:nvPicPr>
          <p:cNvPr id="5" name=""/>
          <p:cNvPicPr>
            <a:picLocks xmlns:a="http://schemas.openxmlformats.org/drawingml/2006/main" noChangeAspect="1"/>
          </p:cNvPicPr>
          <p:nvPr/>
        </p:nvPicPr>
        <p:blipFill>
          <a:blip xmlns:r="http://schemas.openxmlformats.org/officeDocument/2006/relationships" xmlns:a="http://schemas.openxmlformats.org/drawingml/2006/main" r:embed="R337c81acc87f48c4"/>
          <a:stretch xmlns:a="http://schemas.openxmlformats.org/drawingml/2006/main"/>
        </p:blipFill>
        <p:spPr>
          <a:xfrm xmlns:a="http://schemas.openxmlformats.org/drawingml/2006/main">
            <a:off x="571500" y="1954203"/>
            <a:ext cx="5715000" cy="3044843"/>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9CCE324D-6574-4790-BB0A-4D73303131BC}"/>
              </a:ext>
            </a:extLst>
          </p:cNvPr>
          <p:cNvSpPr>
            <a:spLocks xmlns:a="http://schemas.openxmlformats.org/drawingml/2006/main" noGrp="1"/>
          </p:cNvSpPr>
          <p:nvPr/>
        </p:nvSpPr>
        <p:spPr>
          <a:xfrm xmlns:a="http://schemas.openxmlformats.org/drawingml/2006/main">
            <a:off x="6610350" y="1600200"/>
            <a:ext cx="4305300" cy="1123950"/>
          </a:xfrm>
          <a:prstGeom xmlns:a="http://schemas.openxmlformats.org/drawingml/2006/main" prst="rect">
            <a:avLst/>
          </a:prstGeom>
          <a:solidFill xmlns:a="http://schemas.openxmlformats.org/drawingml/2006/main">
            <a:srgbClr val="F5E5DF"/>
          </a:solidFill>
          <a:ln xmlns:a="http://schemas.openxmlformats.org/drawingml/2006/main" w="7620">
            <a:solidFill>
              <a:srgbClr val="D8D1C4"/>
            </a:solidFill>
            <a:prstDash val="solid"/>
          </a:ln>
        </p:spPr>
      </p:sp>
      <p:sp>
        <p:nvSpPr>
          <p:cNvPr id="7" name="">
            <a:extLst xmlns:a="http://schemas.openxmlformats.org/drawingml/2006/main">
              <a:ext uri="{FF2B5EF4-FFF2-40B4-BE49-F238E27FC236}">
                <a16:creationId xmlns:a16="http://schemas.microsoft.com/office/drawing/2014/main" id="{53C25424-4D4B-4DBD-B5F6-05ED68D631EB}"/>
              </a:ext>
            </a:extLst>
          </p:cNvPr>
          <p:cNvSpPr>
            <a:spLocks xmlns:a="http://schemas.openxmlformats.org/drawingml/2006/main" noGrp="1"/>
          </p:cNvSpPr>
          <p:nvPr/>
        </p:nvSpPr>
        <p:spPr>
          <a:xfrm xmlns:a="http://schemas.openxmlformats.org/drawingml/2006/main">
            <a:off x="6743700" y="1714500"/>
            <a:ext cx="40386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2F6F73"/>
                </a:solidFill>
                <a:latin typeface="Aptos"/>
                <a:ea typeface="Aptos"/>
                <a:cs typeface="Aptos"/>
              </a:defRPr>
            </a:pPr>
            <a:r>
              <a:rPr sz="1050" b="1">
                <a:solidFill>
                  <a:srgbClr val="2F6F73"/>
                </a:solidFill>
                <a:latin typeface="Aptos"/>
                <a:ea typeface="Aptos"/>
                <a:cs typeface="Aptos"/>
              </a:rPr>
              <a:t>这幅图是什么数据</a:t>
            </a:r>
          </a:p>
        </p:txBody>
      </p:sp>
      <p:sp>
        <p:nvSpPr>
          <p:cNvPr id="8" name="">
            <a:extLst xmlns:a="http://schemas.openxmlformats.org/drawingml/2006/main">
              <a:ext uri="{FF2B5EF4-FFF2-40B4-BE49-F238E27FC236}">
                <a16:creationId xmlns:a16="http://schemas.microsoft.com/office/drawing/2014/main" id="{EAD88EDC-AC88-4A22-9D35-23223099297D}"/>
              </a:ext>
            </a:extLst>
          </p:cNvPr>
          <p:cNvSpPr>
            <a:spLocks xmlns:a="http://schemas.openxmlformats.org/drawingml/2006/main" noGrp="1"/>
          </p:cNvSpPr>
          <p:nvPr/>
        </p:nvSpPr>
        <p:spPr>
          <a:xfrm xmlns:a="http://schemas.openxmlformats.org/drawingml/2006/main">
            <a:off x="6743700" y="2000250"/>
            <a:ext cx="403860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88" b="0">
                <a:solidFill>
                  <a:srgbClr val="1D1B18"/>
                </a:solidFill>
                <a:latin typeface="Aptos"/>
                <a:ea typeface="Aptos"/>
                <a:cs typeface="Aptos"/>
              </a:defRPr>
            </a:pPr>
            <a:r>
              <a:rPr sz="1088" b="0">
                <a:solidFill>
                  <a:srgbClr val="1D1B18"/>
                </a:solidFill>
                <a:latin typeface="Aptos"/>
                <a:ea typeface="Aptos"/>
                <a:cs typeface="Aptos"/>
              </a:rPr>
              <a:t>上排是 OISST 海表温度，下面是 GPCP 降水。每个格点都是 2023 AMJ/JJA 减去历史强厄尔尼诺 composite。</a:t>
            </a:r>
          </a:p>
        </p:txBody>
      </p:sp>
      <p:sp>
        <p:nvSpPr>
          <p:cNvPr id="9" name="">
            <a:extLst xmlns:a="http://schemas.openxmlformats.org/drawingml/2006/main">
              <a:ext uri="{FF2B5EF4-FFF2-40B4-BE49-F238E27FC236}">
                <a16:creationId xmlns:a16="http://schemas.microsoft.com/office/drawing/2014/main" id="{06D6C9FC-E849-4963-A36C-CEB058C76371}"/>
              </a:ext>
            </a:extLst>
          </p:cNvPr>
          <p:cNvSpPr>
            <a:spLocks xmlns:a="http://schemas.openxmlformats.org/drawingml/2006/main" noGrp="1"/>
          </p:cNvSpPr>
          <p:nvPr/>
        </p:nvSpPr>
        <p:spPr>
          <a:xfrm xmlns:a="http://schemas.openxmlformats.org/drawingml/2006/main">
            <a:off x="6610350" y="2876550"/>
            <a:ext cx="4305300" cy="1123950"/>
          </a:xfrm>
          <a:prstGeom xmlns:a="http://schemas.openxmlformats.org/drawingml/2006/main" prst="rect">
            <a:avLst/>
          </a:prstGeom>
          <a:solidFill xmlns:a="http://schemas.openxmlformats.org/drawingml/2006/main">
            <a:srgbClr val="EDF3EF"/>
          </a:solidFill>
          <a:ln xmlns:a="http://schemas.openxmlformats.org/drawingml/2006/main" w="7620">
            <a:solidFill>
              <a:srgbClr val="D8D1C4"/>
            </a:solidFill>
            <a:prstDash val="solid"/>
          </a:ln>
        </p:spPr>
      </p:sp>
      <p:sp>
        <p:nvSpPr>
          <p:cNvPr id="10" name="">
            <a:extLst xmlns:a="http://schemas.openxmlformats.org/drawingml/2006/main">
              <a:ext uri="{FF2B5EF4-FFF2-40B4-BE49-F238E27FC236}">
                <a16:creationId xmlns:a16="http://schemas.microsoft.com/office/drawing/2014/main" id="{77617076-E323-4571-B7A2-49611B5D34C0}"/>
              </a:ext>
            </a:extLst>
          </p:cNvPr>
          <p:cNvSpPr>
            <a:spLocks xmlns:a="http://schemas.openxmlformats.org/drawingml/2006/main" noGrp="1"/>
          </p:cNvSpPr>
          <p:nvPr/>
        </p:nvSpPr>
        <p:spPr>
          <a:xfrm xmlns:a="http://schemas.openxmlformats.org/drawingml/2006/main">
            <a:off x="6743700" y="2990850"/>
            <a:ext cx="40386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2F6F73"/>
                </a:solidFill>
                <a:latin typeface="Aptos"/>
                <a:ea typeface="Aptos"/>
                <a:cs typeface="Aptos"/>
              </a:defRPr>
            </a:pPr>
            <a:r>
              <a:rPr sz="1050" b="1">
                <a:solidFill>
                  <a:srgbClr val="2F6F73"/>
                </a:solidFill>
                <a:latin typeface="Aptos"/>
                <a:ea typeface="Aptos"/>
                <a:cs typeface="Aptos"/>
              </a:rPr>
              <a:t>它反映了什么</a:t>
            </a:r>
          </a:p>
        </p:txBody>
      </p:sp>
      <p:sp>
        <p:nvSpPr>
          <p:cNvPr id="11" name="">
            <a:extLst xmlns:a="http://schemas.openxmlformats.org/drawingml/2006/main">
              <a:ext uri="{FF2B5EF4-FFF2-40B4-BE49-F238E27FC236}">
                <a16:creationId xmlns:a16="http://schemas.microsoft.com/office/drawing/2014/main" id="{BB0CA16A-67D1-480D-AB36-759F9DD8987F}"/>
              </a:ext>
            </a:extLst>
          </p:cNvPr>
          <p:cNvSpPr>
            <a:spLocks xmlns:a="http://schemas.openxmlformats.org/drawingml/2006/main" noGrp="1"/>
          </p:cNvSpPr>
          <p:nvPr/>
        </p:nvSpPr>
        <p:spPr>
          <a:xfrm xmlns:a="http://schemas.openxmlformats.org/drawingml/2006/main">
            <a:off x="6743700" y="3276600"/>
            <a:ext cx="403860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88" b="0">
                <a:solidFill>
                  <a:srgbClr val="1D1B18"/>
                </a:solidFill>
                <a:latin typeface="Aptos"/>
                <a:ea typeface="Aptos"/>
                <a:cs typeface="Aptos"/>
              </a:defRPr>
            </a:pPr>
            <a:r>
              <a:rPr sz="1088" b="0">
                <a:solidFill>
                  <a:srgbClr val="1D1B18"/>
                </a:solidFill>
                <a:latin typeface="Aptos"/>
                <a:ea typeface="Aptos"/>
                <a:cs typeface="Aptos"/>
              </a:rPr>
              <a:t>2023 春夏不只是东太平洋暖，热带北大西洋、海陆洲和西太暖池也显著偏暖；但中东太平洋降水没有同步增强，甚至相对历史强事件偏弱。</a:t>
            </a:r>
          </a:p>
        </p:txBody>
      </p:sp>
      <p:sp>
        <p:nvSpPr>
          <p:cNvPr id="12" name="">
            <a:extLst xmlns:a="http://schemas.openxmlformats.org/drawingml/2006/main">
              <a:ext uri="{FF2B5EF4-FFF2-40B4-BE49-F238E27FC236}">
                <a16:creationId xmlns:a16="http://schemas.microsoft.com/office/drawing/2014/main" id="{1E05E22C-5A28-4E04-B507-68E53C5D11A9}"/>
              </a:ext>
            </a:extLst>
          </p:cNvPr>
          <p:cNvSpPr>
            <a:spLocks xmlns:a="http://schemas.openxmlformats.org/drawingml/2006/main" noGrp="1"/>
          </p:cNvSpPr>
          <p:nvPr/>
        </p:nvSpPr>
        <p:spPr>
          <a:xfrm xmlns:a="http://schemas.openxmlformats.org/drawingml/2006/main">
            <a:off x="6610350" y="4152900"/>
            <a:ext cx="4305300" cy="1123950"/>
          </a:xfrm>
          <a:prstGeom xmlns:a="http://schemas.openxmlformats.org/drawingml/2006/main" prst="rect">
            <a:avLst/>
          </a:prstGeom>
          <a:solidFill xmlns:a="http://schemas.openxmlformats.org/drawingml/2006/main">
            <a:srgbClr val="F5E5DF"/>
          </a:solidFill>
          <a:ln xmlns:a="http://schemas.openxmlformats.org/drawingml/2006/main" w="7620">
            <a:solidFill>
              <a:srgbClr val="D8D1C4"/>
            </a:solidFill>
            <a:prstDash val="solid"/>
          </a:ln>
        </p:spPr>
      </p:sp>
      <p:sp>
        <p:nvSpPr>
          <p:cNvPr id="13" name="">
            <a:extLst xmlns:a="http://schemas.openxmlformats.org/drawingml/2006/main">
              <a:ext uri="{FF2B5EF4-FFF2-40B4-BE49-F238E27FC236}">
                <a16:creationId xmlns:a16="http://schemas.microsoft.com/office/drawing/2014/main" id="{BA5A398D-12E9-4827-8AA4-668F974A719C}"/>
              </a:ext>
            </a:extLst>
          </p:cNvPr>
          <p:cNvSpPr>
            <a:spLocks xmlns:a="http://schemas.openxmlformats.org/drawingml/2006/main" noGrp="1"/>
          </p:cNvSpPr>
          <p:nvPr/>
        </p:nvSpPr>
        <p:spPr>
          <a:xfrm xmlns:a="http://schemas.openxmlformats.org/drawingml/2006/main">
            <a:off x="6743700" y="4267200"/>
            <a:ext cx="40386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2F6F73"/>
                </a:solidFill>
                <a:latin typeface="Aptos"/>
                <a:ea typeface="Aptos"/>
                <a:cs typeface="Aptos"/>
              </a:defRPr>
            </a:pPr>
            <a:r>
              <a:rPr sz="1050" b="1">
                <a:solidFill>
                  <a:srgbClr val="2F6F73"/>
                </a:solidFill>
                <a:latin typeface="Aptos"/>
                <a:ea typeface="Aptos"/>
                <a:cs typeface="Aptos"/>
              </a:rPr>
              <a:t>对应原文与我的创新</a:t>
            </a:r>
          </a:p>
        </p:txBody>
      </p:sp>
      <p:sp>
        <p:nvSpPr>
          <p:cNvPr id="14" name="">
            <a:extLst xmlns:a="http://schemas.openxmlformats.org/drawingml/2006/main">
              <a:ext uri="{FF2B5EF4-FFF2-40B4-BE49-F238E27FC236}">
                <a16:creationId xmlns:a16="http://schemas.microsoft.com/office/drawing/2014/main" id="{2497A0CE-E6D6-4FA5-BD94-88D5EBFABF89}"/>
              </a:ext>
            </a:extLst>
          </p:cNvPr>
          <p:cNvSpPr>
            <a:spLocks xmlns:a="http://schemas.openxmlformats.org/drawingml/2006/main" noGrp="1"/>
          </p:cNvSpPr>
          <p:nvPr/>
        </p:nvSpPr>
        <p:spPr>
          <a:xfrm xmlns:a="http://schemas.openxmlformats.org/drawingml/2006/main">
            <a:off x="6743700" y="4552950"/>
            <a:ext cx="403860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88" b="0">
                <a:solidFill>
                  <a:srgbClr val="1D1B18"/>
                </a:solidFill>
                <a:latin typeface="Aptos"/>
                <a:ea typeface="Aptos"/>
                <a:cs typeface="Aptos"/>
              </a:defRPr>
            </a:pPr>
            <a:r>
              <a:rPr sz="1088" b="0">
                <a:solidFill>
                  <a:srgbClr val="1D1B18"/>
                </a:solidFill>
                <a:latin typeface="Aptos"/>
                <a:ea typeface="Aptos"/>
                <a:cs typeface="Aptos"/>
              </a:rPr>
              <a:t>对应原文关于外海盆 SST 可能调制响应的提示。我的创新是给出发展季空间证据，说明外海盆暖背景和弱降水响应同时出现。</a:t>
            </a:r>
          </a:p>
        </p:txBody>
      </p:sp>
      <p:sp>
        <p:nvSpPr>
          <p:cNvPr id="15" name="">
            <a:extLst xmlns:a="http://schemas.openxmlformats.org/drawingml/2006/main">
              <a:ext uri="{FF2B5EF4-FFF2-40B4-BE49-F238E27FC236}">
                <a16:creationId xmlns:a16="http://schemas.microsoft.com/office/drawing/2014/main" id="{04D287E5-282F-4C3A-A54C-F17BA9AB60E2}"/>
              </a:ext>
            </a:extLst>
          </p:cNvPr>
          <p:cNvSpPr>
            <a:spLocks xmlns:a="http://schemas.openxmlformats.org/drawingml/2006/main" noGrp="1"/>
          </p:cNvSpPr>
          <p:nvPr/>
        </p:nvSpPr>
        <p:spPr>
          <a:xfrm xmlns:a="http://schemas.openxmlformats.org/drawingml/2006/main">
            <a:off x="552450" y="6477000"/>
            <a:ext cx="106680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5D574F"/>
                </a:solidFill>
                <a:latin typeface="Aptos"/>
                <a:ea typeface="Aptos"/>
                <a:cs typeface="Aptos"/>
              </a:defRPr>
            </a:pPr>
            <a:r>
              <a:rPr sz="788" b="0">
                <a:solidFill>
                  <a:srgbClr val="5D574F"/>
                </a:solidFill>
                <a:latin typeface="Aptos"/>
                <a:ea typeface="Aptos"/>
                <a:cs typeface="Aptos"/>
              </a:rPr>
              <a:t>Data: NOAA OISST v2.1 and GPCP; summary table stage_a_spatial_summary.csv.</a:t>
            </a:r>
          </a:p>
        </p:txBody>
      </p:sp>
    </p:spTree>
    <p:extLst>
      <p:ext uri="{BB962C8B-B14F-4D97-AF65-F5344CB8AC3E}">
        <p14:creationId xmlns:p14="http://schemas.microsoft.com/office/powerpoint/2010/main" val="1619497909"/>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90087CEA-6BDC-4780-A4BC-F9E9BB4CE13E}"/>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3EA"/>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6F359E20-5613-4979-A21F-810C5905A6CF}"/>
              </a:ext>
            </a:extLst>
          </p:cNvPr>
          <p:cNvSpPr>
            <a:spLocks xmlns:a="http://schemas.openxmlformats.org/drawingml/2006/main" noGrp="1"/>
          </p:cNvSpPr>
          <p:nvPr/>
        </p:nvSpPr>
        <p:spPr>
          <a:xfrm xmlns:a="http://schemas.openxmlformats.org/drawingml/2006/main">
            <a:off x="552450" y="285750"/>
            <a:ext cx="3429000" cy="23812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CC5A43"/>
                </a:solidFill>
                <a:latin typeface="Aptos"/>
                <a:ea typeface="Aptos"/>
                <a:cs typeface="Aptos"/>
              </a:defRPr>
            </a:pPr>
            <a:r>
              <a:rPr sz="1050" b="1">
                <a:solidFill>
                  <a:srgbClr val="CC5A43"/>
                </a:solidFill>
                <a:latin typeface="Aptos"/>
                <a:ea typeface="Aptos"/>
                <a:cs typeface="Aptos"/>
              </a:rPr>
              <a:t>新研究发现 3</a:t>
            </a:r>
          </a:p>
        </p:txBody>
      </p:sp>
      <p:sp>
        <p:nvSpPr>
          <p:cNvPr id="3" name="">
            <a:extLst xmlns:a="http://schemas.openxmlformats.org/drawingml/2006/main">
              <a:ext uri="{FF2B5EF4-FFF2-40B4-BE49-F238E27FC236}">
                <a16:creationId xmlns:a16="http://schemas.microsoft.com/office/drawing/2014/main" id="{861FB80F-1BC5-4C4F-A384-B19ED70D3E93}"/>
              </a:ext>
            </a:extLst>
          </p:cNvPr>
          <p:cNvSpPr>
            <a:spLocks xmlns:a="http://schemas.openxmlformats.org/drawingml/2006/main" noGrp="1"/>
          </p:cNvSpPr>
          <p:nvPr/>
        </p:nvSpPr>
        <p:spPr>
          <a:xfrm xmlns:a="http://schemas.openxmlformats.org/drawingml/2006/main">
            <a:off x="552450" y="609600"/>
            <a:ext cx="104775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175" b="1">
                <a:solidFill>
                  <a:srgbClr val="1D1B18"/>
                </a:solidFill>
                <a:latin typeface="Aptos Display"/>
                <a:ea typeface="Aptos Display"/>
                <a:cs typeface="Aptos Display"/>
              </a:defRPr>
            </a:pPr>
            <a:r>
              <a:rPr sz="2175" b="1">
                <a:solidFill>
                  <a:srgbClr val="1D1B18"/>
                </a:solidFill>
                <a:latin typeface="Aptos Display"/>
                <a:ea typeface="Aptos Display"/>
                <a:cs typeface="Aptos Display"/>
              </a:rPr>
              <a:t>图中数据名称：AMJ/JJA 近地面风和海平面气压空间异常</a:t>
            </a:r>
          </a:p>
        </p:txBody>
      </p:sp>
      <p:sp>
        <p:nvSpPr>
          <p:cNvPr id="4" name="">
            <a:extLst xmlns:a="http://schemas.openxmlformats.org/drawingml/2006/main">
              <a:ext uri="{FF2B5EF4-FFF2-40B4-BE49-F238E27FC236}">
                <a16:creationId xmlns:a16="http://schemas.microsoft.com/office/drawing/2014/main" id="{32B7C140-13F6-4AF0-A622-B687FB3E49DD}"/>
              </a:ext>
            </a:extLst>
          </p:cNvPr>
          <p:cNvSpPr>
            <a:spLocks xmlns:a="http://schemas.openxmlformats.org/drawingml/2006/main" noGrp="1"/>
          </p:cNvSpPr>
          <p:nvPr/>
        </p:nvSpPr>
        <p:spPr>
          <a:xfrm xmlns:a="http://schemas.openxmlformats.org/drawingml/2006/main">
            <a:off x="552450" y="1409700"/>
            <a:ext cx="10763250" cy="14288"/>
          </a:xfrm>
          <a:prstGeom xmlns:a="http://schemas.openxmlformats.org/drawingml/2006/main" prst="rect">
            <a:avLst/>
          </a:prstGeom>
          <a:solidFill xmlns:a="http://schemas.openxmlformats.org/drawingml/2006/main">
            <a:srgbClr val="D8D1C4"/>
          </a:solidFill>
          <a:ln xmlns:a="http://schemas.openxmlformats.org/drawingml/2006/main" w="0">
            <a:solidFill>
              <a:srgbClr val="000000">
                <a:alpha val="0"/>
              </a:srgbClr>
            </a:solidFill>
            <a:prstDash val="solid"/>
          </a:ln>
        </p:spPr>
      </p:sp>
      <p:pic>
        <p:nvPicPr>
          <p:cNvPr id="5" name=""/>
          <p:cNvPicPr>
            <a:picLocks xmlns:a="http://schemas.openxmlformats.org/drawingml/2006/main" noChangeAspect="1"/>
          </p:cNvPicPr>
          <p:nvPr/>
        </p:nvPicPr>
        <p:blipFill>
          <a:blip xmlns:r="http://schemas.openxmlformats.org/officeDocument/2006/relationships" xmlns:a="http://schemas.openxmlformats.org/drawingml/2006/main" r:embed="Re61b069467bc4275"/>
          <a:stretch xmlns:a="http://schemas.openxmlformats.org/drawingml/2006/main"/>
        </p:blipFill>
        <p:spPr>
          <a:xfrm xmlns:a="http://schemas.openxmlformats.org/drawingml/2006/main">
            <a:off x="571500" y="1882418"/>
            <a:ext cx="5715000" cy="3188414"/>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D412A603-F4FE-466D-B858-D21D439C334E}"/>
              </a:ext>
            </a:extLst>
          </p:cNvPr>
          <p:cNvSpPr>
            <a:spLocks xmlns:a="http://schemas.openxmlformats.org/drawingml/2006/main" noGrp="1"/>
          </p:cNvSpPr>
          <p:nvPr/>
        </p:nvSpPr>
        <p:spPr>
          <a:xfrm xmlns:a="http://schemas.openxmlformats.org/drawingml/2006/main">
            <a:off x="6610350" y="1600200"/>
            <a:ext cx="4305300" cy="1123950"/>
          </a:xfrm>
          <a:prstGeom xmlns:a="http://schemas.openxmlformats.org/drawingml/2006/main" prst="rect">
            <a:avLst/>
          </a:prstGeom>
          <a:solidFill xmlns:a="http://schemas.openxmlformats.org/drawingml/2006/main">
            <a:srgbClr val="F5E5DF"/>
          </a:solidFill>
          <a:ln xmlns:a="http://schemas.openxmlformats.org/drawingml/2006/main" w="7620">
            <a:solidFill>
              <a:srgbClr val="D8D1C4"/>
            </a:solidFill>
            <a:prstDash val="solid"/>
          </a:ln>
        </p:spPr>
      </p:sp>
      <p:sp>
        <p:nvSpPr>
          <p:cNvPr id="7" name="">
            <a:extLst xmlns:a="http://schemas.openxmlformats.org/drawingml/2006/main">
              <a:ext uri="{FF2B5EF4-FFF2-40B4-BE49-F238E27FC236}">
                <a16:creationId xmlns:a16="http://schemas.microsoft.com/office/drawing/2014/main" id="{AFC0E4EE-4CC8-4BAD-A879-DB01EF965D19}"/>
              </a:ext>
            </a:extLst>
          </p:cNvPr>
          <p:cNvSpPr>
            <a:spLocks xmlns:a="http://schemas.openxmlformats.org/drawingml/2006/main" noGrp="1"/>
          </p:cNvSpPr>
          <p:nvPr/>
        </p:nvSpPr>
        <p:spPr>
          <a:xfrm xmlns:a="http://schemas.openxmlformats.org/drawingml/2006/main">
            <a:off x="6743700" y="1714500"/>
            <a:ext cx="40386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2F6F73"/>
                </a:solidFill>
                <a:latin typeface="Aptos"/>
                <a:ea typeface="Aptos"/>
                <a:cs typeface="Aptos"/>
              </a:defRPr>
            </a:pPr>
            <a:r>
              <a:rPr sz="1050" b="1">
                <a:solidFill>
                  <a:srgbClr val="2F6F73"/>
                </a:solidFill>
                <a:latin typeface="Aptos"/>
                <a:ea typeface="Aptos"/>
                <a:cs typeface="Aptos"/>
              </a:rPr>
              <a:t>这幅图是什么数据</a:t>
            </a:r>
          </a:p>
        </p:txBody>
      </p:sp>
      <p:sp>
        <p:nvSpPr>
          <p:cNvPr id="8" name="">
            <a:extLst xmlns:a="http://schemas.openxmlformats.org/drawingml/2006/main">
              <a:ext uri="{FF2B5EF4-FFF2-40B4-BE49-F238E27FC236}">
                <a16:creationId xmlns:a16="http://schemas.microsoft.com/office/drawing/2014/main" id="{66FD7E22-3FA2-47C4-9A11-0136532E08C4}"/>
              </a:ext>
            </a:extLst>
          </p:cNvPr>
          <p:cNvSpPr>
            <a:spLocks xmlns:a="http://schemas.openxmlformats.org/drawingml/2006/main" noGrp="1"/>
          </p:cNvSpPr>
          <p:nvPr/>
        </p:nvSpPr>
        <p:spPr>
          <a:xfrm xmlns:a="http://schemas.openxmlformats.org/drawingml/2006/main">
            <a:off x="6743700" y="2000250"/>
            <a:ext cx="403860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88" b="0">
                <a:solidFill>
                  <a:srgbClr val="1D1B18"/>
                </a:solidFill>
                <a:latin typeface="Aptos"/>
                <a:ea typeface="Aptos"/>
                <a:cs typeface="Aptos"/>
              </a:defRPr>
            </a:pPr>
            <a:r>
              <a:rPr sz="1088" b="0">
                <a:solidFill>
                  <a:srgbClr val="1D1B18"/>
                </a:solidFill>
                <a:latin typeface="Aptos"/>
                <a:ea typeface="Aptos"/>
                <a:cs typeface="Aptos"/>
              </a:rPr>
              <a:t>NCEP/NCAR R1 的近地面 sigma995 风和海平面气压 SLP，计算 2023 AMJ/JJA 相对历史强事件 composite 的差值。</a:t>
            </a:r>
          </a:p>
        </p:txBody>
      </p:sp>
      <p:sp>
        <p:nvSpPr>
          <p:cNvPr id="9" name="">
            <a:extLst xmlns:a="http://schemas.openxmlformats.org/drawingml/2006/main">
              <a:ext uri="{FF2B5EF4-FFF2-40B4-BE49-F238E27FC236}">
                <a16:creationId xmlns:a16="http://schemas.microsoft.com/office/drawing/2014/main" id="{8DECC0F9-F6F3-46A6-B2EA-465071C65D7B}"/>
              </a:ext>
            </a:extLst>
          </p:cNvPr>
          <p:cNvSpPr>
            <a:spLocks xmlns:a="http://schemas.openxmlformats.org/drawingml/2006/main" noGrp="1"/>
          </p:cNvSpPr>
          <p:nvPr/>
        </p:nvSpPr>
        <p:spPr>
          <a:xfrm xmlns:a="http://schemas.openxmlformats.org/drawingml/2006/main">
            <a:off x="6610350" y="2876550"/>
            <a:ext cx="4305300" cy="1123950"/>
          </a:xfrm>
          <a:prstGeom xmlns:a="http://schemas.openxmlformats.org/drawingml/2006/main" prst="rect">
            <a:avLst/>
          </a:prstGeom>
          <a:solidFill xmlns:a="http://schemas.openxmlformats.org/drawingml/2006/main">
            <a:srgbClr val="EDF3EF"/>
          </a:solidFill>
          <a:ln xmlns:a="http://schemas.openxmlformats.org/drawingml/2006/main" w="7620">
            <a:solidFill>
              <a:srgbClr val="D8D1C4"/>
            </a:solidFill>
            <a:prstDash val="solid"/>
          </a:ln>
        </p:spPr>
      </p:sp>
      <p:sp>
        <p:nvSpPr>
          <p:cNvPr id="10" name="">
            <a:extLst xmlns:a="http://schemas.openxmlformats.org/drawingml/2006/main">
              <a:ext uri="{FF2B5EF4-FFF2-40B4-BE49-F238E27FC236}">
                <a16:creationId xmlns:a16="http://schemas.microsoft.com/office/drawing/2014/main" id="{7CB429F5-11B7-43C2-B476-C1B25E68497E}"/>
              </a:ext>
            </a:extLst>
          </p:cNvPr>
          <p:cNvSpPr>
            <a:spLocks xmlns:a="http://schemas.openxmlformats.org/drawingml/2006/main" noGrp="1"/>
          </p:cNvSpPr>
          <p:nvPr/>
        </p:nvSpPr>
        <p:spPr>
          <a:xfrm xmlns:a="http://schemas.openxmlformats.org/drawingml/2006/main">
            <a:off x="6743700" y="2990850"/>
            <a:ext cx="40386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2F6F73"/>
                </a:solidFill>
                <a:latin typeface="Aptos"/>
                <a:ea typeface="Aptos"/>
                <a:cs typeface="Aptos"/>
              </a:defRPr>
            </a:pPr>
            <a:r>
              <a:rPr sz="1050" b="1">
                <a:solidFill>
                  <a:srgbClr val="2F6F73"/>
                </a:solidFill>
                <a:latin typeface="Aptos"/>
                <a:ea typeface="Aptos"/>
                <a:cs typeface="Aptos"/>
              </a:rPr>
              <a:t>它反映了什么</a:t>
            </a:r>
          </a:p>
        </p:txBody>
      </p:sp>
      <p:sp>
        <p:nvSpPr>
          <p:cNvPr id="11" name="">
            <a:extLst xmlns:a="http://schemas.openxmlformats.org/drawingml/2006/main">
              <a:ext uri="{FF2B5EF4-FFF2-40B4-BE49-F238E27FC236}">
                <a16:creationId xmlns:a16="http://schemas.microsoft.com/office/drawing/2014/main" id="{A9E4B0AB-EAE7-48C2-8C84-684054732D08}"/>
              </a:ext>
            </a:extLst>
          </p:cNvPr>
          <p:cNvSpPr>
            <a:spLocks xmlns:a="http://schemas.openxmlformats.org/drawingml/2006/main" noGrp="1"/>
          </p:cNvSpPr>
          <p:nvPr/>
        </p:nvSpPr>
        <p:spPr>
          <a:xfrm xmlns:a="http://schemas.openxmlformats.org/drawingml/2006/main">
            <a:off x="6743700" y="3276600"/>
            <a:ext cx="403860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88" b="0">
                <a:solidFill>
                  <a:srgbClr val="1D1B18"/>
                </a:solidFill>
                <a:latin typeface="Aptos"/>
                <a:ea typeface="Aptos"/>
                <a:cs typeface="Aptos"/>
              </a:defRPr>
            </a:pPr>
            <a:r>
              <a:rPr sz="1088" b="0">
                <a:solidFill>
                  <a:srgbClr val="1D1B18"/>
                </a:solidFill>
                <a:latin typeface="Aptos"/>
                <a:ea typeface="Aptos"/>
                <a:cs typeface="Aptos"/>
              </a:rPr>
              <a:t>中西太平洋低层风异常相对历史强事件偏弱，海平面气压梯度也没有建立出典型强厄尔尼诺结构。这支持“Walker 环流响应不典型”。</a:t>
            </a:r>
          </a:p>
        </p:txBody>
      </p:sp>
      <p:sp>
        <p:nvSpPr>
          <p:cNvPr id="12" name="">
            <a:extLst xmlns:a="http://schemas.openxmlformats.org/drawingml/2006/main">
              <a:ext uri="{FF2B5EF4-FFF2-40B4-BE49-F238E27FC236}">
                <a16:creationId xmlns:a16="http://schemas.microsoft.com/office/drawing/2014/main" id="{E16496C4-DCBC-485C-8A02-83037469F718}"/>
              </a:ext>
            </a:extLst>
          </p:cNvPr>
          <p:cNvSpPr>
            <a:spLocks xmlns:a="http://schemas.openxmlformats.org/drawingml/2006/main" noGrp="1"/>
          </p:cNvSpPr>
          <p:nvPr/>
        </p:nvSpPr>
        <p:spPr>
          <a:xfrm xmlns:a="http://schemas.openxmlformats.org/drawingml/2006/main">
            <a:off x="6610350" y="4152900"/>
            <a:ext cx="4305300" cy="1123950"/>
          </a:xfrm>
          <a:prstGeom xmlns:a="http://schemas.openxmlformats.org/drawingml/2006/main" prst="rect">
            <a:avLst/>
          </a:prstGeom>
          <a:solidFill xmlns:a="http://schemas.openxmlformats.org/drawingml/2006/main">
            <a:srgbClr val="F5E5DF"/>
          </a:solidFill>
          <a:ln xmlns:a="http://schemas.openxmlformats.org/drawingml/2006/main" w="7620">
            <a:solidFill>
              <a:srgbClr val="D8D1C4"/>
            </a:solidFill>
            <a:prstDash val="solid"/>
          </a:ln>
        </p:spPr>
      </p:sp>
      <p:sp>
        <p:nvSpPr>
          <p:cNvPr id="13" name="">
            <a:extLst xmlns:a="http://schemas.openxmlformats.org/drawingml/2006/main">
              <a:ext uri="{FF2B5EF4-FFF2-40B4-BE49-F238E27FC236}">
                <a16:creationId xmlns:a16="http://schemas.microsoft.com/office/drawing/2014/main" id="{8683A70A-E78E-4917-8804-BEA28B0E4F9E}"/>
              </a:ext>
            </a:extLst>
          </p:cNvPr>
          <p:cNvSpPr>
            <a:spLocks xmlns:a="http://schemas.openxmlformats.org/drawingml/2006/main" noGrp="1"/>
          </p:cNvSpPr>
          <p:nvPr/>
        </p:nvSpPr>
        <p:spPr>
          <a:xfrm xmlns:a="http://schemas.openxmlformats.org/drawingml/2006/main">
            <a:off x="6743700" y="4267200"/>
            <a:ext cx="40386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2F6F73"/>
                </a:solidFill>
                <a:latin typeface="Aptos"/>
                <a:ea typeface="Aptos"/>
                <a:cs typeface="Aptos"/>
              </a:defRPr>
            </a:pPr>
            <a:r>
              <a:rPr sz="1050" b="1">
                <a:solidFill>
                  <a:srgbClr val="2F6F73"/>
                </a:solidFill>
                <a:latin typeface="Aptos"/>
                <a:ea typeface="Aptos"/>
                <a:cs typeface="Aptos"/>
              </a:rPr>
              <a:t>对应原文与我的创新</a:t>
            </a:r>
          </a:p>
        </p:txBody>
      </p:sp>
      <p:sp>
        <p:nvSpPr>
          <p:cNvPr id="14" name="">
            <a:extLst xmlns:a="http://schemas.openxmlformats.org/drawingml/2006/main">
              <a:ext uri="{FF2B5EF4-FFF2-40B4-BE49-F238E27FC236}">
                <a16:creationId xmlns:a16="http://schemas.microsoft.com/office/drawing/2014/main" id="{E28A7644-A525-4893-AC63-FB18687FCC0E}"/>
              </a:ext>
            </a:extLst>
          </p:cNvPr>
          <p:cNvSpPr>
            <a:spLocks xmlns:a="http://schemas.openxmlformats.org/drawingml/2006/main" noGrp="1"/>
          </p:cNvSpPr>
          <p:nvPr/>
        </p:nvSpPr>
        <p:spPr>
          <a:xfrm xmlns:a="http://schemas.openxmlformats.org/drawingml/2006/main">
            <a:off x="6743700" y="4552950"/>
            <a:ext cx="403860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88" b="0">
                <a:solidFill>
                  <a:srgbClr val="1D1B18"/>
                </a:solidFill>
                <a:latin typeface="Aptos"/>
                <a:ea typeface="Aptos"/>
                <a:cs typeface="Aptos"/>
              </a:defRPr>
            </a:pPr>
            <a:r>
              <a:rPr sz="1088" b="0">
                <a:solidFill>
                  <a:srgbClr val="1D1B18"/>
                </a:solidFill>
                <a:latin typeface="Aptos"/>
                <a:ea typeface="Aptos"/>
                <a:cs typeface="Aptos"/>
              </a:rPr>
              <a:t>对应原文中风场偏弱的发现。创新是把风和气压做成发展季空间对比，指出 AMJ/JJA 已经出现大气端不同步。</a:t>
            </a:r>
          </a:p>
        </p:txBody>
      </p:sp>
      <p:sp>
        <p:nvSpPr>
          <p:cNvPr id="15" name="">
            <a:extLst xmlns:a="http://schemas.openxmlformats.org/drawingml/2006/main">
              <a:ext uri="{FF2B5EF4-FFF2-40B4-BE49-F238E27FC236}">
                <a16:creationId xmlns:a16="http://schemas.microsoft.com/office/drawing/2014/main" id="{28432720-B8AB-4260-85A3-23C8BFF051C4}"/>
              </a:ext>
            </a:extLst>
          </p:cNvPr>
          <p:cNvSpPr>
            <a:spLocks xmlns:a="http://schemas.openxmlformats.org/drawingml/2006/main" noGrp="1"/>
          </p:cNvSpPr>
          <p:nvPr/>
        </p:nvSpPr>
        <p:spPr>
          <a:xfrm xmlns:a="http://schemas.openxmlformats.org/drawingml/2006/main">
            <a:off x="552450" y="6477000"/>
            <a:ext cx="106680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5D574F"/>
                </a:solidFill>
                <a:latin typeface="Aptos"/>
                <a:ea typeface="Aptos"/>
                <a:cs typeface="Aptos"/>
              </a:defRPr>
            </a:pPr>
            <a:r>
              <a:rPr sz="788" b="0">
                <a:solidFill>
                  <a:srgbClr val="5D574F"/>
                </a:solidFill>
                <a:latin typeface="Aptos"/>
                <a:ea typeface="Aptos"/>
                <a:cs typeface="Aptos"/>
              </a:rPr>
              <a:t>Data: NCEP/NCAR R1 fallback; final manuscript stage should verify with ERA5.</a:t>
            </a:r>
          </a:p>
        </p:txBody>
      </p:sp>
    </p:spTree>
    <p:extLst>
      <p:ext uri="{BB962C8B-B14F-4D97-AF65-F5344CB8AC3E}">
        <p14:creationId xmlns:p14="http://schemas.microsoft.com/office/powerpoint/2010/main" val="176766898"/>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57277E6-99A2-4CC9-B559-E049BD7EFC4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3EA"/>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0905A4BC-027F-45ED-9BF1-1F00E8DFAE58}"/>
              </a:ext>
            </a:extLst>
          </p:cNvPr>
          <p:cNvSpPr>
            <a:spLocks xmlns:a="http://schemas.openxmlformats.org/drawingml/2006/main" noGrp="1"/>
          </p:cNvSpPr>
          <p:nvPr/>
        </p:nvSpPr>
        <p:spPr>
          <a:xfrm xmlns:a="http://schemas.openxmlformats.org/drawingml/2006/main">
            <a:off x="552450" y="285750"/>
            <a:ext cx="3429000" cy="23812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CC5A43"/>
                </a:solidFill>
                <a:latin typeface="Aptos"/>
                <a:ea typeface="Aptos"/>
                <a:cs typeface="Aptos"/>
              </a:defRPr>
            </a:pPr>
            <a:r>
              <a:rPr sz="1050" b="1">
                <a:solidFill>
                  <a:srgbClr val="CC5A43"/>
                </a:solidFill>
                <a:latin typeface="Aptos"/>
                <a:ea typeface="Aptos"/>
                <a:cs typeface="Aptos"/>
              </a:rPr>
              <a:t>新研究发现 4</a:t>
            </a:r>
          </a:p>
        </p:txBody>
      </p:sp>
      <p:sp>
        <p:nvSpPr>
          <p:cNvPr id="3" name="">
            <a:extLst xmlns:a="http://schemas.openxmlformats.org/drawingml/2006/main">
              <a:ext uri="{FF2B5EF4-FFF2-40B4-BE49-F238E27FC236}">
                <a16:creationId xmlns:a16="http://schemas.microsoft.com/office/drawing/2014/main" id="{CA865841-57EA-4AF7-95EF-53E0F5E54470}"/>
              </a:ext>
            </a:extLst>
          </p:cNvPr>
          <p:cNvSpPr>
            <a:spLocks xmlns:a="http://schemas.openxmlformats.org/drawingml/2006/main" noGrp="1"/>
          </p:cNvSpPr>
          <p:nvPr/>
        </p:nvSpPr>
        <p:spPr>
          <a:xfrm xmlns:a="http://schemas.openxmlformats.org/drawingml/2006/main">
            <a:off x="552450" y="609600"/>
            <a:ext cx="104775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175" b="1">
                <a:solidFill>
                  <a:srgbClr val="1D1B18"/>
                </a:solidFill>
                <a:latin typeface="Aptos Display"/>
                <a:ea typeface="Aptos Display"/>
                <a:cs typeface="Aptos Display"/>
              </a:defRPr>
            </a:pPr>
            <a:r>
              <a:rPr sz="2175" b="1">
                <a:solidFill>
                  <a:srgbClr val="1D1B18"/>
                </a:solidFill>
                <a:latin typeface="Aptos Display"/>
                <a:ea typeface="Aptos Display"/>
                <a:cs typeface="Aptos Display"/>
              </a:rPr>
              <a:t>图中数据名称：外海盆暖异常指数与早期耦合探索图</a:t>
            </a:r>
          </a:p>
        </p:txBody>
      </p:sp>
      <p:sp>
        <p:nvSpPr>
          <p:cNvPr id="4" name="">
            <a:extLst xmlns:a="http://schemas.openxmlformats.org/drawingml/2006/main">
              <a:ext uri="{FF2B5EF4-FFF2-40B4-BE49-F238E27FC236}">
                <a16:creationId xmlns:a16="http://schemas.microsoft.com/office/drawing/2014/main" id="{86EFCC4C-3B19-483B-B628-D09CC17AE197}"/>
              </a:ext>
            </a:extLst>
          </p:cNvPr>
          <p:cNvSpPr>
            <a:spLocks xmlns:a="http://schemas.openxmlformats.org/drawingml/2006/main" noGrp="1"/>
          </p:cNvSpPr>
          <p:nvPr/>
        </p:nvSpPr>
        <p:spPr>
          <a:xfrm xmlns:a="http://schemas.openxmlformats.org/drawingml/2006/main">
            <a:off x="552450" y="1409700"/>
            <a:ext cx="10763250" cy="14288"/>
          </a:xfrm>
          <a:prstGeom xmlns:a="http://schemas.openxmlformats.org/drawingml/2006/main" prst="rect">
            <a:avLst/>
          </a:prstGeom>
          <a:solidFill xmlns:a="http://schemas.openxmlformats.org/drawingml/2006/main">
            <a:srgbClr val="D8D1C4"/>
          </a:solidFill>
          <a:ln xmlns:a="http://schemas.openxmlformats.org/drawingml/2006/main" w="0">
            <a:solidFill>
              <a:srgbClr val="000000">
                <a:alpha val="0"/>
              </a:srgbClr>
            </a:solidFill>
            <a:prstDash val="solid"/>
          </a:ln>
        </p:spPr>
      </p:sp>
      <p:pic>
        <p:nvPicPr>
          <p:cNvPr id="5" name=""/>
          <p:cNvPicPr>
            <a:picLocks xmlns:a="http://schemas.openxmlformats.org/drawingml/2006/main" noChangeAspect="1"/>
          </p:cNvPicPr>
          <p:nvPr/>
        </p:nvPicPr>
        <p:blipFill>
          <a:blip xmlns:r="http://schemas.openxmlformats.org/officeDocument/2006/relationships" xmlns:a="http://schemas.openxmlformats.org/drawingml/2006/main" r:embed="R4e60bc0d88944953"/>
          <a:stretch xmlns:a="http://schemas.openxmlformats.org/drawingml/2006/main"/>
        </p:blipFill>
        <p:spPr>
          <a:xfrm xmlns:a="http://schemas.openxmlformats.org/drawingml/2006/main">
            <a:off x="571500" y="2199193"/>
            <a:ext cx="3333750" cy="1773813"/>
          </a:xfrm>
          <a:prstGeom xmlns:a="http://schemas.openxmlformats.org/drawingml/2006/main" prst="rect">
            <a:avLst/>
          </a:prstGeom>
        </p:spPr>
      </p:pic>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922dcc9cafa640cb"/>
          <a:stretch xmlns:a="http://schemas.openxmlformats.org/drawingml/2006/main"/>
        </p:blipFill>
        <p:spPr>
          <a:xfrm xmlns:a="http://schemas.openxmlformats.org/drawingml/2006/main">
            <a:off x="4095750" y="2389256"/>
            <a:ext cx="3333750" cy="1393688"/>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2ED55D29-0E5F-43AB-AA92-940ABCFD58F8}"/>
              </a:ext>
            </a:extLst>
          </p:cNvPr>
          <p:cNvSpPr>
            <a:spLocks xmlns:a="http://schemas.openxmlformats.org/drawingml/2006/main" noGrp="1"/>
          </p:cNvSpPr>
          <p:nvPr/>
        </p:nvSpPr>
        <p:spPr>
          <a:xfrm xmlns:a="http://schemas.openxmlformats.org/drawingml/2006/main">
            <a:off x="7753350" y="1619250"/>
            <a:ext cx="3638550" cy="1200150"/>
          </a:xfrm>
          <a:prstGeom xmlns:a="http://schemas.openxmlformats.org/drawingml/2006/main" prst="rect">
            <a:avLst/>
          </a:prstGeom>
          <a:solidFill xmlns:a="http://schemas.openxmlformats.org/drawingml/2006/main">
            <a:srgbClr val="F5E5DF"/>
          </a:solidFill>
          <a:ln xmlns:a="http://schemas.openxmlformats.org/drawingml/2006/main" w="7620">
            <a:solidFill>
              <a:srgbClr val="D8D1C4"/>
            </a:solidFill>
            <a:prstDash val="solid"/>
          </a:ln>
        </p:spPr>
      </p:sp>
      <p:sp>
        <p:nvSpPr>
          <p:cNvPr id="8" name="">
            <a:extLst xmlns:a="http://schemas.openxmlformats.org/drawingml/2006/main">
              <a:ext uri="{FF2B5EF4-FFF2-40B4-BE49-F238E27FC236}">
                <a16:creationId xmlns:a16="http://schemas.microsoft.com/office/drawing/2014/main" id="{4EDF933A-257C-4B80-ABCC-33FE3FB92962}"/>
              </a:ext>
            </a:extLst>
          </p:cNvPr>
          <p:cNvSpPr>
            <a:spLocks xmlns:a="http://schemas.openxmlformats.org/drawingml/2006/main" noGrp="1"/>
          </p:cNvSpPr>
          <p:nvPr/>
        </p:nvSpPr>
        <p:spPr>
          <a:xfrm xmlns:a="http://schemas.openxmlformats.org/drawingml/2006/main">
            <a:off x="7886700" y="1733550"/>
            <a:ext cx="33718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2F6F73"/>
                </a:solidFill>
                <a:latin typeface="Aptos"/>
                <a:ea typeface="Aptos"/>
                <a:cs typeface="Aptos"/>
              </a:defRPr>
            </a:pPr>
            <a:r>
              <a:rPr sz="1050" b="1">
                <a:solidFill>
                  <a:srgbClr val="2F6F73"/>
                </a:solidFill>
                <a:latin typeface="Aptos"/>
                <a:ea typeface="Aptos"/>
                <a:cs typeface="Aptos"/>
              </a:rPr>
              <a:t>这幅图是什么数据</a:t>
            </a:r>
          </a:p>
        </p:txBody>
      </p:sp>
      <p:sp>
        <p:nvSpPr>
          <p:cNvPr id="9" name="">
            <a:extLst xmlns:a="http://schemas.openxmlformats.org/drawingml/2006/main">
              <a:ext uri="{FF2B5EF4-FFF2-40B4-BE49-F238E27FC236}">
                <a16:creationId xmlns:a16="http://schemas.microsoft.com/office/drawing/2014/main" id="{5EB37B77-238E-4FD2-BF5C-65AD7A11970A}"/>
              </a:ext>
            </a:extLst>
          </p:cNvPr>
          <p:cNvSpPr>
            <a:spLocks xmlns:a="http://schemas.openxmlformats.org/drawingml/2006/main" noGrp="1"/>
          </p:cNvSpPr>
          <p:nvPr/>
        </p:nvSpPr>
        <p:spPr>
          <a:xfrm xmlns:a="http://schemas.openxmlformats.org/drawingml/2006/main">
            <a:off x="7886700" y="2019300"/>
            <a:ext cx="3371850" cy="723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88" b="0">
                <a:solidFill>
                  <a:srgbClr val="1D1B18"/>
                </a:solidFill>
                <a:latin typeface="Aptos"/>
                <a:ea typeface="Aptos"/>
                <a:cs typeface="Aptos"/>
              </a:defRPr>
            </a:pPr>
            <a:r>
              <a:rPr sz="1088" b="0">
                <a:solidFill>
                  <a:srgbClr val="1D1B18"/>
                </a:solidFill>
                <a:latin typeface="Aptos"/>
                <a:ea typeface="Aptos"/>
                <a:cs typeface="Aptos"/>
              </a:rPr>
              <a:t>左图是 OISST 计算的热带北大西洋、西太暖池、海陆洲和热带印度洋海温差值；右图是早期 composite-based 耦合探索图。</a:t>
            </a:r>
          </a:p>
        </p:txBody>
      </p:sp>
      <p:sp>
        <p:nvSpPr>
          <p:cNvPr id="10" name="">
            <a:extLst xmlns:a="http://schemas.openxmlformats.org/drawingml/2006/main">
              <a:ext uri="{FF2B5EF4-FFF2-40B4-BE49-F238E27FC236}">
                <a16:creationId xmlns:a16="http://schemas.microsoft.com/office/drawing/2014/main" id="{594C6389-56EF-4903-9AAB-1BE189B3F0BF}"/>
              </a:ext>
            </a:extLst>
          </p:cNvPr>
          <p:cNvSpPr>
            <a:spLocks xmlns:a="http://schemas.openxmlformats.org/drawingml/2006/main" noGrp="1"/>
          </p:cNvSpPr>
          <p:nvPr/>
        </p:nvSpPr>
        <p:spPr>
          <a:xfrm xmlns:a="http://schemas.openxmlformats.org/drawingml/2006/main">
            <a:off x="7753350" y="2971800"/>
            <a:ext cx="3638550" cy="1200150"/>
          </a:xfrm>
          <a:prstGeom xmlns:a="http://schemas.openxmlformats.org/drawingml/2006/main" prst="rect">
            <a:avLst/>
          </a:prstGeom>
          <a:solidFill xmlns:a="http://schemas.openxmlformats.org/drawingml/2006/main">
            <a:srgbClr val="EDF3EF"/>
          </a:solidFill>
          <a:ln xmlns:a="http://schemas.openxmlformats.org/drawingml/2006/main" w="7620">
            <a:solidFill>
              <a:srgbClr val="D8D1C4"/>
            </a:solidFill>
            <a:prstDash val="solid"/>
          </a:ln>
        </p:spPr>
      </p:sp>
      <p:sp>
        <p:nvSpPr>
          <p:cNvPr id="11" name="">
            <a:extLst xmlns:a="http://schemas.openxmlformats.org/drawingml/2006/main">
              <a:ext uri="{FF2B5EF4-FFF2-40B4-BE49-F238E27FC236}">
                <a16:creationId xmlns:a16="http://schemas.microsoft.com/office/drawing/2014/main" id="{8151DA72-59EB-4DE2-8B1B-A7B583D82CD3}"/>
              </a:ext>
            </a:extLst>
          </p:cNvPr>
          <p:cNvSpPr>
            <a:spLocks xmlns:a="http://schemas.openxmlformats.org/drawingml/2006/main" noGrp="1"/>
          </p:cNvSpPr>
          <p:nvPr/>
        </p:nvSpPr>
        <p:spPr>
          <a:xfrm xmlns:a="http://schemas.openxmlformats.org/drawingml/2006/main">
            <a:off x="7886700" y="3086100"/>
            <a:ext cx="33718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2F6F73"/>
                </a:solidFill>
                <a:latin typeface="Aptos"/>
                <a:ea typeface="Aptos"/>
                <a:cs typeface="Aptos"/>
              </a:defRPr>
            </a:pPr>
            <a:r>
              <a:rPr sz="1050" b="1">
                <a:solidFill>
                  <a:srgbClr val="2F6F73"/>
                </a:solidFill>
                <a:latin typeface="Aptos"/>
                <a:ea typeface="Aptos"/>
                <a:cs typeface="Aptos"/>
              </a:rPr>
              <a:t>它反映了什么</a:t>
            </a:r>
          </a:p>
        </p:txBody>
      </p:sp>
      <p:sp>
        <p:nvSpPr>
          <p:cNvPr id="12" name="">
            <a:extLst xmlns:a="http://schemas.openxmlformats.org/drawingml/2006/main">
              <a:ext uri="{FF2B5EF4-FFF2-40B4-BE49-F238E27FC236}">
                <a16:creationId xmlns:a16="http://schemas.microsoft.com/office/drawing/2014/main" id="{BCD3DC27-BD73-447C-95B4-DF28A7E23457}"/>
              </a:ext>
            </a:extLst>
          </p:cNvPr>
          <p:cNvSpPr>
            <a:spLocks xmlns:a="http://schemas.openxmlformats.org/drawingml/2006/main" noGrp="1"/>
          </p:cNvSpPr>
          <p:nvPr/>
        </p:nvSpPr>
        <p:spPr>
          <a:xfrm xmlns:a="http://schemas.openxmlformats.org/drawingml/2006/main">
            <a:off x="7886700" y="3371850"/>
            <a:ext cx="3371850" cy="723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88" b="0">
                <a:solidFill>
                  <a:srgbClr val="1D1B18"/>
                </a:solidFill>
                <a:latin typeface="Aptos"/>
                <a:ea typeface="Aptos"/>
                <a:cs typeface="Aptos"/>
              </a:defRPr>
            </a:pPr>
            <a:r>
              <a:rPr sz="1088" b="0">
                <a:solidFill>
                  <a:srgbClr val="1D1B18"/>
                </a:solidFill>
                <a:latin typeface="Aptos"/>
                <a:ea typeface="Aptos"/>
                <a:cs typeface="Aptos"/>
              </a:rPr>
              <a:t>2023 春夏外海盆和西太暖池明显偏暖，同时旧版探索图也提示太平洋大气响应偏弱。现在主结论以回归预期矩阵为准，这页作为背景和稳健性线索。</a:t>
            </a:r>
          </a:p>
        </p:txBody>
      </p:sp>
      <p:sp>
        <p:nvSpPr>
          <p:cNvPr id="13" name="">
            <a:extLst xmlns:a="http://schemas.openxmlformats.org/drawingml/2006/main">
              <a:ext uri="{FF2B5EF4-FFF2-40B4-BE49-F238E27FC236}">
                <a16:creationId xmlns:a16="http://schemas.microsoft.com/office/drawing/2014/main" id="{2A74C3C5-C907-4267-BCFE-4520B37D4688}"/>
              </a:ext>
            </a:extLst>
          </p:cNvPr>
          <p:cNvSpPr>
            <a:spLocks xmlns:a="http://schemas.openxmlformats.org/drawingml/2006/main" noGrp="1"/>
          </p:cNvSpPr>
          <p:nvPr/>
        </p:nvSpPr>
        <p:spPr>
          <a:xfrm xmlns:a="http://schemas.openxmlformats.org/drawingml/2006/main">
            <a:off x="7753350" y="4324350"/>
            <a:ext cx="3638550" cy="1200150"/>
          </a:xfrm>
          <a:prstGeom xmlns:a="http://schemas.openxmlformats.org/drawingml/2006/main" prst="rect">
            <a:avLst/>
          </a:prstGeom>
          <a:solidFill xmlns:a="http://schemas.openxmlformats.org/drawingml/2006/main">
            <a:srgbClr val="F5E5DF"/>
          </a:solidFill>
          <a:ln xmlns:a="http://schemas.openxmlformats.org/drawingml/2006/main" w="7620">
            <a:solidFill>
              <a:srgbClr val="D8D1C4"/>
            </a:solidFill>
            <a:prstDash val="solid"/>
          </a:ln>
        </p:spPr>
      </p:sp>
      <p:sp>
        <p:nvSpPr>
          <p:cNvPr id="14" name="">
            <a:extLst xmlns:a="http://schemas.openxmlformats.org/drawingml/2006/main">
              <a:ext uri="{FF2B5EF4-FFF2-40B4-BE49-F238E27FC236}">
                <a16:creationId xmlns:a16="http://schemas.microsoft.com/office/drawing/2014/main" id="{ACEE6683-7CFE-4541-8AA0-BECA228088D3}"/>
              </a:ext>
            </a:extLst>
          </p:cNvPr>
          <p:cNvSpPr>
            <a:spLocks xmlns:a="http://schemas.openxmlformats.org/drawingml/2006/main" noGrp="1"/>
          </p:cNvSpPr>
          <p:nvPr/>
        </p:nvSpPr>
        <p:spPr>
          <a:xfrm xmlns:a="http://schemas.openxmlformats.org/drawingml/2006/main">
            <a:off x="7886700" y="4438650"/>
            <a:ext cx="33718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2F6F73"/>
                </a:solidFill>
                <a:latin typeface="Aptos"/>
                <a:ea typeface="Aptos"/>
                <a:cs typeface="Aptos"/>
              </a:defRPr>
            </a:pPr>
            <a:r>
              <a:rPr sz="1050" b="1">
                <a:solidFill>
                  <a:srgbClr val="2F6F73"/>
                </a:solidFill>
                <a:latin typeface="Aptos"/>
                <a:ea typeface="Aptos"/>
                <a:cs typeface="Aptos"/>
              </a:rPr>
              <a:t>对应原文与我的创新</a:t>
            </a:r>
          </a:p>
        </p:txBody>
      </p:sp>
      <p:sp>
        <p:nvSpPr>
          <p:cNvPr id="15" name="">
            <a:extLst xmlns:a="http://schemas.openxmlformats.org/drawingml/2006/main">
              <a:ext uri="{FF2B5EF4-FFF2-40B4-BE49-F238E27FC236}">
                <a16:creationId xmlns:a16="http://schemas.microsoft.com/office/drawing/2014/main" id="{EC489420-B31B-4D66-B2D3-DD2CC1551D23}"/>
              </a:ext>
            </a:extLst>
          </p:cNvPr>
          <p:cNvSpPr>
            <a:spLocks xmlns:a="http://schemas.openxmlformats.org/drawingml/2006/main" noGrp="1"/>
          </p:cNvSpPr>
          <p:nvPr/>
        </p:nvSpPr>
        <p:spPr>
          <a:xfrm xmlns:a="http://schemas.openxmlformats.org/drawingml/2006/main">
            <a:off x="7886700" y="4724400"/>
            <a:ext cx="3371850" cy="723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88" b="0">
                <a:solidFill>
                  <a:srgbClr val="1D1B18"/>
                </a:solidFill>
                <a:latin typeface="Aptos"/>
                <a:ea typeface="Aptos"/>
                <a:cs typeface="Aptos"/>
              </a:defRPr>
            </a:pPr>
            <a:r>
              <a:rPr sz="1088" b="0">
                <a:solidFill>
                  <a:srgbClr val="1D1B18"/>
                </a:solidFill>
                <a:latin typeface="Aptos"/>
                <a:ea typeface="Aptos"/>
                <a:cs typeface="Aptos"/>
              </a:rPr>
              <a:t>原文用 AGCM 提示外海盆可能抵消太平洋响应；本页说明 2023 发展季确实存在异常暖的外海盆背景。</a:t>
            </a:r>
          </a:p>
        </p:txBody>
      </p:sp>
      <p:sp>
        <p:nvSpPr>
          <p:cNvPr id="16" name="">
            <a:extLst xmlns:a="http://schemas.openxmlformats.org/drawingml/2006/main">
              <a:ext uri="{FF2B5EF4-FFF2-40B4-BE49-F238E27FC236}">
                <a16:creationId xmlns:a16="http://schemas.microsoft.com/office/drawing/2014/main" id="{35CEE244-5542-43B2-974D-B38CD857B8A1}"/>
              </a:ext>
            </a:extLst>
          </p:cNvPr>
          <p:cNvSpPr>
            <a:spLocks xmlns:a="http://schemas.openxmlformats.org/drawingml/2006/main" noGrp="1"/>
          </p:cNvSpPr>
          <p:nvPr/>
        </p:nvSpPr>
        <p:spPr>
          <a:xfrm xmlns:a="http://schemas.openxmlformats.org/drawingml/2006/main">
            <a:off x="552450" y="6477000"/>
            <a:ext cx="106680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5D574F"/>
                </a:solidFill>
                <a:latin typeface="Aptos"/>
                <a:ea typeface="Aptos"/>
                <a:cs typeface="Aptos"/>
              </a:defRPr>
            </a:pPr>
            <a:r>
              <a:rPr sz="788" b="0">
                <a:solidFill>
                  <a:srgbClr val="5D574F"/>
                </a:solidFill>
                <a:latin typeface="Aptos"/>
                <a:ea typeface="Aptos"/>
                <a:cs typeface="Aptos"/>
              </a:rPr>
              <a:t>Tables: external_basin_seasonal_summary.csv; asynchronous_coupling_efficiency.csv.</a:t>
            </a:r>
          </a:p>
        </p:txBody>
      </p:sp>
    </p:spTree>
    <p:extLst>
      <p:ext uri="{BB962C8B-B14F-4D97-AF65-F5344CB8AC3E}">
        <p14:creationId xmlns:p14="http://schemas.microsoft.com/office/powerpoint/2010/main" val="1829959922"/>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BE294358-898C-4012-A098-77EA7A36518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3EA"/>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7C38682F-EBEB-4F91-A6E1-8C2DC8912AFA}"/>
              </a:ext>
            </a:extLst>
          </p:cNvPr>
          <p:cNvSpPr>
            <a:spLocks xmlns:a="http://schemas.openxmlformats.org/drawingml/2006/main" noGrp="1"/>
          </p:cNvSpPr>
          <p:nvPr/>
        </p:nvSpPr>
        <p:spPr>
          <a:xfrm xmlns:a="http://schemas.openxmlformats.org/drawingml/2006/main">
            <a:off x="552450" y="285750"/>
            <a:ext cx="3429000" cy="23812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CC5A43"/>
                </a:solidFill>
                <a:latin typeface="Aptos"/>
                <a:ea typeface="Aptos"/>
                <a:cs typeface="Aptos"/>
              </a:defRPr>
            </a:pPr>
            <a:r>
              <a:rPr sz="1050" b="1">
                <a:solidFill>
                  <a:srgbClr val="CC5A43"/>
                </a:solidFill>
                <a:latin typeface="Aptos"/>
                <a:ea typeface="Aptos"/>
                <a:cs typeface="Aptos"/>
              </a:rPr>
              <a:t>核心数值</a:t>
            </a:r>
          </a:p>
        </p:txBody>
      </p:sp>
      <p:sp>
        <p:nvSpPr>
          <p:cNvPr id="3" name="">
            <a:extLst xmlns:a="http://schemas.openxmlformats.org/drawingml/2006/main">
              <a:ext uri="{FF2B5EF4-FFF2-40B4-BE49-F238E27FC236}">
                <a16:creationId xmlns:a16="http://schemas.microsoft.com/office/drawing/2014/main" id="{E0019353-4BEE-4D38-92E8-C62BA153EF12}"/>
              </a:ext>
            </a:extLst>
          </p:cNvPr>
          <p:cNvSpPr>
            <a:spLocks xmlns:a="http://schemas.openxmlformats.org/drawingml/2006/main" noGrp="1"/>
          </p:cNvSpPr>
          <p:nvPr/>
        </p:nvSpPr>
        <p:spPr>
          <a:xfrm xmlns:a="http://schemas.openxmlformats.org/drawingml/2006/main">
            <a:off x="552450" y="609600"/>
            <a:ext cx="104775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175" b="1">
                <a:solidFill>
                  <a:srgbClr val="1D1B18"/>
                </a:solidFill>
                <a:latin typeface="Aptos Display"/>
                <a:ea typeface="Aptos Display"/>
                <a:cs typeface="Aptos Display"/>
              </a:defRPr>
            </a:pPr>
            <a:r>
              <a:rPr sz="2175" b="1">
                <a:solidFill>
                  <a:srgbClr val="1D1B18"/>
                </a:solidFill>
                <a:latin typeface="Aptos Display"/>
                <a:ea typeface="Aptos Display"/>
                <a:cs typeface="Aptos Display"/>
              </a:rPr>
              <a:t>2023 春夏不是海温驱动弱，而是大气响应低于历史回归预期</a:t>
            </a:r>
          </a:p>
        </p:txBody>
      </p:sp>
      <p:sp>
        <p:nvSpPr>
          <p:cNvPr id="4" name="">
            <a:extLst xmlns:a="http://schemas.openxmlformats.org/drawingml/2006/main">
              <a:ext uri="{FF2B5EF4-FFF2-40B4-BE49-F238E27FC236}">
                <a16:creationId xmlns:a16="http://schemas.microsoft.com/office/drawing/2014/main" id="{6581C3F5-12A8-43B1-88E0-ADD931FA1B48}"/>
              </a:ext>
            </a:extLst>
          </p:cNvPr>
          <p:cNvSpPr>
            <a:spLocks xmlns:a="http://schemas.openxmlformats.org/drawingml/2006/main" noGrp="1"/>
          </p:cNvSpPr>
          <p:nvPr/>
        </p:nvSpPr>
        <p:spPr>
          <a:xfrm xmlns:a="http://schemas.openxmlformats.org/drawingml/2006/main">
            <a:off x="552450" y="1409700"/>
            <a:ext cx="10763250" cy="14288"/>
          </a:xfrm>
          <a:prstGeom xmlns:a="http://schemas.openxmlformats.org/drawingml/2006/main" prst="rect">
            <a:avLst/>
          </a:prstGeom>
          <a:solidFill xmlns:a="http://schemas.openxmlformats.org/drawingml/2006/main">
            <a:srgbClr val="D8D1C4"/>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E44F6913-691C-48BC-9283-0755EDFB7816}"/>
              </a:ext>
            </a:extLst>
          </p:cNvPr>
          <p:cNvSpPr>
            <a:spLocks xmlns:a="http://schemas.openxmlformats.org/drawingml/2006/main" noGrp="1"/>
          </p:cNvSpPr>
          <p:nvPr/>
        </p:nvSpPr>
        <p:spPr>
          <a:xfrm xmlns:a="http://schemas.openxmlformats.org/drawingml/2006/main">
            <a:off x="666750" y="1714500"/>
            <a:ext cx="1809750" cy="457200"/>
          </a:xfrm>
          <a:prstGeom xmlns:a="http://schemas.openxmlformats.org/drawingml/2006/main" prst="rect">
            <a:avLst/>
          </a:prstGeom>
          <a:solidFill xmlns:a="http://schemas.openxmlformats.org/drawingml/2006/main">
            <a:srgbClr val="1D1B18"/>
          </a:solidFill>
          <a:ln xmlns:a="http://schemas.openxmlformats.org/drawingml/2006/main" w="6668">
            <a:solidFill>
              <a:srgbClr val="D8D1C4"/>
            </a:solidFill>
            <a:prstDash val="solid"/>
          </a:ln>
        </p:spPr>
      </p:sp>
      <p:sp>
        <p:nvSpPr>
          <p:cNvPr id="6" name="">
            <a:extLst xmlns:a="http://schemas.openxmlformats.org/drawingml/2006/main">
              <a:ext uri="{FF2B5EF4-FFF2-40B4-BE49-F238E27FC236}">
                <a16:creationId xmlns:a16="http://schemas.microsoft.com/office/drawing/2014/main" id="{E6CC54DF-C924-4D45-AD93-DD0DFCEC71E5}"/>
              </a:ext>
            </a:extLst>
          </p:cNvPr>
          <p:cNvSpPr>
            <a:spLocks xmlns:a="http://schemas.openxmlformats.org/drawingml/2006/main" noGrp="1"/>
          </p:cNvSpPr>
          <p:nvPr/>
        </p:nvSpPr>
        <p:spPr>
          <a:xfrm xmlns:a="http://schemas.openxmlformats.org/drawingml/2006/main">
            <a:off x="752475" y="1781175"/>
            <a:ext cx="16383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FFFFFF"/>
                </a:solidFill>
                <a:latin typeface="Aptos"/>
                <a:ea typeface="Aptos"/>
                <a:cs typeface="Aptos"/>
              </a:defRPr>
            </a:pPr>
            <a:r>
              <a:rPr sz="900" b="1">
                <a:solidFill>
                  <a:srgbClr val="FFFFFF"/>
                </a:solidFill>
                <a:latin typeface="Aptos"/>
                <a:ea typeface="Aptos"/>
                <a:cs typeface="Aptos"/>
              </a:rPr>
              <a:t>指标</a:t>
            </a:r>
          </a:p>
        </p:txBody>
      </p:sp>
      <p:sp>
        <p:nvSpPr>
          <p:cNvPr id="7" name="">
            <a:extLst xmlns:a="http://schemas.openxmlformats.org/drawingml/2006/main">
              <a:ext uri="{FF2B5EF4-FFF2-40B4-BE49-F238E27FC236}">
                <a16:creationId xmlns:a16="http://schemas.microsoft.com/office/drawing/2014/main" id="{78A2D0C7-656E-42FA-AC15-08264F3FD387}"/>
              </a:ext>
            </a:extLst>
          </p:cNvPr>
          <p:cNvSpPr>
            <a:spLocks xmlns:a="http://schemas.openxmlformats.org/drawingml/2006/main" noGrp="1"/>
          </p:cNvSpPr>
          <p:nvPr/>
        </p:nvSpPr>
        <p:spPr>
          <a:xfrm xmlns:a="http://schemas.openxmlformats.org/drawingml/2006/main">
            <a:off x="2476500" y="1714500"/>
            <a:ext cx="4095750" cy="457200"/>
          </a:xfrm>
          <a:prstGeom xmlns:a="http://schemas.openxmlformats.org/drawingml/2006/main" prst="rect">
            <a:avLst/>
          </a:prstGeom>
          <a:solidFill xmlns:a="http://schemas.openxmlformats.org/drawingml/2006/main">
            <a:srgbClr val="1D1B18"/>
          </a:solidFill>
          <a:ln xmlns:a="http://schemas.openxmlformats.org/drawingml/2006/main" w="6668">
            <a:solidFill>
              <a:srgbClr val="D8D1C4"/>
            </a:solidFill>
            <a:prstDash val="solid"/>
          </a:ln>
        </p:spPr>
      </p:sp>
      <p:sp>
        <p:nvSpPr>
          <p:cNvPr id="8" name="">
            <a:extLst xmlns:a="http://schemas.openxmlformats.org/drawingml/2006/main">
              <a:ext uri="{FF2B5EF4-FFF2-40B4-BE49-F238E27FC236}">
                <a16:creationId xmlns:a16="http://schemas.microsoft.com/office/drawing/2014/main" id="{0DECA16E-71FC-49B2-AEA4-E2E71DB4152C}"/>
              </a:ext>
            </a:extLst>
          </p:cNvPr>
          <p:cNvSpPr>
            <a:spLocks xmlns:a="http://schemas.openxmlformats.org/drawingml/2006/main" noGrp="1"/>
          </p:cNvSpPr>
          <p:nvPr/>
        </p:nvSpPr>
        <p:spPr>
          <a:xfrm xmlns:a="http://schemas.openxmlformats.org/drawingml/2006/main">
            <a:off x="2562225" y="1781175"/>
            <a:ext cx="39243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FFFFFF"/>
                </a:solidFill>
                <a:latin typeface="Aptos"/>
                <a:ea typeface="Aptos"/>
                <a:cs typeface="Aptos"/>
              </a:defRPr>
            </a:pPr>
            <a:r>
              <a:rPr sz="900" b="1">
                <a:solidFill>
                  <a:srgbClr val="FFFFFF"/>
                </a:solidFill>
                <a:latin typeface="Aptos"/>
                <a:ea typeface="Aptos"/>
                <a:cs typeface="Aptos"/>
              </a:rPr>
              <a:t>AMJ</a:t>
            </a:r>
          </a:p>
        </p:txBody>
      </p:sp>
      <p:sp>
        <p:nvSpPr>
          <p:cNvPr id="9" name="">
            <a:extLst xmlns:a="http://schemas.openxmlformats.org/drawingml/2006/main">
              <a:ext uri="{FF2B5EF4-FFF2-40B4-BE49-F238E27FC236}">
                <a16:creationId xmlns:a16="http://schemas.microsoft.com/office/drawing/2014/main" id="{B39C62BE-4A66-4A29-928B-983A965E85AD}"/>
              </a:ext>
            </a:extLst>
          </p:cNvPr>
          <p:cNvSpPr>
            <a:spLocks xmlns:a="http://schemas.openxmlformats.org/drawingml/2006/main" noGrp="1"/>
          </p:cNvSpPr>
          <p:nvPr/>
        </p:nvSpPr>
        <p:spPr>
          <a:xfrm xmlns:a="http://schemas.openxmlformats.org/drawingml/2006/main">
            <a:off x="6572250" y="1714500"/>
            <a:ext cx="4457700" cy="457200"/>
          </a:xfrm>
          <a:prstGeom xmlns:a="http://schemas.openxmlformats.org/drawingml/2006/main" prst="rect">
            <a:avLst/>
          </a:prstGeom>
          <a:solidFill xmlns:a="http://schemas.openxmlformats.org/drawingml/2006/main">
            <a:srgbClr val="1D1B18"/>
          </a:solidFill>
          <a:ln xmlns:a="http://schemas.openxmlformats.org/drawingml/2006/main" w="6668">
            <a:solidFill>
              <a:srgbClr val="D8D1C4"/>
            </a:solidFill>
            <a:prstDash val="solid"/>
          </a:ln>
        </p:spPr>
      </p:sp>
      <p:sp>
        <p:nvSpPr>
          <p:cNvPr id="10" name="">
            <a:extLst xmlns:a="http://schemas.openxmlformats.org/drawingml/2006/main">
              <a:ext uri="{FF2B5EF4-FFF2-40B4-BE49-F238E27FC236}">
                <a16:creationId xmlns:a16="http://schemas.microsoft.com/office/drawing/2014/main" id="{3C23294A-F541-4453-A9DC-2CAB2A54861C}"/>
              </a:ext>
            </a:extLst>
          </p:cNvPr>
          <p:cNvSpPr>
            <a:spLocks xmlns:a="http://schemas.openxmlformats.org/drawingml/2006/main" noGrp="1"/>
          </p:cNvSpPr>
          <p:nvPr/>
        </p:nvSpPr>
        <p:spPr>
          <a:xfrm xmlns:a="http://schemas.openxmlformats.org/drawingml/2006/main">
            <a:off x="6657975" y="1781175"/>
            <a:ext cx="428625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FFFFFF"/>
                </a:solidFill>
                <a:latin typeface="Aptos"/>
                <a:ea typeface="Aptos"/>
                <a:cs typeface="Aptos"/>
              </a:defRPr>
            </a:pPr>
            <a:r>
              <a:rPr sz="900" b="1">
                <a:solidFill>
                  <a:srgbClr val="FFFFFF"/>
                </a:solidFill>
                <a:latin typeface="Aptos"/>
                <a:ea typeface="Aptos"/>
                <a:cs typeface="Aptos"/>
              </a:rPr>
              <a:t>JJA</a:t>
            </a:r>
          </a:p>
        </p:txBody>
      </p:sp>
      <p:sp>
        <p:nvSpPr>
          <p:cNvPr id="11" name="">
            <a:extLst xmlns:a="http://schemas.openxmlformats.org/drawingml/2006/main">
              <a:ext uri="{FF2B5EF4-FFF2-40B4-BE49-F238E27FC236}">
                <a16:creationId xmlns:a16="http://schemas.microsoft.com/office/drawing/2014/main" id="{2BEFB03C-6F78-4240-BCAA-E929DBB3AC53}"/>
              </a:ext>
            </a:extLst>
          </p:cNvPr>
          <p:cNvSpPr>
            <a:spLocks xmlns:a="http://schemas.openxmlformats.org/drawingml/2006/main" noGrp="1"/>
          </p:cNvSpPr>
          <p:nvPr/>
        </p:nvSpPr>
        <p:spPr>
          <a:xfrm xmlns:a="http://schemas.openxmlformats.org/drawingml/2006/main">
            <a:off x="666750" y="2171700"/>
            <a:ext cx="1809750" cy="457200"/>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12" name="">
            <a:extLst xmlns:a="http://schemas.openxmlformats.org/drawingml/2006/main">
              <a:ext uri="{FF2B5EF4-FFF2-40B4-BE49-F238E27FC236}">
                <a16:creationId xmlns:a16="http://schemas.microsoft.com/office/drawing/2014/main" id="{58EB7D2A-D3B4-4A1D-AE88-69CF9B892746}"/>
              </a:ext>
            </a:extLst>
          </p:cNvPr>
          <p:cNvSpPr>
            <a:spLocks xmlns:a="http://schemas.openxmlformats.org/drawingml/2006/main" noGrp="1"/>
          </p:cNvSpPr>
          <p:nvPr/>
        </p:nvSpPr>
        <p:spPr>
          <a:xfrm xmlns:a="http://schemas.openxmlformats.org/drawingml/2006/main">
            <a:off x="752475" y="2238375"/>
            <a:ext cx="16383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1D1B18"/>
                </a:solidFill>
                <a:latin typeface="Aptos"/>
                <a:ea typeface="Aptos"/>
                <a:cs typeface="Aptos"/>
              </a:defRPr>
            </a:pPr>
            <a:r>
              <a:rPr sz="945" b="0">
                <a:solidFill>
                  <a:srgbClr val="1D1B18"/>
                </a:solidFill>
                <a:latin typeface="Aptos"/>
                <a:ea typeface="Aptos"/>
                <a:cs typeface="Aptos"/>
              </a:rPr>
              <a:t>Niño-3 海温异常，作为回归预测因子</a:t>
            </a:r>
          </a:p>
        </p:txBody>
      </p:sp>
      <p:sp>
        <p:nvSpPr>
          <p:cNvPr id="13" name="">
            <a:extLst xmlns:a="http://schemas.openxmlformats.org/drawingml/2006/main">
              <a:ext uri="{FF2B5EF4-FFF2-40B4-BE49-F238E27FC236}">
                <a16:creationId xmlns:a16="http://schemas.microsoft.com/office/drawing/2014/main" id="{A5188E43-56E2-42E4-B1F7-8DC4A54C101D}"/>
              </a:ext>
            </a:extLst>
          </p:cNvPr>
          <p:cNvSpPr>
            <a:spLocks xmlns:a="http://schemas.openxmlformats.org/drawingml/2006/main" noGrp="1"/>
          </p:cNvSpPr>
          <p:nvPr/>
        </p:nvSpPr>
        <p:spPr>
          <a:xfrm xmlns:a="http://schemas.openxmlformats.org/drawingml/2006/main">
            <a:off x="2476500" y="2171700"/>
            <a:ext cx="4095750" cy="457200"/>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14" name="">
            <a:extLst xmlns:a="http://schemas.openxmlformats.org/drawingml/2006/main">
              <a:ext uri="{FF2B5EF4-FFF2-40B4-BE49-F238E27FC236}">
                <a16:creationId xmlns:a16="http://schemas.microsoft.com/office/drawing/2014/main" id="{3814DE54-3579-41EB-9BD1-25C815355708}"/>
              </a:ext>
            </a:extLst>
          </p:cNvPr>
          <p:cNvSpPr>
            <a:spLocks xmlns:a="http://schemas.openxmlformats.org/drawingml/2006/main" noGrp="1"/>
          </p:cNvSpPr>
          <p:nvPr/>
        </p:nvSpPr>
        <p:spPr>
          <a:xfrm xmlns:a="http://schemas.openxmlformats.org/drawingml/2006/main">
            <a:off x="2562225" y="2238375"/>
            <a:ext cx="39243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1D1B18"/>
                </a:solidFill>
                <a:latin typeface="Aptos"/>
                <a:ea typeface="Aptos"/>
                <a:cs typeface="Aptos"/>
              </a:defRPr>
            </a:pPr>
            <a:r>
              <a:rPr sz="945" b="0">
                <a:solidFill>
                  <a:srgbClr val="1D1B18"/>
                </a:solidFill>
                <a:latin typeface="Aptos"/>
                <a:ea typeface="Aptos"/>
                <a:cs typeface="Aptos"/>
              </a:rPr>
              <a:t>0.97°C</a:t>
            </a:r>
          </a:p>
        </p:txBody>
      </p:sp>
      <p:sp>
        <p:nvSpPr>
          <p:cNvPr id="15" name="">
            <a:extLst xmlns:a="http://schemas.openxmlformats.org/drawingml/2006/main">
              <a:ext uri="{FF2B5EF4-FFF2-40B4-BE49-F238E27FC236}">
                <a16:creationId xmlns:a16="http://schemas.microsoft.com/office/drawing/2014/main" id="{776A6889-673D-402C-8912-0EC36559C44D}"/>
              </a:ext>
            </a:extLst>
          </p:cNvPr>
          <p:cNvSpPr>
            <a:spLocks xmlns:a="http://schemas.openxmlformats.org/drawingml/2006/main" noGrp="1"/>
          </p:cNvSpPr>
          <p:nvPr/>
        </p:nvSpPr>
        <p:spPr>
          <a:xfrm xmlns:a="http://schemas.openxmlformats.org/drawingml/2006/main">
            <a:off x="6572250" y="2171700"/>
            <a:ext cx="4457700" cy="457200"/>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16" name="">
            <a:extLst xmlns:a="http://schemas.openxmlformats.org/drawingml/2006/main">
              <a:ext uri="{FF2B5EF4-FFF2-40B4-BE49-F238E27FC236}">
                <a16:creationId xmlns:a16="http://schemas.microsoft.com/office/drawing/2014/main" id="{E884F585-EB44-4DFB-BBF6-3423D8C78860}"/>
              </a:ext>
            </a:extLst>
          </p:cNvPr>
          <p:cNvSpPr>
            <a:spLocks xmlns:a="http://schemas.openxmlformats.org/drawingml/2006/main" noGrp="1"/>
          </p:cNvSpPr>
          <p:nvPr/>
        </p:nvSpPr>
        <p:spPr>
          <a:xfrm xmlns:a="http://schemas.openxmlformats.org/drawingml/2006/main">
            <a:off x="6657975" y="2238375"/>
            <a:ext cx="428625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1D1B18"/>
                </a:solidFill>
                <a:latin typeface="Aptos"/>
                <a:ea typeface="Aptos"/>
                <a:cs typeface="Aptos"/>
              </a:defRPr>
            </a:pPr>
            <a:r>
              <a:rPr sz="945" b="0">
                <a:solidFill>
                  <a:srgbClr val="1D1B18"/>
                </a:solidFill>
                <a:latin typeface="Aptos"/>
                <a:ea typeface="Aptos"/>
                <a:cs typeface="Aptos"/>
              </a:rPr>
              <a:t>1.73°C</a:t>
            </a:r>
          </a:p>
        </p:txBody>
      </p:sp>
      <p:sp>
        <p:nvSpPr>
          <p:cNvPr id="17" name="">
            <a:extLst xmlns:a="http://schemas.openxmlformats.org/drawingml/2006/main">
              <a:ext uri="{FF2B5EF4-FFF2-40B4-BE49-F238E27FC236}">
                <a16:creationId xmlns:a16="http://schemas.microsoft.com/office/drawing/2014/main" id="{A7638184-A5F0-4D25-B6E6-D6D591010FD0}"/>
              </a:ext>
            </a:extLst>
          </p:cNvPr>
          <p:cNvSpPr>
            <a:spLocks xmlns:a="http://schemas.openxmlformats.org/drawingml/2006/main" noGrp="1"/>
          </p:cNvSpPr>
          <p:nvPr/>
        </p:nvSpPr>
        <p:spPr>
          <a:xfrm xmlns:a="http://schemas.openxmlformats.org/drawingml/2006/main">
            <a:off x="666750" y="2628900"/>
            <a:ext cx="1809750" cy="457200"/>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18" name="">
            <a:extLst xmlns:a="http://schemas.openxmlformats.org/drawingml/2006/main">
              <a:ext uri="{FF2B5EF4-FFF2-40B4-BE49-F238E27FC236}">
                <a16:creationId xmlns:a16="http://schemas.microsoft.com/office/drawing/2014/main" id="{76A92FD1-A674-4194-A028-DD5CC0206AAB}"/>
              </a:ext>
            </a:extLst>
          </p:cNvPr>
          <p:cNvSpPr>
            <a:spLocks xmlns:a="http://schemas.openxmlformats.org/drawingml/2006/main" noGrp="1"/>
          </p:cNvSpPr>
          <p:nvPr/>
        </p:nvSpPr>
        <p:spPr>
          <a:xfrm xmlns:a="http://schemas.openxmlformats.org/drawingml/2006/main">
            <a:off x="752475" y="2695575"/>
            <a:ext cx="16383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1D1B18"/>
                </a:solidFill>
                <a:latin typeface="Aptos"/>
                <a:ea typeface="Aptos"/>
                <a:cs typeface="Aptos"/>
              </a:defRPr>
            </a:pPr>
            <a:r>
              <a:rPr sz="945" b="0">
                <a:solidFill>
                  <a:srgbClr val="1D1B18"/>
                </a:solidFill>
                <a:latin typeface="Aptos"/>
                <a:ea typeface="Aptos"/>
                <a:cs typeface="Aptos"/>
              </a:rPr>
              <a:t>ERA5 中西太平洋 u10 实际/预期</a:t>
            </a:r>
          </a:p>
        </p:txBody>
      </p:sp>
      <p:sp>
        <p:nvSpPr>
          <p:cNvPr id="19" name="">
            <a:extLst xmlns:a="http://schemas.openxmlformats.org/drawingml/2006/main">
              <a:ext uri="{FF2B5EF4-FFF2-40B4-BE49-F238E27FC236}">
                <a16:creationId xmlns:a16="http://schemas.microsoft.com/office/drawing/2014/main" id="{6D8DA68F-22DB-4469-B203-FCDBFEE1083D}"/>
              </a:ext>
            </a:extLst>
          </p:cNvPr>
          <p:cNvSpPr>
            <a:spLocks xmlns:a="http://schemas.openxmlformats.org/drawingml/2006/main" noGrp="1"/>
          </p:cNvSpPr>
          <p:nvPr/>
        </p:nvSpPr>
        <p:spPr>
          <a:xfrm xmlns:a="http://schemas.openxmlformats.org/drawingml/2006/main">
            <a:off x="2476500" y="2628900"/>
            <a:ext cx="4095750" cy="457200"/>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20" name="">
            <a:extLst xmlns:a="http://schemas.openxmlformats.org/drawingml/2006/main">
              <a:ext uri="{FF2B5EF4-FFF2-40B4-BE49-F238E27FC236}">
                <a16:creationId xmlns:a16="http://schemas.microsoft.com/office/drawing/2014/main" id="{5FD11B33-AF79-4BF8-8C53-9D3E7E838644}"/>
              </a:ext>
            </a:extLst>
          </p:cNvPr>
          <p:cNvSpPr>
            <a:spLocks xmlns:a="http://schemas.openxmlformats.org/drawingml/2006/main" noGrp="1"/>
          </p:cNvSpPr>
          <p:nvPr/>
        </p:nvSpPr>
        <p:spPr>
          <a:xfrm xmlns:a="http://schemas.openxmlformats.org/drawingml/2006/main">
            <a:off x="2562225" y="2695575"/>
            <a:ext cx="39243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1D1B18"/>
                </a:solidFill>
                <a:latin typeface="Aptos"/>
                <a:ea typeface="Aptos"/>
                <a:cs typeface="Aptos"/>
              </a:defRPr>
            </a:pPr>
            <a:r>
              <a:rPr sz="945" b="0">
                <a:solidFill>
                  <a:srgbClr val="1D1B18"/>
                </a:solidFill>
                <a:latin typeface="Aptos"/>
                <a:ea typeface="Aptos"/>
                <a:cs typeface="Aptos"/>
              </a:rPr>
              <a:t>-0.38</a:t>
            </a:r>
          </a:p>
        </p:txBody>
      </p:sp>
      <p:sp>
        <p:nvSpPr>
          <p:cNvPr id="21" name="">
            <a:extLst xmlns:a="http://schemas.openxmlformats.org/drawingml/2006/main">
              <a:ext uri="{FF2B5EF4-FFF2-40B4-BE49-F238E27FC236}">
                <a16:creationId xmlns:a16="http://schemas.microsoft.com/office/drawing/2014/main" id="{F0F6AD36-24A1-4DF8-B218-594949FCB95F}"/>
              </a:ext>
            </a:extLst>
          </p:cNvPr>
          <p:cNvSpPr>
            <a:spLocks xmlns:a="http://schemas.openxmlformats.org/drawingml/2006/main" noGrp="1"/>
          </p:cNvSpPr>
          <p:nvPr/>
        </p:nvSpPr>
        <p:spPr>
          <a:xfrm xmlns:a="http://schemas.openxmlformats.org/drawingml/2006/main">
            <a:off x="6572250" y="2628900"/>
            <a:ext cx="4457700" cy="457200"/>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22" name="">
            <a:extLst xmlns:a="http://schemas.openxmlformats.org/drawingml/2006/main">
              <a:ext uri="{FF2B5EF4-FFF2-40B4-BE49-F238E27FC236}">
                <a16:creationId xmlns:a16="http://schemas.microsoft.com/office/drawing/2014/main" id="{61CBB360-8DE4-4B72-AE37-BE75BB7FE2C1}"/>
              </a:ext>
            </a:extLst>
          </p:cNvPr>
          <p:cNvSpPr>
            <a:spLocks xmlns:a="http://schemas.openxmlformats.org/drawingml/2006/main" noGrp="1"/>
          </p:cNvSpPr>
          <p:nvPr/>
        </p:nvSpPr>
        <p:spPr>
          <a:xfrm xmlns:a="http://schemas.openxmlformats.org/drawingml/2006/main">
            <a:off x="6657975" y="2695575"/>
            <a:ext cx="428625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1D1B18"/>
                </a:solidFill>
                <a:latin typeface="Aptos"/>
                <a:ea typeface="Aptos"/>
                <a:cs typeface="Aptos"/>
              </a:defRPr>
            </a:pPr>
            <a:r>
              <a:rPr sz="945" b="0">
                <a:solidFill>
                  <a:srgbClr val="1D1B18"/>
                </a:solidFill>
                <a:latin typeface="Aptos"/>
                <a:ea typeface="Aptos"/>
                <a:cs typeface="Aptos"/>
              </a:rPr>
              <a:t>0.06</a:t>
            </a:r>
          </a:p>
        </p:txBody>
      </p:sp>
      <p:sp>
        <p:nvSpPr>
          <p:cNvPr id="23" name="">
            <a:extLst xmlns:a="http://schemas.openxmlformats.org/drawingml/2006/main">
              <a:ext uri="{FF2B5EF4-FFF2-40B4-BE49-F238E27FC236}">
                <a16:creationId xmlns:a16="http://schemas.microsoft.com/office/drawing/2014/main" id="{34913220-37E1-4D37-9F95-B8FC3735C4DD}"/>
              </a:ext>
            </a:extLst>
          </p:cNvPr>
          <p:cNvSpPr>
            <a:spLocks xmlns:a="http://schemas.openxmlformats.org/drawingml/2006/main" noGrp="1"/>
          </p:cNvSpPr>
          <p:nvPr/>
        </p:nvSpPr>
        <p:spPr>
          <a:xfrm xmlns:a="http://schemas.openxmlformats.org/drawingml/2006/main">
            <a:off x="666750" y="3086100"/>
            <a:ext cx="1809750" cy="457200"/>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24" name="">
            <a:extLst xmlns:a="http://schemas.openxmlformats.org/drawingml/2006/main">
              <a:ext uri="{FF2B5EF4-FFF2-40B4-BE49-F238E27FC236}">
                <a16:creationId xmlns:a16="http://schemas.microsoft.com/office/drawing/2014/main" id="{F783227B-C263-4CA3-B8B5-F7A0E46D76AE}"/>
              </a:ext>
            </a:extLst>
          </p:cNvPr>
          <p:cNvSpPr>
            <a:spLocks xmlns:a="http://schemas.openxmlformats.org/drawingml/2006/main" noGrp="1"/>
          </p:cNvSpPr>
          <p:nvPr/>
        </p:nvSpPr>
        <p:spPr>
          <a:xfrm xmlns:a="http://schemas.openxmlformats.org/drawingml/2006/main">
            <a:off x="752475" y="3152775"/>
            <a:ext cx="16383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1D1B18"/>
                </a:solidFill>
                <a:latin typeface="Aptos"/>
                <a:ea typeface="Aptos"/>
                <a:cs typeface="Aptos"/>
              </a:defRPr>
            </a:pPr>
            <a:r>
              <a:rPr sz="945" b="0">
                <a:solidFill>
                  <a:srgbClr val="1D1B18"/>
                </a:solidFill>
                <a:latin typeface="Aptos"/>
                <a:ea typeface="Aptos"/>
                <a:cs typeface="Aptos"/>
              </a:rPr>
              <a:t>ERA5 SOI-like 海平面气压实际/预期</a:t>
            </a:r>
          </a:p>
        </p:txBody>
      </p:sp>
      <p:sp>
        <p:nvSpPr>
          <p:cNvPr id="25" name="">
            <a:extLst xmlns:a="http://schemas.openxmlformats.org/drawingml/2006/main">
              <a:ext uri="{FF2B5EF4-FFF2-40B4-BE49-F238E27FC236}">
                <a16:creationId xmlns:a16="http://schemas.microsoft.com/office/drawing/2014/main" id="{98748FDF-A370-4C39-9B9F-203AAA67D76A}"/>
              </a:ext>
            </a:extLst>
          </p:cNvPr>
          <p:cNvSpPr>
            <a:spLocks xmlns:a="http://schemas.openxmlformats.org/drawingml/2006/main" noGrp="1"/>
          </p:cNvSpPr>
          <p:nvPr/>
        </p:nvSpPr>
        <p:spPr>
          <a:xfrm xmlns:a="http://schemas.openxmlformats.org/drawingml/2006/main">
            <a:off x="2476500" y="3086100"/>
            <a:ext cx="4095750" cy="457200"/>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26" name="">
            <a:extLst xmlns:a="http://schemas.openxmlformats.org/drawingml/2006/main">
              <a:ext uri="{FF2B5EF4-FFF2-40B4-BE49-F238E27FC236}">
                <a16:creationId xmlns:a16="http://schemas.microsoft.com/office/drawing/2014/main" id="{590EA709-C56A-486B-9C29-B195A3340883}"/>
              </a:ext>
            </a:extLst>
          </p:cNvPr>
          <p:cNvSpPr>
            <a:spLocks xmlns:a="http://schemas.openxmlformats.org/drawingml/2006/main" noGrp="1"/>
          </p:cNvSpPr>
          <p:nvPr/>
        </p:nvSpPr>
        <p:spPr>
          <a:xfrm xmlns:a="http://schemas.openxmlformats.org/drawingml/2006/main">
            <a:off x="2562225" y="3152775"/>
            <a:ext cx="39243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1D1B18"/>
                </a:solidFill>
                <a:latin typeface="Aptos"/>
                <a:ea typeface="Aptos"/>
                <a:cs typeface="Aptos"/>
              </a:defRPr>
            </a:pPr>
            <a:r>
              <a:rPr sz="945" b="0">
                <a:solidFill>
                  <a:srgbClr val="1D1B18"/>
                </a:solidFill>
                <a:latin typeface="Aptos"/>
                <a:ea typeface="Aptos"/>
                <a:cs typeface="Aptos"/>
              </a:rPr>
              <a:t>0.56</a:t>
            </a:r>
          </a:p>
        </p:txBody>
      </p:sp>
      <p:sp>
        <p:nvSpPr>
          <p:cNvPr id="27" name="">
            <a:extLst xmlns:a="http://schemas.openxmlformats.org/drawingml/2006/main">
              <a:ext uri="{FF2B5EF4-FFF2-40B4-BE49-F238E27FC236}">
                <a16:creationId xmlns:a16="http://schemas.microsoft.com/office/drawing/2014/main" id="{5FD0AE86-E1FC-479C-A771-F70F129D891E}"/>
              </a:ext>
            </a:extLst>
          </p:cNvPr>
          <p:cNvSpPr>
            <a:spLocks xmlns:a="http://schemas.openxmlformats.org/drawingml/2006/main" noGrp="1"/>
          </p:cNvSpPr>
          <p:nvPr/>
        </p:nvSpPr>
        <p:spPr>
          <a:xfrm xmlns:a="http://schemas.openxmlformats.org/drawingml/2006/main">
            <a:off x="6572250" y="3086100"/>
            <a:ext cx="4457700" cy="457200"/>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28" name="">
            <a:extLst xmlns:a="http://schemas.openxmlformats.org/drawingml/2006/main">
              <a:ext uri="{FF2B5EF4-FFF2-40B4-BE49-F238E27FC236}">
                <a16:creationId xmlns:a16="http://schemas.microsoft.com/office/drawing/2014/main" id="{64B9FDF9-EF13-48E2-B302-E31CAA64C111}"/>
              </a:ext>
            </a:extLst>
          </p:cNvPr>
          <p:cNvSpPr>
            <a:spLocks xmlns:a="http://schemas.openxmlformats.org/drawingml/2006/main" noGrp="1"/>
          </p:cNvSpPr>
          <p:nvPr/>
        </p:nvSpPr>
        <p:spPr>
          <a:xfrm xmlns:a="http://schemas.openxmlformats.org/drawingml/2006/main">
            <a:off x="6657975" y="3152775"/>
            <a:ext cx="428625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1D1B18"/>
                </a:solidFill>
                <a:latin typeface="Aptos"/>
                <a:ea typeface="Aptos"/>
                <a:cs typeface="Aptos"/>
              </a:defRPr>
            </a:pPr>
            <a:r>
              <a:rPr sz="945" b="0">
                <a:solidFill>
                  <a:srgbClr val="1D1B18"/>
                </a:solidFill>
                <a:latin typeface="Aptos"/>
                <a:ea typeface="Aptos"/>
                <a:cs typeface="Aptos"/>
              </a:rPr>
              <a:t>0.41</a:t>
            </a:r>
          </a:p>
        </p:txBody>
      </p:sp>
      <p:sp>
        <p:nvSpPr>
          <p:cNvPr id="29" name="">
            <a:extLst xmlns:a="http://schemas.openxmlformats.org/drawingml/2006/main">
              <a:ext uri="{FF2B5EF4-FFF2-40B4-BE49-F238E27FC236}">
                <a16:creationId xmlns:a16="http://schemas.microsoft.com/office/drawing/2014/main" id="{B203EF9A-4D8E-4819-A56B-3AF00D04BB0E}"/>
              </a:ext>
            </a:extLst>
          </p:cNvPr>
          <p:cNvSpPr>
            <a:spLocks xmlns:a="http://schemas.openxmlformats.org/drawingml/2006/main" noGrp="1"/>
          </p:cNvSpPr>
          <p:nvPr/>
        </p:nvSpPr>
        <p:spPr>
          <a:xfrm xmlns:a="http://schemas.openxmlformats.org/drawingml/2006/main">
            <a:off x="666750" y="3543300"/>
            <a:ext cx="1809750" cy="457200"/>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30" name="">
            <a:extLst xmlns:a="http://schemas.openxmlformats.org/drawingml/2006/main">
              <a:ext uri="{FF2B5EF4-FFF2-40B4-BE49-F238E27FC236}">
                <a16:creationId xmlns:a16="http://schemas.microsoft.com/office/drawing/2014/main" id="{0A0EAF36-C9A8-4F8B-BBD7-28FEF64F6E5F}"/>
              </a:ext>
            </a:extLst>
          </p:cNvPr>
          <p:cNvSpPr>
            <a:spLocks xmlns:a="http://schemas.openxmlformats.org/drawingml/2006/main" noGrp="1"/>
          </p:cNvSpPr>
          <p:nvPr/>
        </p:nvSpPr>
        <p:spPr>
          <a:xfrm xmlns:a="http://schemas.openxmlformats.org/drawingml/2006/main">
            <a:off x="752475" y="3609975"/>
            <a:ext cx="16383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1D1B18"/>
                </a:solidFill>
                <a:latin typeface="Aptos"/>
                <a:ea typeface="Aptos"/>
                <a:cs typeface="Aptos"/>
              </a:defRPr>
            </a:pPr>
            <a:r>
              <a:rPr sz="945" b="0">
                <a:solidFill>
                  <a:srgbClr val="1D1B18"/>
                </a:solidFill>
                <a:latin typeface="Aptos"/>
                <a:ea typeface="Aptos"/>
                <a:cs typeface="Aptos"/>
              </a:rPr>
              <a:t>GPCP 中太平洋降水实际/预期</a:t>
            </a:r>
          </a:p>
        </p:txBody>
      </p:sp>
      <p:sp>
        <p:nvSpPr>
          <p:cNvPr id="31" name="">
            <a:extLst xmlns:a="http://schemas.openxmlformats.org/drawingml/2006/main">
              <a:ext uri="{FF2B5EF4-FFF2-40B4-BE49-F238E27FC236}">
                <a16:creationId xmlns:a16="http://schemas.microsoft.com/office/drawing/2014/main" id="{C88D6EC8-3B6B-4347-8573-1AAB9DE0F65E}"/>
              </a:ext>
            </a:extLst>
          </p:cNvPr>
          <p:cNvSpPr>
            <a:spLocks xmlns:a="http://schemas.openxmlformats.org/drawingml/2006/main" noGrp="1"/>
          </p:cNvSpPr>
          <p:nvPr/>
        </p:nvSpPr>
        <p:spPr>
          <a:xfrm xmlns:a="http://schemas.openxmlformats.org/drawingml/2006/main">
            <a:off x="2476500" y="3543300"/>
            <a:ext cx="4095750" cy="457200"/>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32" name="">
            <a:extLst xmlns:a="http://schemas.openxmlformats.org/drawingml/2006/main">
              <a:ext uri="{FF2B5EF4-FFF2-40B4-BE49-F238E27FC236}">
                <a16:creationId xmlns:a16="http://schemas.microsoft.com/office/drawing/2014/main" id="{32E65398-1529-4220-8011-46DC62BC469C}"/>
              </a:ext>
            </a:extLst>
          </p:cNvPr>
          <p:cNvSpPr>
            <a:spLocks xmlns:a="http://schemas.openxmlformats.org/drawingml/2006/main" noGrp="1"/>
          </p:cNvSpPr>
          <p:nvPr/>
        </p:nvSpPr>
        <p:spPr>
          <a:xfrm xmlns:a="http://schemas.openxmlformats.org/drawingml/2006/main">
            <a:off x="2562225" y="3609975"/>
            <a:ext cx="39243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1D1B18"/>
                </a:solidFill>
                <a:latin typeface="Aptos"/>
                <a:ea typeface="Aptos"/>
                <a:cs typeface="Aptos"/>
              </a:defRPr>
            </a:pPr>
            <a:r>
              <a:rPr sz="945" b="0">
                <a:solidFill>
                  <a:srgbClr val="1D1B18"/>
                </a:solidFill>
                <a:latin typeface="Aptos"/>
                <a:ea typeface="Aptos"/>
                <a:cs typeface="Aptos"/>
              </a:rPr>
              <a:t>0.35</a:t>
            </a:r>
          </a:p>
        </p:txBody>
      </p:sp>
      <p:sp>
        <p:nvSpPr>
          <p:cNvPr id="33" name="">
            <a:extLst xmlns:a="http://schemas.openxmlformats.org/drawingml/2006/main">
              <a:ext uri="{FF2B5EF4-FFF2-40B4-BE49-F238E27FC236}">
                <a16:creationId xmlns:a16="http://schemas.microsoft.com/office/drawing/2014/main" id="{320AB10B-B607-4ACF-8AC3-02B9E3DFB8BF}"/>
              </a:ext>
            </a:extLst>
          </p:cNvPr>
          <p:cNvSpPr>
            <a:spLocks xmlns:a="http://schemas.openxmlformats.org/drawingml/2006/main" noGrp="1"/>
          </p:cNvSpPr>
          <p:nvPr/>
        </p:nvSpPr>
        <p:spPr>
          <a:xfrm xmlns:a="http://schemas.openxmlformats.org/drawingml/2006/main">
            <a:off x="6572250" y="3543300"/>
            <a:ext cx="4457700" cy="457200"/>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34" name="">
            <a:extLst xmlns:a="http://schemas.openxmlformats.org/drawingml/2006/main">
              <a:ext uri="{FF2B5EF4-FFF2-40B4-BE49-F238E27FC236}">
                <a16:creationId xmlns:a16="http://schemas.microsoft.com/office/drawing/2014/main" id="{0A163226-722B-4AAF-AA7F-F55FCE53CF20}"/>
              </a:ext>
            </a:extLst>
          </p:cNvPr>
          <p:cNvSpPr>
            <a:spLocks xmlns:a="http://schemas.openxmlformats.org/drawingml/2006/main" noGrp="1"/>
          </p:cNvSpPr>
          <p:nvPr/>
        </p:nvSpPr>
        <p:spPr>
          <a:xfrm xmlns:a="http://schemas.openxmlformats.org/drawingml/2006/main">
            <a:off x="6657975" y="3609975"/>
            <a:ext cx="428625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1D1B18"/>
                </a:solidFill>
                <a:latin typeface="Aptos"/>
                <a:ea typeface="Aptos"/>
                <a:cs typeface="Aptos"/>
              </a:defRPr>
            </a:pPr>
            <a:r>
              <a:rPr sz="945" b="0">
                <a:solidFill>
                  <a:srgbClr val="1D1B18"/>
                </a:solidFill>
                <a:latin typeface="Aptos"/>
                <a:ea typeface="Aptos"/>
                <a:cs typeface="Aptos"/>
              </a:rPr>
              <a:t>0.46</a:t>
            </a:r>
          </a:p>
        </p:txBody>
      </p:sp>
      <p:sp>
        <p:nvSpPr>
          <p:cNvPr id="35" name="">
            <a:extLst xmlns:a="http://schemas.openxmlformats.org/drawingml/2006/main">
              <a:ext uri="{FF2B5EF4-FFF2-40B4-BE49-F238E27FC236}">
                <a16:creationId xmlns:a16="http://schemas.microsoft.com/office/drawing/2014/main" id="{F572639F-0346-4C12-B3A1-FB53E34E54F3}"/>
              </a:ext>
            </a:extLst>
          </p:cNvPr>
          <p:cNvSpPr>
            <a:spLocks xmlns:a="http://schemas.openxmlformats.org/drawingml/2006/main" noGrp="1"/>
          </p:cNvSpPr>
          <p:nvPr/>
        </p:nvSpPr>
        <p:spPr>
          <a:xfrm xmlns:a="http://schemas.openxmlformats.org/drawingml/2006/main">
            <a:off x="666750" y="4000500"/>
            <a:ext cx="1809750" cy="457200"/>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36" name="">
            <a:extLst xmlns:a="http://schemas.openxmlformats.org/drawingml/2006/main">
              <a:ext uri="{FF2B5EF4-FFF2-40B4-BE49-F238E27FC236}">
                <a16:creationId xmlns:a16="http://schemas.microsoft.com/office/drawing/2014/main" id="{DB809E48-A46B-4D67-81F0-468052013A0E}"/>
              </a:ext>
            </a:extLst>
          </p:cNvPr>
          <p:cNvSpPr>
            <a:spLocks xmlns:a="http://schemas.openxmlformats.org/drawingml/2006/main" noGrp="1"/>
          </p:cNvSpPr>
          <p:nvPr/>
        </p:nvSpPr>
        <p:spPr>
          <a:xfrm xmlns:a="http://schemas.openxmlformats.org/drawingml/2006/main">
            <a:off x="752475" y="4067175"/>
            <a:ext cx="16383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1D1B18"/>
                </a:solidFill>
                <a:latin typeface="Aptos"/>
                <a:ea typeface="Aptos"/>
                <a:cs typeface="Aptos"/>
              </a:defRPr>
            </a:pPr>
            <a:r>
              <a:rPr sz="945" b="0">
                <a:solidFill>
                  <a:srgbClr val="1D1B18"/>
                </a:solidFill>
                <a:latin typeface="Aptos"/>
                <a:ea typeface="Aptos"/>
                <a:cs typeface="Aptos"/>
              </a:rPr>
              <a:t>CPC 中太平洋 OLR 实际/预期</a:t>
            </a:r>
          </a:p>
        </p:txBody>
      </p:sp>
      <p:sp>
        <p:nvSpPr>
          <p:cNvPr id="37" name="">
            <a:extLst xmlns:a="http://schemas.openxmlformats.org/drawingml/2006/main">
              <a:ext uri="{FF2B5EF4-FFF2-40B4-BE49-F238E27FC236}">
                <a16:creationId xmlns:a16="http://schemas.microsoft.com/office/drawing/2014/main" id="{2F0CCADB-3665-4228-9E17-67F277754070}"/>
              </a:ext>
            </a:extLst>
          </p:cNvPr>
          <p:cNvSpPr>
            <a:spLocks xmlns:a="http://schemas.openxmlformats.org/drawingml/2006/main" noGrp="1"/>
          </p:cNvSpPr>
          <p:nvPr/>
        </p:nvSpPr>
        <p:spPr>
          <a:xfrm xmlns:a="http://schemas.openxmlformats.org/drawingml/2006/main">
            <a:off x="2476500" y="4000500"/>
            <a:ext cx="4095750" cy="457200"/>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38" name="">
            <a:extLst xmlns:a="http://schemas.openxmlformats.org/drawingml/2006/main">
              <a:ext uri="{FF2B5EF4-FFF2-40B4-BE49-F238E27FC236}">
                <a16:creationId xmlns:a16="http://schemas.microsoft.com/office/drawing/2014/main" id="{58B3FED5-7D16-4D58-9A93-94E4F678529A}"/>
              </a:ext>
            </a:extLst>
          </p:cNvPr>
          <p:cNvSpPr>
            <a:spLocks xmlns:a="http://schemas.openxmlformats.org/drawingml/2006/main" noGrp="1"/>
          </p:cNvSpPr>
          <p:nvPr/>
        </p:nvSpPr>
        <p:spPr>
          <a:xfrm xmlns:a="http://schemas.openxmlformats.org/drawingml/2006/main">
            <a:off x="2562225" y="4067175"/>
            <a:ext cx="39243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1D1B18"/>
                </a:solidFill>
                <a:latin typeface="Aptos"/>
                <a:ea typeface="Aptos"/>
                <a:cs typeface="Aptos"/>
              </a:defRPr>
            </a:pPr>
            <a:r>
              <a:rPr sz="945" b="0">
                <a:solidFill>
                  <a:srgbClr val="1D1B18"/>
                </a:solidFill>
                <a:latin typeface="Aptos"/>
                <a:ea typeface="Aptos"/>
                <a:cs typeface="Aptos"/>
              </a:rPr>
              <a:t>0.17</a:t>
            </a:r>
          </a:p>
        </p:txBody>
      </p:sp>
      <p:sp>
        <p:nvSpPr>
          <p:cNvPr id="39" name="">
            <a:extLst xmlns:a="http://schemas.openxmlformats.org/drawingml/2006/main">
              <a:ext uri="{FF2B5EF4-FFF2-40B4-BE49-F238E27FC236}">
                <a16:creationId xmlns:a16="http://schemas.microsoft.com/office/drawing/2014/main" id="{BCC8F5E2-1C70-4E61-A218-BD911F2A6D46}"/>
              </a:ext>
            </a:extLst>
          </p:cNvPr>
          <p:cNvSpPr>
            <a:spLocks xmlns:a="http://schemas.openxmlformats.org/drawingml/2006/main" noGrp="1"/>
          </p:cNvSpPr>
          <p:nvPr/>
        </p:nvSpPr>
        <p:spPr>
          <a:xfrm xmlns:a="http://schemas.openxmlformats.org/drawingml/2006/main">
            <a:off x="6572250" y="4000500"/>
            <a:ext cx="4457700" cy="457200"/>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40" name="">
            <a:extLst xmlns:a="http://schemas.openxmlformats.org/drawingml/2006/main">
              <a:ext uri="{FF2B5EF4-FFF2-40B4-BE49-F238E27FC236}">
                <a16:creationId xmlns:a16="http://schemas.microsoft.com/office/drawing/2014/main" id="{C7FD7C28-6F15-4F88-8EC0-B4948C5AFE1C}"/>
              </a:ext>
            </a:extLst>
          </p:cNvPr>
          <p:cNvSpPr>
            <a:spLocks xmlns:a="http://schemas.openxmlformats.org/drawingml/2006/main" noGrp="1"/>
          </p:cNvSpPr>
          <p:nvPr/>
        </p:nvSpPr>
        <p:spPr>
          <a:xfrm xmlns:a="http://schemas.openxmlformats.org/drawingml/2006/main">
            <a:off x="6657975" y="4067175"/>
            <a:ext cx="428625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1D1B18"/>
                </a:solidFill>
                <a:latin typeface="Aptos"/>
                <a:ea typeface="Aptos"/>
                <a:cs typeface="Aptos"/>
              </a:defRPr>
            </a:pPr>
            <a:r>
              <a:rPr sz="945" b="0">
                <a:solidFill>
                  <a:srgbClr val="1D1B18"/>
                </a:solidFill>
                <a:latin typeface="Aptos"/>
                <a:ea typeface="Aptos"/>
                <a:cs typeface="Aptos"/>
              </a:rPr>
              <a:t>0.26</a:t>
            </a:r>
          </a:p>
        </p:txBody>
      </p:sp>
      <p:sp>
        <p:nvSpPr>
          <p:cNvPr id="41" name="">
            <a:extLst xmlns:a="http://schemas.openxmlformats.org/drawingml/2006/main">
              <a:ext uri="{FF2B5EF4-FFF2-40B4-BE49-F238E27FC236}">
                <a16:creationId xmlns:a16="http://schemas.microsoft.com/office/drawing/2014/main" id="{BD03E246-55FC-4FDC-A05C-E0E2EEF32609}"/>
              </a:ext>
            </a:extLst>
          </p:cNvPr>
          <p:cNvSpPr>
            <a:spLocks xmlns:a="http://schemas.openxmlformats.org/drawingml/2006/main" noGrp="1"/>
          </p:cNvSpPr>
          <p:nvPr/>
        </p:nvSpPr>
        <p:spPr>
          <a:xfrm xmlns:a="http://schemas.openxmlformats.org/drawingml/2006/main">
            <a:off x="723900" y="5162550"/>
            <a:ext cx="9906000" cy="1009650"/>
          </a:xfrm>
          <a:prstGeom xmlns:a="http://schemas.openxmlformats.org/drawingml/2006/main" prst="rect">
            <a:avLst/>
          </a:prstGeom>
          <a:solidFill xmlns:a="http://schemas.openxmlformats.org/drawingml/2006/main">
            <a:srgbClr val="EDF3EF"/>
          </a:solidFill>
          <a:ln xmlns:a="http://schemas.openxmlformats.org/drawingml/2006/main" w="7620">
            <a:solidFill>
              <a:srgbClr val="D8D1C4"/>
            </a:solidFill>
            <a:prstDash val="solid"/>
          </a:ln>
        </p:spPr>
      </p:sp>
      <p:sp>
        <p:nvSpPr>
          <p:cNvPr id="42" name="">
            <a:extLst xmlns:a="http://schemas.openxmlformats.org/drawingml/2006/main">
              <a:ext uri="{FF2B5EF4-FFF2-40B4-BE49-F238E27FC236}">
                <a16:creationId xmlns:a16="http://schemas.microsoft.com/office/drawing/2014/main" id="{9AD7BF6D-F674-4E3B-982A-D1EC90557CFB}"/>
              </a:ext>
            </a:extLst>
          </p:cNvPr>
          <p:cNvSpPr>
            <a:spLocks xmlns:a="http://schemas.openxmlformats.org/drawingml/2006/main" noGrp="1"/>
          </p:cNvSpPr>
          <p:nvPr/>
        </p:nvSpPr>
        <p:spPr>
          <a:xfrm xmlns:a="http://schemas.openxmlformats.org/drawingml/2006/main">
            <a:off x="857250" y="5276850"/>
            <a:ext cx="96393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2F6F73"/>
                </a:solidFill>
                <a:latin typeface="Aptos"/>
                <a:ea typeface="Aptos"/>
                <a:cs typeface="Aptos"/>
              </a:defRPr>
            </a:pPr>
            <a:r>
              <a:rPr sz="1050" b="1">
                <a:solidFill>
                  <a:srgbClr val="2F6F73"/>
                </a:solidFill>
                <a:latin typeface="Aptos"/>
                <a:ea typeface="Aptos"/>
                <a:cs typeface="Aptos"/>
              </a:rPr>
              <a:t>Reading note</a:t>
            </a:r>
          </a:p>
        </p:txBody>
      </p:sp>
      <p:sp>
        <p:nvSpPr>
          <p:cNvPr id="43" name="">
            <a:extLst xmlns:a="http://schemas.openxmlformats.org/drawingml/2006/main">
              <a:ext uri="{FF2B5EF4-FFF2-40B4-BE49-F238E27FC236}">
                <a16:creationId xmlns:a16="http://schemas.microsoft.com/office/drawing/2014/main" id="{1823B2CF-3109-4B2C-A452-A5F4531C45CC}"/>
              </a:ext>
            </a:extLst>
          </p:cNvPr>
          <p:cNvSpPr>
            <a:spLocks xmlns:a="http://schemas.openxmlformats.org/drawingml/2006/main" noGrp="1"/>
          </p:cNvSpPr>
          <p:nvPr/>
        </p:nvSpPr>
        <p:spPr>
          <a:xfrm xmlns:a="http://schemas.openxmlformats.org/drawingml/2006/main">
            <a:off x="857250" y="5562600"/>
            <a:ext cx="9639300" cy="533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88" b="0">
                <a:solidFill>
                  <a:srgbClr val="1D1B18"/>
                </a:solidFill>
                <a:latin typeface="Aptos"/>
                <a:ea typeface="Aptos"/>
                <a:cs typeface="Aptos"/>
              </a:defRPr>
            </a:pPr>
            <a:r>
              <a:rPr sz="1088" b="0">
                <a:solidFill>
                  <a:srgbClr val="1D1B18"/>
                </a:solidFill>
                <a:latin typeface="Aptos"/>
                <a:ea typeface="Aptos"/>
                <a:cs typeface="Aptos"/>
              </a:rPr>
              <a:t>每个季节分别用历史 Niño-3 海温异常和大气变量异常建立回归关系，由此得到 2023 年在该海温强度下应有的大气响应。数值低于 1 表示弱于历史回归预期；小于 0 表示响应方向相反。</a:t>
            </a:r>
          </a:p>
        </p:txBody>
      </p:sp>
      <p:sp>
        <p:nvSpPr>
          <p:cNvPr id="44" name="">
            <a:extLst xmlns:a="http://schemas.openxmlformats.org/drawingml/2006/main">
              <a:ext uri="{FF2B5EF4-FFF2-40B4-BE49-F238E27FC236}">
                <a16:creationId xmlns:a16="http://schemas.microsoft.com/office/drawing/2014/main" id="{28394ED0-E07D-429E-A12D-D67ED208FEE9}"/>
              </a:ext>
            </a:extLst>
          </p:cNvPr>
          <p:cNvSpPr>
            <a:spLocks xmlns:a="http://schemas.openxmlformats.org/drawingml/2006/main" noGrp="1"/>
          </p:cNvSpPr>
          <p:nvPr/>
        </p:nvSpPr>
        <p:spPr>
          <a:xfrm xmlns:a="http://schemas.openxmlformats.org/drawingml/2006/main">
            <a:off x="552450" y="6477000"/>
            <a:ext cx="106680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5D574F"/>
                </a:solidFill>
                <a:latin typeface="Aptos"/>
                <a:ea typeface="Aptos"/>
                <a:cs typeface="Aptos"/>
              </a:defRPr>
            </a:pPr>
            <a:r>
              <a:rPr sz="788" b="0">
                <a:solidFill>
                  <a:srgbClr val="5D574F"/>
                </a:solidFill>
                <a:latin typeface="Aptos"/>
                <a:ea typeface="Aptos"/>
                <a:cs typeface="Aptos"/>
              </a:rPr>
              <a:t>Table: seasonal_regression_expected_response.csv. Data: OISST Niño-3, ERA5 u10/SLP, GPCP precipitation, CPC blended OLR.</a:t>
            </a:r>
          </a:p>
        </p:txBody>
      </p:sp>
    </p:spTree>
    <p:extLst>
      <p:ext uri="{BB962C8B-B14F-4D97-AF65-F5344CB8AC3E}">
        <p14:creationId xmlns:p14="http://schemas.microsoft.com/office/powerpoint/2010/main" val="1506785496"/>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82E73C8C-61B8-4E8A-B7DE-15CE37D0396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3EA"/>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040FC5A7-2F2F-42FE-AB1D-DDA53A57A848}"/>
              </a:ext>
            </a:extLst>
          </p:cNvPr>
          <p:cNvSpPr>
            <a:spLocks xmlns:a="http://schemas.openxmlformats.org/drawingml/2006/main" noGrp="1"/>
          </p:cNvSpPr>
          <p:nvPr/>
        </p:nvSpPr>
        <p:spPr>
          <a:xfrm xmlns:a="http://schemas.openxmlformats.org/drawingml/2006/main">
            <a:off x="552450" y="285750"/>
            <a:ext cx="3429000" cy="23812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CC5A43"/>
                </a:solidFill>
                <a:latin typeface="Aptos"/>
                <a:ea typeface="Aptos"/>
                <a:cs typeface="Aptos"/>
              </a:defRPr>
            </a:pPr>
            <a:r>
              <a:rPr sz="1050" b="1">
                <a:solidFill>
                  <a:srgbClr val="CC5A43"/>
                </a:solidFill>
                <a:latin typeface="Aptos"/>
                <a:ea typeface="Aptos"/>
                <a:cs typeface="Aptos"/>
              </a:rPr>
              <a:t>与现有研究区别</a:t>
            </a:r>
          </a:p>
        </p:txBody>
      </p:sp>
      <p:sp>
        <p:nvSpPr>
          <p:cNvPr id="3" name="">
            <a:extLst xmlns:a="http://schemas.openxmlformats.org/drawingml/2006/main">
              <a:ext uri="{FF2B5EF4-FFF2-40B4-BE49-F238E27FC236}">
                <a16:creationId xmlns:a16="http://schemas.microsoft.com/office/drawing/2014/main" id="{D0B17938-5888-4BBB-B92B-1D042866D147}"/>
              </a:ext>
            </a:extLst>
          </p:cNvPr>
          <p:cNvSpPr>
            <a:spLocks xmlns:a="http://schemas.openxmlformats.org/drawingml/2006/main" noGrp="1"/>
          </p:cNvSpPr>
          <p:nvPr/>
        </p:nvSpPr>
        <p:spPr>
          <a:xfrm xmlns:a="http://schemas.openxmlformats.org/drawingml/2006/main">
            <a:off x="552450" y="609600"/>
            <a:ext cx="104775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175" b="1">
                <a:solidFill>
                  <a:srgbClr val="1D1B18"/>
                </a:solidFill>
                <a:latin typeface="Aptos Display"/>
                <a:ea typeface="Aptos Display"/>
                <a:cs typeface="Aptos Display"/>
              </a:defRPr>
            </a:pPr>
            <a:r>
              <a:rPr sz="2175" b="1">
                <a:solidFill>
                  <a:srgbClr val="1D1B18"/>
                </a:solidFill>
                <a:latin typeface="Aptos Display"/>
                <a:ea typeface="Aptos Display"/>
                <a:cs typeface="Aptos Display"/>
              </a:rPr>
              <a:t>已有研究解释单个机制或月份，本研究把原文预期响应逻辑系统化到季节尺度</a:t>
            </a:r>
          </a:p>
        </p:txBody>
      </p:sp>
      <p:sp>
        <p:nvSpPr>
          <p:cNvPr id="4" name="">
            <a:extLst xmlns:a="http://schemas.openxmlformats.org/drawingml/2006/main">
              <a:ext uri="{FF2B5EF4-FFF2-40B4-BE49-F238E27FC236}">
                <a16:creationId xmlns:a16="http://schemas.microsoft.com/office/drawing/2014/main" id="{49A2552C-F37C-4DB7-8E8B-3ABB6B5BF25A}"/>
              </a:ext>
            </a:extLst>
          </p:cNvPr>
          <p:cNvSpPr>
            <a:spLocks xmlns:a="http://schemas.openxmlformats.org/drawingml/2006/main" noGrp="1"/>
          </p:cNvSpPr>
          <p:nvPr/>
        </p:nvSpPr>
        <p:spPr>
          <a:xfrm xmlns:a="http://schemas.openxmlformats.org/drawingml/2006/main">
            <a:off x="552450" y="1409700"/>
            <a:ext cx="10763250" cy="14288"/>
          </a:xfrm>
          <a:prstGeom xmlns:a="http://schemas.openxmlformats.org/drawingml/2006/main" prst="rect">
            <a:avLst/>
          </a:prstGeom>
          <a:solidFill xmlns:a="http://schemas.openxmlformats.org/drawingml/2006/main">
            <a:srgbClr val="D8D1C4"/>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0640D3A8-E17F-4957-A0FF-9FF64C9A4EE1}"/>
              </a:ext>
            </a:extLst>
          </p:cNvPr>
          <p:cNvSpPr>
            <a:spLocks xmlns:a="http://schemas.openxmlformats.org/drawingml/2006/main" noGrp="1"/>
          </p:cNvSpPr>
          <p:nvPr/>
        </p:nvSpPr>
        <p:spPr>
          <a:xfrm xmlns:a="http://schemas.openxmlformats.org/drawingml/2006/main">
            <a:off x="666750" y="1714500"/>
            <a:ext cx="1809750" cy="457200"/>
          </a:xfrm>
          <a:prstGeom xmlns:a="http://schemas.openxmlformats.org/drawingml/2006/main" prst="rect">
            <a:avLst/>
          </a:prstGeom>
          <a:solidFill xmlns:a="http://schemas.openxmlformats.org/drawingml/2006/main">
            <a:srgbClr val="1D1B18"/>
          </a:solidFill>
          <a:ln xmlns:a="http://schemas.openxmlformats.org/drawingml/2006/main" w="6668">
            <a:solidFill>
              <a:srgbClr val="D8D1C4"/>
            </a:solidFill>
            <a:prstDash val="solid"/>
          </a:ln>
        </p:spPr>
      </p:sp>
      <p:sp>
        <p:nvSpPr>
          <p:cNvPr id="6" name="">
            <a:extLst xmlns:a="http://schemas.openxmlformats.org/drawingml/2006/main">
              <a:ext uri="{FF2B5EF4-FFF2-40B4-BE49-F238E27FC236}">
                <a16:creationId xmlns:a16="http://schemas.microsoft.com/office/drawing/2014/main" id="{CDE0179F-437A-46E9-9D5F-726B6022B218}"/>
              </a:ext>
            </a:extLst>
          </p:cNvPr>
          <p:cNvSpPr>
            <a:spLocks xmlns:a="http://schemas.openxmlformats.org/drawingml/2006/main" noGrp="1"/>
          </p:cNvSpPr>
          <p:nvPr/>
        </p:nvSpPr>
        <p:spPr>
          <a:xfrm xmlns:a="http://schemas.openxmlformats.org/drawingml/2006/main">
            <a:off x="752475" y="1781175"/>
            <a:ext cx="16383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FFFFFF"/>
                </a:solidFill>
                <a:latin typeface="Aptos"/>
                <a:ea typeface="Aptos"/>
                <a:cs typeface="Aptos"/>
              </a:defRPr>
            </a:pPr>
            <a:r>
              <a:rPr sz="900" b="1">
                <a:solidFill>
                  <a:srgbClr val="FFFFFF"/>
                </a:solidFill>
                <a:latin typeface="Aptos"/>
                <a:ea typeface="Aptos"/>
                <a:cs typeface="Aptos"/>
              </a:rPr>
              <a:t>文献</a:t>
            </a:r>
          </a:p>
        </p:txBody>
      </p:sp>
      <p:sp>
        <p:nvSpPr>
          <p:cNvPr id="7" name="">
            <a:extLst xmlns:a="http://schemas.openxmlformats.org/drawingml/2006/main">
              <a:ext uri="{FF2B5EF4-FFF2-40B4-BE49-F238E27FC236}">
                <a16:creationId xmlns:a16="http://schemas.microsoft.com/office/drawing/2014/main" id="{F1F7D7F7-9CEE-460E-81DE-295F57A47E11}"/>
              </a:ext>
            </a:extLst>
          </p:cNvPr>
          <p:cNvSpPr>
            <a:spLocks xmlns:a="http://schemas.openxmlformats.org/drawingml/2006/main" noGrp="1"/>
          </p:cNvSpPr>
          <p:nvPr/>
        </p:nvSpPr>
        <p:spPr>
          <a:xfrm xmlns:a="http://schemas.openxmlformats.org/drawingml/2006/main">
            <a:off x="2476500" y="1714500"/>
            <a:ext cx="4095750" cy="457200"/>
          </a:xfrm>
          <a:prstGeom xmlns:a="http://schemas.openxmlformats.org/drawingml/2006/main" prst="rect">
            <a:avLst/>
          </a:prstGeom>
          <a:solidFill xmlns:a="http://schemas.openxmlformats.org/drawingml/2006/main">
            <a:srgbClr val="1D1B18"/>
          </a:solidFill>
          <a:ln xmlns:a="http://schemas.openxmlformats.org/drawingml/2006/main" w="6668">
            <a:solidFill>
              <a:srgbClr val="D8D1C4"/>
            </a:solidFill>
            <a:prstDash val="solid"/>
          </a:ln>
        </p:spPr>
      </p:sp>
      <p:sp>
        <p:nvSpPr>
          <p:cNvPr id="8" name="">
            <a:extLst xmlns:a="http://schemas.openxmlformats.org/drawingml/2006/main">
              <a:ext uri="{FF2B5EF4-FFF2-40B4-BE49-F238E27FC236}">
                <a16:creationId xmlns:a16="http://schemas.microsoft.com/office/drawing/2014/main" id="{0467BC3B-E833-4427-880C-4BB8F05882AA}"/>
              </a:ext>
            </a:extLst>
          </p:cNvPr>
          <p:cNvSpPr>
            <a:spLocks xmlns:a="http://schemas.openxmlformats.org/drawingml/2006/main" noGrp="1"/>
          </p:cNvSpPr>
          <p:nvPr/>
        </p:nvSpPr>
        <p:spPr>
          <a:xfrm xmlns:a="http://schemas.openxmlformats.org/drawingml/2006/main">
            <a:off x="2562225" y="1781175"/>
            <a:ext cx="39243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FFFFFF"/>
                </a:solidFill>
                <a:latin typeface="Aptos"/>
                <a:ea typeface="Aptos"/>
                <a:cs typeface="Aptos"/>
              </a:defRPr>
            </a:pPr>
            <a:r>
              <a:rPr sz="900" b="1">
                <a:solidFill>
                  <a:srgbClr val="FFFFFF"/>
                </a:solidFill>
                <a:latin typeface="Aptos"/>
                <a:ea typeface="Aptos"/>
                <a:cs typeface="Aptos"/>
              </a:rPr>
              <a:t>已有重点</a:t>
            </a:r>
          </a:p>
        </p:txBody>
      </p:sp>
      <p:sp>
        <p:nvSpPr>
          <p:cNvPr id="9" name="">
            <a:extLst xmlns:a="http://schemas.openxmlformats.org/drawingml/2006/main">
              <a:ext uri="{FF2B5EF4-FFF2-40B4-BE49-F238E27FC236}">
                <a16:creationId xmlns:a16="http://schemas.microsoft.com/office/drawing/2014/main" id="{9F17FA8A-A140-4984-B9E5-BC615545B7E1}"/>
              </a:ext>
            </a:extLst>
          </p:cNvPr>
          <p:cNvSpPr>
            <a:spLocks xmlns:a="http://schemas.openxmlformats.org/drawingml/2006/main" noGrp="1"/>
          </p:cNvSpPr>
          <p:nvPr/>
        </p:nvSpPr>
        <p:spPr>
          <a:xfrm xmlns:a="http://schemas.openxmlformats.org/drawingml/2006/main">
            <a:off x="6572250" y="1714500"/>
            <a:ext cx="4457700" cy="457200"/>
          </a:xfrm>
          <a:prstGeom xmlns:a="http://schemas.openxmlformats.org/drawingml/2006/main" prst="rect">
            <a:avLst/>
          </a:prstGeom>
          <a:solidFill xmlns:a="http://schemas.openxmlformats.org/drawingml/2006/main">
            <a:srgbClr val="1D1B18"/>
          </a:solidFill>
          <a:ln xmlns:a="http://schemas.openxmlformats.org/drawingml/2006/main" w="6668">
            <a:solidFill>
              <a:srgbClr val="D8D1C4"/>
            </a:solidFill>
            <a:prstDash val="solid"/>
          </a:ln>
        </p:spPr>
      </p:sp>
      <p:sp>
        <p:nvSpPr>
          <p:cNvPr id="10" name="">
            <a:extLst xmlns:a="http://schemas.openxmlformats.org/drawingml/2006/main">
              <a:ext uri="{FF2B5EF4-FFF2-40B4-BE49-F238E27FC236}">
                <a16:creationId xmlns:a16="http://schemas.microsoft.com/office/drawing/2014/main" id="{D324EA45-11F8-4B7F-B003-B1F081D3E9F7}"/>
              </a:ext>
            </a:extLst>
          </p:cNvPr>
          <p:cNvSpPr>
            <a:spLocks xmlns:a="http://schemas.openxmlformats.org/drawingml/2006/main" noGrp="1"/>
          </p:cNvSpPr>
          <p:nvPr/>
        </p:nvSpPr>
        <p:spPr>
          <a:xfrm xmlns:a="http://schemas.openxmlformats.org/drawingml/2006/main">
            <a:off x="6657975" y="1781175"/>
            <a:ext cx="428625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FFFFFF"/>
                </a:solidFill>
                <a:latin typeface="Aptos"/>
                <a:ea typeface="Aptos"/>
                <a:cs typeface="Aptos"/>
              </a:defRPr>
            </a:pPr>
            <a:r>
              <a:rPr sz="900" b="1">
                <a:solidFill>
                  <a:srgbClr val="FFFFFF"/>
                </a:solidFill>
                <a:latin typeface="Aptos"/>
                <a:ea typeface="Aptos"/>
                <a:cs typeface="Aptos"/>
              </a:rPr>
              <a:t>本研究新增</a:t>
            </a:r>
          </a:p>
        </p:txBody>
      </p:sp>
      <p:sp>
        <p:nvSpPr>
          <p:cNvPr id="11" name="">
            <a:extLst xmlns:a="http://schemas.openxmlformats.org/drawingml/2006/main">
              <a:ext uri="{FF2B5EF4-FFF2-40B4-BE49-F238E27FC236}">
                <a16:creationId xmlns:a16="http://schemas.microsoft.com/office/drawing/2014/main" id="{830FE32B-5454-4DF0-8A05-67490DE00316}"/>
              </a:ext>
            </a:extLst>
          </p:cNvPr>
          <p:cNvSpPr>
            <a:spLocks xmlns:a="http://schemas.openxmlformats.org/drawingml/2006/main" noGrp="1"/>
          </p:cNvSpPr>
          <p:nvPr/>
        </p:nvSpPr>
        <p:spPr>
          <a:xfrm xmlns:a="http://schemas.openxmlformats.org/drawingml/2006/main">
            <a:off x="666750" y="2171700"/>
            <a:ext cx="1809750" cy="457200"/>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12" name="">
            <a:extLst xmlns:a="http://schemas.openxmlformats.org/drawingml/2006/main">
              <a:ext uri="{FF2B5EF4-FFF2-40B4-BE49-F238E27FC236}">
                <a16:creationId xmlns:a16="http://schemas.microsoft.com/office/drawing/2014/main" id="{5D83F4D6-E0DA-4ABD-8402-0B8302F22853}"/>
              </a:ext>
            </a:extLst>
          </p:cNvPr>
          <p:cNvSpPr>
            <a:spLocks xmlns:a="http://schemas.openxmlformats.org/drawingml/2006/main" noGrp="1"/>
          </p:cNvSpPr>
          <p:nvPr/>
        </p:nvSpPr>
        <p:spPr>
          <a:xfrm xmlns:a="http://schemas.openxmlformats.org/drawingml/2006/main">
            <a:off x="752475" y="2238375"/>
            <a:ext cx="16383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1D1B18"/>
                </a:solidFill>
                <a:latin typeface="Aptos"/>
                <a:ea typeface="Aptos"/>
                <a:cs typeface="Aptos"/>
              </a:defRPr>
            </a:pPr>
            <a:r>
              <a:rPr sz="945" b="0">
                <a:solidFill>
                  <a:srgbClr val="1D1B18"/>
                </a:solidFill>
                <a:latin typeface="Aptos"/>
                <a:ea typeface="Aptos"/>
                <a:cs typeface="Aptos"/>
              </a:rPr>
              <a:t>Peng et al. 2025</a:t>
            </a:r>
          </a:p>
        </p:txBody>
      </p:sp>
      <p:sp>
        <p:nvSpPr>
          <p:cNvPr id="13" name="">
            <a:extLst xmlns:a="http://schemas.openxmlformats.org/drawingml/2006/main">
              <a:ext uri="{FF2B5EF4-FFF2-40B4-BE49-F238E27FC236}">
                <a16:creationId xmlns:a16="http://schemas.microsoft.com/office/drawing/2014/main" id="{F0BF8C8C-DE48-4F79-B12F-D72C244F4BF8}"/>
              </a:ext>
            </a:extLst>
          </p:cNvPr>
          <p:cNvSpPr>
            <a:spLocks xmlns:a="http://schemas.openxmlformats.org/drawingml/2006/main" noGrp="1"/>
          </p:cNvSpPr>
          <p:nvPr/>
        </p:nvSpPr>
        <p:spPr>
          <a:xfrm xmlns:a="http://schemas.openxmlformats.org/drawingml/2006/main">
            <a:off x="2476500" y="2171700"/>
            <a:ext cx="4095750" cy="457200"/>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14" name="">
            <a:extLst xmlns:a="http://schemas.openxmlformats.org/drawingml/2006/main">
              <a:ext uri="{FF2B5EF4-FFF2-40B4-BE49-F238E27FC236}">
                <a16:creationId xmlns:a16="http://schemas.microsoft.com/office/drawing/2014/main" id="{F7657209-E5AC-43A6-87AF-0162FB9AD2F9}"/>
              </a:ext>
            </a:extLst>
          </p:cNvPr>
          <p:cNvSpPr>
            <a:spLocks xmlns:a="http://schemas.openxmlformats.org/drawingml/2006/main" noGrp="1"/>
          </p:cNvSpPr>
          <p:nvPr/>
        </p:nvSpPr>
        <p:spPr>
          <a:xfrm xmlns:a="http://schemas.openxmlformats.org/drawingml/2006/main">
            <a:off x="2562225" y="2238375"/>
            <a:ext cx="39243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1D1B18"/>
                </a:solidFill>
                <a:latin typeface="Aptos"/>
                <a:ea typeface="Aptos"/>
                <a:cs typeface="Aptos"/>
              </a:defRPr>
            </a:pPr>
            <a:r>
              <a:rPr sz="945" b="0">
                <a:solidFill>
                  <a:srgbClr val="1D1B18"/>
                </a:solidFill>
                <a:latin typeface="Aptos"/>
                <a:ea typeface="Aptos"/>
                <a:cs typeface="Aptos"/>
              </a:rPr>
              <a:t>海洋动力生成强事件；事件尺度风场/SOI 弱响应</a:t>
            </a:r>
          </a:p>
        </p:txBody>
      </p:sp>
      <p:sp>
        <p:nvSpPr>
          <p:cNvPr id="15" name="">
            <a:extLst xmlns:a="http://schemas.openxmlformats.org/drawingml/2006/main">
              <a:ext uri="{FF2B5EF4-FFF2-40B4-BE49-F238E27FC236}">
                <a16:creationId xmlns:a16="http://schemas.microsoft.com/office/drawing/2014/main" id="{3AD346FB-C56A-4B52-9C90-1A6F09268860}"/>
              </a:ext>
            </a:extLst>
          </p:cNvPr>
          <p:cNvSpPr>
            <a:spLocks xmlns:a="http://schemas.openxmlformats.org/drawingml/2006/main" noGrp="1"/>
          </p:cNvSpPr>
          <p:nvPr/>
        </p:nvSpPr>
        <p:spPr>
          <a:xfrm xmlns:a="http://schemas.openxmlformats.org/drawingml/2006/main">
            <a:off x="6572250" y="2171700"/>
            <a:ext cx="4457700" cy="457200"/>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16" name="">
            <a:extLst xmlns:a="http://schemas.openxmlformats.org/drawingml/2006/main">
              <a:ext uri="{FF2B5EF4-FFF2-40B4-BE49-F238E27FC236}">
                <a16:creationId xmlns:a16="http://schemas.microsoft.com/office/drawing/2014/main" id="{CD0DF4E9-AD5E-4EFB-BBA9-92F69C3E48E2}"/>
              </a:ext>
            </a:extLst>
          </p:cNvPr>
          <p:cNvSpPr>
            <a:spLocks xmlns:a="http://schemas.openxmlformats.org/drawingml/2006/main" noGrp="1"/>
          </p:cNvSpPr>
          <p:nvPr/>
        </p:nvSpPr>
        <p:spPr>
          <a:xfrm xmlns:a="http://schemas.openxmlformats.org/drawingml/2006/main">
            <a:off x="6657975" y="2238375"/>
            <a:ext cx="428625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1D1B18"/>
                </a:solidFill>
                <a:latin typeface="Aptos"/>
                <a:ea typeface="Aptos"/>
                <a:cs typeface="Aptos"/>
              </a:defRPr>
            </a:pPr>
            <a:r>
              <a:rPr sz="945" b="0">
                <a:solidFill>
                  <a:srgbClr val="1D1B18"/>
                </a:solidFill>
                <a:latin typeface="Aptos"/>
                <a:ea typeface="Aptos"/>
                <a:cs typeface="Aptos"/>
              </a:rPr>
              <a:t>将 observed/expected response 从事件尺度扩展到 AMJ/JJA/SON/DJF。</a:t>
            </a:r>
          </a:p>
        </p:txBody>
      </p:sp>
      <p:sp>
        <p:nvSpPr>
          <p:cNvPr id="17" name="">
            <a:extLst xmlns:a="http://schemas.openxmlformats.org/drawingml/2006/main">
              <a:ext uri="{FF2B5EF4-FFF2-40B4-BE49-F238E27FC236}">
                <a16:creationId xmlns:a16="http://schemas.microsoft.com/office/drawing/2014/main" id="{E792C5DC-CBEE-4400-BFC3-BB7D977608A9}"/>
              </a:ext>
            </a:extLst>
          </p:cNvPr>
          <p:cNvSpPr>
            <a:spLocks xmlns:a="http://schemas.openxmlformats.org/drawingml/2006/main" noGrp="1"/>
          </p:cNvSpPr>
          <p:nvPr/>
        </p:nvSpPr>
        <p:spPr>
          <a:xfrm xmlns:a="http://schemas.openxmlformats.org/drawingml/2006/main">
            <a:off x="666750" y="2628900"/>
            <a:ext cx="1809750" cy="457200"/>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18" name="">
            <a:extLst xmlns:a="http://schemas.openxmlformats.org/drawingml/2006/main">
              <a:ext uri="{FF2B5EF4-FFF2-40B4-BE49-F238E27FC236}">
                <a16:creationId xmlns:a16="http://schemas.microsoft.com/office/drawing/2014/main" id="{4DEB6029-BA5E-4D7B-A93F-1EF46FE8132E}"/>
              </a:ext>
            </a:extLst>
          </p:cNvPr>
          <p:cNvSpPr>
            <a:spLocks xmlns:a="http://schemas.openxmlformats.org/drawingml/2006/main" noGrp="1"/>
          </p:cNvSpPr>
          <p:nvPr/>
        </p:nvSpPr>
        <p:spPr>
          <a:xfrm xmlns:a="http://schemas.openxmlformats.org/drawingml/2006/main">
            <a:off x="752475" y="2695575"/>
            <a:ext cx="16383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1D1B18"/>
                </a:solidFill>
                <a:latin typeface="Aptos"/>
                <a:ea typeface="Aptos"/>
                <a:cs typeface="Aptos"/>
              </a:defRPr>
            </a:pPr>
            <a:r>
              <a:rPr sz="945" b="0">
                <a:solidFill>
                  <a:srgbClr val="1D1B18"/>
                </a:solidFill>
                <a:latin typeface="Aptos"/>
                <a:ea typeface="Aptos"/>
                <a:cs typeface="Aptos"/>
              </a:rPr>
              <a:t>Zhang et al. 2025</a:t>
            </a:r>
          </a:p>
        </p:txBody>
      </p:sp>
      <p:sp>
        <p:nvSpPr>
          <p:cNvPr id="19" name="">
            <a:extLst xmlns:a="http://schemas.openxmlformats.org/drawingml/2006/main">
              <a:ext uri="{FF2B5EF4-FFF2-40B4-BE49-F238E27FC236}">
                <a16:creationId xmlns:a16="http://schemas.microsoft.com/office/drawing/2014/main" id="{09811DC8-2595-4E41-BB37-417B8796AD2F}"/>
              </a:ext>
            </a:extLst>
          </p:cNvPr>
          <p:cNvSpPr>
            <a:spLocks xmlns:a="http://schemas.openxmlformats.org/drawingml/2006/main" noGrp="1"/>
          </p:cNvSpPr>
          <p:nvPr/>
        </p:nvSpPr>
        <p:spPr>
          <a:xfrm xmlns:a="http://schemas.openxmlformats.org/drawingml/2006/main">
            <a:off x="2476500" y="2628900"/>
            <a:ext cx="4095750" cy="457200"/>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20" name="">
            <a:extLst xmlns:a="http://schemas.openxmlformats.org/drawingml/2006/main">
              <a:ext uri="{FF2B5EF4-FFF2-40B4-BE49-F238E27FC236}">
                <a16:creationId xmlns:a16="http://schemas.microsoft.com/office/drawing/2014/main" id="{20869117-6ADF-4D9B-B398-43B331A1D39A}"/>
              </a:ext>
            </a:extLst>
          </p:cNvPr>
          <p:cNvSpPr>
            <a:spLocks xmlns:a="http://schemas.openxmlformats.org/drawingml/2006/main" noGrp="1"/>
          </p:cNvSpPr>
          <p:nvPr/>
        </p:nvSpPr>
        <p:spPr>
          <a:xfrm xmlns:a="http://schemas.openxmlformats.org/drawingml/2006/main">
            <a:off x="2562225" y="2695575"/>
            <a:ext cx="39243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1D1B18"/>
                </a:solidFill>
                <a:latin typeface="Aptos"/>
                <a:ea typeface="Aptos"/>
                <a:cs typeface="Aptos"/>
              </a:defRPr>
            </a:pPr>
            <a:r>
              <a:rPr sz="945" b="0">
                <a:solidFill>
                  <a:srgbClr val="1D1B18"/>
                </a:solidFill>
                <a:latin typeface="Aptos"/>
                <a:ea typeface="Aptos"/>
                <a:cs typeface="Aptos"/>
              </a:rPr>
              <a:t>弱降水/遥相关与外海盆加热</a:t>
            </a:r>
          </a:p>
        </p:txBody>
      </p:sp>
      <p:sp>
        <p:nvSpPr>
          <p:cNvPr id="21" name="">
            <a:extLst xmlns:a="http://schemas.openxmlformats.org/drawingml/2006/main">
              <a:ext uri="{FF2B5EF4-FFF2-40B4-BE49-F238E27FC236}">
                <a16:creationId xmlns:a16="http://schemas.microsoft.com/office/drawing/2014/main" id="{01A29388-FF60-4FD5-8E33-820C829C9B5D}"/>
              </a:ext>
            </a:extLst>
          </p:cNvPr>
          <p:cNvSpPr>
            <a:spLocks xmlns:a="http://schemas.openxmlformats.org/drawingml/2006/main" noGrp="1"/>
          </p:cNvSpPr>
          <p:nvPr/>
        </p:nvSpPr>
        <p:spPr>
          <a:xfrm xmlns:a="http://schemas.openxmlformats.org/drawingml/2006/main">
            <a:off x="6572250" y="2628900"/>
            <a:ext cx="4457700" cy="457200"/>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22" name="">
            <a:extLst xmlns:a="http://schemas.openxmlformats.org/drawingml/2006/main">
              <a:ext uri="{FF2B5EF4-FFF2-40B4-BE49-F238E27FC236}">
                <a16:creationId xmlns:a16="http://schemas.microsoft.com/office/drawing/2014/main" id="{C086A0FB-9489-4463-97D0-6562A4649A06}"/>
              </a:ext>
            </a:extLst>
          </p:cNvPr>
          <p:cNvSpPr>
            <a:spLocks xmlns:a="http://schemas.openxmlformats.org/drawingml/2006/main" noGrp="1"/>
          </p:cNvSpPr>
          <p:nvPr/>
        </p:nvSpPr>
        <p:spPr>
          <a:xfrm xmlns:a="http://schemas.openxmlformats.org/drawingml/2006/main">
            <a:off x="6657975" y="2695575"/>
            <a:ext cx="428625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1D1B18"/>
                </a:solidFill>
                <a:latin typeface="Aptos"/>
                <a:ea typeface="Aptos"/>
                <a:cs typeface="Aptos"/>
              </a:defRPr>
            </a:pPr>
            <a:r>
              <a:rPr sz="945" b="0">
                <a:solidFill>
                  <a:srgbClr val="1D1B18"/>
                </a:solidFill>
                <a:latin typeface="Aptos"/>
                <a:ea typeface="Aptos"/>
                <a:cs typeface="Aptos"/>
              </a:rPr>
              <a:t>把降水弱响应放入风压-降水-对流的同一季节矩阵。</a:t>
            </a:r>
          </a:p>
        </p:txBody>
      </p:sp>
      <p:sp>
        <p:nvSpPr>
          <p:cNvPr id="23" name="">
            <a:extLst xmlns:a="http://schemas.openxmlformats.org/drawingml/2006/main">
              <a:ext uri="{FF2B5EF4-FFF2-40B4-BE49-F238E27FC236}">
                <a16:creationId xmlns:a16="http://schemas.microsoft.com/office/drawing/2014/main" id="{0776CDA5-859D-4840-B5D7-399D7CAE768C}"/>
              </a:ext>
            </a:extLst>
          </p:cNvPr>
          <p:cNvSpPr>
            <a:spLocks xmlns:a="http://schemas.openxmlformats.org/drawingml/2006/main" noGrp="1"/>
          </p:cNvSpPr>
          <p:nvPr/>
        </p:nvSpPr>
        <p:spPr>
          <a:xfrm xmlns:a="http://schemas.openxmlformats.org/drawingml/2006/main">
            <a:off x="666750" y="3086100"/>
            <a:ext cx="1809750" cy="457200"/>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24" name="">
            <a:extLst xmlns:a="http://schemas.openxmlformats.org/drawingml/2006/main">
              <a:ext uri="{FF2B5EF4-FFF2-40B4-BE49-F238E27FC236}">
                <a16:creationId xmlns:a16="http://schemas.microsoft.com/office/drawing/2014/main" id="{2E46D03B-BF4D-4F4D-B6C4-324C92342BC5}"/>
              </a:ext>
            </a:extLst>
          </p:cNvPr>
          <p:cNvSpPr>
            <a:spLocks xmlns:a="http://schemas.openxmlformats.org/drawingml/2006/main" noGrp="1"/>
          </p:cNvSpPr>
          <p:nvPr/>
        </p:nvSpPr>
        <p:spPr>
          <a:xfrm xmlns:a="http://schemas.openxmlformats.org/drawingml/2006/main">
            <a:off x="752475" y="3152775"/>
            <a:ext cx="16383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1D1B18"/>
                </a:solidFill>
                <a:latin typeface="Aptos"/>
                <a:ea typeface="Aptos"/>
                <a:cs typeface="Aptos"/>
              </a:defRPr>
            </a:pPr>
            <a:r>
              <a:rPr sz="945" b="0">
                <a:solidFill>
                  <a:srgbClr val="1D1B18"/>
                </a:solidFill>
                <a:latin typeface="Aptos"/>
                <a:ea typeface="Aptos"/>
                <a:cs typeface="Aptos"/>
              </a:rPr>
              <a:t>Kim et al. 2025</a:t>
            </a:r>
          </a:p>
        </p:txBody>
      </p:sp>
      <p:sp>
        <p:nvSpPr>
          <p:cNvPr id="25" name="">
            <a:extLst xmlns:a="http://schemas.openxmlformats.org/drawingml/2006/main">
              <a:ext uri="{FF2B5EF4-FFF2-40B4-BE49-F238E27FC236}">
                <a16:creationId xmlns:a16="http://schemas.microsoft.com/office/drawing/2014/main" id="{0948AE6F-6FFC-4288-AEE6-6424EEE2E517}"/>
              </a:ext>
            </a:extLst>
          </p:cNvPr>
          <p:cNvSpPr>
            <a:spLocks xmlns:a="http://schemas.openxmlformats.org/drawingml/2006/main" noGrp="1"/>
          </p:cNvSpPr>
          <p:nvPr/>
        </p:nvSpPr>
        <p:spPr>
          <a:xfrm xmlns:a="http://schemas.openxmlformats.org/drawingml/2006/main">
            <a:off x="2476500" y="3086100"/>
            <a:ext cx="4095750" cy="457200"/>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26" name="">
            <a:extLst xmlns:a="http://schemas.openxmlformats.org/drawingml/2006/main">
              <a:ext uri="{FF2B5EF4-FFF2-40B4-BE49-F238E27FC236}">
                <a16:creationId xmlns:a16="http://schemas.microsoft.com/office/drawing/2014/main" id="{AB596436-1A6A-4C2F-A19F-54E497F26A4B}"/>
              </a:ext>
            </a:extLst>
          </p:cNvPr>
          <p:cNvSpPr>
            <a:spLocks xmlns:a="http://schemas.openxmlformats.org/drawingml/2006/main" noGrp="1"/>
          </p:cNvSpPr>
          <p:nvPr/>
        </p:nvSpPr>
        <p:spPr>
          <a:xfrm xmlns:a="http://schemas.openxmlformats.org/drawingml/2006/main">
            <a:off x="2562225" y="3152775"/>
            <a:ext cx="39243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1D1B18"/>
                </a:solidFill>
                <a:latin typeface="Aptos"/>
                <a:ea typeface="Aptos"/>
                <a:cs typeface="Aptos"/>
              </a:defRPr>
            </a:pPr>
            <a:r>
              <a:rPr sz="945" b="0">
                <a:solidFill>
                  <a:srgbClr val="1D1B18"/>
                </a:solidFill>
                <a:latin typeface="Aptos"/>
                <a:ea typeface="Aptos"/>
                <a:cs typeface="Aptos"/>
              </a:rPr>
              <a:t>发展季风场与西中太梯度</a:t>
            </a:r>
          </a:p>
        </p:txBody>
      </p:sp>
      <p:sp>
        <p:nvSpPr>
          <p:cNvPr id="27" name="">
            <a:extLst xmlns:a="http://schemas.openxmlformats.org/drawingml/2006/main">
              <a:ext uri="{FF2B5EF4-FFF2-40B4-BE49-F238E27FC236}">
                <a16:creationId xmlns:a16="http://schemas.microsoft.com/office/drawing/2014/main" id="{2B1BE692-0B3A-4BE2-BE82-1F5C60F2B2A9}"/>
              </a:ext>
            </a:extLst>
          </p:cNvPr>
          <p:cNvSpPr>
            <a:spLocks xmlns:a="http://schemas.openxmlformats.org/drawingml/2006/main" noGrp="1"/>
          </p:cNvSpPr>
          <p:nvPr/>
        </p:nvSpPr>
        <p:spPr>
          <a:xfrm xmlns:a="http://schemas.openxmlformats.org/drawingml/2006/main">
            <a:off x="6572250" y="3086100"/>
            <a:ext cx="4457700" cy="457200"/>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28" name="">
            <a:extLst xmlns:a="http://schemas.openxmlformats.org/drawingml/2006/main">
              <a:ext uri="{FF2B5EF4-FFF2-40B4-BE49-F238E27FC236}">
                <a16:creationId xmlns:a16="http://schemas.microsoft.com/office/drawing/2014/main" id="{5877D5DC-F717-4547-991B-A3AC22801865}"/>
              </a:ext>
            </a:extLst>
          </p:cNvPr>
          <p:cNvSpPr>
            <a:spLocks xmlns:a="http://schemas.openxmlformats.org/drawingml/2006/main" noGrp="1"/>
          </p:cNvSpPr>
          <p:nvPr/>
        </p:nvSpPr>
        <p:spPr>
          <a:xfrm xmlns:a="http://schemas.openxmlformats.org/drawingml/2006/main">
            <a:off x="6657975" y="3152775"/>
            <a:ext cx="428625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1D1B18"/>
                </a:solidFill>
                <a:latin typeface="Aptos"/>
                <a:ea typeface="Aptos"/>
                <a:cs typeface="Aptos"/>
              </a:defRPr>
            </a:pPr>
            <a:r>
              <a:rPr sz="945" b="0">
                <a:solidFill>
                  <a:srgbClr val="1D1B18"/>
                </a:solidFill>
                <a:latin typeface="Aptos"/>
                <a:ea typeface="Aptos"/>
                <a:cs typeface="Aptos"/>
              </a:rPr>
              <a:t>加入 SOI-like 气压、GPCP 降水、CPC OLR 和回归预期比较。</a:t>
            </a:r>
          </a:p>
        </p:txBody>
      </p:sp>
      <p:sp>
        <p:nvSpPr>
          <p:cNvPr id="29" name="">
            <a:extLst xmlns:a="http://schemas.openxmlformats.org/drawingml/2006/main">
              <a:ext uri="{FF2B5EF4-FFF2-40B4-BE49-F238E27FC236}">
                <a16:creationId xmlns:a16="http://schemas.microsoft.com/office/drawing/2014/main" id="{0B9E027B-2430-48DE-BCB7-84108B50B005}"/>
              </a:ext>
            </a:extLst>
          </p:cNvPr>
          <p:cNvSpPr>
            <a:spLocks xmlns:a="http://schemas.openxmlformats.org/drawingml/2006/main" noGrp="1"/>
          </p:cNvSpPr>
          <p:nvPr/>
        </p:nvSpPr>
        <p:spPr>
          <a:xfrm xmlns:a="http://schemas.openxmlformats.org/drawingml/2006/main">
            <a:off x="666750" y="3543300"/>
            <a:ext cx="1809750" cy="457200"/>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30" name="">
            <a:extLst xmlns:a="http://schemas.openxmlformats.org/drawingml/2006/main">
              <a:ext uri="{FF2B5EF4-FFF2-40B4-BE49-F238E27FC236}">
                <a16:creationId xmlns:a16="http://schemas.microsoft.com/office/drawing/2014/main" id="{D4F141FE-0456-4B2E-82AD-C6F7BE83F2BF}"/>
              </a:ext>
            </a:extLst>
          </p:cNvPr>
          <p:cNvSpPr>
            <a:spLocks xmlns:a="http://schemas.openxmlformats.org/drawingml/2006/main" noGrp="1"/>
          </p:cNvSpPr>
          <p:nvPr/>
        </p:nvSpPr>
        <p:spPr>
          <a:xfrm xmlns:a="http://schemas.openxmlformats.org/drawingml/2006/main">
            <a:off x="752475" y="3609975"/>
            <a:ext cx="16383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1D1B18"/>
                </a:solidFill>
                <a:latin typeface="Aptos"/>
                <a:ea typeface="Aptos"/>
                <a:cs typeface="Aptos"/>
              </a:defRPr>
            </a:pPr>
            <a:r>
              <a:rPr sz="945" b="0">
                <a:solidFill>
                  <a:srgbClr val="1D1B18"/>
                </a:solidFill>
                <a:latin typeface="Aptos"/>
                <a:ea typeface="Aptos"/>
                <a:cs typeface="Aptos"/>
              </a:rPr>
              <a:t>Zhao et al. 2025</a:t>
            </a:r>
          </a:p>
        </p:txBody>
      </p:sp>
      <p:sp>
        <p:nvSpPr>
          <p:cNvPr id="31" name="">
            <a:extLst xmlns:a="http://schemas.openxmlformats.org/drawingml/2006/main">
              <a:ext uri="{FF2B5EF4-FFF2-40B4-BE49-F238E27FC236}">
                <a16:creationId xmlns:a16="http://schemas.microsoft.com/office/drawing/2014/main" id="{224DE303-DD06-4437-9297-B8162C54BF6C}"/>
              </a:ext>
            </a:extLst>
          </p:cNvPr>
          <p:cNvSpPr>
            <a:spLocks xmlns:a="http://schemas.openxmlformats.org/drawingml/2006/main" noGrp="1"/>
          </p:cNvSpPr>
          <p:nvPr/>
        </p:nvSpPr>
        <p:spPr>
          <a:xfrm xmlns:a="http://schemas.openxmlformats.org/drawingml/2006/main">
            <a:off x="2476500" y="3543300"/>
            <a:ext cx="4095750" cy="457200"/>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32" name="">
            <a:extLst xmlns:a="http://schemas.openxmlformats.org/drawingml/2006/main">
              <a:ext uri="{FF2B5EF4-FFF2-40B4-BE49-F238E27FC236}">
                <a16:creationId xmlns:a16="http://schemas.microsoft.com/office/drawing/2014/main" id="{E552DF51-FE2E-41F6-B523-8BAA8D4A918B}"/>
              </a:ext>
            </a:extLst>
          </p:cNvPr>
          <p:cNvSpPr>
            <a:spLocks xmlns:a="http://schemas.openxmlformats.org/drawingml/2006/main" noGrp="1"/>
          </p:cNvSpPr>
          <p:nvPr/>
        </p:nvSpPr>
        <p:spPr>
          <a:xfrm xmlns:a="http://schemas.openxmlformats.org/drawingml/2006/main">
            <a:off x="2562225" y="3609975"/>
            <a:ext cx="39243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1D1B18"/>
                </a:solidFill>
                <a:latin typeface="Aptos"/>
                <a:ea typeface="Aptos"/>
                <a:cs typeface="Aptos"/>
              </a:defRPr>
            </a:pPr>
            <a:r>
              <a:rPr sz="945" b="0">
                <a:solidFill>
                  <a:srgbClr val="1D1B18"/>
                </a:solidFill>
                <a:latin typeface="Aptos"/>
                <a:ea typeface="Aptos"/>
                <a:cs typeface="Aptos"/>
              </a:rPr>
              <a:t>2023 年 7 月 TNA 和季风/海陆洲加热</a:t>
            </a:r>
          </a:p>
        </p:txBody>
      </p:sp>
      <p:sp>
        <p:nvSpPr>
          <p:cNvPr id="33" name="">
            <a:extLst xmlns:a="http://schemas.openxmlformats.org/drawingml/2006/main">
              <a:ext uri="{FF2B5EF4-FFF2-40B4-BE49-F238E27FC236}">
                <a16:creationId xmlns:a16="http://schemas.microsoft.com/office/drawing/2014/main" id="{A8B2B38E-64A9-4584-9735-5C63E8407109}"/>
              </a:ext>
            </a:extLst>
          </p:cNvPr>
          <p:cNvSpPr>
            <a:spLocks xmlns:a="http://schemas.openxmlformats.org/drawingml/2006/main" noGrp="1"/>
          </p:cNvSpPr>
          <p:nvPr/>
        </p:nvSpPr>
        <p:spPr>
          <a:xfrm xmlns:a="http://schemas.openxmlformats.org/drawingml/2006/main">
            <a:off x="6572250" y="3543300"/>
            <a:ext cx="4457700" cy="457200"/>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34" name="">
            <a:extLst xmlns:a="http://schemas.openxmlformats.org/drawingml/2006/main">
              <a:ext uri="{FF2B5EF4-FFF2-40B4-BE49-F238E27FC236}">
                <a16:creationId xmlns:a16="http://schemas.microsoft.com/office/drawing/2014/main" id="{5049B333-C687-4E6A-9827-745675CBE3DE}"/>
              </a:ext>
            </a:extLst>
          </p:cNvPr>
          <p:cNvSpPr>
            <a:spLocks xmlns:a="http://schemas.openxmlformats.org/drawingml/2006/main" noGrp="1"/>
          </p:cNvSpPr>
          <p:nvPr/>
        </p:nvSpPr>
        <p:spPr>
          <a:xfrm xmlns:a="http://schemas.openxmlformats.org/drawingml/2006/main">
            <a:off x="6657975" y="3609975"/>
            <a:ext cx="428625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1D1B18"/>
                </a:solidFill>
                <a:latin typeface="Aptos"/>
                <a:ea typeface="Aptos"/>
                <a:cs typeface="Aptos"/>
              </a:defRPr>
            </a:pPr>
            <a:r>
              <a:rPr sz="945" b="0">
                <a:solidFill>
                  <a:srgbClr val="1D1B18"/>
                </a:solidFill>
                <a:latin typeface="Aptos"/>
                <a:ea typeface="Aptos"/>
                <a:cs typeface="Aptos"/>
              </a:rPr>
              <a:t>将单月机制扩展为 AMJ-JJA 发展季建立窗口。</a:t>
            </a:r>
          </a:p>
        </p:txBody>
      </p:sp>
      <p:sp>
        <p:nvSpPr>
          <p:cNvPr id="35" name="">
            <a:extLst xmlns:a="http://schemas.openxmlformats.org/drawingml/2006/main">
              <a:ext uri="{FF2B5EF4-FFF2-40B4-BE49-F238E27FC236}">
                <a16:creationId xmlns:a16="http://schemas.microsoft.com/office/drawing/2014/main" id="{B2810F94-153C-4012-AD3B-8EC995FE55E3}"/>
              </a:ext>
            </a:extLst>
          </p:cNvPr>
          <p:cNvSpPr>
            <a:spLocks xmlns:a="http://schemas.openxmlformats.org/drawingml/2006/main" noGrp="1"/>
          </p:cNvSpPr>
          <p:nvPr/>
        </p:nvSpPr>
        <p:spPr>
          <a:xfrm xmlns:a="http://schemas.openxmlformats.org/drawingml/2006/main">
            <a:off x="666750" y="4000500"/>
            <a:ext cx="1809750" cy="457200"/>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36" name="">
            <a:extLst xmlns:a="http://schemas.openxmlformats.org/drawingml/2006/main">
              <a:ext uri="{FF2B5EF4-FFF2-40B4-BE49-F238E27FC236}">
                <a16:creationId xmlns:a16="http://schemas.microsoft.com/office/drawing/2014/main" id="{A028C0E5-A843-4359-9D62-57EE00F9C471}"/>
              </a:ext>
            </a:extLst>
          </p:cNvPr>
          <p:cNvSpPr>
            <a:spLocks xmlns:a="http://schemas.openxmlformats.org/drawingml/2006/main" noGrp="1"/>
          </p:cNvSpPr>
          <p:nvPr/>
        </p:nvSpPr>
        <p:spPr>
          <a:xfrm xmlns:a="http://schemas.openxmlformats.org/drawingml/2006/main">
            <a:off x="752475" y="4067175"/>
            <a:ext cx="16383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1D1B18"/>
                </a:solidFill>
                <a:latin typeface="Aptos"/>
                <a:ea typeface="Aptos"/>
                <a:cs typeface="Aptos"/>
              </a:defRPr>
            </a:pPr>
            <a:r>
              <a:rPr sz="945" b="0">
                <a:solidFill>
                  <a:srgbClr val="1D1B18"/>
                </a:solidFill>
                <a:latin typeface="Aptos"/>
                <a:ea typeface="Aptos"/>
                <a:cs typeface="Aptos"/>
              </a:rPr>
              <a:t>Yang &amp; Li 2025</a:t>
            </a:r>
          </a:p>
        </p:txBody>
      </p:sp>
      <p:sp>
        <p:nvSpPr>
          <p:cNvPr id="37" name="">
            <a:extLst xmlns:a="http://schemas.openxmlformats.org/drawingml/2006/main">
              <a:ext uri="{FF2B5EF4-FFF2-40B4-BE49-F238E27FC236}">
                <a16:creationId xmlns:a16="http://schemas.microsoft.com/office/drawing/2014/main" id="{67620CA9-EA33-476E-B165-C926BC6D810C}"/>
              </a:ext>
            </a:extLst>
          </p:cNvPr>
          <p:cNvSpPr>
            <a:spLocks xmlns:a="http://schemas.openxmlformats.org/drawingml/2006/main" noGrp="1"/>
          </p:cNvSpPr>
          <p:nvPr/>
        </p:nvSpPr>
        <p:spPr>
          <a:xfrm xmlns:a="http://schemas.openxmlformats.org/drawingml/2006/main">
            <a:off x="2476500" y="4000500"/>
            <a:ext cx="4095750" cy="457200"/>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38" name="">
            <a:extLst xmlns:a="http://schemas.openxmlformats.org/drawingml/2006/main">
              <a:ext uri="{FF2B5EF4-FFF2-40B4-BE49-F238E27FC236}">
                <a16:creationId xmlns:a16="http://schemas.microsoft.com/office/drawing/2014/main" id="{228F10AD-5299-41C5-B33F-12A42843F5B8}"/>
              </a:ext>
            </a:extLst>
          </p:cNvPr>
          <p:cNvSpPr>
            <a:spLocks xmlns:a="http://schemas.openxmlformats.org/drawingml/2006/main" noGrp="1"/>
          </p:cNvSpPr>
          <p:nvPr/>
        </p:nvSpPr>
        <p:spPr>
          <a:xfrm xmlns:a="http://schemas.openxmlformats.org/drawingml/2006/main">
            <a:off x="2562225" y="4067175"/>
            <a:ext cx="39243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1D1B18"/>
                </a:solidFill>
                <a:latin typeface="Aptos"/>
                <a:ea typeface="Aptos"/>
                <a:cs typeface="Aptos"/>
              </a:defRPr>
            </a:pPr>
            <a:r>
              <a:rPr sz="945" b="0">
                <a:solidFill>
                  <a:srgbClr val="1D1B18"/>
                </a:solidFill>
                <a:latin typeface="Aptos"/>
                <a:ea typeface="Aptos"/>
                <a:cs typeface="Aptos"/>
              </a:rPr>
              <a:t>2024 年 1 月 MJO/trend/ENSO 分解</a:t>
            </a:r>
          </a:p>
        </p:txBody>
      </p:sp>
      <p:sp>
        <p:nvSpPr>
          <p:cNvPr id="39" name="">
            <a:extLst xmlns:a="http://schemas.openxmlformats.org/drawingml/2006/main">
              <a:ext uri="{FF2B5EF4-FFF2-40B4-BE49-F238E27FC236}">
                <a16:creationId xmlns:a16="http://schemas.microsoft.com/office/drawing/2014/main" id="{385AFB9A-CD7A-49FE-840F-51DEDD14BD44}"/>
              </a:ext>
            </a:extLst>
          </p:cNvPr>
          <p:cNvSpPr>
            <a:spLocks xmlns:a="http://schemas.openxmlformats.org/drawingml/2006/main" noGrp="1"/>
          </p:cNvSpPr>
          <p:nvPr/>
        </p:nvSpPr>
        <p:spPr>
          <a:xfrm xmlns:a="http://schemas.openxmlformats.org/drawingml/2006/main">
            <a:off x="6572250" y="4000500"/>
            <a:ext cx="4457700" cy="457200"/>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40" name="">
            <a:extLst xmlns:a="http://schemas.openxmlformats.org/drawingml/2006/main">
              <a:ext uri="{FF2B5EF4-FFF2-40B4-BE49-F238E27FC236}">
                <a16:creationId xmlns:a16="http://schemas.microsoft.com/office/drawing/2014/main" id="{3C95DAFA-0090-435A-B3DA-8AA5783978BC}"/>
              </a:ext>
            </a:extLst>
          </p:cNvPr>
          <p:cNvSpPr>
            <a:spLocks xmlns:a="http://schemas.openxmlformats.org/drawingml/2006/main" noGrp="1"/>
          </p:cNvSpPr>
          <p:nvPr/>
        </p:nvSpPr>
        <p:spPr>
          <a:xfrm xmlns:a="http://schemas.openxmlformats.org/drawingml/2006/main">
            <a:off x="6657975" y="4067175"/>
            <a:ext cx="428625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1D1B18"/>
                </a:solidFill>
                <a:latin typeface="Aptos"/>
                <a:ea typeface="Aptos"/>
                <a:cs typeface="Aptos"/>
              </a:defRPr>
            </a:pPr>
            <a:r>
              <a:rPr sz="945" b="0">
                <a:solidFill>
                  <a:srgbClr val="1D1B18"/>
                </a:solidFill>
                <a:latin typeface="Aptos"/>
                <a:ea typeface="Aptos"/>
                <a:cs typeface="Aptos"/>
              </a:rPr>
              <a:t>在日尺度 MJO/OLR 机制前，先建立发展季背景诊断。</a:t>
            </a:r>
          </a:p>
        </p:txBody>
      </p:sp>
      <p:sp>
        <p:nvSpPr>
          <p:cNvPr id="41" name="">
            <a:extLst xmlns:a="http://schemas.openxmlformats.org/drawingml/2006/main">
              <a:ext uri="{FF2B5EF4-FFF2-40B4-BE49-F238E27FC236}">
                <a16:creationId xmlns:a16="http://schemas.microsoft.com/office/drawing/2014/main" id="{95169AB4-5320-4B76-A150-2A2C92D47521}"/>
              </a:ext>
            </a:extLst>
          </p:cNvPr>
          <p:cNvSpPr>
            <a:spLocks xmlns:a="http://schemas.openxmlformats.org/drawingml/2006/main" noGrp="1"/>
          </p:cNvSpPr>
          <p:nvPr/>
        </p:nvSpPr>
        <p:spPr>
          <a:xfrm xmlns:a="http://schemas.openxmlformats.org/drawingml/2006/main">
            <a:off x="723900" y="5162550"/>
            <a:ext cx="9906000" cy="1009650"/>
          </a:xfrm>
          <a:prstGeom xmlns:a="http://schemas.openxmlformats.org/drawingml/2006/main" prst="rect">
            <a:avLst/>
          </a:prstGeom>
          <a:solidFill xmlns:a="http://schemas.openxmlformats.org/drawingml/2006/main">
            <a:srgbClr val="EDF3EF"/>
          </a:solidFill>
          <a:ln xmlns:a="http://schemas.openxmlformats.org/drawingml/2006/main" w="7620">
            <a:solidFill>
              <a:srgbClr val="D8D1C4"/>
            </a:solidFill>
            <a:prstDash val="solid"/>
          </a:ln>
        </p:spPr>
      </p:sp>
      <p:sp>
        <p:nvSpPr>
          <p:cNvPr id="42" name="">
            <a:extLst xmlns:a="http://schemas.openxmlformats.org/drawingml/2006/main">
              <a:ext uri="{FF2B5EF4-FFF2-40B4-BE49-F238E27FC236}">
                <a16:creationId xmlns:a16="http://schemas.microsoft.com/office/drawing/2014/main" id="{A5FB4AE8-6389-412D-9654-A44A14009AE0}"/>
              </a:ext>
            </a:extLst>
          </p:cNvPr>
          <p:cNvSpPr>
            <a:spLocks xmlns:a="http://schemas.openxmlformats.org/drawingml/2006/main" noGrp="1"/>
          </p:cNvSpPr>
          <p:nvPr/>
        </p:nvSpPr>
        <p:spPr>
          <a:xfrm xmlns:a="http://schemas.openxmlformats.org/drawingml/2006/main">
            <a:off x="857250" y="5276850"/>
            <a:ext cx="96393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2F6F73"/>
                </a:solidFill>
                <a:latin typeface="Aptos"/>
                <a:ea typeface="Aptos"/>
                <a:cs typeface="Aptos"/>
              </a:defRPr>
            </a:pPr>
            <a:r>
              <a:rPr sz="1050" b="1">
                <a:solidFill>
                  <a:srgbClr val="2F6F73"/>
                </a:solidFill>
                <a:latin typeface="Aptos"/>
                <a:ea typeface="Aptos"/>
                <a:cs typeface="Aptos"/>
              </a:rPr>
              <a:t>Reading note</a:t>
            </a:r>
          </a:p>
        </p:txBody>
      </p:sp>
      <p:sp>
        <p:nvSpPr>
          <p:cNvPr id="43" name="">
            <a:extLst xmlns:a="http://schemas.openxmlformats.org/drawingml/2006/main">
              <a:ext uri="{FF2B5EF4-FFF2-40B4-BE49-F238E27FC236}">
                <a16:creationId xmlns:a16="http://schemas.microsoft.com/office/drawing/2014/main" id="{048996B0-E50C-472D-8BA6-6F97ABCBDF9D}"/>
              </a:ext>
            </a:extLst>
          </p:cNvPr>
          <p:cNvSpPr>
            <a:spLocks xmlns:a="http://schemas.openxmlformats.org/drawingml/2006/main" noGrp="1"/>
          </p:cNvSpPr>
          <p:nvPr/>
        </p:nvSpPr>
        <p:spPr>
          <a:xfrm xmlns:a="http://schemas.openxmlformats.org/drawingml/2006/main">
            <a:off x="857250" y="5562600"/>
            <a:ext cx="9639300" cy="533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88" b="0">
                <a:solidFill>
                  <a:srgbClr val="1D1B18"/>
                </a:solidFill>
                <a:latin typeface="Aptos"/>
                <a:ea typeface="Aptos"/>
                <a:cs typeface="Aptos"/>
              </a:defRPr>
            </a:pPr>
            <a:r>
              <a:rPr sz="1088" b="0">
                <a:solidFill>
                  <a:srgbClr val="1D1B18"/>
                </a:solidFill>
                <a:latin typeface="Aptos"/>
                <a:ea typeface="Aptos"/>
                <a:cs typeface="Aptos"/>
              </a:rPr>
              <a:t>因此，本研究的差异不是只多加一个资料集，而是把“弱响应”拆成时间维度和变量链条：哪一季开始低于预期、哪个变量最先不同步、外海盆暖背景是否同步异常。</a:t>
            </a:r>
          </a:p>
        </p:txBody>
      </p:sp>
      <p:sp>
        <p:nvSpPr>
          <p:cNvPr id="44" name="">
            <a:extLst xmlns:a="http://schemas.openxmlformats.org/drawingml/2006/main">
              <a:ext uri="{FF2B5EF4-FFF2-40B4-BE49-F238E27FC236}">
                <a16:creationId xmlns:a16="http://schemas.microsoft.com/office/drawing/2014/main" id="{7EB10B90-EC64-4190-A9FD-F2DF0A57B95E}"/>
              </a:ext>
            </a:extLst>
          </p:cNvPr>
          <p:cNvSpPr>
            <a:spLocks xmlns:a="http://schemas.openxmlformats.org/drawingml/2006/main" noGrp="1"/>
          </p:cNvSpPr>
          <p:nvPr/>
        </p:nvSpPr>
        <p:spPr>
          <a:xfrm xmlns:a="http://schemas.openxmlformats.org/drawingml/2006/main">
            <a:off x="552450" y="6477000"/>
            <a:ext cx="106680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5D574F"/>
                </a:solidFill>
                <a:latin typeface="Aptos"/>
                <a:ea typeface="Aptos"/>
                <a:cs typeface="Aptos"/>
              </a:defRPr>
            </a:pPr>
            <a:r>
              <a:rPr sz="788" b="0">
                <a:solidFill>
                  <a:srgbClr val="5D574F"/>
                </a:solidFill>
                <a:latin typeface="Aptos"/>
                <a:ea typeface="Aptos"/>
                <a:cs typeface="Aptos"/>
              </a:rPr>
              <a:t>Literature notes: docs/literature_method_notes.md; source IDs L1-L8; main diagnostic table: seasonal_regression_expected_response.csv.</a:t>
            </a:r>
          </a:p>
        </p:txBody>
      </p:sp>
    </p:spTree>
    <p:extLst>
      <p:ext uri="{BB962C8B-B14F-4D97-AF65-F5344CB8AC3E}">
        <p14:creationId xmlns:p14="http://schemas.microsoft.com/office/powerpoint/2010/main" val="1695914402"/>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FE904797-3A25-49B3-A837-E3DA9E6CC422}"/>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3EA"/>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50B22178-4586-4FB5-9BC2-06E1142430BB}"/>
              </a:ext>
            </a:extLst>
          </p:cNvPr>
          <p:cNvSpPr>
            <a:spLocks xmlns:a="http://schemas.openxmlformats.org/drawingml/2006/main" noGrp="1"/>
          </p:cNvSpPr>
          <p:nvPr/>
        </p:nvSpPr>
        <p:spPr>
          <a:xfrm xmlns:a="http://schemas.openxmlformats.org/drawingml/2006/main">
            <a:off x="552450" y="285750"/>
            <a:ext cx="3429000" cy="23812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CC5A43"/>
                </a:solidFill>
                <a:latin typeface="Aptos"/>
                <a:ea typeface="Aptos"/>
                <a:cs typeface="Aptos"/>
              </a:defRPr>
            </a:pPr>
            <a:r>
              <a:rPr sz="1050" b="1">
                <a:solidFill>
                  <a:srgbClr val="CC5A43"/>
                </a:solidFill>
                <a:latin typeface="Aptos"/>
                <a:ea typeface="Aptos"/>
                <a:cs typeface="Aptos"/>
              </a:rPr>
              <a:t>拟定研究题目</a:t>
            </a:r>
          </a:p>
        </p:txBody>
      </p:sp>
      <p:sp>
        <p:nvSpPr>
          <p:cNvPr id="3" name="">
            <a:extLst xmlns:a="http://schemas.openxmlformats.org/drawingml/2006/main">
              <a:ext uri="{FF2B5EF4-FFF2-40B4-BE49-F238E27FC236}">
                <a16:creationId xmlns:a16="http://schemas.microsoft.com/office/drawing/2014/main" id="{3DB73EB2-7D90-4953-B306-241C37A83BA9}"/>
              </a:ext>
            </a:extLst>
          </p:cNvPr>
          <p:cNvSpPr>
            <a:spLocks xmlns:a="http://schemas.openxmlformats.org/drawingml/2006/main" noGrp="1"/>
          </p:cNvSpPr>
          <p:nvPr/>
        </p:nvSpPr>
        <p:spPr>
          <a:xfrm xmlns:a="http://schemas.openxmlformats.org/drawingml/2006/main">
            <a:off x="552450" y="609600"/>
            <a:ext cx="104775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175" b="1">
                <a:solidFill>
                  <a:srgbClr val="1D1B18"/>
                </a:solidFill>
                <a:latin typeface="Aptos Display"/>
                <a:ea typeface="Aptos Display"/>
                <a:cs typeface="Aptos Display"/>
              </a:defRPr>
            </a:pPr>
            <a:r>
              <a:rPr sz="2175" b="1">
                <a:solidFill>
                  <a:srgbClr val="1D1B18"/>
                </a:solidFill>
                <a:latin typeface="Aptos Display"/>
                <a:ea typeface="Aptos Display"/>
                <a:cs typeface="Aptos Display"/>
              </a:rPr>
              <a:t>建议题目：2023/24 强厄尔尼诺发展季海气耦合失效及其外海盆背景态调制</a:t>
            </a:r>
          </a:p>
        </p:txBody>
      </p:sp>
      <p:sp>
        <p:nvSpPr>
          <p:cNvPr id="4" name="">
            <a:extLst xmlns:a="http://schemas.openxmlformats.org/drawingml/2006/main">
              <a:ext uri="{FF2B5EF4-FFF2-40B4-BE49-F238E27FC236}">
                <a16:creationId xmlns:a16="http://schemas.microsoft.com/office/drawing/2014/main" id="{269700C9-3724-4FFF-9000-88DC965A2AD8}"/>
              </a:ext>
            </a:extLst>
          </p:cNvPr>
          <p:cNvSpPr>
            <a:spLocks xmlns:a="http://schemas.openxmlformats.org/drawingml/2006/main" noGrp="1"/>
          </p:cNvSpPr>
          <p:nvPr/>
        </p:nvSpPr>
        <p:spPr>
          <a:xfrm xmlns:a="http://schemas.openxmlformats.org/drawingml/2006/main">
            <a:off x="552450" y="1409700"/>
            <a:ext cx="10763250" cy="14288"/>
          </a:xfrm>
          <a:prstGeom xmlns:a="http://schemas.openxmlformats.org/drawingml/2006/main" prst="rect">
            <a:avLst/>
          </a:prstGeom>
          <a:solidFill xmlns:a="http://schemas.openxmlformats.org/drawingml/2006/main">
            <a:srgbClr val="D8D1C4"/>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23B8256C-6E3C-4A43-A0FC-3233EDBF7968}"/>
              </a:ext>
            </a:extLst>
          </p:cNvPr>
          <p:cNvSpPr>
            <a:spLocks xmlns:a="http://schemas.openxmlformats.org/drawingml/2006/main" noGrp="1"/>
          </p:cNvSpPr>
          <p:nvPr/>
        </p:nvSpPr>
        <p:spPr>
          <a:xfrm xmlns:a="http://schemas.openxmlformats.org/drawingml/2006/main">
            <a:off x="723900" y="1695450"/>
            <a:ext cx="9906000" cy="1257300"/>
          </a:xfrm>
          <a:prstGeom xmlns:a="http://schemas.openxmlformats.org/drawingml/2006/main" prst="rect">
            <a:avLst/>
          </a:prstGeom>
          <a:solidFill xmlns:a="http://schemas.openxmlformats.org/drawingml/2006/main">
            <a:srgbClr val="F5E5DF"/>
          </a:solidFill>
          <a:ln xmlns:a="http://schemas.openxmlformats.org/drawingml/2006/main" w="9525">
            <a:solidFill>
              <a:srgbClr val="D8D1C4"/>
            </a:solidFill>
            <a:prstDash val="solid"/>
          </a:ln>
        </p:spPr>
      </p:sp>
      <p:sp>
        <p:nvSpPr>
          <p:cNvPr id="6" name="">
            <a:extLst xmlns:a="http://schemas.openxmlformats.org/drawingml/2006/main">
              <a:ext uri="{FF2B5EF4-FFF2-40B4-BE49-F238E27FC236}">
                <a16:creationId xmlns:a16="http://schemas.microsoft.com/office/drawing/2014/main" id="{CBD262F2-E8CC-4BC8-B441-40C32099FE1E}"/>
              </a:ext>
            </a:extLst>
          </p:cNvPr>
          <p:cNvSpPr>
            <a:spLocks xmlns:a="http://schemas.openxmlformats.org/drawingml/2006/main" noGrp="1"/>
          </p:cNvSpPr>
          <p:nvPr/>
        </p:nvSpPr>
        <p:spPr>
          <a:xfrm xmlns:a="http://schemas.openxmlformats.org/drawingml/2006/main">
            <a:off x="933450" y="1924050"/>
            <a:ext cx="9486900" cy="8763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75" b="1">
                <a:solidFill>
                  <a:srgbClr val="1D1B18"/>
                </a:solidFill>
                <a:latin typeface="Aptos"/>
                <a:ea typeface="Aptos"/>
                <a:cs typeface="Aptos"/>
              </a:defRPr>
            </a:pPr>
            <a:r>
              <a:rPr sz="1575" b="1">
                <a:solidFill>
                  <a:srgbClr val="1D1B18"/>
                </a:solidFill>
                <a:latin typeface="Aptos"/>
                <a:ea typeface="Aptos"/>
                <a:cs typeface="Aptos"/>
              </a:rPr>
              <a:t>工作假设：2023 春夏热带外海盆暖异常和热带平均增暖背景改变了 Walker 环流和对流阈值，使太平洋暖 SST 对低层风、海平面气压和降水的典型响应滞后或减弱。</a:t>
            </a:r>
          </a:p>
        </p:txBody>
      </p:sp>
      <p:sp>
        <p:nvSpPr>
          <p:cNvPr id="7" name="">
            <a:extLst xmlns:a="http://schemas.openxmlformats.org/drawingml/2006/main">
              <a:ext uri="{FF2B5EF4-FFF2-40B4-BE49-F238E27FC236}">
                <a16:creationId xmlns:a16="http://schemas.microsoft.com/office/drawing/2014/main" id="{51455A52-3DE5-4FB7-B7D0-2F61233C8F73}"/>
              </a:ext>
            </a:extLst>
          </p:cNvPr>
          <p:cNvSpPr>
            <a:spLocks xmlns:a="http://schemas.openxmlformats.org/drawingml/2006/main" noGrp="1"/>
          </p:cNvSpPr>
          <p:nvPr/>
        </p:nvSpPr>
        <p:spPr>
          <a:xfrm xmlns:a="http://schemas.openxmlformats.org/drawingml/2006/main">
            <a:off x="876300" y="3419475"/>
            <a:ext cx="66675" cy="66675"/>
          </a:xfrm>
          <a:prstGeom xmlns:a="http://schemas.openxmlformats.org/drawingml/2006/main" prst="ellipse">
            <a:avLst/>
          </a:prstGeom>
          <a:solidFill xmlns:a="http://schemas.openxmlformats.org/drawingml/2006/main">
            <a:srgbClr val="CC5A43"/>
          </a:solidFill>
          <a:ln xmlns:a="http://schemas.openxmlformats.org/drawingml/2006/main" w="0">
            <a:solidFill>
              <a:srgbClr val="000000">
                <a:alpha val="0"/>
              </a:srgbClr>
            </a:solidFill>
            <a:prstDash val="solid"/>
          </a:ln>
        </p:spPr>
      </p:sp>
      <p:sp>
        <p:nvSpPr>
          <p:cNvPr id="8" name="">
            <a:extLst xmlns:a="http://schemas.openxmlformats.org/drawingml/2006/main">
              <a:ext uri="{FF2B5EF4-FFF2-40B4-BE49-F238E27FC236}">
                <a16:creationId xmlns:a16="http://schemas.microsoft.com/office/drawing/2014/main" id="{20D2A603-DD39-4165-8973-5AABF8FDC100}"/>
              </a:ext>
            </a:extLst>
          </p:cNvPr>
          <p:cNvSpPr>
            <a:spLocks xmlns:a="http://schemas.openxmlformats.org/drawingml/2006/main" noGrp="1"/>
          </p:cNvSpPr>
          <p:nvPr/>
        </p:nvSpPr>
        <p:spPr>
          <a:xfrm xmlns:a="http://schemas.openxmlformats.org/drawingml/2006/main">
            <a:off x="1066800" y="3333750"/>
            <a:ext cx="9144000" cy="628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D1B18"/>
                </a:solidFill>
                <a:latin typeface="Aptos"/>
                <a:ea typeface="Aptos"/>
                <a:cs typeface="Aptos"/>
              </a:defRPr>
            </a:pPr>
            <a:r>
              <a:rPr sz="1350" b="0">
                <a:solidFill>
                  <a:srgbClr val="1D1B18"/>
                </a:solidFill>
                <a:latin typeface="Aptos"/>
                <a:ea typeface="Aptos"/>
                <a:cs typeface="Aptos"/>
              </a:rPr>
              <a:t>假设 1：热带北大西洋、印度洋和海陆洲暖异常改变大尺度热力背景，抑制中太平洋西风响应。</a:t>
            </a:r>
          </a:p>
        </p:txBody>
      </p:sp>
      <p:sp>
        <p:nvSpPr>
          <p:cNvPr id="9" name="">
            <a:extLst xmlns:a="http://schemas.openxmlformats.org/drawingml/2006/main">
              <a:ext uri="{FF2B5EF4-FFF2-40B4-BE49-F238E27FC236}">
                <a16:creationId xmlns:a16="http://schemas.microsoft.com/office/drawing/2014/main" id="{3386C096-14F2-408E-B8D1-7661A5231CCC}"/>
              </a:ext>
            </a:extLst>
          </p:cNvPr>
          <p:cNvSpPr>
            <a:spLocks xmlns:a="http://schemas.openxmlformats.org/drawingml/2006/main" noGrp="1"/>
          </p:cNvSpPr>
          <p:nvPr/>
        </p:nvSpPr>
        <p:spPr>
          <a:xfrm xmlns:a="http://schemas.openxmlformats.org/drawingml/2006/main">
            <a:off x="876300" y="4086225"/>
            <a:ext cx="66675" cy="66675"/>
          </a:xfrm>
          <a:prstGeom xmlns:a="http://schemas.openxmlformats.org/drawingml/2006/main" prst="ellipse">
            <a:avLst/>
          </a:prstGeom>
          <a:solidFill xmlns:a="http://schemas.openxmlformats.org/drawingml/2006/main">
            <a:srgbClr val="CC5A43"/>
          </a:solidFill>
          <a:ln xmlns:a="http://schemas.openxmlformats.org/drawingml/2006/main" w="0">
            <a:solidFill>
              <a:srgbClr val="000000">
                <a:alpha val="0"/>
              </a:srgbClr>
            </a:solidFill>
            <a:prstDash val="solid"/>
          </a:ln>
        </p:spPr>
      </p:sp>
      <p:sp>
        <p:nvSpPr>
          <p:cNvPr id="10" name="">
            <a:extLst xmlns:a="http://schemas.openxmlformats.org/drawingml/2006/main">
              <a:ext uri="{FF2B5EF4-FFF2-40B4-BE49-F238E27FC236}">
                <a16:creationId xmlns:a16="http://schemas.microsoft.com/office/drawing/2014/main" id="{B9E0C744-84AA-4ED6-A091-3F55C283289F}"/>
              </a:ext>
            </a:extLst>
          </p:cNvPr>
          <p:cNvSpPr>
            <a:spLocks xmlns:a="http://schemas.openxmlformats.org/drawingml/2006/main" noGrp="1"/>
          </p:cNvSpPr>
          <p:nvPr/>
        </p:nvSpPr>
        <p:spPr>
          <a:xfrm xmlns:a="http://schemas.openxmlformats.org/drawingml/2006/main">
            <a:off x="1066800" y="4000500"/>
            <a:ext cx="9144000" cy="628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D1B18"/>
                </a:solidFill>
                <a:latin typeface="Aptos"/>
                <a:ea typeface="Aptos"/>
                <a:cs typeface="Aptos"/>
              </a:defRPr>
            </a:pPr>
            <a:r>
              <a:rPr sz="1350" b="0">
                <a:solidFill>
                  <a:srgbClr val="1D1B18"/>
                </a:solidFill>
                <a:latin typeface="Aptos"/>
                <a:ea typeface="Aptos"/>
                <a:cs typeface="Aptos"/>
              </a:rPr>
              <a:t>假设 2：海陆洲/印度洋对流维持在西侧，使典型 El Niño 降水中心东移不充分。</a:t>
            </a:r>
          </a:p>
        </p:txBody>
      </p:sp>
      <p:sp>
        <p:nvSpPr>
          <p:cNvPr id="11" name="">
            <a:extLst xmlns:a="http://schemas.openxmlformats.org/drawingml/2006/main">
              <a:ext uri="{FF2B5EF4-FFF2-40B4-BE49-F238E27FC236}">
                <a16:creationId xmlns:a16="http://schemas.microsoft.com/office/drawing/2014/main" id="{DFDDDB26-FA44-4D2C-8F32-E6EE8EB7E39D}"/>
              </a:ext>
            </a:extLst>
          </p:cNvPr>
          <p:cNvSpPr>
            <a:spLocks xmlns:a="http://schemas.openxmlformats.org/drawingml/2006/main" noGrp="1"/>
          </p:cNvSpPr>
          <p:nvPr/>
        </p:nvSpPr>
        <p:spPr>
          <a:xfrm xmlns:a="http://schemas.openxmlformats.org/drawingml/2006/main">
            <a:off x="876300" y="4752975"/>
            <a:ext cx="66675" cy="66675"/>
          </a:xfrm>
          <a:prstGeom xmlns:a="http://schemas.openxmlformats.org/drawingml/2006/main" prst="ellipse">
            <a:avLst/>
          </a:prstGeom>
          <a:solidFill xmlns:a="http://schemas.openxmlformats.org/drawingml/2006/main">
            <a:srgbClr val="CC5A43"/>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F471DE87-D734-487C-A688-9AB3E279D0AB}"/>
              </a:ext>
            </a:extLst>
          </p:cNvPr>
          <p:cNvSpPr>
            <a:spLocks xmlns:a="http://schemas.openxmlformats.org/drawingml/2006/main" noGrp="1"/>
          </p:cNvSpPr>
          <p:nvPr/>
        </p:nvSpPr>
        <p:spPr>
          <a:xfrm xmlns:a="http://schemas.openxmlformats.org/drawingml/2006/main">
            <a:off x="1066800" y="4667250"/>
            <a:ext cx="9144000" cy="628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D1B18"/>
                </a:solidFill>
                <a:latin typeface="Aptos"/>
                <a:ea typeface="Aptos"/>
                <a:cs typeface="Aptos"/>
              </a:defRPr>
            </a:pPr>
            <a:r>
              <a:rPr sz="1350" b="0">
                <a:solidFill>
                  <a:srgbClr val="1D1B18"/>
                </a:solidFill>
                <a:latin typeface="Aptos"/>
                <a:ea typeface="Aptos"/>
                <a:cs typeface="Aptos"/>
              </a:rPr>
              <a:t>假设 3：热带平均增暖提高对流触发阈值，使同样的太平洋 SST 异常对应更弱大气反馈。</a:t>
            </a:r>
          </a:p>
        </p:txBody>
      </p:sp>
      <p:sp>
        <p:nvSpPr>
          <p:cNvPr id="13" name="">
            <a:extLst xmlns:a="http://schemas.openxmlformats.org/drawingml/2006/main">
              <a:ext uri="{FF2B5EF4-FFF2-40B4-BE49-F238E27FC236}">
                <a16:creationId xmlns:a16="http://schemas.microsoft.com/office/drawing/2014/main" id="{DCA2C246-F331-424A-9A84-E2E3C7F9D8A9}"/>
              </a:ext>
            </a:extLst>
          </p:cNvPr>
          <p:cNvSpPr>
            <a:spLocks xmlns:a="http://schemas.openxmlformats.org/drawingml/2006/main" noGrp="1"/>
          </p:cNvSpPr>
          <p:nvPr/>
        </p:nvSpPr>
        <p:spPr>
          <a:xfrm xmlns:a="http://schemas.openxmlformats.org/drawingml/2006/main">
            <a:off x="552450" y="6477000"/>
            <a:ext cx="106680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5D574F"/>
                </a:solidFill>
                <a:latin typeface="Aptos"/>
                <a:ea typeface="Aptos"/>
                <a:cs typeface="Aptos"/>
              </a:defRPr>
            </a:pPr>
            <a:r>
              <a:rPr sz="788" b="0">
                <a:solidFill>
                  <a:srgbClr val="5D574F"/>
                </a:solidFill>
                <a:latin typeface="Aptos"/>
                <a:ea typeface="Aptos"/>
                <a:cs typeface="Aptos"/>
              </a:rPr>
              <a:t>Current diagnostics establish association; mechanism attribution requires ERA5, OLR, MJO/RMM and AGCM tests.</a:t>
            </a:r>
          </a:p>
        </p:txBody>
      </p:sp>
    </p:spTree>
    <p:extLst>
      <p:ext uri="{BB962C8B-B14F-4D97-AF65-F5344CB8AC3E}">
        <p14:creationId xmlns:p14="http://schemas.microsoft.com/office/powerpoint/2010/main" val="1481246664"/>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DC0834EE-BE75-47A8-8990-F3442011B4F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3EA"/>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98BE18AF-E436-4CB0-BB1F-C5ADB1C7616E}"/>
              </a:ext>
            </a:extLst>
          </p:cNvPr>
          <p:cNvSpPr>
            <a:spLocks xmlns:a="http://schemas.openxmlformats.org/drawingml/2006/main" noGrp="1"/>
          </p:cNvSpPr>
          <p:nvPr/>
        </p:nvSpPr>
        <p:spPr>
          <a:xfrm xmlns:a="http://schemas.openxmlformats.org/drawingml/2006/main">
            <a:off x="552450" y="285750"/>
            <a:ext cx="3429000" cy="23812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CC5A43"/>
                </a:solidFill>
                <a:latin typeface="Aptos"/>
                <a:ea typeface="Aptos"/>
                <a:cs typeface="Aptos"/>
              </a:defRPr>
            </a:pPr>
            <a:r>
              <a:rPr sz="1050" b="1">
                <a:solidFill>
                  <a:srgbClr val="CC5A43"/>
                </a:solidFill>
                <a:latin typeface="Aptos"/>
                <a:ea typeface="Aptos"/>
                <a:cs typeface="Aptos"/>
              </a:rPr>
              <a:t>下一步数据</a:t>
            </a:r>
          </a:p>
        </p:txBody>
      </p:sp>
      <p:sp>
        <p:nvSpPr>
          <p:cNvPr id="3" name="">
            <a:extLst xmlns:a="http://schemas.openxmlformats.org/drawingml/2006/main">
              <a:ext uri="{FF2B5EF4-FFF2-40B4-BE49-F238E27FC236}">
                <a16:creationId xmlns:a16="http://schemas.microsoft.com/office/drawing/2014/main" id="{DED2664A-ADA5-4B13-BCFB-1B6E48B23179}"/>
              </a:ext>
            </a:extLst>
          </p:cNvPr>
          <p:cNvSpPr>
            <a:spLocks xmlns:a="http://schemas.openxmlformats.org/drawingml/2006/main" noGrp="1"/>
          </p:cNvSpPr>
          <p:nvPr/>
        </p:nvSpPr>
        <p:spPr>
          <a:xfrm xmlns:a="http://schemas.openxmlformats.org/drawingml/2006/main">
            <a:off x="552450" y="609600"/>
            <a:ext cx="104775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175" b="1">
                <a:solidFill>
                  <a:srgbClr val="1D1B18"/>
                </a:solidFill>
                <a:latin typeface="Aptos Display"/>
                <a:ea typeface="Aptos Display"/>
                <a:cs typeface="Aptos Display"/>
              </a:defRPr>
            </a:pPr>
            <a:r>
              <a:rPr sz="2175" b="1">
                <a:solidFill>
                  <a:srgbClr val="1D1B18"/>
                </a:solidFill>
                <a:latin typeface="Aptos Display"/>
                <a:ea typeface="Aptos Display"/>
                <a:cs typeface="Aptos Display"/>
              </a:rPr>
              <a:t>下一版研究图需要补什么数据</a:t>
            </a:r>
          </a:p>
        </p:txBody>
      </p:sp>
      <p:sp>
        <p:nvSpPr>
          <p:cNvPr id="4" name="">
            <a:extLst xmlns:a="http://schemas.openxmlformats.org/drawingml/2006/main">
              <a:ext uri="{FF2B5EF4-FFF2-40B4-BE49-F238E27FC236}">
                <a16:creationId xmlns:a16="http://schemas.microsoft.com/office/drawing/2014/main" id="{1CB03CD3-A6FD-4EB4-B5C2-697D0D5554BD}"/>
              </a:ext>
            </a:extLst>
          </p:cNvPr>
          <p:cNvSpPr>
            <a:spLocks xmlns:a="http://schemas.openxmlformats.org/drawingml/2006/main" noGrp="1"/>
          </p:cNvSpPr>
          <p:nvPr/>
        </p:nvSpPr>
        <p:spPr>
          <a:xfrm xmlns:a="http://schemas.openxmlformats.org/drawingml/2006/main">
            <a:off x="552450" y="1409700"/>
            <a:ext cx="10763250" cy="14288"/>
          </a:xfrm>
          <a:prstGeom xmlns:a="http://schemas.openxmlformats.org/drawingml/2006/main" prst="rect">
            <a:avLst/>
          </a:prstGeom>
          <a:solidFill xmlns:a="http://schemas.openxmlformats.org/drawingml/2006/main">
            <a:srgbClr val="D8D1C4"/>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E927073D-02F2-41D3-A1A4-56228A1DCCE8}"/>
              </a:ext>
            </a:extLst>
          </p:cNvPr>
          <p:cNvSpPr>
            <a:spLocks xmlns:a="http://schemas.openxmlformats.org/drawingml/2006/main" noGrp="1"/>
          </p:cNvSpPr>
          <p:nvPr/>
        </p:nvSpPr>
        <p:spPr>
          <a:xfrm xmlns:a="http://schemas.openxmlformats.org/drawingml/2006/main">
            <a:off x="666750" y="1714500"/>
            <a:ext cx="1809750" cy="552450"/>
          </a:xfrm>
          <a:prstGeom xmlns:a="http://schemas.openxmlformats.org/drawingml/2006/main" prst="rect">
            <a:avLst/>
          </a:prstGeom>
          <a:solidFill xmlns:a="http://schemas.openxmlformats.org/drawingml/2006/main">
            <a:srgbClr val="1D1B18"/>
          </a:solidFill>
          <a:ln xmlns:a="http://schemas.openxmlformats.org/drawingml/2006/main" w="6668">
            <a:solidFill>
              <a:srgbClr val="D8D1C4"/>
            </a:solidFill>
            <a:prstDash val="solid"/>
          </a:ln>
        </p:spPr>
      </p:sp>
      <p:sp>
        <p:nvSpPr>
          <p:cNvPr id="6" name="">
            <a:extLst xmlns:a="http://schemas.openxmlformats.org/drawingml/2006/main">
              <a:ext uri="{FF2B5EF4-FFF2-40B4-BE49-F238E27FC236}">
                <a16:creationId xmlns:a16="http://schemas.microsoft.com/office/drawing/2014/main" id="{8698D20D-7B71-4C6C-BA40-0E209CE3F491}"/>
              </a:ext>
            </a:extLst>
          </p:cNvPr>
          <p:cNvSpPr>
            <a:spLocks xmlns:a="http://schemas.openxmlformats.org/drawingml/2006/main" noGrp="1"/>
          </p:cNvSpPr>
          <p:nvPr/>
        </p:nvSpPr>
        <p:spPr>
          <a:xfrm xmlns:a="http://schemas.openxmlformats.org/drawingml/2006/main">
            <a:off x="752475" y="1781175"/>
            <a:ext cx="16383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FFFFFF"/>
                </a:solidFill>
                <a:latin typeface="Aptos"/>
                <a:ea typeface="Aptos"/>
                <a:cs typeface="Aptos"/>
              </a:defRPr>
            </a:pPr>
            <a:r>
              <a:rPr sz="900" b="1">
                <a:solidFill>
                  <a:srgbClr val="FFFFFF"/>
                </a:solidFill>
                <a:latin typeface="Aptos"/>
                <a:ea typeface="Aptos"/>
                <a:cs typeface="Aptos"/>
              </a:rPr>
              <a:t>数据</a:t>
            </a:r>
          </a:p>
        </p:txBody>
      </p:sp>
      <p:sp>
        <p:nvSpPr>
          <p:cNvPr id="7" name="">
            <a:extLst xmlns:a="http://schemas.openxmlformats.org/drawingml/2006/main">
              <a:ext uri="{FF2B5EF4-FFF2-40B4-BE49-F238E27FC236}">
                <a16:creationId xmlns:a16="http://schemas.microsoft.com/office/drawing/2014/main" id="{76CD9276-CD08-4390-865A-59256C3E8627}"/>
              </a:ext>
            </a:extLst>
          </p:cNvPr>
          <p:cNvSpPr>
            <a:spLocks xmlns:a="http://schemas.openxmlformats.org/drawingml/2006/main" noGrp="1"/>
          </p:cNvSpPr>
          <p:nvPr/>
        </p:nvSpPr>
        <p:spPr>
          <a:xfrm xmlns:a="http://schemas.openxmlformats.org/drawingml/2006/main">
            <a:off x="2476500" y="1714500"/>
            <a:ext cx="4095750" cy="552450"/>
          </a:xfrm>
          <a:prstGeom xmlns:a="http://schemas.openxmlformats.org/drawingml/2006/main" prst="rect">
            <a:avLst/>
          </a:prstGeom>
          <a:solidFill xmlns:a="http://schemas.openxmlformats.org/drawingml/2006/main">
            <a:srgbClr val="1D1B18"/>
          </a:solidFill>
          <a:ln xmlns:a="http://schemas.openxmlformats.org/drawingml/2006/main" w="6668">
            <a:solidFill>
              <a:srgbClr val="D8D1C4"/>
            </a:solidFill>
            <a:prstDash val="solid"/>
          </a:ln>
        </p:spPr>
      </p:sp>
      <p:sp>
        <p:nvSpPr>
          <p:cNvPr id="8" name="">
            <a:extLst xmlns:a="http://schemas.openxmlformats.org/drawingml/2006/main">
              <a:ext uri="{FF2B5EF4-FFF2-40B4-BE49-F238E27FC236}">
                <a16:creationId xmlns:a16="http://schemas.microsoft.com/office/drawing/2014/main" id="{23B4EEAB-216C-4D76-9A1D-CC205D2E1C53}"/>
              </a:ext>
            </a:extLst>
          </p:cNvPr>
          <p:cNvSpPr>
            <a:spLocks xmlns:a="http://schemas.openxmlformats.org/drawingml/2006/main" noGrp="1"/>
          </p:cNvSpPr>
          <p:nvPr/>
        </p:nvSpPr>
        <p:spPr>
          <a:xfrm xmlns:a="http://schemas.openxmlformats.org/drawingml/2006/main">
            <a:off x="2562225" y="1781175"/>
            <a:ext cx="39243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FFFFFF"/>
                </a:solidFill>
                <a:latin typeface="Aptos"/>
                <a:ea typeface="Aptos"/>
                <a:cs typeface="Aptos"/>
              </a:defRPr>
            </a:pPr>
            <a:r>
              <a:rPr sz="900" b="1">
                <a:solidFill>
                  <a:srgbClr val="FFFFFF"/>
                </a:solidFill>
                <a:latin typeface="Aptos"/>
                <a:ea typeface="Aptos"/>
                <a:cs typeface="Aptos"/>
              </a:rPr>
              <a:t>用途</a:t>
            </a:r>
          </a:p>
        </p:txBody>
      </p:sp>
      <p:sp>
        <p:nvSpPr>
          <p:cNvPr id="9" name="">
            <a:extLst xmlns:a="http://schemas.openxmlformats.org/drawingml/2006/main">
              <a:ext uri="{FF2B5EF4-FFF2-40B4-BE49-F238E27FC236}">
                <a16:creationId xmlns:a16="http://schemas.microsoft.com/office/drawing/2014/main" id="{6E735B94-AB18-4F5D-9D97-86DC83F855EC}"/>
              </a:ext>
            </a:extLst>
          </p:cNvPr>
          <p:cNvSpPr>
            <a:spLocks xmlns:a="http://schemas.openxmlformats.org/drawingml/2006/main" noGrp="1"/>
          </p:cNvSpPr>
          <p:nvPr/>
        </p:nvSpPr>
        <p:spPr>
          <a:xfrm xmlns:a="http://schemas.openxmlformats.org/drawingml/2006/main">
            <a:off x="6572250" y="1714500"/>
            <a:ext cx="4457700" cy="552450"/>
          </a:xfrm>
          <a:prstGeom xmlns:a="http://schemas.openxmlformats.org/drawingml/2006/main" prst="rect">
            <a:avLst/>
          </a:prstGeom>
          <a:solidFill xmlns:a="http://schemas.openxmlformats.org/drawingml/2006/main">
            <a:srgbClr val="1D1B18"/>
          </a:solidFill>
          <a:ln xmlns:a="http://schemas.openxmlformats.org/drawingml/2006/main" w="6668">
            <a:solidFill>
              <a:srgbClr val="D8D1C4"/>
            </a:solidFill>
            <a:prstDash val="solid"/>
          </a:ln>
        </p:spPr>
      </p:sp>
      <p:sp>
        <p:nvSpPr>
          <p:cNvPr id="10" name="">
            <a:extLst xmlns:a="http://schemas.openxmlformats.org/drawingml/2006/main">
              <a:ext uri="{FF2B5EF4-FFF2-40B4-BE49-F238E27FC236}">
                <a16:creationId xmlns:a16="http://schemas.microsoft.com/office/drawing/2014/main" id="{C47DA862-58C8-40EB-8134-DBC0364CE78A}"/>
              </a:ext>
            </a:extLst>
          </p:cNvPr>
          <p:cNvSpPr>
            <a:spLocks xmlns:a="http://schemas.openxmlformats.org/drawingml/2006/main" noGrp="1"/>
          </p:cNvSpPr>
          <p:nvPr/>
        </p:nvSpPr>
        <p:spPr>
          <a:xfrm xmlns:a="http://schemas.openxmlformats.org/drawingml/2006/main">
            <a:off x="6657975" y="1781175"/>
            <a:ext cx="428625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FFFFFF"/>
                </a:solidFill>
                <a:latin typeface="Aptos"/>
                <a:ea typeface="Aptos"/>
                <a:cs typeface="Aptos"/>
              </a:defRPr>
            </a:pPr>
            <a:r>
              <a:rPr sz="900" b="1">
                <a:solidFill>
                  <a:srgbClr val="FFFFFF"/>
                </a:solidFill>
                <a:latin typeface="Aptos"/>
                <a:ea typeface="Aptos"/>
                <a:cs typeface="Aptos"/>
              </a:rPr>
              <a:t>为什么需要</a:t>
            </a:r>
          </a:p>
        </p:txBody>
      </p:sp>
      <p:sp>
        <p:nvSpPr>
          <p:cNvPr id="11" name="">
            <a:extLst xmlns:a="http://schemas.openxmlformats.org/drawingml/2006/main">
              <a:ext uri="{FF2B5EF4-FFF2-40B4-BE49-F238E27FC236}">
                <a16:creationId xmlns:a16="http://schemas.microsoft.com/office/drawing/2014/main" id="{275F9A74-1369-4A26-8F80-FEB92C2BACA9}"/>
              </a:ext>
            </a:extLst>
          </p:cNvPr>
          <p:cNvSpPr>
            <a:spLocks xmlns:a="http://schemas.openxmlformats.org/drawingml/2006/main" noGrp="1"/>
          </p:cNvSpPr>
          <p:nvPr/>
        </p:nvSpPr>
        <p:spPr>
          <a:xfrm xmlns:a="http://schemas.openxmlformats.org/drawingml/2006/main">
            <a:off x="666750" y="2266950"/>
            <a:ext cx="1809750" cy="552450"/>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12" name="">
            <a:extLst xmlns:a="http://schemas.openxmlformats.org/drawingml/2006/main">
              <a:ext uri="{FF2B5EF4-FFF2-40B4-BE49-F238E27FC236}">
                <a16:creationId xmlns:a16="http://schemas.microsoft.com/office/drawing/2014/main" id="{16E4B244-C91B-4315-A6B9-98CD2FDF47F1}"/>
              </a:ext>
            </a:extLst>
          </p:cNvPr>
          <p:cNvSpPr>
            <a:spLocks xmlns:a="http://schemas.openxmlformats.org/drawingml/2006/main" noGrp="1"/>
          </p:cNvSpPr>
          <p:nvPr/>
        </p:nvSpPr>
        <p:spPr>
          <a:xfrm xmlns:a="http://schemas.openxmlformats.org/drawingml/2006/main">
            <a:off x="752475" y="2333625"/>
            <a:ext cx="16383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1D1B18"/>
                </a:solidFill>
                <a:latin typeface="Aptos"/>
                <a:ea typeface="Aptos"/>
                <a:cs typeface="Aptos"/>
              </a:defRPr>
            </a:pPr>
            <a:r>
              <a:rPr sz="945" b="0">
                <a:solidFill>
                  <a:srgbClr val="1D1B18"/>
                </a:solidFill>
                <a:latin typeface="Aptos"/>
                <a:ea typeface="Aptos"/>
                <a:cs typeface="Aptos"/>
              </a:rPr>
              <a:t>ERA5 pressure-level u850 / χ200</a:t>
            </a:r>
          </a:p>
        </p:txBody>
      </p:sp>
      <p:sp>
        <p:nvSpPr>
          <p:cNvPr id="13" name="">
            <a:extLst xmlns:a="http://schemas.openxmlformats.org/drawingml/2006/main">
              <a:ext uri="{FF2B5EF4-FFF2-40B4-BE49-F238E27FC236}">
                <a16:creationId xmlns:a16="http://schemas.microsoft.com/office/drawing/2014/main" id="{A3E1CBD9-1F09-439C-A8E1-8BB562AB8200}"/>
              </a:ext>
            </a:extLst>
          </p:cNvPr>
          <p:cNvSpPr>
            <a:spLocks xmlns:a="http://schemas.openxmlformats.org/drawingml/2006/main" noGrp="1"/>
          </p:cNvSpPr>
          <p:nvPr/>
        </p:nvSpPr>
        <p:spPr>
          <a:xfrm xmlns:a="http://schemas.openxmlformats.org/drawingml/2006/main">
            <a:off x="2476500" y="2266950"/>
            <a:ext cx="4095750" cy="552450"/>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14" name="">
            <a:extLst xmlns:a="http://schemas.openxmlformats.org/drawingml/2006/main">
              <a:ext uri="{FF2B5EF4-FFF2-40B4-BE49-F238E27FC236}">
                <a16:creationId xmlns:a16="http://schemas.microsoft.com/office/drawing/2014/main" id="{E2059FFE-1A67-48F8-A90F-BC16AD8D5527}"/>
              </a:ext>
            </a:extLst>
          </p:cNvPr>
          <p:cNvSpPr>
            <a:spLocks xmlns:a="http://schemas.openxmlformats.org/drawingml/2006/main" noGrp="1"/>
          </p:cNvSpPr>
          <p:nvPr/>
        </p:nvSpPr>
        <p:spPr>
          <a:xfrm xmlns:a="http://schemas.openxmlformats.org/drawingml/2006/main">
            <a:off x="2562225" y="2333625"/>
            <a:ext cx="39243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1D1B18"/>
                </a:solidFill>
                <a:latin typeface="Aptos"/>
                <a:ea typeface="Aptos"/>
                <a:cs typeface="Aptos"/>
              </a:defRPr>
            </a:pPr>
            <a:r>
              <a:rPr sz="945" b="0">
                <a:solidFill>
                  <a:srgbClr val="1D1B18"/>
                </a:solidFill>
                <a:latin typeface="Aptos"/>
                <a:ea typeface="Aptos"/>
                <a:cs typeface="Aptos"/>
              </a:rPr>
              <a:t>补充低层风垂直层和 Walker 环流。</a:t>
            </a:r>
          </a:p>
        </p:txBody>
      </p:sp>
      <p:sp>
        <p:nvSpPr>
          <p:cNvPr id="15" name="">
            <a:extLst xmlns:a="http://schemas.openxmlformats.org/drawingml/2006/main">
              <a:ext uri="{FF2B5EF4-FFF2-40B4-BE49-F238E27FC236}">
                <a16:creationId xmlns:a16="http://schemas.microsoft.com/office/drawing/2014/main" id="{B3F9CAE0-F464-4DE6-9362-9D9833F35400}"/>
              </a:ext>
            </a:extLst>
          </p:cNvPr>
          <p:cNvSpPr>
            <a:spLocks xmlns:a="http://schemas.openxmlformats.org/drawingml/2006/main" noGrp="1"/>
          </p:cNvSpPr>
          <p:nvPr/>
        </p:nvSpPr>
        <p:spPr>
          <a:xfrm xmlns:a="http://schemas.openxmlformats.org/drawingml/2006/main">
            <a:off x="6572250" y="2266950"/>
            <a:ext cx="4457700" cy="552450"/>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16" name="">
            <a:extLst xmlns:a="http://schemas.openxmlformats.org/drawingml/2006/main">
              <a:ext uri="{FF2B5EF4-FFF2-40B4-BE49-F238E27FC236}">
                <a16:creationId xmlns:a16="http://schemas.microsoft.com/office/drawing/2014/main" id="{54C04334-E34E-4108-94E6-8AE1678D0CA0}"/>
              </a:ext>
            </a:extLst>
          </p:cNvPr>
          <p:cNvSpPr>
            <a:spLocks xmlns:a="http://schemas.openxmlformats.org/drawingml/2006/main" noGrp="1"/>
          </p:cNvSpPr>
          <p:nvPr/>
        </p:nvSpPr>
        <p:spPr>
          <a:xfrm xmlns:a="http://schemas.openxmlformats.org/drawingml/2006/main">
            <a:off x="6657975" y="2333625"/>
            <a:ext cx="428625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1D1B18"/>
                </a:solidFill>
                <a:latin typeface="Aptos"/>
                <a:ea typeface="Aptos"/>
                <a:cs typeface="Aptos"/>
              </a:defRPr>
            </a:pPr>
            <a:r>
              <a:rPr sz="945" b="0">
                <a:solidFill>
                  <a:srgbClr val="1D1B18"/>
                </a:solidFill>
                <a:latin typeface="Aptos"/>
                <a:ea typeface="Aptos"/>
                <a:cs typeface="Aptos"/>
              </a:rPr>
              <a:t>single-level u10/SLP 已接入，pressure-level 环流仍是下一步。</a:t>
            </a:r>
          </a:p>
        </p:txBody>
      </p:sp>
      <p:sp>
        <p:nvSpPr>
          <p:cNvPr id="17" name="">
            <a:extLst xmlns:a="http://schemas.openxmlformats.org/drawingml/2006/main">
              <a:ext uri="{FF2B5EF4-FFF2-40B4-BE49-F238E27FC236}">
                <a16:creationId xmlns:a16="http://schemas.microsoft.com/office/drawing/2014/main" id="{10002B25-92BA-495D-902E-20F89DE5DB29}"/>
              </a:ext>
            </a:extLst>
          </p:cNvPr>
          <p:cNvSpPr>
            <a:spLocks xmlns:a="http://schemas.openxmlformats.org/drawingml/2006/main" noGrp="1"/>
          </p:cNvSpPr>
          <p:nvPr/>
        </p:nvSpPr>
        <p:spPr>
          <a:xfrm xmlns:a="http://schemas.openxmlformats.org/drawingml/2006/main">
            <a:off x="666750" y="2819400"/>
            <a:ext cx="1809750" cy="552450"/>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18" name="">
            <a:extLst xmlns:a="http://schemas.openxmlformats.org/drawingml/2006/main">
              <a:ext uri="{FF2B5EF4-FFF2-40B4-BE49-F238E27FC236}">
                <a16:creationId xmlns:a16="http://schemas.microsoft.com/office/drawing/2014/main" id="{CD00979D-1393-4016-BA41-B9A054B890B6}"/>
              </a:ext>
            </a:extLst>
          </p:cNvPr>
          <p:cNvSpPr>
            <a:spLocks xmlns:a="http://schemas.openxmlformats.org/drawingml/2006/main" noGrp="1"/>
          </p:cNvSpPr>
          <p:nvPr/>
        </p:nvSpPr>
        <p:spPr>
          <a:xfrm xmlns:a="http://schemas.openxmlformats.org/drawingml/2006/main">
            <a:off x="752475" y="2886075"/>
            <a:ext cx="16383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1D1B18"/>
                </a:solidFill>
                <a:latin typeface="Aptos"/>
                <a:ea typeface="Aptos"/>
                <a:cs typeface="Aptos"/>
              </a:defRPr>
            </a:pPr>
            <a:r>
              <a:rPr sz="945" b="0">
                <a:solidFill>
                  <a:srgbClr val="1D1B18"/>
                </a:solidFill>
                <a:latin typeface="Aptos"/>
                <a:ea typeface="Aptos"/>
                <a:cs typeface="Aptos"/>
              </a:rPr>
              <a:t>ERA5 AMJ/JJA 空间图</a:t>
            </a:r>
          </a:p>
        </p:txBody>
      </p:sp>
      <p:sp>
        <p:nvSpPr>
          <p:cNvPr id="19" name="">
            <a:extLst xmlns:a="http://schemas.openxmlformats.org/drawingml/2006/main">
              <a:ext uri="{FF2B5EF4-FFF2-40B4-BE49-F238E27FC236}">
                <a16:creationId xmlns:a16="http://schemas.microsoft.com/office/drawing/2014/main" id="{CFEDDFFB-D947-426C-92F1-A9B99A5BFC1A}"/>
              </a:ext>
            </a:extLst>
          </p:cNvPr>
          <p:cNvSpPr>
            <a:spLocks xmlns:a="http://schemas.openxmlformats.org/drawingml/2006/main" noGrp="1"/>
          </p:cNvSpPr>
          <p:nvPr/>
        </p:nvSpPr>
        <p:spPr>
          <a:xfrm xmlns:a="http://schemas.openxmlformats.org/drawingml/2006/main">
            <a:off x="2476500" y="2819400"/>
            <a:ext cx="4095750" cy="552450"/>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20" name="">
            <a:extLst xmlns:a="http://schemas.openxmlformats.org/drawingml/2006/main">
              <a:ext uri="{FF2B5EF4-FFF2-40B4-BE49-F238E27FC236}">
                <a16:creationId xmlns:a16="http://schemas.microsoft.com/office/drawing/2014/main" id="{27D99F23-3EFD-499C-954C-849F87388128}"/>
              </a:ext>
            </a:extLst>
          </p:cNvPr>
          <p:cNvSpPr>
            <a:spLocks xmlns:a="http://schemas.openxmlformats.org/drawingml/2006/main" noGrp="1"/>
          </p:cNvSpPr>
          <p:nvPr/>
        </p:nvSpPr>
        <p:spPr>
          <a:xfrm xmlns:a="http://schemas.openxmlformats.org/drawingml/2006/main">
            <a:off x="2562225" y="2886075"/>
            <a:ext cx="39243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1D1B18"/>
                </a:solidFill>
                <a:latin typeface="Aptos"/>
                <a:ea typeface="Aptos"/>
                <a:cs typeface="Aptos"/>
              </a:defRPr>
            </a:pPr>
            <a:r>
              <a:rPr sz="945" b="0">
                <a:solidFill>
                  <a:srgbClr val="1D1B18"/>
                </a:solidFill>
                <a:latin typeface="Aptos"/>
                <a:ea typeface="Aptos"/>
                <a:cs typeface="Aptos"/>
              </a:rPr>
              <a:t>替换 NCEP fallback 风压空间图。</a:t>
            </a:r>
          </a:p>
        </p:txBody>
      </p:sp>
      <p:sp>
        <p:nvSpPr>
          <p:cNvPr id="21" name="">
            <a:extLst xmlns:a="http://schemas.openxmlformats.org/drawingml/2006/main">
              <a:ext uri="{FF2B5EF4-FFF2-40B4-BE49-F238E27FC236}">
                <a16:creationId xmlns:a16="http://schemas.microsoft.com/office/drawing/2014/main" id="{3A7564DB-FF0A-4D66-9544-9ECC62E0C25C}"/>
              </a:ext>
            </a:extLst>
          </p:cNvPr>
          <p:cNvSpPr>
            <a:spLocks xmlns:a="http://schemas.openxmlformats.org/drawingml/2006/main" noGrp="1"/>
          </p:cNvSpPr>
          <p:nvPr/>
        </p:nvSpPr>
        <p:spPr>
          <a:xfrm xmlns:a="http://schemas.openxmlformats.org/drawingml/2006/main">
            <a:off x="6572250" y="2819400"/>
            <a:ext cx="4457700" cy="552450"/>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22" name="">
            <a:extLst xmlns:a="http://schemas.openxmlformats.org/drawingml/2006/main">
              <a:ext uri="{FF2B5EF4-FFF2-40B4-BE49-F238E27FC236}">
                <a16:creationId xmlns:a16="http://schemas.microsoft.com/office/drawing/2014/main" id="{FE3FE80D-9CC4-4AB5-909F-AE1FDEFD050A}"/>
              </a:ext>
            </a:extLst>
          </p:cNvPr>
          <p:cNvSpPr>
            <a:spLocks xmlns:a="http://schemas.openxmlformats.org/drawingml/2006/main" noGrp="1"/>
          </p:cNvSpPr>
          <p:nvPr/>
        </p:nvSpPr>
        <p:spPr>
          <a:xfrm xmlns:a="http://schemas.openxmlformats.org/drawingml/2006/main">
            <a:off x="6657975" y="2886075"/>
            <a:ext cx="428625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1D1B18"/>
                </a:solidFill>
                <a:latin typeface="Aptos"/>
                <a:ea typeface="Aptos"/>
                <a:cs typeface="Aptos"/>
              </a:defRPr>
            </a:pPr>
            <a:r>
              <a:rPr sz="945" b="0">
                <a:solidFill>
                  <a:srgbClr val="1D1B18"/>
                </a:solidFill>
                <a:latin typeface="Aptos"/>
                <a:ea typeface="Aptos"/>
                <a:cs typeface="Aptos"/>
              </a:rPr>
              <a:t>让发展季风压证据进入论文级资料链。</a:t>
            </a:r>
          </a:p>
        </p:txBody>
      </p:sp>
      <p:sp>
        <p:nvSpPr>
          <p:cNvPr id="23" name="">
            <a:extLst xmlns:a="http://schemas.openxmlformats.org/drawingml/2006/main">
              <a:ext uri="{FF2B5EF4-FFF2-40B4-BE49-F238E27FC236}">
                <a16:creationId xmlns:a16="http://schemas.microsoft.com/office/drawing/2014/main" id="{FEC95A53-E8C5-4BEB-B78B-A7DED4457A7B}"/>
              </a:ext>
            </a:extLst>
          </p:cNvPr>
          <p:cNvSpPr>
            <a:spLocks xmlns:a="http://schemas.openxmlformats.org/drawingml/2006/main" noGrp="1"/>
          </p:cNvSpPr>
          <p:nvPr/>
        </p:nvSpPr>
        <p:spPr>
          <a:xfrm xmlns:a="http://schemas.openxmlformats.org/drawingml/2006/main">
            <a:off x="666750" y="3371850"/>
            <a:ext cx="1809750" cy="552450"/>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24" name="">
            <a:extLst xmlns:a="http://schemas.openxmlformats.org/drawingml/2006/main">
              <a:ext uri="{FF2B5EF4-FFF2-40B4-BE49-F238E27FC236}">
                <a16:creationId xmlns:a16="http://schemas.microsoft.com/office/drawing/2014/main" id="{CB99A888-2F0F-4820-A662-B09683DC77F4}"/>
              </a:ext>
            </a:extLst>
          </p:cNvPr>
          <p:cNvSpPr>
            <a:spLocks xmlns:a="http://schemas.openxmlformats.org/drawingml/2006/main" noGrp="1"/>
          </p:cNvSpPr>
          <p:nvPr/>
        </p:nvSpPr>
        <p:spPr>
          <a:xfrm xmlns:a="http://schemas.openxmlformats.org/drawingml/2006/main">
            <a:off x="752475" y="3438525"/>
            <a:ext cx="16383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1D1B18"/>
                </a:solidFill>
                <a:latin typeface="Aptos"/>
                <a:ea typeface="Aptos"/>
                <a:cs typeface="Aptos"/>
              </a:defRPr>
            </a:pPr>
            <a:r>
              <a:rPr sz="945" b="0">
                <a:solidFill>
                  <a:srgbClr val="1D1B18"/>
                </a:solidFill>
                <a:latin typeface="Aptos"/>
                <a:ea typeface="Aptos"/>
                <a:cs typeface="Aptos"/>
              </a:rPr>
              <a:t>ERSSTv5 / detrended SST</a:t>
            </a:r>
          </a:p>
        </p:txBody>
      </p:sp>
      <p:sp>
        <p:nvSpPr>
          <p:cNvPr id="25" name="">
            <a:extLst xmlns:a="http://schemas.openxmlformats.org/drawingml/2006/main">
              <a:ext uri="{FF2B5EF4-FFF2-40B4-BE49-F238E27FC236}">
                <a16:creationId xmlns:a16="http://schemas.microsoft.com/office/drawing/2014/main" id="{DC9FA6EB-C648-4D3A-85FF-08942A1EA0AF}"/>
              </a:ext>
            </a:extLst>
          </p:cNvPr>
          <p:cNvSpPr>
            <a:spLocks xmlns:a="http://schemas.openxmlformats.org/drawingml/2006/main" noGrp="1"/>
          </p:cNvSpPr>
          <p:nvPr/>
        </p:nvSpPr>
        <p:spPr>
          <a:xfrm xmlns:a="http://schemas.openxmlformats.org/drawingml/2006/main">
            <a:off x="2476500" y="3371850"/>
            <a:ext cx="4095750" cy="552450"/>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26" name="">
            <a:extLst xmlns:a="http://schemas.openxmlformats.org/drawingml/2006/main">
              <a:ext uri="{FF2B5EF4-FFF2-40B4-BE49-F238E27FC236}">
                <a16:creationId xmlns:a16="http://schemas.microsoft.com/office/drawing/2014/main" id="{78531E10-8A2A-4C87-8A13-3A3175EA194F}"/>
              </a:ext>
            </a:extLst>
          </p:cNvPr>
          <p:cNvSpPr>
            <a:spLocks xmlns:a="http://schemas.openxmlformats.org/drawingml/2006/main" noGrp="1"/>
          </p:cNvSpPr>
          <p:nvPr/>
        </p:nvSpPr>
        <p:spPr>
          <a:xfrm xmlns:a="http://schemas.openxmlformats.org/drawingml/2006/main">
            <a:off x="2562225" y="3438525"/>
            <a:ext cx="39243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1D1B18"/>
                </a:solidFill>
                <a:latin typeface="Aptos"/>
                <a:ea typeface="Aptos"/>
                <a:cs typeface="Aptos"/>
              </a:defRPr>
            </a:pPr>
            <a:r>
              <a:rPr sz="945" b="0">
                <a:solidFill>
                  <a:srgbClr val="1D1B18"/>
                </a:solidFill>
                <a:latin typeface="Aptos"/>
                <a:ea typeface="Aptos"/>
                <a:cs typeface="Aptos"/>
              </a:rPr>
              <a:t>长记录与去趋势稳健性。</a:t>
            </a:r>
          </a:p>
        </p:txBody>
      </p:sp>
      <p:sp>
        <p:nvSpPr>
          <p:cNvPr id="27" name="">
            <a:extLst xmlns:a="http://schemas.openxmlformats.org/drawingml/2006/main">
              <a:ext uri="{FF2B5EF4-FFF2-40B4-BE49-F238E27FC236}">
                <a16:creationId xmlns:a16="http://schemas.microsoft.com/office/drawing/2014/main" id="{864D0D76-AE6D-4B06-8CA9-5D9EDEDD1BE5}"/>
              </a:ext>
            </a:extLst>
          </p:cNvPr>
          <p:cNvSpPr>
            <a:spLocks xmlns:a="http://schemas.openxmlformats.org/drawingml/2006/main" noGrp="1"/>
          </p:cNvSpPr>
          <p:nvPr/>
        </p:nvSpPr>
        <p:spPr>
          <a:xfrm xmlns:a="http://schemas.openxmlformats.org/drawingml/2006/main">
            <a:off x="6572250" y="3371850"/>
            <a:ext cx="4457700" cy="552450"/>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28" name="">
            <a:extLst xmlns:a="http://schemas.openxmlformats.org/drawingml/2006/main">
              <a:ext uri="{FF2B5EF4-FFF2-40B4-BE49-F238E27FC236}">
                <a16:creationId xmlns:a16="http://schemas.microsoft.com/office/drawing/2014/main" id="{5E6E38ED-2CCE-4757-8F87-219F24340CA8}"/>
              </a:ext>
            </a:extLst>
          </p:cNvPr>
          <p:cNvSpPr>
            <a:spLocks xmlns:a="http://schemas.openxmlformats.org/drawingml/2006/main" noGrp="1"/>
          </p:cNvSpPr>
          <p:nvPr/>
        </p:nvSpPr>
        <p:spPr>
          <a:xfrm xmlns:a="http://schemas.openxmlformats.org/drawingml/2006/main">
            <a:off x="6657975" y="3438525"/>
            <a:ext cx="428625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1D1B18"/>
                </a:solidFill>
                <a:latin typeface="Aptos"/>
                <a:ea typeface="Aptos"/>
                <a:cs typeface="Aptos"/>
              </a:defRPr>
            </a:pPr>
            <a:r>
              <a:rPr sz="945" b="0">
                <a:solidFill>
                  <a:srgbClr val="1D1B18"/>
                </a:solidFill>
                <a:latin typeface="Aptos"/>
                <a:ea typeface="Aptos"/>
                <a:cs typeface="Aptos"/>
              </a:rPr>
              <a:t>检查外海盆偏暖是否主要来自背景增暖趋势。</a:t>
            </a:r>
          </a:p>
        </p:txBody>
      </p:sp>
      <p:sp>
        <p:nvSpPr>
          <p:cNvPr id="29" name="">
            <a:extLst xmlns:a="http://schemas.openxmlformats.org/drawingml/2006/main">
              <a:ext uri="{FF2B5EF4-FFF2-40B4-BE49-F238E27FC236}">
                <a16:creationId xmlns:a16="http://schemas.microsoft.com/office/drawing/2014/main" id="{BC2A1492-0CD5-4F1A-A90C-140F95ABC1CC}"/>
              </a:ext>
            </a:extLst>
          </p:cNvPr>
          <p:cNvSpPr>
            <a:spLocks xmlns:a="http://schemas.openxmlformats.org/drawingml/2006/main" noGrp="1"/>
          </p:cNvSpPr>
          <p:nvPr/>
        </p:nvSpPr>
        <p:spPr>
          <a:xfrm xmlns:a="http://schemas.openxmlformats.org/drawingml/2006/main">
            <a:off x="666750" y="3924300"/>
            <a:ext cx="1809750" cy="552450"/>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30" name="">
            <a:extLst xmlns:a="http://schemas.openxmlformats.org/drawingml/2006/main">
              <a:ext uri="{FF2B5EF4-FFF2-40B4-BE49-F238E27FC236}">
                <a16:creationId xmlns:a16="http://schemas.microsoft.com/office/drawing/2014/main" id="{B7500C34-60BC-461C-BF77-9D15D896E326}"/>
              </a:ext>
            </a:extLst>
          </p:cNvPr>
          <p:cNvSpPr>
            <a:spLocks xmlns:a="http://schemas.openxmlformats.org/drawingml/2006/main" noGrp="1"/>
          </p:cNvSpPr>
          <p:nvPr/>
        </p:nvSpPr>
        <p:spPr>
          <a:xfrm xmlns:a="http://schemas.openxmlformats.org/drawingml/2006/main">
            <a:off x="752475" y="3990975"/>
            <a:ext cx="16383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1D1B18"/>
                </a:solidFill>
                <a:latin typeface="Aptos"/>
                <a:ea typeface="Aptos"/>
                <a:cs typeface="Aptos"/>
              </a:defRPr>
            </a:pPr>
            <a:r>
              <a:rPr sz="945" b="0">
                <a:solidFill>
                  <a:srgbClr val="1D1B18"/>
                </a:solidFill>
                <a:latin typeface="Aptos"/>
                <a:ea typeface="Aptos"/>
                <a:cs typeface="Aptos"/>
              </a:rPr>
              <a:t>MJO/RMM 或日资料</a:t>
            </a:r>
          </a:p>
        </p:txBody>
      </p:sp>
      <p:sp>
        <p:nvSpPr>
          <p:cNvPr id="31" name="">
            <a:extLst xmlns:a="http://schemas.openxmlformats.org/drawingml/2006/main">
              <a:ext uri="{FF2B5EF4-FFF2-40B4-BE49-F238E27FC236}">
                <a16:creationId xmlns:a16="http://schemas.microsoft.com/office/drawing/2014/main" id="{54E7F01C-9466-446B-989B-501CEBCE460C}"/>
              </a:ext>
            </a:extLst>
          </p:cNvPr>
          <p:cNvSpPr>
            <a:spLocks xmlns:a="http://schemas.openxmlformats.org/drawingml/2006/main" noGrp="1"/>
          </p:cNvSpPr>
          <p:nvPr/>
        </p:nvSpPr>
        <p:spPr>
          <a:xfrm xmlns:a="http://schemas.openxmlformats.org/drawingml/2006/main">
            <a:off x="2476500" y="3924300"/>
            <a:ext cx="4095750" cy="552450"/>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32" name="">
            <a:extLst xmlns:a="http://schemas.openxmlformats.org/drawingml/2006/main">
              <a:ext uri="{FF2B5EF4-FFF2-40B4-BE49-F238E27FC236}">
                <a16:creationId xmlns:a16="http://schemas.microsoft.com/office/drawing/2014/main" id="{EC81CBD2-7880-4617-BA7A-7BF563ABE9AE}"/>
              </a:ext>
            </a:extLst>
          </p:cNvPr>
          <p:cNvSpPr>
            <a:spLocks xmlns:a="http://schemas.openxmlformats.org/drawingml/2006/main" noGrp="1"/>
          </p:cNvSpPr>
          <p:nvPr/>
        </p:nvSpPr>
        <p:spPr>
          <a:xfrm xmlns:a="http://schemas.openxmlformats.org/drawingml/2006/main">
            <a:off x="2562225" y="3990975"/>
            <a:ext cx="39243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1D1B18"/>
                </a:solidFill>
                <a:latin typeface="Aptos"/>
                <a:ea typeface="Aptos"/>
                <a:cs typeface="Aptos"/>
              </a:defRPr>
            </a:pPr>
            <a:r>
              <a:rPr sz="945" b="0">
                <a:solidFill>
                  <a:srgbClr val="1D1B18"/>
                </a:solidFill>
                <a:latin typeface="Aptos"/>
                <a:ea typeface="Aptos"/>
                <a:cs typeface="Aptos"/>
              </a:rPr>
              <a:t>拆解 2024 年 1 月等关键月份。</a:t>
            </a:r>
          </a:p>
        </p:txBody>
      </p:sp>
      <p:sp>
        <p:nvSpPr>
          <p:cNvPr id="33" name="">
            <a:extLst xmlns:a="http://schemas.openxmlformats.org/drawingml/2006/main">
              <a:ext uri="{FF2B5EF4-FFF2-40B4-BE49-F238E27FC236}">
                <a16:creationId xmlns:a16="http://schemas.microsoft.com/office/drawing/2014/main" id="{DABC5CE6-B55E-4887-80D6-6EF3CB9C48B0}"/>
              </a:ext>
            </a:extLst>
          </p:cNvPr>
          <p:cNvSpPr>
            <a:spLocks xmlns:a="http://schemas.openxmlformats.org/drawingml/2006/main" noGrp="1"/>
          </p:cNvSpPr>
          <p:nvPr/>
        </p:nvSpPr>
        <p:spPr>
          <a:xfrm xmlns:a="http://schemas.openxmlformats.org/drawingml/2006/main">
            <a:off x="6572250" y="3924300"/>
            <a:ext cx="4457700" cy="552450"/>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34" name="">
            <a:extLst xmlns:a="http://schemas.openxmlformats.org/drawingml/2006/main">
              <a:ext uri="{FF2B5EF4-FFF2-40B4-BE49-F238E27FC236}">
                <a16:creationId xmlns:a16="http://schemas.microsoft.com/office/drawing/2014/main" id="{057C6A97-9D62-473B-884C-B621872E01D9}"/>
              </a:ext>
            </a:extLst>
          </p:cNvPr>
          <p:cNvSpPr>
            <a:spLocks xmlns:a="http://schemas.openxmlformats.org/drawingml/2006/main" noGrp="1"/>
          </p:cNvSpPr>
          <p:nvPr/>
        </p:nvSpPr>
        <p:spPr>
          <a:xfrm xmlns:a="http://schemas.openxmlformats.org/drawingml/2006/main">
            <a:off x="6657975" y="3990975"/>
            <a:ext cx="428625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1D1B18"/>
                </a:solidFill>
                <a:latin typeface="Aptos"/>
                <a:ea typeface="Aptos"/>
                <a:cs typeface="Aptos"/>
              </a:defRPr>
            </a:pPr>
            <a:r>
              <a:rPr sz="945" b="0">
                <a:solidFill>
                  <a:srgbClr val="1D1B18"/>
                </a:solidFill>
                <a:latin typeface="Aptos"/>
                <a:ea typeface="Aptos"/>
                <a:cs typeface="Aptos"/>
              </a:rPr>
              <a:t>区分 ENSO 背景、MJO 和趋势影响。</a:t>
            </a:r>
          </a:p>
        </p:txBody>
      </p:sp>
      <p:sp>
        <p:nvSpPr>
          <p:cNvPr id="35" name="">
            <a:extLst xmlns:a="http://schemas.openxmlformats.org/drawingml/2006/main">
              <a:ext uri="{FF2B5EF4-FFF2-40B4-BE49-F238E27FC236}">
                <a16:creationId xmlns:a16="http://schemas.microsoft.com/office/drawing/2014/main" id="{DEAA9556-1046-48B0-A5B4-6DC7DA5FA157}"/>
              </a:ext>
            </a:extLst>
          </p:cNvPr>
          <p:cNvSpPr>
            <a:spLocks xmlns:a="http://schemas.openxmlformats.org/drawingml/2006/main" noGrp="1"/>
          </p:cNvSpPr>
          <p:nvPr/>
        </p:nvSpPr>
        <p:spPr>
          <a:xfrm xmlns:a="http://schemas.openxmlformats.org/drawingml/2006/main">
            <a:off x="723900" y="5162550"/>
            <a:ext cx="9906000" cy="1009650"/>
          </a:xfrm>
          <a:prstGeom xmlns:a="http://schemas.openxmlformats.org/drawingml/2006/main" prst="rect">
            <a:avLst/>
          </a:prstGeom>
          <a:solidFill xmlns:a="http://schemas.openxmlformats.org/drawingml/2006/main">
            <a:srgbClr val="EDF3EF"/>
          </a:solidFill>
          <a:ln xmlns:a="http://schemas.openxmlformats.org/drawingml/2006/main" w="7620">
            <a:solidFill>
              <a:srgbClr val="D8D1C4"/>
            </a:solidFill>
            <a:prstDash val="solid"/>
          </a:ln>
        </p:spPr>
      </p:sp>
      <p:sp>
        <p:nvSpPr>
          <p:cNvPr id="36" name="">
            <a:extLst xmlns:a="http://schemas.openxmlformats.org/drawingml/2006/main">
              <a:ext uri="{FF2B5EF4-FFF2-40B4-BE49-F238E27FC236}">
                <a16:creationId xmlns:a16="http://schemas.microsoft.com/office/drawing/2014/main" id="{B04A0800-0B68-4289-ACD9-3905847B8FF3}"/>
              </a:ext>
            </a:extLst>
          </p:cNvPr>
          <p:cNvSpPr>
            <a:spLocks xmlns:a="http://schemas.openxmlformats.org/drawingml/2006/main" noGrp="1"/>
          </p:cNvSpPr>
          <p:nvPr/>
        </p:nvSpPr>
        <p:spPr>
          <a:xfrm xmlns:a="http://schemas.openxmlformats.org/drawingml/2006/main">
            <a:off x="857250" y="5276850"/>
            <a:ext cx="96393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2F6F73"/>
                </a:solidFill>
                <a:latin typeface="Aptos"/>
                <a:ea typeface="Aptos"/>
                <a:cs typeface="Aptos"/>
              </a:defRPr>
            </a:pPr>
            <a:r>
              <a:rPr sz="1050" b="1">
                <a:solidFill>
                  <a:srgbClr val="2F6F73"/>
                </a:solidFill>
                <a:latin typeface="Aptos"/>
                <a:ea typeface="Aptos"/>
                <a:cs typeface="Aptos"/>
              </a:rPr>
              <a:t>Reading note</a:t>
            </a:r>
          </a:p>
        </p:txBody>
      </p:sp>
      <p:sp>
        <p:nvSpPr>
          <p:cNvPr id="37" name="">
            <a:extLst xmlns:a="http://schemas.openxmlformats.org/drawingml/2006/main">
              <a:ext uri="{FF2B5EF4-FFF2-40B4-BE49-F238E27FC236}">
                <a16:creationId xmlns:a16="http://schemas.microsoft.com/office/drawing/2014/main" id="{304FD16A-39EC-4F15-83A4-4460039428AA}"/>
              </a:ext>
            </a:extLst>
          </p:cNvPr>
          <p:cNvSpPr>
            <a:spLocks xmlns:a="http://schemas.openxmlformats.org/drawingml/2006/main" noGrp="1"/>
          </p:cNvSpPr>
          <p:nvPr/>
        </p:nvSpPr>
        <p:spPr>
          <a:xfrm xmlns:a="http://schemas.openxmlformats.org/drawingml/2006/main">
            <a:off x="857250" y="5562600"/>
            <a:ext cx="9639300" cy="533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88" b="0">
                <a:solidFill>
                  <a:srgbClr val="1D1B18"/>
                </a:solidFill>
                <a:latin typeface="Aptos"/>
                <a:ea typeface="Aptos"/>
                <a:cs typeface="Aptos"/>
              </a:defRPr>
            </a:pPr>
            <a:r>
              <a:rPr sz="1088" b="0">
                <a:solidFill>
                  <a:srgbClr val="1D1B18"/>
                </a:solidFill>
                <a:latin typeface="Aptos"/>
                <a:ea typeface="Aptos"/>
                <a:cs typeface="Aptos"/>
              </a:rPr>
              <a:t>短期优先级是把 ERA5 AMJ/JJA 风压空间图和 pressure-level Walker 环流补齐。AGCM 仍作为后续机制归因预案，而不是当前汇报的必要前提。</a:t>
            </a:r>
          </a:p>
        </p:txBody>
      </p:sp>
      <p:sp>
        <p:nvSpPr>
          <p:cNvPr id="38" name="">
            <a:extLst xmlns:a="http://schemas.openxmlformats.org/drawingml/2006/main">
              <a:ext uri="{FF2B5EF4-FFF2-40B4-BE49-F238E27FC236}">
                <a16:creationId xmlns:a16="http://schemas.microsoft.com/office/drawing/2014/main" id="{0372EEE0-343F-4FBC-9292-021CB0E69C83}"/>
              </a:ext>
            </a:extLst>
          </p:cNvPr>
          <p:cNvSpPr>
            <a:spLocks xmlns:a="http://schemas.openxmlformats.org/drawingml/2006/main" noGrp="1"/>
          </p:cNvSpPr>
          <p:nvPr/>
        </p:nvSpPr>
        <p:spPr>
          <a:xfrm xmlns:a="http://schemas.openxmlformats.org/drawingml/2006/main">
            <a:off x="552450" y="6477000"/>
            <a:ext cx="106680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5D574F"/>
                </a:solidFill>
                <a:latin typeface="Aptos"/>
                <a:ea typeface="Aptos"/>
                <a:cs typeface="Aptos"/>
              </a:defRPr>
            </a:pPr>
            <a:r>
              <a:rPr sz="788" b="0">
                <a:solidFill>
                  <a:srgbClr val="5D574F"/>
                </a:solidFill>
                <a:latin typeface="Aptos"/>
                <a:ea typeface="Aptos"/>
                <a:cs typeface="Aptos"/>
              </a:rPr>
              <a:t>Data priorities from reports/当前数据分析阶段总结.md.</a:t>
            </a:r>
          </a:p>
        </p:txBody>
      </p:sp>
    </p:spTree>
    <p:extLst>
      <p:ext uri="{BB962C8B-B14F-4D97-AF65-F5344CB8AC3E}">
        <p14:creationId xmlns:p14="http://schemas.microsoft.com/office/powerpoint/2010/main" val="1594150851"/>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8F6B5748-C339-40C7-8345-48EA3B5746A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3EA"/>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75813E89-071C-4249-A484-6210CED774EB}"/>
              </a:ext>
            </a:extLst>
          </p:cNvPr>
          <p:cNvSpPr>
            <a:spLocks xmlns:a="http://schemas.openxmlformats.org/drawingml/2006/main" noGrp="1"/>
          </p:cNvSpPr>
          <p:nvPr/>
        </p:nvSpPr>
        <p:spPr>
          <a:xfrm xmlns:a="http://schemas.openxmlformats.org/drawingml/2006/main">
            <a:off x="552450" y="285750"/>
            <a:ext cx="3429000" cy="23812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CC5A43"/>
                </a:solidFill>
                <a:latin typeface="Aptos"/>
                <a:ea typeface="Aptos"/>
                <a:cs typeface="Aptos"/>
              </a:defRPr>
            </a:pPr>
            <a:r>
              <a:rPr sz="1050" b="1">
                <a:solidFill>
                  <a:srgbClr val="CC5A43"/>
                </a:solidFill>
                <a:latin typeface="Aptos"/>
                <a:ea typeface="Aptos"/>
                <a:cs typeface="Aptos"/>
              </a:rPr>
              <a:t>附录 A</a:t>
            </a:r>
          </a:p>
        </p:txBody>
      </p:sp>
      <p:sp>
        <p:nvSpPr>
          <p:cNvPr id="3" name="">
            <a:extLst xmlns:a="http://schemas.openxmlformats.org/drawingml/2006/main">
              <a:ext uri="{FF2B5EF4-FFF2-40B4-BE49-F238E27FC236}">
                <a16:creationId xmlns:a16="http://schemas.microsoft.com/office/drawing/2014/main" id="{F1055C6B-2966-4F7C-B8E6-2CD942D195D0}"/>
              </a:ext>
            </a:extLst>
          </p:cNvPr>
          <p:cNvSpPr>
            <a:spLocks xmlns:a="http://schemas.openxmlformats.org/drawingml/2006/main" noGrp="1"/>
          </p:cNvSpPr>
          <p:nvPr/>
        </p:nvSpPr>
        <p:spPr>
          <a:xfrm xmlns:a="http://schemas.openxmlformats.org/drawingml/2006/main">
            <a:off x="552450" y="609600"/>
            <a:ext cx="104775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175" b="1">
                <a:solidFill>
                  <a:srgbClr val="1D1B18"/>
                </a:solidFill>
                <a:latin typeface="Aptos Display"/>
                <a:ea typeface="Aptos Display"/>
                <a:cs typeface="Aptos Display"/>
              </a:defRPr>
            </a:pPr>
            <a:r>
              <a:rPr sz="2175" b="1">
                <a:solidFill>
                  <a:srgbClr val="1D1B18"/>
                </a:solidFill>
                <a:latin typeface="Aptos Display"/>
                <a:ea typeface="Aptos Display"/>
                <a:cs typeface="Aptos Display"/>
              </a:rPr>
              <a:t>每页图对应的数据表</a:t>
            </a:r>
          </a:p>
        </p:txBody>
      </p:sp>
      <p:sp>
        <p:nvSpPr>
          <p:cNvPr id="4" name="">
            <a:extLst xmlns:a="http://schemas.openxmlformats.org/drawingml/2006/main">
              <a:ext uri="{FF2B5EF4-FFF2-40B4-BE49-F238E27FC236}">
                <a16:creationId xmlns:a16="http://schemas.microsoft.com/office/drawing/2014/main" id="{B3F1589D-8E25-416B-A709-AF45C6656EF2}"/>
              </a:ext>
            </a:extLst>
          </p:cNvPr>
          <p:cNvSpPr>
            <a:spLocks xmlns:a="http://schemas.openxmlformats.org/drawingml/2006/main" noGrp="1"/>
          </p:cNvSpPr>
          <p:nvPr/>
        </p:nvSpPr>
        <p:spPr>
          <a:xfrm xmlns:a="http://schemas.openxmlformats.org/drawingml/2006/main">
            <a:off x="552450" y="1409700"/>
            <a:ext cx="10763250" cy="14288"/>
          </a:xfrm>
          <a:prstGeom xmlns:a="http://schemas.openxmlformats.org/drawingml/2006/main" prst="rect">
            <a:avLst/>
          </a:prstGeom>
          <a:solidFill xmlns:a="http://schemas.openxmlformats.org/drawingml/2006/main">
            <a:srgbClr val="D8D1C4"/>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6E195EA2-BA09-49FA-8C1D-45CEB12AC4B6}"/>
              </a:ext>
            </a:extLst>
          </p:cNvPr>
          <p:cNvSpPr>
            <a:spLocks xmlns:a="http://schemas.openxmlformats.org/drawingml/2006/main" noGrp="1"/>
          </p:cNvSpPr>
          <p:nvPr/>
        </p:nvSpPr>
        <p:spPr>
          <a:xfrm xmlns:a="http://schemas.openxmlformats.org/drawingml/2006/main">
            <a:off x="666750" y="1676400"/>
            <a:ext cx="1619250" cy="457200"/>
          </a:xfrm>
          <a:prstGeom xmlns:a="http://schemas.openxmlformats.org/drawingml/2006/main" prst="rect">
            <a:avLst/>
          </a:prstGeom>
          <a:solidFill xmlns:a="http://schemas.openxmlformats.org/drawingml/2006/main">
            <a:srgbClr val="1D1B18"/>
          </a:solidFill>
          <a:ln xmlns:a="http://schemas.openxmlformats.org/drawingml/2006/main" w="6668">
            <a:solidFill>
              <a:srgbClr val="D8D1C4"/>
            </a:solidFill>
            <a:prstDash val="solid"/>
          </a:ln>
        </p:spPr>
      </p:sp>
      <p:sp>
        <p:nvSpPr>
          <p:cNvPr id="6" name="">
            <a:extLst xmlns:a="http://schemas.openxmlformats.org/drawingml/2006/main">
              <a:ext uri="{FF2B5EF4-FFF2-40B4-BE49-F238E27FC236}">
                <a16:creationId xmlns:a16="http://schemas.microsoft.com/office/drawing/2014/main" id="{8F2A3538-76D6-4A18-B4B8-0C445E42C401}"/>
              </a:ext>
            </a:extLst>
          </p:cNvPr>
          <p:cNvSpPr>
            <a:spLocks xmlns:a="http://schemas.openxmlformats.org/drawingml/2006/main" noGrp="1"/>
          </p:cNvSpPr>
          <p:nvPr/>
        </p:nvSpPr>
        <p:spPr>
          <a:xfrm xmlns:a="http://schemas.openxmlformats.org/drawingml/2006/main">
            <a:off x="752475" y="1743075"/>
            <a:ext cx="14478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FFFFFF"/>
                </a:solidFill>
                <a:latin typeface="Aptos"/>
                <a:ea typeface="Aptos"/>
                <a:cs typeface="Aptos"/>
              </a:defRPr>
            </a:pPr>
            <a:r>
              <a:rPr sz="900" b="1">
                <a:solidFill>
                  <a:srgbClr val="FFFFFF"/>
                </a:solidFill>
                <a:latin typeface="Aptos"/>
                <a:ea typeface="Aptos"/>
                <a:cs typeface="Aptos"/>
              </a:rPr>
              <a:t>页码</a:t>
            </a:r>
          </a:p>
        </p:txBody>
      </p:sp>
      <p:sp>
        <p:nvSpPr>
          <p:cNvPr id="7" name="">
            <a:extLst xmlns:a="http://schemas.openxmlformats.org/drawingml/2006/main">
              <a:ext uri="{FF2B5EF4-FFF2-40B4-BE49-F238E27FC236}">
                <a16:creationId xmlns:a16="http://schemas.microsoft.com/office/drawing/2014/main" id="{E7A89FA1-BD88-4F10-B130-A3EFDEF517B6}"/>
              </a:ext>
            </a:extLst>
          </p:cNvPr>
          <p:cNvSpPr>
            <a:spLocks xmlns:a="http://schemas.openxmlformats.org/drawingml/2006/main" noGrp="1"/>
          </p:cNvSpPr>
          <p:nvPr/>
        </p:nvSpPr>
        <p:spPr>
          <a:xfrm xmlns:a="http://schemas.openxmlformats.org/drawingml/2006/main">
            <a:off x="2286000" y="1676400"/>
            <a:ext cx="3714750" cy="457200"/>
          </a:xfrm>
          <a:prstGeom xmlns:a="http://schemas.openxmlformats.org/drawingml/2006/main" prst="rect">
            <a:avLst/>
          </a:prstGeom>
          <a:solidFill xmlns:a="http://schemas.openxmlformats.org/drawingml/2006/main">
            <a:srgbClr val="1D1B18"/>
          </a:solidFill>
          <a:ln xmlns:a="http://schemas.openxmlformats.org/drawingml/2006/main" w="6668">
            <a:solidFill>
              <a:srgbClr val="D8D1C4"/>
            </a:solidFill>
            <a:prstDash val="solid"/>
          </a:ln>
        </p:spPr>
      </p:sp>
      <p:sp>
        <p:nvSpPr>
          <p:cNvPr id="8" name="">
            <a:extLst xmlns:a="http://schemas.openxmlformats.org/drawingml/2006/main">
              <a:ext uri="{FF2B5EF4-FFF2-40B4-BE49-F238E27FC236}">
                <a16:creationId xmlns:a16="http://schemas.microsoft.com/office/drawing/2014/main" id="{24FEAC0E-3FE2-4E36-889F-BB8FD8F38991}"/>
              </a:ext>
            </a:extLst>
          </p:cNvPr>
          <p:cNvSpPr>
            <a:spLocks xmlns:a="http://schemas.openxmlformats.org/drawingml/2006/main" noGrp="1"/>
          </p:cNvSpPr>
          <p:nvPr/>
        </p:nvSpPr>
        <p:spPr>
          <a:xfrm xmlns:a="http://schemas.openxmlformats.org/drawingml/2006/main">
            <a:off x="2371725" y="1743075"/>
            <a:ext cx="35433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FFFFFF"/>
                </a:solidFill>
                <a:latin typeface="Aptos"/>
                <a:ea typeface="Aptos"/>
                <a:cs typeface="Aptos"/>
              </a:defRPr>
            </a:pPr>
            <a:r>
              <a:rPr sz="900" b="1">
                <a:solidFill>
                  <a:srgbClr val="FFFFFF"/>
                </a:solidFill>
                <a:latin typeface="Aptos"/>
                <a:ea typeface="Aptos"/>
                <a:cs typeface="Aptos"/>
              </a:rPr>
              <a:t>图/内容</a:t>
            </a:r>
          </a:p>
        </p:txBody>
      </p:sp>
      <p:sp>
        <p:nvSpPr>
          <p:cNvPr id="9" name="">
            <a:extLst xmlns:a="http://schemas.openxmlformats.org/drawingml/2006/main">
              <a:ext uri="{FF2B5EF4-FFF2-40B4-BE49-F238E27FC236}">
                <a16:creationId xmlns:a16="http://schemas.microsoft.com/office/drawing/2014/main" id="{E9DBDCC0-BCB1-46F2-9375-7117EB3E84F0}"/>
              </a:ext>
            </a:extLst>
          </p:cNvPr>
          <p:cNvSpPr>
            <a:spLocks xmlns:a="http://schemas.openxmlformats.org/drawingml/2006/main" noGrp="1"/>
          </p:cNvSpPr>
          <p:nvPr/>
        </p:nvSpPr>
        <p:spPr>
          <a:xfrm xmlns:a="http://schemas.openxmlformats.org/drawingml/2006/main">
            <a:off x="6000750" y="1676400"/>
            <a:ext cx="5029200" cy="457200"/>
          </a:xfrm>
          <a:prstGeom xmlns:a="http://schemas.openxmlformats.org/drawingml/2006/main" prst="rect">
            <a:avLst/>
          </a:prstGeom>
          <a:solidFill xmlns:a="http://schemas.openxmlformats.org/drawingml/2006/main">
            <a:srgbClr val="1D1B18"/>
          </a:solidFill>
          <a:ln xmlns:a="http://schemas.openxmlformats.org/drawingml/2006/main" w="6668">
            <a:solidFill>
              <a:srgbClr val="D8D1C4"/>
            </a:solidFill>
            <a:prstDash val="solid"/>
          </a:ln>
        </p:spPr>
      </p:sp>
      <p:sp>
        <p:nvSpPr>
          <p:cNvPr id="10" name="">
            <a:extLst xmlns:a="http://schemas.openxmlformats.org/drawingml/2006/main">
              <a:ext uri="{FF2B5EF4-FFF2-40B4-BE49-F238E27FC236}">
                <a16:creationId xmlns:a16="http://schemas.microsoft.com/office/drawing/2014/main" id="{0496C372-3A4B-4A55-8491-CB37B3E2F6F3}"/>
              </a:ext>
            </a:extLst>
          </p:cNvPr>
          <p:cNvSpPr>
            <a:spLocks xmlns:a="http://schemas.openxmlformats.org/drawingml/2006/main" noGrp="1"/>
          </p:cNvSpPr>
          <p:nvPr/>
        </p:nvSpPr>
        <p:spPr>
          <a:xfrm xmlns:a="http://schemas.openxmlformats.org/drawingml/2006/main">
            <a:off x="6086475" y="1743075"/>
            <a:ext cx="485775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FFFFFF"/>
                </a:solidFill>
                <a:latin typeface="Aptos"/>
                <a:ea typeface="Aptos"/>
                <a:cs typeface="Aptos"/>
              </a:defRPr>
            </a:pPr>
            <a:r>
              <a:rPr sz="900" b="1">
                <a:solidFill>
                  <a:srgbClr val="FFFFFF"/>
                </a:solidFill>
                <a:latin typeface="Aptos"/>
                <a:ea typeface="Aptos"/>
                <a:cs typeface="Aptos"/>
              </a:rPr>
              <a:t>数据表</a:t>
            </a:r>
          </a:p>
        </p:txBody>
      </p:sp>
      <p:sp>
        <p:nvSpPr>
          <p:cNvPr id="11" name="">
            <a:extLst xmlns:a="http://schemas.openxmlformats.org/drawingml/2006/main">
              <a:ext uri="{FF2B5EF4-FFF2-40B4-BE49-F238E27FC236}">
                <a16:creationId xmlns:a16="http://schemas.microsoft.com/office/drawing/2014/main" id="{8BA9D5B0-DB68-4B67-885D-F9678E813AF0}"/>
              </a:ext>
            </a:extLst>
          </p:cNvPr>
          <p:cNvSpPr>
            <a:spLocks xmlns:a="http://schemas.openxmlformats.org/drawingml/2006/main" noGrp="1"/>
          </p:cNvSpPr>
          <p:nvPr/>
        </p:nvSpPr>
        <p:spPr>
          <a:xfrm xmlns:a="http://schemas.openxmlformats.org/drawingml/2006/main">
            <a:off x="666750" y="2133600"/>
            <a:ext cx="1619250" cy="457200"/>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12" name="">
            <a:extLst xmlns:a="http://schemas.openxmlformats.org/drawingml/2006/main">
              <a:ext uri="{FF2B5EF4-FFF2-40B4-BE49-F238E27FC236}">
                <a16:creationId xmlns:a16="http://schemas.microsoft.com/office/drawing/2014/main" id="{DEC789AF-2381-4B86-BC45-C5C6E9383619}"/>
              </a:ext>
            </a:extLst>
          </p:cNvPr>
          <p:cNvSpPr>
            <a:spLocks xmlns:a="http://schemas.openxmlformats.org/drawingml/2006/main" noGrp="1"/>
          </p:cNvSpPr>
          <p:nvPr/>
        </p:nvSpPr>
        <p:spPr>
          <a:xfrm xmlns:a="http://schemas.openxmlformats.org/drawingml/2006/main">
            <a:off x="752475" y="2200275"/>
            <a:ext cx="14478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1D1B18"/>
                </a:solidFill>
                <a:latin typeface="Aptos"/>
                <a:ea typeface="Aptos"/>
                <a:cs typeface="Aptos"/>
              </a:defRPr>
            </a:pPr>
            <a:r>
              <a:rPr sz="900" b="0">
                <a:solidFill>
                  <a:srgbClr val="1D1B18"/>
                </a:solidFill>
                <a:latin typeface="Aptos"/>
                <a:ea typeface="Aptos"/>
                <a:cs typeface="Aptos"/>
              </a:rPr>
              <a:t>6-7</a:t>
            </a:r>
          </a:p>
        </p:txBody>
      </p:sp>
      <p:sp>
        <p:nvSpPr>
          <p:cNvPr id="13" name="">
            <a:extLst xmlns:a="http://schemas.openxmlformats.org/drawingml/2006/main">
              <a:ext uri="{FF2B5EF4-FFF2-40B4-BE49-F238E27FC236}">
                <a16:creationId xmlns:a16="http://schemas.microsoft.com/office/drawing/2014/main" id="{45680642-E84A-4DC2-8307-2805ADD28319}"/>
              </a:ext>
            </a:extLst>
          </p:cNvPr>
          <p:cNvSpPr>
            <a:spLocks xmlns:a="http://schemas.openxmlformats.org/drawingml/2006/main" noGrp="1"/>
          </p:cNvSpPr>
          <p:nvPr/>
        </p:nvSpPr>
        <p:spPr>
          <a:xfrm xmlns:a="http://schemas.openxmlformats.org/drawingml/2006/main">
            <a:off x="2286000" y="2133600"/>
            <a:ext cx="3714750" cy="457200"/>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14" name="">
            <a:extLst xmlns:a="http://schemas.openxmlformats.org/drawingml/2006/main">
              <a:ext uri="{FF2B5EF4-FFF2-40B4-BE49-F238E27FC236}">
                <a16:creationId xmlns:a16="http://schemas.microsoft.com/office/drawing/2014/main" id="{FDD91DAD-5821-4B18-B828-9BA548F27801}"/>
              </a:ext>
            </a:extLst>
          </p:cNvPr>
          <p:cNvSpPr>
            <a:spLocks xmlns:a="http://schemas.openxmlformats.org/drawingml/2006/main" noGrp="1"/>
          </p:cNvSpPr>
          <p:nvPr/>
        </p:nvSpPr>
        <p:spPr>
          <a:xfrm xmlns:a="http://schemas.openxmlformats.org/drawingml/2006/main">
            <a:off x="2371725" y="2200275"/>
            <a:ext cx="35433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1D1B18"/>
                </a:solidFill>
                <a:latin typeface="Aptos"/>
                <a:ea typeface="Aptos"/>
                <a:cs typeface="Aptos"/>
              </a:defRPr>
            </a:pPr>
            <a:r>
              <a:rPr sz="900" b="0">
                <a:solidFill>
                  <a:srgbClr val="1D1B18"/>
                </a:solidFill>
                <a:latin typeface="Aptos"/>
                <a:ea typeface="Aptos"/>
                <a:cs typeface="Aptos"/>
              </a:rPr>
              <a:t>原文 Fig. 1 与耦合响应比</a:t>
            </a:r>
          </a:p>
        </p:txBody>
      </p:sp>
      <p:sp>
        <p:nvSpPr>
          <p:cNvPr id="15" name="">
            <a:extLst xmlns:a="http://schemas.openxmlformats.org/drawingml/2006/main">
              <a:ext uri="{FF2B5EF4-FFF2-40B4-BE49-F238E27FC236}">
                <a16:creationId xmlns:a16="http://schemas.microsoft.com/office/drawing/2014/main" id="{9A4CB013-3716-4294-A880-EF14FBA1AC00}"/>
              </a:ext>
            </a:extLst>
          </p:cNvPr>
          <p:cNvSpPr>
            <a:spLocks xmlns:a="http://schemas.openxmlformats.org/drawingml/2006/main" noGrp="1"/>
          </p:cNvSpPr>
          <p:nvPr/>
        </p:nvSpPr>
        <p:spPr>
          <a:xfrm xmlns:a="http://schemas.openxmlformats.org/drawingml/2006/main">
            <a:off x="6000750" y="2133600"/>
            <a:ext cx="5029200" cy="457200"/>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16" name="">
            <a:extLst xmlns:a="http://schemas.openxmlformats.org/drawingml/2006/main">
              <a:ext uri="{FF2B5EF4-FFF2-40B4-BE49-F238E27FC236}">
                <a16:creationId xmlns:a16="http://schemas.microsoft.com/office/drawing/2014/main" id="{E861DB05-8892-4846-BAEC-FCC87E000899}"/>
              </a:ext>
            </a:extLst>
          </p:cNvPr>
          <p:cNvSpPr>
            <a:spLocks xmlns:a="http://schemas.openxmlformats.org/drawingml/2006/main" noGrp="1"/>
          </p:cNvSpPr>
          <p:nvPr/>
        </p:nvSpPr>
        <p:spPr>
          <a:xfrm xmlns:a="http://schemas.openxmlformats.org/drawingml/2006/main">
            <a:off x="6086475" y="2200275"/>
            <a:ext cx="485775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1D1B18"/>
                </a:solidFill>
                <a:latin typeface="Aptos"/>
                <a:ea typeface="Aptos"/>
                <a:cs typeface="Aptos"/>
              </a:defRPr>
            </a:pPr>
            <a:r>
              <a:rPr sz="900" b="0">
                <a:solidFill>
                  <a:srgbClr val="1D1B18"/>
                </a:solidFill>
                <a:latin typeface="Aptos"/>
                <a:ea typeface="Aptos"/>
                <a:cs typeface="Aptos"/>
              </a:rPr>
              <a:t>fig1_event_coupling.csv</a:t>
            </a:r>
          </a:p>
        </p:txBody>
      </p:sp>
      <p:sp>
        <p:nvSpPr>
          <p:cNvPr id="17" name="">
            <a:extLst xmlns:a="http://schemas.openxmlformats.org/drawingml/2006/main">
              <a:ext uri="{FF2B5EF4-FFF2-40B4-BE49-F238E27FC236}">
                <a16:creationId xmlns:a16="http://schemas.microsoft.com/office/drawing/2014/main" id="{B45CB165-2C9F-4FF3-995F-2D52AC7E09D6}"/>
              </a:ext>
            </a:extLst>
          </p:cNvPr>
          <p:cNvSpPr>
            <a:spLocks xmlns:a="http://schemas.openxmlformats.org/drawingml/2006/main" noGrp="1"/>
          </p:cNvSpPr>
          <p:nvPr/>
        </p:nvSpPr>
        <p:spPr>
          <a:xfrm xmlns:a="http://schemas.openxmlformats.org/drawingml/2006/main">
            <a:off x="666750" y="2590800"/>
            <a:ext cx="1619250" cy="457200"/>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18" name="">
            <a:extLst xmlns:a="http://schemas.openxmlformats.org/drawingml/2006/main">
              <a:ext uri="{FF2B5EF4-FFF2-40B4-BE49-F238E27FC236}">
                <a16:creationId xmlns:a16="http://schemas.microsoft.com/office/drawing/2014/main" id="{8403F269-E69D-4B99-81FF-50EC96581257}"/>
              </a:ext>
            </a:extLst>
          </p:cNvPr>
          <p:cNvSpPr>
            <a:spLocks xmlns:a="http://schemas.openxmlformats.org/drawingml/2006/main" noGrp="1"/>
          </p:cNvSpPr>
          <p:nvPr/>
        </p:nvSpPr>
        <p:spPr>
          <a:xfrm xmlns:a="http://schemas.openxmlformats.org/drawingml/2006/main">
            <a:off x="752475" y="2657475"/>
            <a:ext cx="14478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1D1B18"/>
                </a:solidFill>
                <a:latin typeface="Aptos"/>
                <a:ea typeface="Aptos"/>
                <a:cs typeface="Aptos"/>
              </a:defRPr>
            </a:pPr>
            <a:r>
              <a:rPr sz="900" b="0">
                <a:solidFill>
                  <a:srgbClr val="1D1B18"/>
                </a:solidFill>
                <a:latin typeface="Aptos"/>
                <a:ea typeface="Aptos"/>
                <a:cs typeface="Aptos"/>
              </a:rPr>
              <a:t>8</a:t>
            </a:r>
          </a:p>
        </p:txBody>
      </p:sp>
      <p:sp>
        <p:nvSpPr>
          <p:cNvPr id="19" name="">
            <a:extLst xmlns:a="http://schemas.openxmlformats.org/drawingml/2006/main">
              <a:ext uri="{FF2B5EF4-FFF2-40B4-BE49-F238E27FC236}">
                <a16:creationId xmlns:a16="http://schemas.microsoft.com/office/drawing/2014/main" id="{652ED8B1-5885-4880-8A68-F1282D606F61}"/>
              </a:ext>
            </a:extLst>
          </p:cNvPr>
          <p:cNvSpPr>
            <a:spLocks xmlns:a="http://schemas.openxmlformats.org/drawingml/2006/main" noGrp="1"/>
          </p:cNvSpPr>
          <p:nvPr/>
        </p:nvSpPr>
        <p:spPr>
          <a:xfrm xmlns:a="http://schemas.openxmlformats.org/drawingml/2006/main">
            <a:off x="2286000" y="2590800"/>
            <a:ext cx="3714750" cy="457200"/>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20" name="">
            <a:extLst xmlns:a="http://schemas.openxmlformats.org/drawingml/2006/main">
              <a:ext uri="{FF2B5EF4-FFF2-40B4-BE49-F238E27FC236}">
                <a16:creationId xmlns:a16="http://schemas.microsoft.com/office/drawing/2014/main" id="{673925B2-45C0-4E94-8C39-99922BD41011}"/>
              </a:ext>
            </a:extLst>
          </p:cNvPr>
          <p:cNvSpPr>
            <a:spLocks xmlns:a="http://schemas.openxmlformats.org/drawingml/2006/main" noGrp="1"/>
          </p:cNvSpPr>
          <p:nvPr/>
        </p:nvSpPr>
        <p:spPr>
          <a:xfrm xmlns:a="http://schemas.openxmlformats.org/drawingml/2006/main">
            <a:off x="2371725" y="2657475"/>
            <a:ext cx="35433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1D1B18"/>
                </a:solidFill>
                <a:latin typeface="Aptos"/>
                <a:ea typeface="Aptos"/>
                <a:cs typeface="Aptos"/>
              </a:defRPr>
            </a:pPr>
            <a:r>
              <a:rPr sz="900" b="0">
                <a:solidFill>
                  <a:srgbClr val="1D1B18"/>
                </a:solidFill>
                <a:latin typeface="Aptos"/>
                <a:ea typeface="Aptos"/>
                <a:cs typeface="Aptos"/>
              </a:rPr>
              <a:t>原文 Fig. 2 海洋动力诊断</a:t>
            </a:r>
          </a:p>
        </p:txBody>
      </p:sp>
      <p:sp>
        <p:nvSpPr>
          <p:cNvPr id="21" name="">
            <a:extLst xmlns:a="http://schemas.openxmlformats.org/drawingml/2006/main">
              <a:ext uri="{FF2B5EF4-FFF2-40B4-BE49-F238E27FC236}">
                <a16:creationId xmlns:a16="http://schemas.microsoft.com/office/drawing/2014/main" id="{4DFFEE16-EDFC-4168-9B37-9ACD1304A26A}"/>
              </a:ext>
            </a:extLst>
          </p:cNvPr>
          <p:cNvSpPr>
            <a:spLocks xmlns:a="http://schemas.openxmlformats.org/drawingml/2006/main" noGrp="1"/>
          </p:cNvSpPr>
          <p:nvPr/>
        </p:nvSpPr>
        <p:spPr>
          <a:xfrm xmlns:a="http://schemas.openxmlformats.org/drawingml/2006/main">
            <a:off x="6000750" y="2590800"/>
            <a:ext cx="5029200" cy="457200"/>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22" name="">
            <a:extLst xmlns:a="http://schemas.openxmlformats.org/drawingml/2006/main">
              <a:ext uri="{FF2B5EF4-FFF2-40B4-BE49-F238E27FC236}">
                <a16:creationId xmlns:a16="http://schemas.microsoft.com/office/drawing/2014/main" id="{94217FC1-3BF9-4990-AA7C-2A202BE65B79}"/>
              </a:ext>
            </a:extLst>
          </p:cNvPr>
          <p:cNvSpPr>
            <a:spLocks xmlns:a="http://schemas.openxmlformats.org/drawingml/2006/main" noGrp="1"/>
          </p:cNvSpPr>
          <p:nvPr/>
        </p:nvSpPr>
        <p:spPr>
          <a:xfrm xmlns:a="http://schemas.openxmlformats.org/drawingml/2006/main">
            <a:off x="6086475" y="2657475"/>
            <a:ext cx="485775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1D1B18"/>
                </a:solidFill>
                <a:latin typeface="Aptos"/>
                <a:ea typeface="Aptos"/>
                <a:cs typeface="Aptos"/>
              </a:defRPr>
            </a:pPr>
            <a:r>
              <a:rPr sz="900" b="0">
                <a:solidFill>
                  <a:srgbClr val="1D1B18"/>
                </a:solidFill>
                <a:latin typeface="Aptos"/>
                <a:ea typeface="Aptos"/>
                <a:cs typeface="Aptos"/>
              </a:rPr>
              <a:t>fig2_equatorial_summary.csv</a:t>
            </a:r>
          </a:p>
        </p:txBody>
      </p:sp>
      <p:sp>
        <p:nvSpPr>
          <p:cNvPr id="23" name="">
            <a:extLst xmlns:a="http://schemas.openxmlformats.org/drawingml/2006/main">
              <a:ext uri="{FF2B5EF4-FFF2-40B4-BE49-F238E27FC236}">
                <a16:creationId xmlns:a16="http://schemas.microsoft.com/office/drawing/2014/main" id="{2FFD2ACA-5627-4853-8A49-66C3C1AEB065}"/>
              </a:ext>
            </a:extLst>
          </p:cNvPr>
          <p:cNvSpPr>
            <a:spLocks xmlns:a="http://schemas.openxmlformats.org/drawingml/2006/main" noGrp="1"/>
          </p:cNvSpPr>
          <p:nvPr/>
        </p:nvSpPr>
        <p:spPr>
          <a:xfrm xmlns:a="http://schemas.openxmlformats.org/drawingml/2006/main">
            <a:off x="666750" y="3048000"/>
            <a:ext cx="1619250" cy="457200"/>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24" name="">
            <a:extLst xmlns:a="http://schemas.openxmlformats.org/drawingml/2006/main">
              <a:ext uri="{FF2B5EF4-FFF2-40B4-BE49-F238E27FC236}">
                <a16:creationId xmlns:a16="http://schemas.microsoft.com/office/drawing/2014/main" id="{4796278B-A62A-4419-A731-7959A4EF538E}"/>
              </a:ext>
            </a:extLst>
          </p:cNvPr>
          <p:cNvSpPr>
            <a:spLocks xmlns:a="http://schemas.openxmlformats.org/drawingml/2006/main" noGrp="1"/>
          </p:cNvSpPr>
          <p:nvPr/>
        </p:nvSpPr>
        <p:spPr>
          <a:xfrm xmlns:a="http://schemas.openxmlformats.org/drawingml/2006/main">
            <a:off x="752475" y="3114675"/>
            <a:ext cx="14478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1D1B18"/>
                </a:solidFill>
                <a:latin typeface="Aptos"/>
                <a:ea typeface="Aptos"/>
                <a:cs typeface="Aptos"/>
              </a:defRPr>
            </a:pPr>
            <a:r>
              <a:rPr sz="900" b="0">
                <a:solidFill>
                  <a:srgbClr val="1D1B18"/>
                </a:solidFill>
                <a:latin typeface="Aptos"/>
                <a:ea typeface="Aptos"/>
                <a:cs typeface="Aptos"/>
              </a:rPr>
              <a:t>9-10</a:t>
            </a:r>
          </a:p>
        </p:txBody>
      </p:sp>
      <p:sp>
        <p:nvSpPr>
          <p:cNvPr id="25" name="">
            <a:extLst xmlns:a="http://schemas.openxmlformats.org/drawingml/2006/main">
              <a:ext uri="{FF2B5EF4-FFF2-40B4-BE49-F238E27FC236}">
                <a16:creationId xmlns:a16="http://schemas.microsoft.com/office/drawing/2014/main" id="{DB907280-31C4-472A-AA95-96607F3CB41B}"/>
              </a:ext>
            </a:extLst>
          </p:cNvPr>
          <p:cNvSpPr>
            <a:spLocks xmlns:a="http://schemas.openxmlformats.org/drawingml/2006/main" noGrp="1"/>
          </p:cNvSpPr>
          <p:nvPr/>
        </p:nvSpPr>
        <p:spPr>
          <a:xfrm xmlns:a="http://schemas.openxmlformats.org/drawingml/2006/main">
            <a:off x="2286000" y="3048000"/>
            <a:ext cx="3714750" cy="457200"/>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26" name="">
            <a:extLst xmlns:a="http://schemas.openxmlformats.org/drawingml/2006/main">
              <a:ext uri="{FF2B5EF4-FFF2-40B4-BE49-F238E27FC236}">
                <a16:creationId xmlns:a16="http://schemas.microsoft.com/office/drawing/2014/main" id="{1EB8A501-48ED-4BF4-A9E8-D41C60FF2580}"/>
              </a:ext>
            </a:extLst>
          </p:cNvPr>
          <p:cNvSpPr>
            <a:spLocks xmlns:a="http://schemas.openxmlformats.org/drawingml/2006/main" noGrp="1"/>
          </p:cNvSpPr>
          <p:nvPr/>
        </p:nvSpPr>
        <p:spPr>
          <a:xfrm xmlns:a="http://schemas.openxmlformats.org/drawingml/2006/main">
            <a:off x="2371725" y="3114675"/>
            <a:ext cx="35433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1D1B18"/>
                </a:solidFill>
                <a:latin typeface="Aptos"/>
                <a:ea typeface="Aptos"/>
                <a:cs typeface="Aptos"/>
              </a:defRPr>
            </a:pPr>
            <a:r>
              <a:rPr sz="900" b="0">
                <a:solidFill>
                  <a:srgbClr val="1D1B18"/>
                </a:solidFill>
                <a:latin typeface="Aptos"/>
                <a:ea typeface="Aptos"/>
                <a:cs typeface="Aptos"/>
              </a:rPr>
              <a:t>原文 Fig. 3-4 AGCM/风应力实验</a:t>
            </a:r>
          </a:p>
        </p:txBody>
      </p:sp>
      <p:sp>
        <p:nvSpPr>
          <p:cNvPr id="27" name="">
            <a:extLst xmlns:a="http://schemas.openxmlformats.org/drawingml/2006/main">
              <a:ext uri="{FF2B5EF4-FFF2-40B4-BE49-F238E27FC236}">
                <a16:creationId xmlns:a16="http://schemas.microsoft.com/office/drawing/2014/main" id="{6299A8EF-049A-4343-89F0-615644307C30}"/>
              </a:ext>
            </a:extLst>
          </p:cNvPr>
          <p:cNvSpPr>
            <a:spLocks xmlns:a="http://schemas.openxmlformats.org/drawingml/2006/main" noGrp="1"/>
          </p:cNvSpPr>
          <p:nvPr/>
        </p:nvSpPr>
        <p:spPr>
          <a:xfrm xmlns:a="http://schemas.openxmlformats.org/drawingml/2006/main">
            <a:off x="6000750" y="3048000"/>
            <a:ext cx="5029200" cy="457200"/>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28" name="">
            <a:extLst xmlns:a="http://schemas.openxmlformats.org/drawingml/2006/main">
              <a:ext uri="{FF2B5EF4-FFF2-40B4-BE49-F238E27FC236}">
                <a16:creationId xmlns:a16="http://schemas.microsoft.com/office/drawing/2014/main" id="{F5D24F97-48DC-4B05-8CA1-73A7252204B7}"/>
              </a:ext>
            </a:extLst>
          </p:cNvPr>
          <p:cNvSpPr>
            <a:spLocks xmlns:a="http://schemas.openxmlformats.org/drawingml/2006/main" noGrp="1"/>
          </p:cNvSpPr>
          <p:nvPr/>
        </p:nvSpPr>
        <p:spPr>
          <a:xfrm xmlns:a="http://schemas.openxmlformats.org/drawingml/2006/main">
            <a:off x="6086475" y="3114675"/>
            <a:ext cx="485775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1D1B18"/>
                </a:solidFill>
                <a:latin typeface="Aptos"/>
                <a:ea typeface="Aptos"/>
                <a:cs typeface="Aptos"/>
              </a:defRPr>
            </a:pPr>
            <a:r>
              <a:rPr sz="900" b="0">
                <a:solidFill>
                  <a:srgbClr val="1D1B18"/>
                </a:solidFill>
                <a:latin typeface="Aptos"/>
                <a:ea typeface="Aptos"/>
                <a:cs typeface="Aptos"/>
              </a:rPr>
              <a:t>fig3_agcm_summary.csv; fig4_wind_experiment_summary.csv</a:t>
            </a:r>
          </a:p>
        </p:txBody>
      </p:sp>
      <p:sp>
        <p:nvSpPr>
          <p:cNvPr id="29" name="">
            <a:extLst xmlns:a="http://schemas.openxmlformats.org/drawingml/2006/main">
              <a:ext uri="{FF2B5EF4-FFF2-40B4-BE49-F238E27FC236}">
                <a16:creationId xmlns:a16="http://schemas.microsoft.com/office/drawing/2014/main" id="{56BE95D1-C118-4418-BA69-19024F097202}"/>
              </a:ext>
            </a:extLst>
          </p:cNvPr>
          <p:cNvSpPr>
            <a:spLocks xmlns:a="http://schemas.openxmlformats.org/drawingml/2006/main" noGrp="1"/>
          </p:cNvSpPr>
          <p:nvPr/>
        </p:nvSpPr>
        <p:spPr>
          <a:xfrm xmlns:a="http://schemas.openxmlformats.org/drawingml/2006/main">
            <a:off x="666750" y="3505200"/>
            <a:ext cx="1619250" cy="457200"/>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30" name="">
            <a:extLst xmlns:a="http://schemas.openxmlformats.org/drawingml/2006/main">
              <a:ext uri="{FF2B5EF4-FFF2-40B4-BE49-F238E27FC236}">
                <a16:creationId xmlns:a16="http://schemas.microsoft.com/office/drawing/2014/main" id="{6EB6A045-DE6F-4099-9375-E7D13B41BD28}"/>
              </a:ext>
            </a:extLst>
          </p:cNvPr>
          <p:cNvSpPr>
            <a:spLocks xmlns:a="http://schemas.openxmlformats.org/drawingml/2006/main" noGrp="1"/>
          </p:cNvSpPr>
          <p:nvPr/>
        </p:nvSpPr>
        <p:spPr>
          <a:xfrm xmlns:a="http://schemas.openxmlformats.org/drawingml/2006/main">
            <a:off x="752475" y="3571875"/>
            <a:ext cx="14478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1D1B18"/>
                </a:solidFill>
                <a:latin typeface="Aptos"/>
                <a:ea typeface="Aptos"/>
                <a:cs typeface="Aptos"/>
              </a:defRPr>
            </a:pPr>
            <a:r>
              <a:rPr sz="900" b="0">
                <a:solidFill>
                  <a:srgbClr val="1D1B18"/>
                </a:solidFill>
                <a:latin typeface="Aptos"/>
                <a:ea typeface="Aptos"/>
                <a:cs typeface="Aptos"/>
              </a:rPr>
              <a:t>12</a:t>
            </a:r>
          </a:p>
        </p:txBody>
      </p:sp>
      <p:sp>
        <p:nvSpPr>
          <p:cNvPr id="31" name="">
            <a:extLst xmlns:a="http://schemas.openxmlformats.org/drawingml/2006/main">
              <a:ext uri="{FF2B5EF4-FFF2-40B4-BE49-F238E27FC236}">
                <a16:creationId xmlns:a16="http://schemas.microsoft.com/office/drawing/2014/main" id="{983F8810-8834-4902-8C47-535F2A5539BA}"/>
              </a:ext>
            </a:extLst>
          </p:cNvPr>
          <p:cNvSpPr>
            <a:spLocks xmlns:a="http://schemas.openxmlformats.org/drawingml/2006/main" noGrp="1"/>
          </p:cNvSpPr>
          <p:nvPr/>
        </p:nvSpPr>
        <p:spPr>
          <a:xfrm xmlns:a="http://schemas.openxmlformats.org/drawingml/2006/main">
            <a:off x="2286000" y="3505200"/>
            <a:ext cx="3714750" cy="457200"/>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32" name="">
            <a:extLst xmlns:a="http://schemas.openxmlformats.org/drawingml/2006/main">
              <a:ext uri="{FF2B5EF4-FFF2-40B4-BE49-F238E27FC236}">
                <a16:creationId xmlns:a16="http://schemas.microsoft.com/office/drawing/2014/main" id="{D0000341-C8B8-4260-B095-5A1F0860C2E4}"/>
              </a:ext>
            </a:extLst>
          </p:cNvPr>
          <p:cNvSpPr>
            <a:spLocks xmlns:a="http://schemas.openxmlformats.org/drawingml/2006/main" noGrp="1"/>
          </p:cNvSpPr>
          <p:nvPr/>
        </p:nvSpPr>
        <p:spPr>
          <a:xfrm xmlns:a="http://schemas.openxmlformats.org/drawingml/2006/main">
            <a:off x="2371725" y="3571875"/>
            <a:ext cx="35433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1D1B18"/>
                </a:solidFill>
                <a:latin typeface="Aptos"/>
                <a:ea typeface="Aptos"/>
                <a:cs typeface="Aptos"/>
              </a:defRPr>
            </a:pPr>
            <a:r>
              <a:rPr sz="900" b="0">
                <a:solidFill>
                  <a:srgbClr val="1D1B18"/>
                </a:solidFill>
                <a:latin typeface="Aptos"/>
                <a:ea typeface="Aptos"/>
                <a:cs typeface="Aptos"/>
              </a:rPr>
              <a:t>公开资料验证</a:t>
            </a:r>
          </a:p>
        </p:txBody>
      </p:sp>
      <p:sp>
        <p:nvSpPr>
          <p:cNvPr id="33" name="">
            <a:extLst xmlns:a="http://schemas.openxmlformats.org/drawingml/2006/main">
              <a:ext uri="{FF2B5EF4-FFF2-40B4-BE49-F238E27FC236}">
                <a16:creationId xmlns:a16="http://schemas.microsoft.com/office/drawing/2014/main" id="{01F4A25D-670C-48D6-A3F0-B603BAC24BFB}"/>
              </a:ext>
            </a:extLst>
          </p:cNvPr>
          <p:cNvSpPr>
            <a:spLocks xmlns:a="http://schemas.openxmlformats.org/drawingml/2006/main" noGrp="1"/>
          </p:cNvSpPr>
          <p:nvPr/>
        </p:nvSpPr>
        <p:spPr>
          <a:xfrm xmlns:a="http://schemas.openxmlformats.org/drawingml/2006/main">
            <a:off x="6000750" y="3505200"/>
            <a:ext cx="5029200" cy="457200"/>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34" name="">
            <a:extLst xmlns:a="http://schemas.openxmlformats.org/drawingml/2006/main">
              <a:ext uri="{FF2B5EF4-FFF2-40B4-BE49-F238E27FC236}">
                <a16:creationId xmlns:a16="http://schemas.microsoft.com/office/drawing/2014/main" id="{B358DF96-7A0B-4F18-8611-68E18228A819}"/>
              </a:ext>
            </a:extLst>
          </p:cNvPr>
          <p:cNvSpPr>
            <a:spLocks xmlns:a="http://schemas.openxmlformats.org/drawingml/2006/main" noGrp="1"/>
          </p:cNvSpPr>
          <p:nvPr/>
        </p:nvSpPr>
        <p:spPr>
          <a:xfrm xmlns:a="http://schemas.openxmlformats.org/drawingml/2006/main">
            <a:off x="6086475" y="3571875"/>
            <a:ext cx="485775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1D1B18"/>
                </a:solidFill>
                <a:latin typeface="Aptos"/>
                <a:ea typeface="Aptos"/>
                <a:cs typeface="Aptos"/>
              </a:defRPr>
            </a:pPr>
            <a:r>
              <a:rPr sz="900" b="0">
                <a:solidFill>
                  <a:srgbClr val="1D1B18"/>
                </a:solidFill>
                <a:latin typeface="Aptos"/>
                <a:ea typeface="Aptos"/>
                <a:cs typeface="Aptos"/>
              </a:rPr>
              <a:t>oisst_vs_fig1_nino3.csv; gpcp_vs_fig2_precip.csv; ncep_vs_fig1_atmosphere.csv</a:t>
            </a:r>
          </a:p>
        </p:txBody>
      </p:sp>
      <p:sp>
        <p:nvSpPr>
          <p:cNvPr id="35" name="">
            <a:extLst xmlns:a="http://schemas.openxmlformats.org/drawingml/2006/main">
              <a:ext uri="{FF2B5EF4-FFF2-40B4-BE49-F238E27FC236}">
                <a16:creationId xmlns:a16="http://schemas.microsoft.com/office/drawing/2014/main" id="{66414C5E-B81C-4563-A9B8-C3C626408C44}"/>
              </a:ext>
            </a:extLst>
          </p:cNvPr>
          <p:cNvSpPr>
            <a:spLocks xmlns:a="http://schemas.openxmlformats.org/drawingml/2006/main" noGrp="1"/>
          </p:cNvSpPr>
          <p:nvPr/>
        </p:nvSpPr>
        <p:spPr>
          <a:xfrm xmlns:a="http://schemas.openxmlformats.org/drawingml/2006/main">
            <a:off x="666750" y="3962400"/>
            <a:ext cx="1619250" cy="457200"/>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36" name="">
            <a:extLst xmlns:a="http://schemas.openxmlformats.org/drawingml/2006/main">
              <a:ext uri="{FF2B5EF4-FFF2-40B4-BE49-F238E27FC236}">
                <a16:creationId xmlns:a16="http://schemas.microsoft.com/office/drawing/2014/main" id="{D50C7A37-748E-4391-8936-C9DDAEFE34F9}"/>
              </a:ext>
            </a:extLst>
          </p:cNvPr>
          <p:cNvSpPr>
            <a:spLocks xmlns:a="http://schemas.openxmlformats.org/drawingml/2006/main" noGrp="1"/>
          </p:cNvSpPr>
          <p:nvPr/>
        </p:nvSpPr>
        <p:spPr>
          <a:xfrm xmlns:a="http://schemas.openxmlformats.org/drawingml/2006/main">
            <a:off x="752475" y="4029075"/>
            <a:ext cx="14478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1D1B18"/>
                </a:solidFill>
                <a:latin typeface="Aptos"/>
                <a:ea typeface="Aptos"/>
                <a:cs typeface="Aptos"/>
              </a:defRPr>
            </a:pPr>
            <a:r>
              <a:rPr sz="900" b="0">
                <a:solidFill>
                  <a:srgbClr val="1D1B18"/>
                </a:solidFill>
                <a:latin typeface="Aptos"/>
                <a:ea typeface="Aptos"/>
                <a:cs typeface="Aptos"/>
              </a:rPr>
              <a:t>13</a:t>
            </a:r>
          </a:p>
        </p:txBody>
      </p:sp>
      <p:sp>
        <p:nvSpPr>
          <p:cNvPr id="37" name="">
            <a:extLst xmlns:a="http://schemas.openxmlformats.org/drawingml/2006/main">
              <a:ext uri="{FF2B5EF4-FFF2-40B4-BE49-F238E27FC236}">
                <a16:creationId xmlns:a16="http://schemas.microsoft.com/office/drawing/2014/main" id="{735CF936-85FC-427A-B121-48F8A2906825}"/>
              </a:ext>
            </a:extLst>
          </p:cNvPr>
          <p:cNvSpPr>
            <a:spLocks xmlns:a="http://schemas.openxmlformats.org/drawingml/2006/main" noGrp="1"/>
          </p:cNvSpPr>
          <p:nvPr/>
        </p:nvSpPr>
        <p:spPr>
          <a:xfrm xmlns:a="http://schemas.openxmlformats.org/drawingml/2006/main">
            <a:off x="2286000" y="3962400"/>
            <a:ext cx="3714750" cy="457200"/>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38" name="">
            <a:extLst xmlns:a="http://schemas.openxmlformats.org/drawingml/2006/main">
              <a:ext uri="{FF2B5EF4-FFF2-40B4-BE49-F238E27FC236}">
                <a16:creationId xmlns:a16="http://schemas.microsoft.com/office/drawing/2014/main" id="{1A9BFF8B-3664-4D7D-A38B-BF2AAE448BCC}"/>
              </a:ext>
            </a:extLst>
          </p:cNvPr>
          <p:cNvSpPr>
            <a:spLocks xmlns:a="http://schemas.openxmlformats.org/drawingml/2006/main" noGrp="1"/>
          </p:cNvSpPr>
          <p:nvPr/>
        </p:nvSpPr>
        <p:spPr>
          <a:xfrm xmlns:a="http://schemas.openxmlformats.org/drawingml/2006/main">
            <a:off x="2371725" y="4029075"/>
            <a:ext cx="35433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1D1B18"/>
                </a:solidFill>
                <a:latin typeface="Aptos"/>
                <a:ea typeface="Aptos"/>
                <a:cs typeface="Aptos"/>
              </a:defRPr>
            </a:pPr>
            <a:r>
              <a:rPr sz="900" b="0">
                <a:solidFill>
                  <a:srgbClr val="1D1B18"/>
                </a:solidFill>
                <a:latin typeface="Aptos"/>
                <a:ea typeface="Aptos"/>
                <a:cs typeface="Aptos"/>
              </a:rPr>
              <a:t>分季节回归预期响应矩阵</a:t>
            </a:r>
          </a:p>
        </p:txBody>
      </p:sp>
      <p:sp>
        <p:nvSpPr>
          <p:cNvPr id="39" name="">
            <a:extLst xmlns:a="http://schemas.openxmlformats.org/drawingml/2006/main">
              <a:ext uri="{FF2B5EF4-FFF2-40B4-BE49-F238E27FC236}">
                <a16:creationId xmlns:a16="http://schemas.microsoft.com/office/drawing/2014/main" id="{C30E5C77-0098-4006-99F1-B0D1FF7B84D2}"/>
              </a:ext>
            </a:extLst>
          </p:cNvPr>
          <p:cNvSpPr>
            <a:spLocks xmlns:a="http://schemas.openxmlformats.org/drawingml/2006/main" noGrp="1"/>
          </p:cNvSpPr>
          <p:nvPr/>
        </p:nvSpPr>
        <p:spPr>
          <a:xfrm xmlns:a="http://schemas.openxmlformats.org/drawingml/2006/main">
            <a:off x="6000750" y="3962400"/>
            <a:ext cx="5029200" cy="457200"/>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40" name="">
            <a:extLst xmlns:a="http://schemas.openxmlformats.org/drawingml/2006/main">
              <a:ext uri="{FF2B5EF4-FFF2-40B4-BE49-F238E27FC236}">
                <a16:creationId xmlns:a16="http://schemas.microsoft.com/office/drawing/2014/main" id="{8A789264-0897-4EEE-B4A1-7EF0AC3F3E23}"/>
              </a:ext>
            </a:extLst>
          </p:cNvPr>
          <p:cNvSpPr>
            <a:spLocks xmlns:a="http://schemas.openxmlformats.org/drawingml/2006/main" noGrp="1"/>
          </p:cNvSpPr>
          <p:nvPr/>
        </p:nvSpPr>
        <p:spPr>
          <a:xfrm xmlns:a="http://schemas.openxmlformats.org/drawingml/2006/main">
            <a:off x="6086475" y="4029075"/>
            <a:ext cx="485775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1D1B18"/>
                </a:solidFill>
                <a:latin typeface="Aptos"/>
                <a:ea typeface="Aptos"/>
                <a:cs typeface="Aptos"/>
              </a:defRPr>
            </a:pPr>
            <a:r>
              <a:rPr sz="900" b="0">
                <a:solidFill>
                  <a:srgbClr val="1D1B18"/>
                </a:solidFill>
                <a:latin typeface="Aptos"/>
                <a:ea typeface="Aptos"/>
                <a:cs typeface="Aptos"/>
              </a:rPr>
              <a:t>seasonal_regression_expected_response.csv; external_basin_seasonal_summary.csv</a:t>
            </a:r>
          </a:p>
        </p:txBody>
      </p:sp>
      <p:sp>
        <p:nvSpPr>
          <p:cNvPr id="41" name="">
            <a:extLst xmlns:a="http://schemas.openxmlformats.org/drawingml/2006/main">
              <a:ext uri="{FF2B5EF4-FFF2-40B4-BE49-F238E27FC236}">
                <a16:creationId xmlns:a16="http://schemas.microsoft.com/office/drawing/2014/main" id="{D278DD35-00B6-4C61-9A69-A29F33E4EE75}"/>
              </a:ext>
            </a:extLst>
          </p:cNvPr>
          <p:cNvSpPr>
            <a:spLocks xmlns:a="http://schemas.openxmlformats.org/drawingml/2006/main" noGrp="1"/>
          </p:cNvSpPr>
          <p:nvPr/>
        </p:nvSpPr>
        <p:spPr>
          <a:xfrm xmlns:a="http://schemas.openxmlformats.org/drawingml/2006/main">
            <a:off x="666750" y="4419600"/>
            <a:ext cx="1619250" cy="457200"/>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42" name="">
            <a:extLst xmlns:a="http://schemas.openxmlformats.org/drawingml/2006/main">
              <a:ext uri="{FF2B5EF4-FFF2-40B4-BE49-F238E27FC236}">
                <a16:creationId xmlns:a16="http://schemas.microsoft.com/office/drawing/2014/main" id="{9AA99256-C745-42C3-94A2-2BC833660B67}"/>
              </a:ext>
            </a:extLst>
          </p:cNvPr>
          <p:cNvSpPr>
            <a:spLocks xmlns:a="http://schemas.openxmlformats.org/drawingml/2006/main" noGrp="1"/>
          </p:cNvSpPr>
          <p:nvPr/>
        </p:nvSpPr>
        <p:spPr>
          <a:xfrm xmlns:a="http://schemas.openxmlformats.org/drawingml/2006/main">
            <a:off x="752475" y="4486275"/>
            <a:ext cx="14478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1D1B18"/>
                </a:solidFill>
                <a:latin typeface="Aptos"/>
                <a:ea typeface="Aptos"/>
                <a:cs typeface="Aptos"/>
              </a:defRPr>
            </a:pPr>
            <a:r>
              <a:rPr sz="900" b="0">
                <a:solidFill>
                  <a:srgbClr val="1D1B18"/>
                </a:solidFill>
                <a:latin typeface="Aptos"/>
                <a:ea typeface="Aptos"/>
                <a:cs typeface="Aptos"/>
              </a:rPr>
              <a:t>14-15</a:t>
            </a:r>
          </a:p>
        </p:txBody>
      </p:sp>
      <p:sp>
        <p:nvSpPr>
          <p:cNvPr id="43" name="">
            <a:extLst xmlns:a="http://schemas.openxmlformats.org/drawingml/2006/main">
              <a:ext uri="{FF2B5EF4-FFF2-40B4-BE49-F238E27FC236}">
                <a16:creationId xmlns:a16="http://schemas.microsoft.com/office/drawing/2014/main" id="{575E6F0E-5F77-4F7D-9E30-364B36A12D59}"/>
              </a:ext>
            </a:extLst>
          </p:cNvPr>
          <p:cNvSpPr>
            <a:spLocks xmlns:a="http://schemas.openxmlformats.org/drawingml/2006/main" noGrp="1"/>
          </p:cNvSpPr>
          <p:nvPr/>
        </p:nvSpPr>
        <p:spPr>
          <a:xfrm xmlns:a="http://schemas.openxmlformats.org/drawingml/2006/main">
            <a:off x="2286000" y="4419600"/>
            <a:ext cx="3714750" cy="457200"/>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44" name="">
            <a:extLst xmlns:a="http://schemas.openxmlformats.org/drawingml/2006/main">
              <a:ext uri="{FF2B5EF4-FFF2-40B4-BE49-F238E27FC236}">
                <a16:creationId xmlns:a16="http://schemas.microsoft.com/office/drawing/2014/main" id="{8BC95B98-1170-492A-96C1-04BC2B78E240}"/>
              </a:ext>
            </a:extLst>
          </p:cNvPr>
          <p:cNvSpPr>
            <a:spLocks xmlns:a="http://schemas.openxmlformats.org/drawingml/2006/main" noGrp="1"/>
          </p:cNvSpPr>
          <p:nvPr/>
        </p:nvSpPr>
        <p:spPr>
          <a:xfrm xmlns:a="http://schemas.openxmlformats.org/drawingml/2006/main">
            <a:off x="2371725" y="4486275"/>
            <a:ext cx="35433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1D1B18"/>
                </a:solidFill>
                <a:latin typeface="Aptos"/>
                <a:ea typeface="Aptos"/>
                <a:cs typeface="Aptos"/>
              </a:defRPr>
            </a:pPr>
            <a:r>
              <a:rPr sz="900" b="0">
                <a:solidFill>
                  <a:srgbClr val="1D1B18"/>
                </a:solidFill>
                <a:latin typeface="Aptos"/>
                <a:ea typeface="Aptos"/>
                <a:cs typeface="Aptos"/>
              </a:rPr>
              <a:t>AMJ/JJA 空间图</a:t>
            </a:r>
          </a:p>
        </p:txBody>
      </p:sp>
      <p:sp>
        <p:nvSpPr>
          <p:cNvPr id="45" name="">
            <a:extLst xmlns:a="http://schemas.openxmlformats.org/drawingml/2006/main">
              <a:ext uri="{FF2B5EF4-FFF2-40B4-BE49-F238E27FC236}">
                <a16:creationId xmlns:a16="http://schemas.microsoft.com/office/drawing/2014/main" id="{67AD0A4C-4328-4501-9D3F-DB960048D2F4}"/>
              </a:ext>
            </a:extLst>
          </p:cNvPr>
          <p:cNvSpPr>
            <a:spLocks xmlns:a="http://schemas.openxmlformats.org/drawingml/2006/main" noGrp="1"/>
          </p:cNvSpPr>
          <p:nvPr/>
        </p:nvSpPr>
        <p:spPr>
          <a:xfrm xmlns:a="http://schemas.openxmlformats.org/drawingml/2006/main">
            <a:off x="6000750" y="4419600"/>
            <a:ext cx="5029200" cy="457200"/>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46" name="">
            <a:extLst xmlns:a="http://schemas.openxmlformats.org/drawingml/2006/main">
              <a:ext uri="{FF2B5EF4-FFF2-40B4-BE49-F238E27FC236}">
                <a16:creationId xmlns:a16="http://schemas.microsoft.com/office/drawing/2014/main" id="{DEFD518F-ECA4-4784-AEA3-959814CE45AA}"/>
              </a:ext>
            </a:extLst>
          </p:cNvPr>
          <p:cNvSpPr>
            <a:spLocks xmlns:a="http://schemas.openxmlformats.org/drawingml/2006/main" noGrp="1"/>
          </p:cNvSpPr>
          <p:nvPr/>
        </p:nvSpPr>
        <p:spPr>
          <a:xfrm xmlns:a="http://schemas.openxmlformats.org/drawingml/2006/main">
            <a:off x="6086475" y="4486275"/>
            <a:ext cx="485775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1D1B18"/>
                </a:solidFill>
                <a:latin typeface="Aptos"/>
                <a:ea typeface="Aptos"/>
                <a:cs typeface="Aptos"/>
              </a:defRPr>
            </a:pPr>
            <a:r>
              <a:rPr sz="900" b="0">
                <a:solidFill>
                  <a:srgbClr val="1D1B18"/>
                </a:solidFill>
                <a:latin typeface="Aptos"/>
                <a:ea typeface="Aptos"/>
                <a:cs typeface="Aptos"/>
              </a:rPr>
              <a:t>stage_a_spatial_summary.csv</a:t>
            </a:r>
          </a:p>
        </p:txBody>
      </p:sp>
      <p:sp>
        <p:nvSpPr>
          <p:cNvPr id="47" name="">
            <a:extLst xmlns:a="http://schemas.openxmlformats.org/drawingml/2006/main">
              <a:ext uri="{FF2B5EF4-FFF2-40B4-BE49-F238E27FC236}">
                <a16:creationId xmlns:a16="http://schemas.microsoft.com/office/drawing/2014/main" id="{9735342F-07B0-4AF8-9674-04A49B5E2CB3}"/>
              </a:ext>
            </a:extLst>
          </p:cNvPr>
          <p:cNvSpPr>
            <a:spLocks xmlns:a="http://schemas.openxmlformats.org/drawingml/2006/main" noGrp="1"/>
          </p:cNvSpPr>
          <p:nvPr/>
        </p:nvSpPr>
        <p:spPr>
          <a:xfrm xmlns:a="http://schemas.openxmlformats.org/drawingml/2006/main">
            <a:off x="666750" y="4876800"/>
            <a:ext cx="1619250" cy="457200"/>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48" name="">
            <a:extLst xmlns:a="http://schemas.openxmlformats.org/drawingml/2006/main">
              <a:ext uri="{FF2B5EF4-FFF2-40B4-BE49-F238E27FC236}">
                <a16:creationId xmlns:a16="http://schemas.microsoft.com/office/drawing/2014/main" id="{C1165D76-DF36-4362-8FAF-83889CA19294}"/>
              </a:ext>
            </a:extLst>
          </p:cNvPr>
          <p:cNvSpPr>
            <a:spLocks xmlns:a="http://schemas.openxmlformats.org/drawingml/2006/main" noGrp="1"/>
          </p:cNvSpPr>
          <p:nvPr/>
        </p:nvSpPr>
        <p:spPr>
          <a:xfrm xmlns:a="http://schemas.openxmlformats.org/drawingml/2006/main">
            <a:off x="752475" y="4943475"/>
            <a:ext cx="14478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1D1B18"/>
                </a:solidFill>
                <a:latin typeface="Aptos"/>
                <a:ea typeface="Aptos"/>
                <a:cs typeface="Aptos"/>
              </a:defRPr>
            </a:pPr>
            <a:r>
              <a:rPr sz="900" b="0">
                <a:solidFill>
                  <a:srgbClr val="1D1B18"/>
                </a:solidFill>
                <a:latin typeface="Aptos"/>
                <a:ea typeface="Aptos"/>
                <a:cs typeface="Aptos"/>
              </a:rPr>
              <a:t>16-17</a:t>
            </a:r>
          </a:p>
        </p:txBody>
      </p:sp>
      <p:sp>
        <p:nvSpPr>
          <p:cNvPr id="49" name="">
            <a:extLst xmlns:a="http://schemas.openxmlformats.org/drawingml/2006/main">
              <a:ext uri="{FF2B5EF4-FFF2-40B4-BE49-F238E27FC236}">
                <a16:creationId xmlns:a16="http://schemas.microsoft.com/office/drawing/2014/main" id="{326B6793-06E5-4C9E-8218-C08C98033736}"/>
              </a:ext>
            </a:extLst>
          </p:cNvPr>
          <p:cNvSpPr>
            <a:spLocks xmlns:a="http://schemas.openxmlformats.org/drawingml/2006/main" noGrp="1"/>
          </p:cNvSpPr>
          <p:nvPr/>
        </p:nvSpPr>
        <p:spPr>
          <a:xfrm xmlns:a="http://schemas.openxmlformats.org/drawingml/2006/main">
            <a:off x="2286000" y="4876800"/>
            <a:ext cx="3714750" cy="457200"/>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50" name="">
            <a:extLst xmlns:a="http://schemas.openxmlformats.org/drawingml/2006/main">
              <a:ext uri="{FF2B5EF4-FFF2-40B4-BE49-F238E27FC236}">
                <a16:creationId xmlns:a16="http://schemas.microsoft.com/office/drawing/2014/main" id="{2437D3EB-43A6-4DD1-8657-D8FAFDDA48EB}"/>
              </a:ext>
            </a:extLst>
          </p:cNvPr>
          <p:cNvSpPr>
            <a:spLocks xmlns:a="http://schemas.openxmlformats.org/drawingml/2006/main" noGrp="1"/>
          </p:cNvSpPr>
          <p:nvPr/>
        </p:nvSpPr>
        <p:spPr>
          <a:xfrm xmlns:a="http://schemas.openxmlformats.org/drawingml/2006/main">
            <a:off x="2371725" y="4943475"/>
            <a:ext cx="35433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1D1B18"/>
                </a:solidFill>
                <a:latin typeface="Aptos"/>
                <a:ea typeface="Aptos"/>
                <a:cs typeface="Aptos"/>
              </a:defRPr>
            </a:pPr>
            <a:r>
              <a:rPr sz="900" b="0">
                <a:solidFill>
                  <a:srgbClr val="1D1B18"/>
                </a:solidFill>
                <a:latin typeface="Aptos"/>
                <a:ea typeface="Aptos"/>
                <a:cs typeface="Aptos"/>
              </a:rPr>
              <a:t>外海盆和历史对比</a:t>
            </a:r>
          </a:p>
        </p:txBody>
      </p:sp>
      <p:sp>
        <p:nvSpPr>
          <p:cNvPr id="51" name="">
            <a:extLst xmlns:a="http://schemas.openxmlformats.org/drawingml/2006/main">
              <a:ext uri="{FF2B5EF4-FFF2-40B4-BE49-F238E27FC236}">
                <a16:creationId xmlns:a16="http://schemas.microsoft.com/office/drawing/2014/main" id="{6FE4C0C3-5517-475D-A939-4DF71AC85374}"/>
              </a:ext>
            </a:extLst>
          </p:cNvPr>
          <p:cNvSpPr>
            <a:spLocks xmlns:a="http://schemas.openxmlformats.org/drawingml/2006/main" noGrp="1"/>
          </p:cNvSpPr>
          <p:nvPr/>
        </p:nvSpPr>
        <p:spPr>
          <a:xfrm xmlns:a="http://schemas.openxmlformats.org/drawingml/2006/main">
            <a:off x="6000750" y="4876800"/>
            <a:ext cx="5029200" cy="457200"/>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52" name="">
            <a:extLst xmlns:a="http://schemas.openxmlformats.org/drawingml/2006/main">
              <a:ext uri="{FF2B5EF4-FFF2-40B4-BE49-F238E27FC236}">
                <a16:creationId xmlns:a16="http://schemas.microsoft.com/office/drawing/2014/main" id="{EB08C3F6-7B02-43B1-92DC-0858A4777BB2}"/>
              </a:ext>
            </a:extLst>
          </p:cNvPr>
          <p:cNvSpPr>
            <a:spLocks xmlns:a="http://schemas.openxmlformats.org/drawingml/2006/main" noGrp="1"/>
          </p:cNvSpPr>
          <p:nvPr/>
        </p:nvSpPr>
        <p:spPr>
          <a:xfrm xmlns:a="http://schemas.openxmlformats.org/drawingml/2006/main">
            <a:off x="6086475" y="4943475"/>
            <a:ext cx="485775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1D1B18"/>
                </a:solidFill>
                <a:latin typeface="Aptos"/>
                <a:ea typeface="Aptos"/>
                <a:cs typeface="Aptos"/>
              </a:defRPr>
            </a:pPr>
            <a:r>
              <a:rPr sz="900" b="0">
                <a:solidFill>
                  <a:srgbClr val="1D1B18"/>
                </a:solidFill>
                <a:latin typeface="Aptos"/>
                <a:ea typeface="Aptos"/>
                <a:cs typeface="Aptos"/>
              </a:rPr>
              <a:t>external_basin_seasonal_summary.csv; gpcp_precip_seasonal_summary.csv</a:t>
            </a:r>
          </a:p>
        </p:txBody>
      </p:sp>
      <p:sp>
        <p:nvSpPr>
          <p:cNvPr id="53" name="">
            <a:extLst xmlns:a="http://schemas.openxmlformats.org/drawingml/2006/main">
              <a:ext uri="{FF2B5EF4-FFF2-40B4-BE49-F238E27FC236}">
                <a16:creationId xmlns:a16="http://schemas.microsoft.com/office/drawing/2014/main" id="{98A66064-C290-45A8-9610-D2CC1A8423A0}"/>
              </a:ext>
            </a:extLst>
          </p:cNvPr>
          <p:cNvSpPr>
            <a:spLocks xmlns:a="http://schemas.openxmlformats.org/drawingml/2006/main" noGrp="1"/>
          </p:cNvSpPr>
          <p:nvPr/>
        </p:nvSpPr>
        <p:spPr>
          <a:xfrm xmlns:a="http://schemas.openxmlformats.org/drawingml/2006/main">
            <a:off x="552450" y="6477000"/>
            <a:ext cx="106680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5D574F"/>
                </a:solidFill>
                <a:latin typeface="Aptos"/>
                <a:ea typeface="Aptos"/>
                <a:cs typeface="Aptos"/>
              </a:defRPr>
            </a:pPr>
            <a:r>
              <a:rPr sz="788" b="0">
                <a:solidFill>
                  <a:srgbClr val="5D574F"/>
                </a:solidFill>
                <a:latin typeface="Aptos"/>
                <a:ea typeface="Aptos"/>
                <a:cs typeface="Aptos"/>
              </a:rPr>
              <a:t>All local paths are under /Users/daiyue/Documents/Maryland/data/derived.</a:t>
            </a:r>
          </a:p>
        </p:txBody>
      </p:sp>
    </p:spTree>
    <p:extLst>
      <p:ext uri="{BB962C8B-B14F-4D97-AF65-F5344CB8AC3E}">
        <p14:creationId xmlns:p14="http://schemas.microsoft.com/office/powerpoint/2010/main" val="1811827416"/>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854D0CD0-A252-46A6-984F-23B0C30ED7D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3EA"/>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0E9E96CA-0DC7-4CB0-A7FE-A1FE8B1AB17B}"/>
              </a:ext>
            </a:extLst>
          </p:cNvPr>
          <p:cNvSpPr>
            <a:spLocks xmlns:a="http://schemas.openxmlformats.org/drawingml/2006/main" noGrp="1"/>
          </p:cNvSpPr>
          <p:nvPr/>
        </p:nvSpPr>
        <p:spPr>
          <a:xfrm xmlns:a="http://schemas.openxmlformats.org/drawingml/2006/main">
            <a:off x="552450" y="285750"/>
            <a:ext cx="3429000" cy="23812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CC5A43"/>
                </a:solidFill>
                <a:latin typeface="Aptos"/>
                <a:ea typeface="Aptos"/>
                <a:cs typeface="Aptos"/>
              </a:defRPr>
            </a:pPr>
            <a:r>
              <a:rPr sz="1050" b="1">
                <a:solidFill>
                  <a:srgbClr val="CC5A43"/>
                </a:solidFill>
                <a:latin typeface="Aptos"/>
                <a:ea typeface="Aptos"/>
                <a:cs typeface="Aptos"/>
              </a:rPr>
              <a:t>附录 B</a:t>
            </a:r>
          </a:p>
        </p:txBody>
      </p:sp>
      <p:sp>
        <p:nvSpPr>
          <p:cNvPr id="3" name="">
            <a:extLst xmlns:a="http://schemas.openxmlformats.org/drawingml/2006/main">
              <a:ext uri="{FF2B5EF4-FFF2-40B4-BE49-F238E27FC236}">
                <a16:creationId xmlns:a16="http://schemas.microsoft.com/office/drawing/2014/main" id="{614BDB25-591D-4866-B2D6-10926F1D2FDC}"/>
              </a:ext>
            </a:extLst>
          </p:cNvPr>
          <p:cNvSpPr>
            <a:spLocks xmlns:a="http://schemas.openxmlformats.org/drawingml/2006/main" noGrp="1"/>
          </p:cNvSpPr>
          <p:nvPr/>
        </p:nvSpPr>
        <p:spPr>
          <a:xfrm xmlns:a="http://schemas.openxmlformats.org/drawingml/2006/main">
            <a:off x="552450" y="609600"/>
            <a:ext cx="104775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175" b="1">
                <a:solidFill>
                  <a:srgbClr val="1D1B18"/>
                </a:solidFill>
                <a:latin typeface="Aptos Display"/>
                <a:ea typeface="Aptos Display"/>
                <a:cs typeface="Aptos Display"/>
              </a:defRPr>
            </a:pPr>
            <a:r>
              <a:rPr sz="2175" b="1">
                <a:solidFill>
                  <a:srgbClr val="1D1B18"/>
                </a:solidFill>
                <a:latin typeface="Aptos Display"/>
                <a:ea typeface="Aptos Display"/>
                <a:cs typeface="Aptos Display"/>
              </a:rPr>
              <a:t>数据和文献链接</a:t>
            </a:r>
          </a:p>
        </p:txBody>
      </p:sp>
      <p:sp>
        <p:nvSpPr>
          <p:cNvPr id="4" name="">
            <a:extLst xmlns:a="http://schemas.openxmlformats.org/drawingml/2006/main">
              <a:ext uri="{FF2B5EF4-FFF2-40B4-BE49-F238E27FC236}">
                <a16:creationId xmlns:a16="http://schemas.microsoft.com/office/drawing/2014/main" id="{29E8E279-471B-46DA-8A11-B3547CF0ED83}"/>
              </a:ext>
            </a:extLst>
          </p:cNvPr>
          <p:cNvSpPr>
            <a:spLocks xmlns:a="http://schemas.openxmlformats.org/drawingml/2006/main" noGrp="1"/>
          </p:cNvSpPr>
          <p:nvPr/>
        </p:nvSpPr>
        <p:spPr>
          <a:xfrm xmlns:a="http://schemas.openxmlformats.org/drawingml/2006/main">
            <a:off x="552450" y="1409700"/>
            <a:ext cx="10763250" cy="14288"/>
          </a:xfrm>
          <a:prstGeom xmlns:a="http://schemas.openxmlformats.org/drawingml/2006/main" prst="rect">
            <a:avLst/>
          </a:prstGeom>
          <a:solidFill xmlns:a="http://schemas.openxmlformats.org/drawingml/2006/main">
            <a:srgbClr val="D8D1C4"/>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23A74946-E1CD-48CC-B68F-7F6851690E53}"/>
              </a:ext>
            </a:extLst>
          </p:cNvPr>
          <p:cNvSpPr>
            <a:spLocks xmlns:a="http://schemas.openxmlformats.org/drawingml/2006/main" noGrp="1"/>
          </p:cNvSpPr>
          <p:nvPr/>
        </p:nvSpPr>
        <p:spPr>
          <a:xfrm xmlns:a="http://schemas.openxmlformats.org/drawingml/2006/main">
            <a:off x="666750" y="1676400"/>
            <a:ext cx="1619250" cy="457200"/>
          </a:xfrm>
          <a:prstGeom xmlns:a="http://schemas.openxmlformats.org/drawingml/2006/main" prst="rect">
            <a:avLst/>
          </a:prstGeom>
          <a:solidFill xmlns:a="http://schemas.openxmlformats.org/drawingml/2006/main">
            <a:srgbClr val="1D1B18"/>
          </a:solidFill>
          <a:ln xmlns:a="http://schemas.openxmlformats.org/drawingml/2006/main" w="6668">
            <a:solidFill>
              <a:srgbClr val="D8D1C4"/>
            </a:solidFill>
            <a:prstDash val="solid"/>
          </a:ln>
        </p:spPr>
      </p:sp>
      <p:sp>
        <p:nvSpPr>
          <p:cNvPr id="6" name="">
            <a:extLst xmlns:a="http://schemas.openxmlformats.org/drawingml/2006/main">
              <a:ext uri="{FF2B5EF4-FFF2-40B4-BE49-F238E27FC236}">
                <a16:creationId xmlns:a16="http://schemas.microsoft.com/office/drawing/2014/main" id="{7F1A33B7-CE07-42F4-BB58-E3604CF92FDB}"/>
              </a:ext>
            </a:extLst>
          </p:cNvPr>
          <p:cNvSpPr>
            <a:spLocks xmlns:a="http://schemas.openxmlformats.org/drawingml/2006/main" noGrp="1"/>
          </p:cNvSpPr>
          <p:nvPr/>
        </p:nvSpPr>
        <p:spPr>
          <a:xfrm xmlns:a="http://schemas.openxmlformats.org/drawingml/2006/main">
            <a:off x="752475" y="1743075"/>
            <a:ext cx="14478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FFFFFF"/>
                </a:solidFill>
                <a:latin typeface="Aptos"/>
                <a:ea typeface="Aptos"/>
                <a:cs typeface="Aptos"/>
              </a:defRPr>
            </a:pPr>
            <a:r>
              <a:rPr sz="900" b="1">
                <a:solidFill>
                  <a:srgbClr val="FFFFFF"/>
                </a:solidFill>
                <a:latin typeface="Aptos"/>
                <a:ea typeface="Aptos"/>
                <a:cs typeface="Aptos"/>
              </a:rPr>
              <a:t>来源</a:t>
            </a:r>
          </a:p>
        </p:txBody>
      </p:sp>
      <p:sp>
        <p:nvSpPr>
          <p:cNvPr id="7" name="">
            <a:extLst xmlns:a="http://schemas.openxmlformats.org/drawingml/2006/main">
              <a:ext uri="{FF2B5EF4-FFF2-40B4-BE49-F238E27FC236}">
                <a16:creationId xmlns:a16="http://schemas.microsoft.com/office/drawing/2014/main" id="{3154FA16-397A-402A-A81D-3F3061671B83}"/>
              </a:ext>
            </a:extLst>
          </p:cNvPr>
          <p:cNvSpPr>
            <a:spLocks xmlns:a="http://schemas.openxmlformats.org/drawingml/2006/main" noGrp="1"/>
          </p:cNvSpPr>
          <p:nvPr/>
        </p:nvSpPr>
        <p:spPr>
          <a:xfrm xmlns:a="http://schemas.openxmlformats.org/drawingml/2006/main">
            <a:off x="2286000" y="1676400"/>
            <a:ext cx="3714750" cy="457200"/>
          </a:xfrm>
          <a:prstGeom xmlns:a="http://schemas.openxmlformats.org/drawingml/2006/main" prst="rect">
            <a:avLst/>
          </a:prstGeom>
          <a:solidFill xmlns:a="http://schemas.openxmlformats.org/drawingml/2006/main">
            <a:srgbClr val="1D1B18"/>
          </a:solidFill>
          <a:ln xmlns:a="http://schemas.openxmlformats.org/drawingml/2006/main" w="6668">
            <a:solidFill>
              <a:srgbClr val="D8D1C4"/>
            </a:solidFill>
            <a:prstDash val="solid"/>
          </a:ln>
        </p:spPr>
      </p:sp>
      <p:sp>
        <p:nvSpPr>
          <p:cNvPr id="8" name="">
            <a:extLst xmlns:a="http://schemas.openxmlformats.org/drawingml/2006/main">
              <a:ext uri="{FF2B5EF4-FFF2-40B4-BE49-F238E27FC236}">
                <a16:creationId xmlns:a16="http://schemas.microsoft.com/office/drawing/2014/main" id="{9C4D60B5-5130-438B-8064-EF71812AA271}"/>
              </a:ext>
            </a:extLst>
          </p:cNvPr>
          <p:cNvSpPr>
            <a:spLocks xmlns:a="http://schemas.openxmlformats.org/drawingml/2006/main" noGrp="1"/>
          </p:cNvSpPr>
          <p:nvPr/>
        </p:nvSpPr>
        <p:spPr>
          <a:xfrm xmlns:a="http://schemas.openxmlformats.org/drawingml/2006/main">
            <a:off x="2371725" y="1743075"/>
            <a:ext cx="35433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FFFFFF"/>
                </a:solidFill>
                <a:latin typeface="Aptos"/>
                <a:ea typeface="Aptos"/>
                <a:cs typeface="Aptos"/>
              </a:defRPr>
            </a:pPr>
            <a:r>
              <a:rPr sz="900" b="1">
                <a:solidFill>
                  <a:srgbClr val="FFFFFF"/>
                </a:solidFill>
                <a:latin typeface="Aptos"/>
                <a:ea typeface="Aptos"/>
                <a:cs typeface="Aptos"/>
              </a:rPr>
              <a:t>链接</a:t>
            </a:r>
          </a:p>
        </p:txBody>
      </p:sp>
      <p:sp>
        <p:nvSpPr>
          <p:cNvPr id="9" name="">
            <a:extLst xmlns:a="http://schemas.openxmlformats.org/drawingml/2006/main">
              <a:ext uri="{FF2B5EF4-FFF2-40B4-BE49-F238E27FC236}">
                <a16:creationId xmlns:a16="http://schemas.microsoft.com/office/drawing/2014/main" id="{F5EFEED2-FE4E-4249-A499-0D7BEB7FAA0E}"/>
              </a:ext>
            </a:extLst>
          </p:cNvPr>
          <p:cNvSpPr>
            <a:spLocks xmlns:a="http://schemas.openxmlformats.org/drawingml/2006/main" noGrp="1"/>
          </p:cNvSpPr>
          <p:nvPr/>
        </p:nvSpPr>
        <p:spPr>
          <a:xfrm xmlns:a="http://schemas.openxmlformats.org/drawingml/2006/main">
            <a:off x="6000750" y="1676400"/>
            <a:ext cx="5029200" cy="457200"/>
          </a:xfrm>
          <a:prstGeom xmlns:a="http://schemas.openxmlformats.org/drawingml/2006/main" prst="rect">
            <a:avLst/>
          </a:prstGeom>
          <a:solidFill xmlns:a="http://schemas.openxmlformats.org/drawingml/2006/main">
            <a:srgbClr val="1D1B18"/>
          </a:solidFill>
          <a:ln xmlns:a="http://schemas.openxmlformats.org/drawingml/2006/main" w="6668">
            <a:solidFill>
              <a:srgbClr val="D8D1C4"/>
            </a:solidFill>
            <a:prstDash val="solid"/>
          </a:ln>
        </p:spPr>
      </p:sp>
      <p:sp>
        <p:nvSpPr>
          <p:cNvPr id="10" name="">
            <a:extLst xmlns:a="http://schemas.openxmlformats.org/drawingml/2006/main">
              <a:ext uri="{FF2B5EF4-FFF2-40B4-BE49-F238E27FC236}">
                <a16:creationId xmlns:a16="http://schemas.microsoft.com/office/drawing/2014/main" id="{6EE81B0B-72D1-4C72-851A-6C40E9FA50ED}"/>
              </a:ext>
            </a:extLst>
          </p:cNvPr>
          <p:cNvSpPr>
            <a:spLocks xmlns:a="http://schemas.openxmlformats.org/drawingml/2006/main" noGrp="1"/>
          </p:cNvSpPr>
          <p:nvPr/>
        </p:nvSpPr>
        <p:spPr>
          <a:xfrm xmlns:a="http://schemas.openxmlformats.org/drawingml/2006/main">
            <a:off x="6086475" y="1743075"/>
            <a:ext cx="485775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FFFFFF"/>
                </a:solidFill>
                <a:latin typeface="Aptos"/>
                <a:ea typeface="Aptos"/>
                <a:cs typeface="Aptos"/>
              </a:defRPr>
            </a:pPr>
            <a:r>
              <a:rPr sz="900" b="1">
                <a:solidFill>
                  <a:srgbClr val="FFFFFF"/>
                </a:solidFill>
                <a:latin typeface="Aptos"/>
                <a:ea typeface="Aptos"/>
                <a:cs typeface="Aptos"/>
              </a:rPr>
              <a:t>用途</a:t>
            </a:r>
          </a:p>
        </p:txBody>
      </p:sp>
      <p:sp>
        <p:nvSpPr>
          <p:cNvPr id="11" name="">
            <a:extLst xmlns:a="http://schemas.openxmlformats.org/drawingml/2006/main">
              <a:ext uri="{FF2B5EF4-FFF2-40B4-BE49-F238E27FC236}">
                <a16:creationId xmlns:a16="http://schemas.microsoft.com/office/drawing/2014/main" id="{1115AB38-58A6-4E93-9905-456FDA4BF3D2}"/>
              </a:ext>
            </a:extLst>
          </p:cNvPr>
          <p:cNvSpPr>
            <a:spLocks xmlns:a="http://schemas.openxmlformats.org/drawingml/2006/main" noGrp="1"/>
          </p:cNvSpPr>
          <p:nvPr/>
        </p:nvSpPr>
        <p:spPr>
          <a:xfrm xmlns:a="http://schemas.openxmlformats.org/drawingml/2006/main">
            <a:off x="666750" y="2133600"/>
            <a:ext cx="1619250" cy="457200"/>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12" name="">
            <a:extLst xmlns:a="http://schemas.openxmlformats.org/drawingml/2006/main">
              <a:ext uri="{FF2B5EF4-FFF2-40B4-BE49-F238E27FC236}">
                <a16:creationId xmlns:a16="http://schemas.microsoft.com/office/drawing/2014/main" id="{1C32BC44-DCA9-47FD-9D59-3ED7621FA2C2}"/>
              </a:ext>
            </a:extLst>
          </p:cNvPr>
          <p:cNvSpPr>
            <a:spLocks xmlns:a="http://schemas.openxmlformats.org/drawingml/2006/main" noGrp="1"/>
          </p:cNvSpPr>
          <p:nvPr/>
        </p:nvSpPr>
        <p:spPr>
          <a:xfrm xmlns:a="http://schemas.openxmlformats.org/drawingml/2006/main">
            <a:off x="752475" y="2200275"/>
            <a:ext cx="14478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1D1B18"/>
                </a:solidFill>
                <a:latin typeface="Aptos"/>
                <a:ea typeface="Aptos"/>
                <a:cs typeface="Aptos"/>
              </a:defRPr>
            </a:pPr>
            <a:r>
              <a:rPr sz="900" b="0">
                <a:solidFill>
                  <a:srgbClr val="1D1B18"/>
                </a:solidFill>
                <a:latin typeface="Aptos"/>
                <a:ea typeface="Aptos"/>
                <a:cs typeface="Aptos"/>
              </a:rPr>
              <a:t>Peng et al. 2025</a:t>
            </a:r>
          </a:p>
        </p:txBody>
      </p:sp>
      <p:sp>
        <p:nvSpPr>
          <p:cNvPr id="13" name="">
            <a:extLst xmlns:a="http://schemas.openxmlformats.org/drawingml/2006/main">
              <a:ext uri="{FF2B5EF4-FFF2-40B4-BE49-F238E27FC236}">
                <a16:creationId xmlns:a16="http://schemas.microsoft.com/office/drawing/2014/main" id="{FF841ABC-9545-4EF9-AE9F-6DA494E60013}"/>
              </a:ext>
            </a:extLst>
          </p:cNvPr>
          <p:cNvSpPr>
            <a:spLocks xmlns:a="http://schemas.openxmlformats.org/drawingml/2006/main" noGrp="1"/>
          </p:cNvSpPr>
          <p:nvPr/>
        </p:nvSpPr>
        <p:spPr>
          <a:xfrm xmlns:a="http://schemas.openxmlformats.org/drawingml/2006/main">
            <a:off x="2286000" y="2133600"/>
            <a:ext cx="3714750" cy="457200"/>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14" name="">
            <a:extLst xmlns:a="http://schemas.openxmlformats.org/drawingml/2006/main">
              <a:ext uri="{FF2B5EF4-FFF2-40B4-BE49-F238E27FC236}">
                <a16:creationId xmlns:a16="http://schemas.microsoft.com/office/drawing/2014/main" id="{9C6B1907-0FC5-4DA9-937C-505C255FE1C5}"/>
              </a:ext>
            </a:extLst>
          </p:cNvPr>
          <p:cNvSpPr>
            <a:spLocks xmlns:a="http://schemas.openxmlformats.org/drawingml/2006/main" noGrp="1"/>
          </p:cNvSpPr>
          <p:nvPr/>
        </p:nvSpPr>
        <p:spPr>
          <a:xfrm xmlns:a="http://schemas.openxmlformats.org/drawingml/2006/main">
            <a:off x="2371725" y="2200275"/>
            <a:ext cx="35433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1D1B18"/>
                </a:solidFill>
                <a:latin typeface="Aptos"/>
                <a:ea typeface="Aptos"/>
                <a:cs typeface="Aptos"/>
              </a:defRPr>
            </a:pPr>
            <a:r>
              <a:rPr sz="900" b="0">
                <a:solidFill>
                  <a:srgbClr val="1D1B18"/>
                </a:solidFill>
                <a:latin typeface="Aptos"/>
                <a:ea typeface="Aptos"/>
                <a:cs typeface="Aptos"/>
              </a:rPr>
              <a:t>nature.com/articles/s41561-025-01700-9</a:t>
            </a:r>
          </a:p>
        </p:txBody>
      </p:sp>
      <p:sp>
        <p:nvSpPr>
          <p:cNvPr id="15" name="">
            <a:extLst xmlns:a="http://schemas.openxmlformats.org/drawingml/2006/main">
              <a:ext uri="{FF2B5EF4-FFF2-40B4-BE49-F238E27FC236}">
                <a16:creationId xmlns:a16="http://schemas.microsoft.com/office/drawing/2014/main" id="{5F3F06F8-9903-4A65-8F7A-29286922DFDA}"/>
              </a:ext>
            </a:extLst>
          </p:cNvPr>
          <p:cNvSpPr>
            <a:spLocks xmlns:a="http://schemas.openxmlformats.org/drawingml/2006/main" noGrp="1"/>
          </p:cNvSpPr>
          <p:nvPr/>
        </p:nvSpPr>
        <p:spPr>
          <a:xfrm xmlns:a="http://schemas.openxmlformats.org/drawingml/2006/main">
            <a:off x="6000750" y="2133600"/>
            <a:ext cx="5029200" cy="457200"/>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16" name="">
            <a:extLst xmlns:a="http://schemas.openxmlformats.org/drawingml/2006/main">
              <a:ext uri="{FF2B5EF4-FFF2-40B4-BE49-F238E27FC236}">
                <a16:creationId xmlns:a16="http://schemas.microsoft.com/office/drawing/2014/main" id="{4163374D-61F0-409A-ABAC-AD624780009C}"/>
              </a:ext>
            </a:extLst>
          </p:cNvPr>
          <p:cNvSpPr>
            <a:spLocks xmlns:a="http://schemas.openxmlformats.org/drawingml/2006/main" noGrp="1"/>
          </p:cNvSpPr>
          <p:nvPr/>
        </p:nvSpPr>
        <p:spPr>
          <a:xfrm xmlns:a="http://schemas.openxmlformats.org/drawingml/2006/main">
            <a:off x="6086475" y="2200275"/>
            <a:ext cx="485775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1D1B18"/>
                </a:solidFill>
                <a:latin typeface="Aptos"/>
                <a:ea typeface="Aptos"/>
                <a:cs typeface="Aptos"/>
              </a:defRPr>
            </a:pPr>
            <a:r>
              <a:rPr sz="900" b="0">
                <a:solidFill>
                  <a:srgbClr val="1D1B18"/>
                </a:solidFill>
                <a:latin typeface="Aptos"/>
                <a:ea typeface="Aptos"/>
                <a:cs typeface="Aptos"/>
              </a:rPr>
              <a:t>原文复现与问题来源</a:t>
            </a:r>
          </a:p>
        </p:txBody>
      </p:sp>
      <p:sp>
        <p:nvSpPr>
          <p:cNvPr id="17" name="">
            <a:extLst xmlns:a="http://schemas.openxmlformats.org/drawingml/2006/main">
              <a:ext uri="{FF2B5EF4-FFF2-40B4-BE49-F238E27FC236}">
                <a16:creationId xmlns:a16="http://schemas.microsoft.com/office/drawing/2014/main" id="{EC281888-8F2A-4060-AAEB-9FCA1D92C2ED}"/>
              </a:ext>
            </a:extLst>
          </p:cNvPr>
          <p:cNvSpPr>
            <a:spLocks xmlns:a="http://schemas.openxmlformats.org/drawingml/2006/main" noGrp="1"/>
          </p:cNvSpPr>
          <p:nvPr/>
        </p:nvSpPr>
        <p:spPr>
          <a:xfrm xmlns:a="http://schemas.openxmlformats.org/drawingml/2006/main">
            <a:off x="666750" y="2590800"/>
            <a:ext cx="1619250" cy="457200"/>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18" name="">
            <a:extLst xmlns:a="http://schemas.openxmlformats.org/drawingml/2006/main">
              <a:ext uri="{FF2B5EF4-FFF2-40B4-BE49-F238E27FC236}">
                <a16:creationId xmlns:a16="http://schemas.microsoft.com/office/drawing/2014/main" id="{603CC3DE-7942-4E8B-A27B-4CC8706B49F6}"/>
              </a:ext>
            </a:extLst>
          </p:cNvPr>
          <p:cNvSpPr>
            <a:spLocks xmlns:a="http://schemas.openxmlformats.org/drawingml/2006/main" noGrp="1"/>
          </p:cNvSpPr>
          <p:nvPr/>
        </p:nvSpPr>
        <p:spPr>
          <a:xfrm xmlns:a="http://schemas.openxmlformats.org/drawingml/2006/main">
            <a:off x="752475" y="2657475"/>
            <a:ext cx="14478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1D1B18"/>
                </a:solidFill>
                <a:latin typeface="Aptos"/>
                <a:ea typeface="Aptos"/>
                <a:cs typeface="Aptos"/>
              </a:defRPr>
            </a:pPr>
            <a:r>
              <a:rPr sz="900" b="0">
                <a:solidFill>
                  <a:srgbClr val="1D1B18"/>
                </a:solidFill>
                <a:latin typeface="Aptos"/>
                <a:ea typeface="Aptos"/>
                <a:cs typeface="Aptos"/>
              </a:rPr>
              <a:t>NOAA OISST</a:t>
            </a:r>
          </a:p>
        </p:txBody>
      </p:sp>
      <p:sp>
        <p:nvSpPr>
          <p:cNvPr id="19" name="">
            <a:extLst xmlns:a="http://schemas.openxmlformats.org/drawingml/2006/main">
              <a:ext uri="{FF2B5EF4-FFF2-40B4-BE49-F238E27FC236}">
                <a16:creationId xmlns:a16="http://schemas.microsoft.com/office/drawing/2014/main" id="{16B6FED6-CBA2-45B2-87BC-FC96E6B907B2}"/>
              </a:ext>
            </a:extLst>
          </p:cNvPr>
          <p:cNvSpPr>
            <a:spLocks xmlns:a="http://schemas.openxmlformats.org/drawingml/2006/main" noGrp="1"/>
          </p:cNvSpPr>
          <p:nvPr/>
        </p:nvSpPr>
        <p:spPr>
          <a:xfrm xmlns:a="http://schemas.openxmlformats.org/drawingml/2006/main">
            <a:off x="2286000" y="2590800"/>
            <a:ext cx="3714750" cy="457200"/>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20" name="">
            <a:extLst xmlns:a="http://schemas.openxmlformats.org/drawingml/2006/main">
              <a:ext uri="{FF2B5EF4-FFF2-40B4-BE49-F238E27FC236}">
                <a16:creationId xmlns:a16="http://schemas.microsoft.com/office/drawing/2014/main" id="{D0FA4CE8-858B-45C5-92FA-9EBDF42E9F77}"/>
              </a:ext>
            </a:extLst>
          </p:cNvPr>
          <p:cNvSpPr>
            <a:spLocks xmlns:a="http://schemas.openxmlformats.org/drawingml/2006/main" noGrp="1"/>
          </p:cNvSpPr>
          <p:nvPr/>
        </p:nvSpPr>
        <p:spPr>
          <a:xfrm xmlns:a="http://schemas.openxmlformats.org/drawingml/2006/main">
            <a:off x="2371725" y="2657475"/>
            <a:ext cx="35433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1D1B18"/>
                </a:solidFill>
                <a:latin typeface="Aptos"/>
                <a:ea typeface="Aptos"/>
                <a:cs typeface="Aptos"/>
              </a:defRPr>
            </a:pPr>
            <a:r>
              <a:rPr sz="900" b="0">
                <a:solidFill>
                  <a:srgbClr val="1D1B18"/>
                </a:solidFill>
                <a:latin typeface="Aptos"/>
                <a:ea typeface="Aptos"/>
                <a:cs typeface="Aptos"/>
              </a:rPr>
              <a:t>ncei.noaa.gov/products/optimum-interpolation-sst</a:t>
            </a:r>
          </a:p>
        </p:txBody>
      </p:sp>
      <p:sp>
        <p:nvSpPr>
          <p:cNvPr id="21" name="">
            <a:extLst xmlns:a="http://schemas.openxmlformats.org/drawingml/2006/main">
              <a:ext uri="{FF2B5EF4-FFF2-40B4-BE49-F238E27FC236}">
                <a16:creationId xmlns:a16="http://schemas.microsoft.com/office/drawing/2014/main" id="{8A8B206D-FAB0-495D-92FE-912043584F6A}"/>
              </a:ext>
            </a:extLst>
          </p:cNvPr>
          <p:cNvSpPr>
            <a:spLocks xmlns:a="http://schemas.openxmlformats.org/drawingml/2006/main" noGrp="1"/>
          </p:cNvSpPr>
          <p:nvPr/>
        </p:nvSpPr>
        <p:spPr>
          <a:xfrm xmlns:a="http://schemas.openxmlformats.org/drawingml/2006/main">
            <a:off x="6000750" y="2590800"/>
            <a:ext cx="5029200" cy="457200"/>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22" name="">
            <a:extLst xmlns:a="http://schemas.openxmlformats.org/drawingml/2006/main">
              <a:ext uri="{FF2B5EF4-FFF2-40B4-BE49-F238E27FC236}">
                <a16:creationId xmlns:a16="http://schemas.microsoft.com/office/drawing/2014/main" id="{1913793C-1D61-4A0D-8458-4A764FC1BF49}"/>
              </a:ext>
            </a:extLst>
          </p:cNvPr>
          <p:cNvSpPr>
            <a:spLocks xmlns:a="http://schemas.openxmlformats.org/drawingml/2006/main" noGrp="1"/>
          </p:cNvSpPr>
          <p:nvPr/>
        </p:nvSpPr>
        <p:spPr>
          <a:xfrm xmlns:a="http://schemas.openxmlformats.org/drawingml/2006/main">
            <a:off x="6086475" y="2657475"/>
            <a:ext cx="485775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1D1B18"/>
                </a:solidFill>
                <a:latin typeface="Aptos"/>
                <a:ea typeface="Aptos"/>
                <a:cs typeface="Aptos"/>
              </a:defRPr>
            </a:pPr>
            <a:r>
              <a:rPr sz="900" b="0">
                <a:solidFill>
                  <a:srgbClr val="1D1B18"/>
                </a:solidFill>
                <a:latin typeface="Aptos"/>
                <a:ea typeface="Aptos"/>
                <a:cs typeface="Aptos"/>
              </a:rPr>
              <a:t>海表温度</a:t>
            </a:r>
          </a:p>
        </p:txBody>
      </p:sp>
      <p:sp>
        <p:nvSpPr>
          <p:cNvPr id="23" name="">
            <a:extLst xmlns:a="http://schemas.openxmlformats.org/drawingml/2006/main">
              <a:ext uri="{FF2B5EF4-FFF2-40B4-BE49-F238E27FC236}">
                <a16:creationId xmlns:a16="http://schemas.microsoft.com/office/drawing/2014/main" id="{37FF41E7-5CE3-4784-B900-859574C1BEC1}"/>
              </a:ext>
            </a:extLst>
          </p:cNvPr>
          <p:cNvSpPr>
            <a:spLocks xmlns:a="http://schemas.openxmlformats.org/drawingml/2006/main" noGrp="1"/>
          </p:cNvSpPr>
          <p:nvPr/>
        </p:nvSpPr>
        <p:spPr>
          <a:xfrm xmlns:a="http://schemas.openxmlformats.org/drawingml/2006/main">
            <a:off x="666750" y="3048000"/>
            <a:ext cx="1619250" cy="457200"/>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24" name="">
            <a:extLst xmlns:a="http://schemas.openxmlformats.org/drawingml/2006/main">
              <a:ext uri="{FF2B5EF4-FFF2-40B4-BE49-F238E27FC236}">
                <a16:creationId xmlns:a16="http://schemas.microsoft.com/office/drawing/2014/main" id="{4956F974-2666-47B1-BE0E-DEA7FE05CF85}"/>
              </a:ext>
            </a:extLst>
          </p:cNvPr>
          <p:cNvSpPr>
            <a:spLocks xmlns:a="http://schemas.openxmlformats.org/drawingml/2006/main" noGrp="1"/>
          </p:cNvSpPr>
          <p:nvPr/>
        </p:nvSpPr>
        <p:spPr>
          <a:xfrm xmlns:a="http://schemas.openxmlformats.org/drawingml/2006/main">
            <a:off x="752475" y="3114675"/>
            <a:ext cx="14478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1D1B18"/>
                </a:solidFill>
                <a:latin typeface="Aptos"/>
                <a:ea typeface="Aptos"/>
                <a:cs typeface="Aptos"/>
              </a:defRPr>
            </a:pPr>
            <a:r>
              <a:rPr sz="900" b="0">
                <a:solidFill>
                  <a:srgbClr val="1D1B18"/>
                </a:solidFill>
                <a:latin typeface="Aptos"/>
                <a:ea typeface="Aptos"/>
                <a:cs typeface="Aptos"/>
              </a:rPr>
              <a:t>GPCP</a:t>
            </a:r>
          </a:p>
        </p:txBody>
      </p:sp>
      <p:sp>
        <p:nvSpPr>
          <p:cNvPr id="25" name="">
            <a:extLst xmlns:a="http://schemas.openxmlformats.org/drawingml/2006/main">
              <a:ext uri="{FF2B5EF4-FFF2-40B4-BE49-F238E27FC236}">
                <a16:creationId xmlns:a16="http://schemas.microsoft.com/office/drawing/2014/main" id="{4C1C55B4-B80D-4BD6-A8D0-2D3D693261F4}"/>
              </a:ext>
            </a:extLst>
          </p:cNvPr>
          <p:cNvSpPr>
            <a:spLocks xmlns:a="http://schemas.openxmlformats.org/drawingml/2006/main" noGrp="1"/>
          </p:cNvSpPr>
          <p:nvPr/>
        </p:nvSpPr>
        <p:spPr>
          <a:xfrm xmlns:a="http://schemas.openxmlformats.org/drawingml/2006/main">
            <a:off x="2286000" y="3048000"/>
            <a:ext cx="3714750" cy="457200"/>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26" name="">
            <a:extLst xmlns:a="http://schemas.openxmlformats.org/drawingml/2006/main">
              <a:ext uri="{FF2B5EF4-FFF2-40B4-BE49-F238E27FC236}">
                <a16:creationId xmlns:a16="http://schemas.microsoft.com/office/drawing/2014/main" id="{D8DC45B1-E1EA-4838-9520-75E9AD9D6998}"/>
              </a:ext>
            </a:extLst>
          </p:cNvPr>
          <p:cNvSpPr>
            <a:spLocks xmlns:a="http://schemas.openxmlformats.org/drawingml/2006/main" noGrp="1"/>
          </p:cNvSpPr>
          <p:nvPr/>
        </p:nvSpPr>
        <p:spPr>
          <a:xfrm xmlns:a="http://schemas.openxmlformats.org/drawingml/2006/main">
            <a:off x="2371725" y="3114675"/>
            <a:ext cx="35433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1D1B18"/>
                </a:solidFill>
                <a:latin typeface="Aptos"/>
                <a:ea typeface="Aptos"/>
                <a:cs typeface="Aptos"/>
              </a:defRPr>
            </a:pPr>
            <a:r>
              <a:rPr sz="900" b="0">
                <a:solidFill>
                  <a:srgbClr val="1D1B18"/>
                </a:solidFill>
                <a:latin typeface="Aptos"/>
                <a:ea typeface="Aptos"/>
                <a:cs typeface="Aptos"/>
              </a:rPr>
              <a:t>psl.noaa.gov/data/gridded/data.gpcp.html</a:t>
            </a:r>
          </a:p>
        </p:txBody>
      </p:sp>
      <p:sp>
        <p:nvSpPr>
          <p:cNvPr id="27" name="">
            <a:extLst xmlns:a="http://schemas.openxmlformats.org/drawingml/2006/main">
              <a:ext uri="{FF2B5EF4-FFF2-40B4-BE49-F238E27FC236}">
                <a16:creationId xmlns:a16="http://schemas.microsoft.com/office/drawing/2014/main" id="{4E13D562-0FC5-4B1F-AC6B-151C7E603AFE}"/>
              </a:ext>
            </a:extLst>
          </p:cNvPr>
          <p:cNvSpPr>
            <a:spLocks xmlns:a="http://schemas.openxmlformats.org/drawingml/2006/main" noGrp="1"/>
          </p:cNvSpPr>
          <p:nvPr/>
        </p:nvSpPr>
        <p:spPr>
          <a:xfrm xmlns:a="http://schemas.openxmlformats.org/drawingml/2006/main">
            <a:off x="6000750" y="3048000"/>
            <a:ext cx="5029200" cy="457200"/>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28" name="">
            <a:extLst xmlns:a="http://schemas.openxmlformats.org/drawingml/2006/main">
              <a:ext uri="{FF2B5EF4-FFF2-40B4-BE49-F238E27FC236}">
                <a16:creationId xmlns:a16="http://schemas.microsoft.com/office/drawing/2014/main" id="{439AFE67-84FA-4A2B-AF51-D39D379A2A7D}"/>
              </a:ext>
            </a:extLst>
          </p:cNvPr>
          <p:cNvSpPr>
            <a:spLocks xmlns:a="http://schemas.openxmlformats.org/drawingml/2006/main" noGrp="1"/>
          </p:cNvSpPr>
          <p:nvPr/>
        </p:nvSpPr>
        <p:spPr>
          <a:xfrm xmlns:a="http://schemas.openxmlformats.org/drawingml/2006/main">
            <a:off x="6086475" y="3114675"/>
            <a:ext cx="485775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1D1B18"/>
                </a:solidFill>
                <a:latin typeface="Aptos"/>
                <a:ea typeface="Aptos"/>
                <a:cs typeface="Aptos"/>
              </a:defRPr>
            </a:pPr>
            <a:r>
              <a:rPr sz="900" b="0">
                <a:solidFill>
                  <a:srgbClr val="1D1B18"/>
                </a:solidFill>
                <a:latin typeface="Aptos"/>
                <a:ea typeface="Aptos"/>
                <a:cs typeface="Aptos"/>
              </a:rPr>
              <a:t>降水</a:t>
            </a:r>
          </a:p>
        </p:txBody>
      </p:sp>
      <p:sp>
        <p:nvSpPr>
          <p:cNvPr id="29" name="">
            <a:extLst xmlns:a="http://schemas.openxmlformats.org/drawingml/2006/main">
              <a:ext uri="{FF2B5EF4-FFF2-40B4-BE49-F238E27FC236}">
                <a16:creationId xmlns:a16="http://schemas.microsoft.com/office/drawing/2014/main" id="{87D7D8B0-44D2-4919-AD77-FCAAC1B5E535}"/>
              </a:ext>
            </a:extLst>
          </p:cNvPr>
          <p:cNvSpPr>
            <a:spLocks xmlns:a="http://schemas.openxmlformats.org/drawingml/2006/main" noGrp="1"/>
          </p:cNvSpPr>
          <p:nvPr/>
        </p:nvSpPr>
        <p:spPr>
          <a:xfrm xmlns:a="http://schemas.openxmlformats.org/drawingml/2006/main">
            <a:off x="666750" y="3505200"/>
            <a:ext cx="1619250" cy="457200"/>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30" name="">
            <a:extLst xmlns:a="http://schemas.openxmlformats.org/drawingml/2006/main">
              <a:ext uri="{FF2B5EF4-FFF2-40B4-BE49-F238E27FC236}">
                <a16:creationId xmlns:a16="http://schemas.microsoft.com/office/drawing/2014/main" id="{C6631C20-D000-4E83-BBC2-7C04A357F282}"/>
              </a:ext>
            </a:extLst>
          </p:cNvPr>
          <p:cNvSpPr>
            <a:spLocks xmlns:a="http://schemas.openxmlformats.org/drawingml/2006/main" noGrp="1"/>
          </p:cNvSpPr>
          <p:nvPr/>
        </p:nvSpPr>
        <p:spPr>
          <a:xfrm xmlns:a="http://schemas.openxmlformats.org/drawingml/2006/main">
            <a:off x="752475" y="3571875"/>
            <a:ext cx="14478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1D1B18"/>
                </a:solidFill>
                <a:latin typeface="Aptos"/>
                <a:ea typeface="Aptos"/>
                <a:cs typeface="Aptos"/>
              </a:defRPr>
            </a:pPr>
            <a:r>
              <a:rPr sz="900" b="0">
                <a:solidFill>
                  <a:srgbClr val="1D1B18"/>
                </a:solidFill>
                <a:latin typeface="Aptos"/>
                <a:ea typeface="Aptos"/>
                <a:cs typeface="Aptos"/>
              </a:rPr>
              <a:t>NCEP/NCAR R1</a:t>
            </a:r>
          </a:p>
        </p:txBody>
      </p:sp>
      <p:sp>
        <p:nvSpPr>
          <p:cNvPr id="31" name="">
            <a:extLst xmlns:a="http://schemas.openxmlformats.org/drawingml/2006/main">
              <a:ext uri="{FF2B5EF4-FFF2-40B4-BE49-F238E27FC236}">
                <a16:creationId xmlns:a16="http://schemas.microsoft.com/office/drawing/2014/main" id="{8AB7D462-B65E-42F4-A21F-8C61E1FC6829}"/>
              </a:ext>
            </a:extLst>
          </p:cNvPr>
          <p:cNvSpPr>
            <a:spLocks xmlns:a="http://schemas.openxmlformats.org/drawingml/2006/main" noGrp="1"/>
          </p:cNvSpPr>
          <p:nvPr/>
        </p:nvSpPr>
        <p:spPr>
          <a:xfrm xmlns:a="http://schemas.openxmlformats.org/drawingml/2006/main">
            <a:off x="2286000" y="3505200"/>
            <a:ext cx="3714750" cy="457200"/>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32" name="">
            <a:extLst xmlns:a="http://schemas.openxmlformats.org/drawingml/2006/main">
              <a:ext uri="{FF2B5EF4-FFF2-40B4-BE49-F238E27FC236}">
                <a16:creationId xmlns:a16="http://schemas.microsoft.com/office/drawing/2014/main" id="{374CA2E8-6F09-451A-A642-491CEF970417}"/>
              </a:ext>
            </a:extLst>
          </p:cNvPr>
          <p:cNvSpPr>
            <a:spLocks xmlns:a="http://schemas.openxmlformats.org/drawingml/2006/main" noGrp="1"/>
          </p:cNvSpPr>
          <p:nvPr/>
        </p:nvSpPr>
        <p:spPr>
          <a:xfrm xmlns:a="http://schemas.openxmlformats.org/drawingml/2006/main">
            <a:off x="2371725" y="3571875"/>
            <a:ext cx="35433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1D1B18"/>
                </a:solidFill>
                <a:latin typeface="Aptos"/>
                <a:ea typeface="Aptos"/>
                <a:cs typeface="Aptos"/>
              </a:defRPr>
            </a:pPr>
            <a:r>
              <a:rPr sz="900" b="0">
                <a:solidFill>
                  <a:srgbClr val="1D1B18"/>
                </a:solidFill>
                <a:latin typeface="Aptos"/>
                <a:ea typeface="Aptos"/>
                <a:cs typeface="Aptos"/>
              </a:rPr>
              <a:t>psl.noaa.gov/data/reanalysis/</a:t>
            </a:r>
          </a:p>
        </p:txBody>
      </p:sp>
      <p:sp>
        <p:nvSpPr>
          <p:cNvPr id="33" name="">
            <a:extLst xmlns:a="http://schemas.openxmlformats.org/drawingml/2006/main">
              <a:ext uri="{FF2B5EF4-FFF2-40B4-BE49-F238E27FC236}">
                <a16:creationId xmlns:a16="http://schemas.microsoft.com/office/drawing/2014/main" id="{56116EC3-7715-4EBE-96FA-E9E39D8E3FE5}"/>
              </a:ext>
            </a:extLst>
          </p:cNvPr>
          <p:cNvSpPr>
            <a:spLocks xmlns:a="http://schemas.openxmlformats.org/drawingml/2006/main" noGrp="1"/>
          </p:cNvSpPr>
          <p:nvPr/>
        </p:nvSpPr>
        <p:spPr>
          <a:xfrm xmlns:a="http://schemas.openxmlformats.org/drawingml/2006/main">
            <a:off x="6000750" y="3505200"/>
            <a:ext cx="5029200" cy="457200"/>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34" name="">
            <a:extLst xmlns:a="http://schemas.openxmlformats.org/drawingml/2006/main">
              <a:ext uri="{FF2B5EF4-FFF2-40B4-BE49-F238E27FC236}">
                <a16:creationId xmlns:a16="http://schemas.microsoft.com/office/drawing/2014/main" id="{D8D503C9-EEF3-4212-A000-E1D3E3B05CA9}"/>
              </a:ext>
            </a:extLst>
          </p:cNvPr>
          <p:cNvSpPr>
            <a:spLocks xmlns:a="http://schemas.openxmlformats.org/drawingml/2006/main" noGrp="1"/>
          </p:cNvSpPr>
          <p:nvPr/>
        </p:nvSpPr>
        <p:spPr>
          <a:xfrm xmlns:a="http://schemas.openxmlformats.org/drawingml/2006/main">
            <a:off x="6086475" y="3571875"/>
            <a:ext cx="485775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1D1B18"/>
                </a:solidFill>
                <a:latin typeface="Aptos"/>
                <a:ea typeface="Aptos"/>
                <a:cs typeface="Aptos"/>
              </a:defRPr>
            </a:pPr>
            <a:r>
              <a:rPr sz="900" b="0">
                <a:solidFill>
                  <a:srgbClr val="1D1B18"/>
                </a:solidFill>
                <a:latin typeface="Aptos"/>
                <a:ea typeface="Aptos"/>
                <a:cs typeface="Aptos"/>
              </a:rPr>
              <a:t>风压 fallback</a:t>
            </a:r>
          </a:p>
        </p:txBody>
      </p:sp>
      <p:sp>
        <p:nvSpPr>
          <p:cNvPr id="35" name="">
            <a:extLst xmlns:a="http://schemas.openxmlformats.org/drawingml/2006/main">
              <a:ext uri="{FF2B5EF4-FFF2-40B4-BE49-F238E27FC236}">
                <a16:creationId xmlns:a16="http://schemas.microsoft.com/office/drawing/2014/main" id="{3E542E74-A62C-4C1C-93DC-3449C5503222}"/>
              </a:ext>
            </a:extLst>
          </p:cNvPr>
          <p:cNvSpPr>
            <a:spLocks xmlns:a="http://schemas.openxmlformats.org/drawingml/2006/main" noGrp="1"/>
          </p:cNvSpPr>
          <p:nvPr/>
        </p:nvSpPr>
        <p:spPr>
          <a:xfrm xmlns:a="http://schemas.openxmlformats.org/drawingml/2006/main">
            <a:off x="666750" y="3962400"/>
            <a:ext cx="1619250" cy="457200"/>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36" name="">
            <a:extLst xmlns:a="http://schemas.openxmlformats.org/drawingml/2006/main">
              <a:ext uri="{FF2B5EF4-FFF2-40B4-BE49-F238E27FC236}">
                <a16:creationId xmlns:a16="http://schemas.microsoft.com/office/drawing/2014/main" id="{680CACCB-5CAE-426F-B623-72F36FA47535}"/>
              </a:ext>
            </a:extLst>
          </p:cNvPr>
          <p:cNvSpPr>
            <a:spLocks xmlns:a="http://schemas.openxmlformats.org/drawingml/2006/main" noGrp="1"/>
          </p:cNvSpPr>
          <p:nvPr/>
        </p:nvSpPr>
        <p:spPr>
          <a:xfrm xmlns:a="http://schemas.openxmlformats.org/drawingml/2006/main">
            <a:off x="752475" y="4029075"/>
            <a:ext cx="14478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1D1B18"/>
                </a:solidFill>
                <a:latin typeface="Aptos"/>
                <a:ea typeface="Aptos"/>
                <a:cs typeface="Aptos"/>
              </a:defRPr>
            </a:pPr>
            <a:r>
              <a:rPr sz="900" b="0">
                <a:solidFill>
                  <a:srgbClr val="1D1B18"/>
                </a:solidFill>
                <a:latin typeface="Aptos"/>
                <a:ea typeface="Aptos"/>
                <a:cs typeface="Aptos"/>
              </a:rPr>
              <a:t>ERA5</a:t>
            </a:r>
          </a:p>
        </p:txBody>
      </p:sp>
      <p:sp>
        <p:nvSpPr>
          <p:cNvPr id="37" name="">
            <a:extLst xmlns:a="http://schemas.openxmlformats.org/drawingml/2006/main">
              <a:ext uri="{FF2B5EF4-FFF2-40B4-BE49-F238E27FC236}">
                <a16:creationId xmlns:a16="http://schemas.microsoft.com/office/drawing/2014/main" id="{B7535737-E9AB-4F52-92CF-8A4124197559}"/>
              </a:ext>
            </a:extLst>
          </p:cNvPr>
          <p:cNvSpPr>
            <a:spLocks xmlns:a="http://schemas.openxmlformats.org/drawingml/2006/main" noGrp="1"/>
          </p:cNvSpPr>
          <p:nvPr/>
        </p:nvSpPr>
        <p:spPr>
          <a:xfrm xmlns:a="http://schemas.openxmlformats.org/drawingml/2006/main">
            <a:off x="2286000" y="3962400"/>
            <a:ext cx="3714750" cy="457200"/>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38" name="">
            <a:extLst xmlns:a="http://schemas.openxmlformats.org/drawingml/2006/main">
              <a:ext uri="{FF2B5EF4-FFF2-40B4-BE49-F238E27FC236}">
                <a16:creationId xmlns:a16="http://schemas.microsoft.com/office/drawing/2014/main" id="{0B192416-DEFC-4D66-86D0-8CCD8E8B52D0}"/>
              </a:ext>
            </a:extLst>
          </p:cNvPr>
          <p:cNvSpPr>
            <a:spLocks xmlns:a="http://schemas.openxmlformats.org/drawingml/2006/main" noGrp="1"/>
          </p:cNvSpPr>
          <p:nvPr/>
        </p:nvSpPr>
        <p:spPr>
          <a:xfrm xmlns:a="http://schemas.openxmlformats.org/drawingml/2006/main">
            <a:off x="2371725" y="4029075"/>
            <a:ext cx="35433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1D1B18"/>
                </a:solidFill>
                <a:latin typeface="Aptos"/>
                <a:ea typeface="Aptos"/>
                <a:cs typeface="Aptos"/>
              </a:defRPr>
            </a:pPr>
            <a:r>
              <a:rPr sz="900" b="0">
                <a:solidFill>
                  <a:srgbClr val="1D1B18"/>
                </a:solidFill>
                <a:latin typeface="Aptos"/>
                <a:ea typeface="Aptos"/>
                <a:cs typeface="Aptos"/>
              </a:rPr>
              <a:t>cds.climate.copernicus.eu/datasets/reanalysis-era5-single-levels</a:t>
            </a:r>
          </a:p>
        </p:txBody>
      </p:sp>
      <p:sp>
        <p:nvSpPr>
          <p:cNvPr id="39" name="">
            <a:extLst xmlns:a="http://schemas.openxmlformats.org/drawingml/2006/main">
              <a:ext uri="{FF2B5EF4-FFF2-40B4-BE49-F238E27FC236}">
                <a16:creationId xmlns:a16="http://schemas.microsoft.com/office/drawing/2014/main" id="{B865086A-476C-40CA-A7A3-7B3A554E1E5D}"/>
              </a:ext>
            </a:extLst>
          </p:cNvPr>
          <p:cNvSpPr>
            <a:spLocks xmlns:a="http://schemas.openxmlformats.org/drawingml/2006/main" noGrp="1"/>
          </p:cNvSpPr>
          <p:nvPr/>
        </p:nvSpPr>
        <p:spPr>
          <a:xfrm xmlns:a="http://schemas.openxmlformats.org/drawingml/2006/main">
            <a:off x="6000750" y="3962400"/>
            <a:ext cx="5029200" cy="457200"/>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40" name="">
            <a:extLst xmlns:a="http://schemas.openxmlformats.org/drawingml/2006/main">
              <a:ext uri="{FF2B5EF4-FFF2-40B4-BE49-F238E27FC236}">
                <a16:creationId xmlns:a16="http://schemas.microsoft.com/office/drawing/2014/main" id="{BDB7D0C2-83B1-44C8-AAF3-7F12DAD263CC}"/>
              </a:ext>
            </a:extLst>
          </p:cNvPr>
          <p:cNvSpPr>
            <a:spLocks xmlns:a="http://schemas.openxmlformats.org/drawingml/2006/main" noGrp="1"/>
          </p:cNvSpPr>
          <p:nvPr/>
        </p:nvSpPr>
        <p:spPr>
          <a:xfrm xmlns:a="http://schemas.openxmlformats.org/drawingml/2006/main">
            <a:off x="6086475" y="4029075"/>
            <a:ext cx="485775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1D1B18"/>
                </a:solidFill>
                <a:latin typeface="Aptos"/>
                <a:ea typeface="Aptos"/>
                <a:cs typeface="Aptos"/>
              </a:defRPr>
            </a:pPr>
            <a:r>
              <a:rPr sz="900" b="0">
                <a:solidFill>
                  <a:srgbClr val="1D1B18"/>
                </a:solidFill>
                <a:latin typeface="Aptos"/>
                <a:ea typeface="Aptos"/>
                <a:cs typeface="Aptos"/>
              </a:rPr>
              <a:t>single-level u10/SLP 已用；下一步 pressure-level Walker</a:t>
            </a:r>
          </a:p>
        </p:txBody>
      </p:sp>
      <p:sp>
        <p:nvSpPr>
          <p:cNvPr id="41" name="">
            <a:extLst xmlns:a="http://schemas.openxmlformats.org/drawingml/2006/main">
              <a:ext uri="{FF2B5EF4-FFF2-40B4-BE49-F238E27FC236}">
                <a16:creationId xmlns:a16="http://schemas.microsoft.com/office/drawing/2014/main" id="{C428B6D2-15F2-44C3-8394-A3BABF4C5565}"/>
              </a:ext>
            </a:extLst>
          </p:cNvPr>
          <p:cNvSpPr>
            <a:spLocks xmlns:a="http://schemas.openxmlformats.org/drawingml/2006/main" noGrp="1"/>
          </p:cNvSpPr>
          <p:nvPr/>
        </p:nvSpPr>
        <p:spPr>
          <a:xfrm xmlns:a="http://schemas.openxmlformats.org/drawingml/2006/main">
            <a:off x="666750" y="4419600"/>
            <a:ext cx="1619250" cy="457200"/>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42" name="">
            <a:extLst xmlns:a="http://schemas.openxmlformats.org/drawingml/2006/main">
              <a:ext uri="{FF2B5EF4-FFF2-40B4-BE49-F238E27FC236}">
                <a16:creationId xmlns:a16="http://schemas.microsoft.com/office/drawing/2014/main" id="{125C82F7-3E78-45F1-9C61-FA26E2A1C3F0}"/>
              </a:ext>
            </a:extLst>
          </p:cNvPr>
          <p:cNvSpPr>
            <a:spLocks xmlns:a="http://schemas.openxmlformats.org/drawingml/2006/main" noGrp="1"/>
          </p:cNvSpPr>
          <p:nvPr/>
        </p:nvSpPr>
        <p:spPr>
          <a:xfrm xmlns:a="http://schemas.openxmlformats.org/drawingml/2006/main">
            <a:off x="752475" y="4486275"/>
            <a:ext cx="14478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1D1B18"/>
                </a:solidFill>
                <a:latin typeface="Aptos"/>
                <a:ea typeface="Aptos"/>
                <a:cs typeface="Aptos"/>
              </a:defRPr>
            </a:pPr>
            <a:r>
              <a:rPr sz="900" b="0">
                <a:solidFill>
                  <a:srgbClr val="1D1B18"/>
                </a:solidFill>
                <a:latin typeface="Aptos"/>
                <a:ea typeface="Aptos"/>
                <a:cs typeface="Aptos"/>
              </a:rPr>
              <a:t>NOAA OLR</a:t>
            </a:r>
          </a:p>
        </p:txBody>
      </p:sp>
      <p:sp>
        <p:nvSpPr>
          <p:cNvPr id="43" name="">
            <a:extLst xmlns:a="http://schemas.openxmlformats.org/drawingml/2006/main">
              <a:ext uri="{FF2B5EF4-FFF2-40B4-BE49-F238E27FC236}">
                <a16:creationId xmlns:a16="http://schemas.microsoft.com/office/drawing/2014/main" id="{471EE599-3317-45B3-8169-18041AEF5812}"/>
              </a:ext>
            </a:extLst>
          </p:cNvPr>
          <p:cNvSpPr>
            <a:spLocks xmlns:a="http://schemas.openxmlformats.org/drawingml/2006/main" noGrp="1"/>
          </p:cNvSpPr>
          <p:nvPr/>
        </p:nvSpPr>
        <p:spPr>
          <a:xfrm xmlns:a="http://schemas.openxmlformats.org/drawingml/2006/main">
            <a:off x="2286000" y="4419600"/>
            <a:ext cx="3714750" cy="457200"/>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44" name="">
            <a:extLst xmlns:a="http://schemas.openxmlformats.org/drawingml/2006/main">
              <a:ext uri="{FF2B5EF4-FFF2-40B4-BE49-F238E27FC236}">
                <a16:creationId xmlns:a16="http://schemas.microsoft.com/office/drawing/2014/main" id="{AAD5ECA9-87C7-4528-8726-BF5DDA016CC1}"/>
              </a:ext>
            </a:extLst>
          </p:cNvPr>
          <p:cNvSpPr>
            <a:spLocks xmlns:a="http://schemas.openxmlformats.org/drawingml/2006/main" noGrp="1"/>
          </p:cNvSpPr>
          <p:nvPr/>
        </p:nvSpPr>
        <p:spPr>
          <a:xfrm xmlns:a="http://schemas.openxmlformats.org/drawingml/2006/main">
            <a:off x="2371725" y="4486275"/>
            <a:ext cx="35433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1D1B18"/>
                </a:solidFill>
                <a:latin typeface="Aptos"/>
                <a:ea typeface="Aptos"/>
                <a:cs typeface="Aptos"/>
              </a:defRPr>
            </a:pPr>
            <a:r>
              <a:rPr sz="900" b="0">
                <a:solidFill>
                  <a:srgbClr val="1D1B18"/>
                </a:solidFill>
                <a:latin typeface="Aptos"/>
                <a:ea typeface="Aptos"/>
                <a:cs typeface="Aptos"/>
              </a:rPr>
              <a:t>psl.noaa.gov/data/gridded/data.interp_OLR.html</a:t>
            </a:r>
          </a:p>
        </p:txBody>
      </p:sp>
      <p:sp>
        <p:nvSpPr>
          <p:cNvPr id="45" name="">
            <a:extLst xmlns:a="http://schemas.openxmlformats.org/drawingml/2006/main">
              <a:ext uri="{FF2B5EF4-FFF2-40B4-BE49-F238E27FC236}">
                <a16:creationId xmlns:a16="http://schemas.microsoft.com/office/drawing/2014/main" id="{3EEC8722-0D85-47CE-9F6D-13F3D3A67B4C}"/>
              </a:ext>
            </a:extLst>
          </p:cNvPr>
          <p:cNvSpPr>
            <a:spLocks xmlns:a="http://schemas.openxmlformats.org/drawingml/2006/main" noGrp="1"/>
          </p:cNvSpPr>
          <p:nvPr/>
        </p:nvSpPr>
        <p:spPr>
          <a:xfrm xmlns:a="http://schemas.openxmlformats.org/drawingml/2006/main">
            <a:off x="6000750" y="4419600"/>
            <a:ext cx="5029200" cy="457200"/>
          </a:xfrm>
          <a:prstGeom xmlns:a="http://schemas.openxmlformats.org/drawingml/2006/main" prst="rect">
            <a:avLst/>
          </a:prstGeom>
          <a:solidFill xmlns:a="http://schemas.openxmlformats.org/drawingml/2006/main">
            <a:srgbClr val="F2ECDF"/>
          </a:solidFill>
          <a:ln xmlns:a="http://schemas.openxmlformats.org/drawingml/2006/main" w="6668">
            <a:solidFill>
              <a:srgbClr val="D8D1C4"/>
            </a:solidFill>
            <a:prstDash val="solid"/>
          </a:ln>
        </p:spPr>
      </p:sp>
      <p:sp>
        <p:nvSpPr>
          <p:cNvPr id="46" name="">
            <a:extLst xmlns:a="http://schemas.openxmlformats.org/drawingml/2006/main">
              <a:ext uri="{FF2B5EF4-FFF2-40B4-BE49-F238E27FC236}">
                <a16:creationId xmlns:a16="http://schemas.microsoft.com/office/drawing/2014/main" id="{4FC72C68-C940-4109-A950-66C530A28FCE}"/>
              </a:ext>
            </a:extLst>
          </p:cNvPr>
          <p:cNvSpPr>
            <a:spLocks xmlns:a="http://schemas.openxmlformats.org/drawingml/2006/main" noGrp="1"/>
          </p:cNvSpPr>
          <p:nvPr/>
        </p:nvSpPr>
        <p:spPr>
          <a:xfrm xmlns:a="http://schemas.openxmlformats.org/drawingml/2006/main">
            <a:off x="6086475" y="4486275"/>
            <a:ext cx="485775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1D1B18"/>
                </a:solidFill>
                <a:latin typeface="Aptos"/>
                <a:ea typeface="Aptos"/>
                <a:cs typeface="Aptos"/>
              </a:defRPr>
            </a:pPr>
            <a:r>
              <a:rPr sz="900" b="0">
                <a:solidFill>
                  <a:srgbClr val="1D1B18"/>
                </a:solidFill>
                <a:latin typeface="Aptos"/>
                <a:ea typeface="Aptos"/>
                <a:cs typeface="Aptos"/>
              </a:rPr>
              <a:t>下一步对流验证</a:t>
            </a:r>
          </a:p>
        </p:txBody>
      </p:sp>
      <p:sp>
        <p:nvSpPr>
          <p:cNvPr id="47" name="">
            <a:extLst xmlns:a="http://schemas.openxmlformats.org/drawingml/2006/main">
              <a:ext uri="{FF2B5EF4-FFF2-40B4-BE49-F238E27FC236}">
                <a16:creationId xmlns:a16="http://schemas.microsoft.com/office/drawing/2014/main" id="{F2267AA6-B430-4DC6-946A-054912EBA558}"/>
              </a:ext>
            </a:extLst>
          </p:cNvPr>
          <p:cNvSpPr>
            <a:spLocks xmlns:a="http://schemas.openxmlformats.org/drawingml/2006/main" noGrp="1"/>
          </p:cNvSpPr>
          <p:nvPr/>
        </p:nvSpPr>
        <p:spPr>
          <a:xfrm xmlns:a="http://schemas.openxmlformats.org/drawingml/2006/main">
            <a:off x="666750" y="4876800"/>
            <a:ext cx="1619250" cy="457200"/>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48" name="">
            <a:extLst xmlns:a="http://schemas.openxmlformats.org/drawingml/2006/main">
              <a:ext uri="{FF2B5EF4-FFF2-40B4-BE49-F238E27FC236}">
                <a16:creationId xmlns:a16="http://schemas.microsoft.com/office/drawing/2014/main" id="{ADAAA367-081B-41B9-8BE8-7BF0AF1F1E15}"/>
              </a:ext>
            </a:extLst>
          </p:cNvPr>
          <p:cNvSpPr>
            <a:spLocks xmlns:a="http://schemas.openxmlformats.org/drawingml/2006/main" noGrp="1"/>
          </p:cNvSpPr>
          <p:nvPr/>
        </p:nvSpPr>
        <p:spPr>
          <a:xfrm xmlns:a="http://schemas.openxmlformats.org/drawingml/2006/main">
            <a:off x="752475" y="4943475"/>
            <a:ext cx="14478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1D1B18"/>
                </a:solidFill>
                <a:latin typeface="Aptos"/>
                <a:ea typeface="Aptos"/>
                <a:cs typeface="Aptos"/>
              </a:defRPr>
            </a:pPr>
            <a:r>
              <a:rPr sz="900" b="0">
                <a:solidFill>
                  <a:srgbClr val="1D1B18"/>
                </a:solidFill>
                <a:latin typeface="Aptos"/>
                <a:ea typeface="Aptos"/>
                <a:cs typeface="Aptos"/>
              </a:rPr>
              <a:t>ERSSTv5</a:t>
            </a:r>
          </a:p>
        </p:txBody>
      </p:sp>
      <p:sp>
        <p:nvSpPr>
          <p:cNvPr id="49" name="">
            <a:extLst xmlns:a="http://schemas.openxmlformats.org/drawingml/2006/main">
              <a:ext uri="{FF2B5EF4-FFF2-40B4-BE49-F238E27FC236}">
                <a16:creationId xmlns:a16="http://schemas.microsoft.com/office/drawing/2014/main" id="{AA664A39-97A6-4B7E-8E07-F65A1B51B269}"/>
              </a:ext>
            </a:extLst>
          </p:cNvPr>
          <p:cNvSpPr>
            <a:spLocks xmlns:a="http://schemas.openxmlformats.org/drawingml/2006/main" noGrp="1"/>
          </p:cNvSpPr>
          <p:nvPr/>
        </p:nvSpPr>
        <p:spPr>
          <a:xfrm xmlns:a="http://schemas.openxmlformats.org/drawingml/2006/main">
            <a:off x="2286000" y="4876800"/>
            <a:ext cx="3714750" cy="457200"/>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50" name="">
            <a:extLst xmlns:a="http://schemas.openxmlformats.org/drawingml/2006/main">
              <a:ext uri="{FF2B5EF4-FFF2-40B4-BE49-F238E27FC236}">
                <a16:creationId xmlns:a16="http://schemas.microsoft.com/office/drawing/2014/main" id="{FAA9FAE0-29A2-4AE0-9CC5-6E48D22B859C}"/>
              </a:ext>
            </a:extLst>
          </p:cNvPr>
          <p:cNvSpPr>
            <a:spLocks xmlns:a="http://schemas.openxmlformats.org/drawingml/2006/main" noGrp="1"/>
          </p:cNvSpPr>
          <p:nvPr/>
        </p:nvSpPr>
        <p:spPr>
          <a:xfrm xmlns:a="http://schemas.openxmlformats.org/drawingml/2006/main">
            <a:off x="2371725" y="4943475"/>
            <a:ext cx="35433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1D1B18"/>
                </a:solidFill>
                <a:latin typeface="Aptos"/>
                <a:ea typeface="Aptos"/>
                <a:cs typeface="Aptos"/>
              </a:defRPr>
            </a:pPr>
            <a:r>
              <a:rPr sz="900" b="0">
                <a:solidFill>
                  <a:srgbClr val="1D1B18"/>
                </a:solidFill>
                <a:latin typeface="Aptos"/>
                <a:ea typeface="Aptos"/>
                <a:cs typeface="Aptos"/>
              </a:rPr>
              <a:t>ncei.noaa.gov/products/extended-reconstructed-sst</a:t>
            </a:r>
          </a:p>
        </p:txBody>
      </p:sp>
      <p:sp>
        <p:nvSpPr>
          <p:cNvPr id="51" name="">
            <a:extLst xmlns:a="http://schemas.openxmlformats.org/drawingml/2006/main">
              <a:ext uri="{FF2B5EF4-FFF2-40B4-BE49-F238E27FC236}">
                <a16:creationId xmlns:a16="http://schemas.microsoft.com/office/drawing/2014/main" id="{70684928-B945-4D6B-AD42-9F99106F1366}"/>
              </a:ext>
            </a:extLst>
          </p:cNvPr>
          <p:cNvSpPr>
            <a:spLocks xmlns:a="http://schemas.openxmlformats.org/drawingml/2006/main" noGrp="1"/>
          </p:cNvSpPr>
          <p:nvPr/>
        </p:nvSpPr>
        <p:spPr>
          <a:xfrm xmlns:a="http://schemas.openxmlformats.org/drawingml/2006/main">
            <a:off x="6000750" y="4876800"/>
            <a:ext cx="5029200" cy="457200"/>
          </a:xfrm>
          <a:prstGeom xmlns:a="http://schemas.openxmlformats.org/drawingml/2006/main" prst="rect">
            <a:avLst/>
          </a:prstGeom>
          <a:solidFill xmlns:a="http://schemas.openxmlformats.org/drawingml/2006/main">
            <a:srgbClr val="FFFAF1"/>
          </a:solidFill>
          <a:ln xmlns:a="http://schemas.openxmlformats.org/drawingml/2006/main" w="6668">
            <a:solidFill>
              <a:srgbClr val="D8D1C4"/>
            </a:solidFill>
            <a:prstDash val="solid"/>
          </a:ln>
        </p:spPr>
      </p:sp>
      <p:sp>
        <p:nvSpPr>
          <p:cNvPr id="52" name="">
            <a:extLst xmlns:a="http://schemas.openxmlformats.org/drawingml/2006/main">
              <a:ext uri="{FF2B5EF4-FFF2-40B4-BE49-F238E27FC236}">
                <a16:creationId xmlns:a16="http://schemas.microsoft.com/office/drawing/2014/main" id="{15C1D62C-0B6F-423E-B662-343DAD737BA2}"/>
              </a:ext>
            </a:extLst>
          </p:cNvPr>
          <p:cNvSpPr>
            <a:spLocks xmlns:a="http://schemas.openxmlformats.org/drawingml/2006/main" noGrp="1"/>
          </p:cNvSpPr>
          <p:nvPr/>
        </p:nvSpPr>
        <p:spPr>
          <a:xfrm xmlns:a="http://schemas.openxmlformats.org/drawingml/2006/main">
            <a:off x="6086475" y="4943475"/>
            <a:ext cx="485775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1D1B18"/>
                </a:solidFill>
                <a:latin typeface="Aptos"/>
                <a:ea typeface="Aptos"/>
                <a:cs typeface="Aptos"/>
              </a:defRPr>
            </a:pPr>
            <a:r>
              <a:rPr sz="900" b="0">
                <a:solidFill>
                  <a:srgbClr val="1D1B18"/>
                </a:solidFill>
                <a:latin typeface="Aptos"/>
                <a:ea typeface="Aptos"/>
                <a:cs typeface="Aptos"/>
              </a:rPr>
              <a:t>长记录稳健性</a:t>
            </a:r>
          </a:p>
        </p:txBody>
      </p:sp>
      <p:sp>
        <p:nvSpPr>
          <p:cNvPr id="53" name="">
            <a:extLst xmlns:a="http://schemas.openxmlformats.org/drawingml/2006/main">
              <a:ext uri="{FF2B5EF4-FFF2-40B4-BE49-F238E27FC236}">
                <a16:creationId xmlns:a16="http://schemas.microsoft.com/office/drawing/2014/main" id="{E74B0F78-F1B1-4661-AB6C-E7439D6C66DF}"/>
              </a:ext>
            </a:extLst>
          </p:cNvPr>
          <p:cNvSpPr>
            <a:spLocks xmlns:a="http://schemas.openxmlformats.org/drawingml/2006/main" noGrp="1"/>
          </p:cNvSpPr>
          <p:nvPr/>
        </p:nvSpPr>
        <p:spPr>
          <a:xfrm xmlns:a="http://schemas.openxmlformats.org/drawingml/2006/main">
            <a:off x="552450" y="6477000"/>
            <a:ext cx="106680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5D574F"/>
                </a:solidFill>
                <a:latin typeface="Aptos"/>
                <a:ea typeface="Aptos"/>
                <a:cs typeface="Aptos"/>
              </a:defRPr>
            </a:pPr>
            <a:r>
              <a:rPr sz="788" b="0">
                <a:solidFill>
                  <a:srgbClr val="5D574F"/>
                </a:solidFill>
                <a:latin typeface="Aptos"/>
                <a:ea typeface="Aptos"/>
                <a:cs typeface="Aptos"/>
              </a:rPr>
              <a:t>Full source log: docs/data_source_log.md.</a:t>
            </a:r>
          </a:p>
        </p:txBody>
      </p:sp>
    </p:spTree>
    <p:extLst>
      <p:ext uri="{BB962C8B-B14F-4D97-AF65-F5344CB8AC3E}">
        <p14:creationId xmlns:p14="http://schemas.microsoft.com/office/powerpoint/2010/main" val="136592762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2026-06-01T00:10:39.3420000Z</dcterms:created>
  <dcterms:modified xsi:type="dcterms:W3CDTF">2026-06-01T00:10:39.3430000Z</dcterms:modified>
</coreProperties>
</file>