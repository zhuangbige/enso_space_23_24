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15"/>
  </p:normalViewPr>
  <p:slideViewPr>
    <p:cSldViewPr snapToGrid="0">
      <p:cViewPr>
        <p:scale>
          <a:sx n="130" d="100"/>
          <a:sy n="130" d="100"/>
        </p:scale>
        <p:origin x="144"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C0A0D00C-7B8A-4910-94AB-F82D990BBEDD}"/>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66E9AC32-1F4F-4A99-8597-38DA5AC45F81}"/>
              </a:ext>
            </a:extLst>
          </p:cNvPr>
          <p:cNvSpPr>
            <a:spLocks noGrp="1"/>
          </p:cNvSpPr>
          <p:nvPr/>
        </p:nvSpPr>
        <p:spPr>
          <a:xfrm>
            <a:off x="609600" y="495300"/>
            <a:ext cx="2476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CC5A43"/>
                </a:solidFill>
                <a:latin typeface="Aptos"/>
                <a:ea typeface="Aptos"/>
                <a:cs typeface="Aptos"/>
              </a:defRPr>
            </a:pPr>
            <a:r>
              <a:rPr sz="1050" b="1">
                <a:solidFill>
                  <a:srgbClr val="CC5A43"/>
                </a:solidFill>
                <a:latin typeface="Aptos"/>
                <a:ea typeface="Aptos"/>
                <a:cs typeface="Aptos"/>
              </a:rPr>
              <a:t>Advisor Update</a:t>
            </a:r>
          </a:p>
        </p:txBody>
      </p:sp>
      <p:sp>
        <p:nvSpPr>
          <p:cNvPr id="3" name="矩形 2">
            <a:extLst>
              <a:ext uri="{FF2B5EF4-FFF2-40B4-BE49-F238E27FC236}">
                <a16:creationId xmlns:a16="http://schemas.microsoft.com/office/drawing/2014/main" id="{498599F0-6749-46A7-8390-CB8A2D418107}"/>
              </a:ext>
            </a:extLst>
          </p:cNvPr>
          <p:cNvSpPr>
            <a:spLocks noGrp="1"/>
          </p:cNvSpPr>
          <p:nvPr/>
        </p:nvSpPr>
        <p:spPr>
          <a:xfrm>
            <a:off x="609600" y="971550"/>
            <a:ext cx="8477250" cy="1790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1D1B18"/>
                </a:solidFill>
                <a:latin typeface="Aptos Display"/>
                <a:ea typeface="Aptos Display"/>
                <a:cs typeface="Aptos Display"/>
              </a:defRPr>
            </a:pPr>
            <a:r>
              <a:rPr sz="3000" b="1" dirty="0">
                <a:solidFill>
                  <a:srgbClr val="1D1B18"/>
                </a:solidFill>
                <a:latin typeface="Aptos Display"/>
                <a:ea typeface="Aptos Display"/>
                <a:cs typeface="Aptos Display"/>
              </a:rPr>
              <a:t>Atmosphere-ocean decoupling during the 2023/24 strong El Niño</a:t>
            </a:r>
          </a:p>
        </p:txBody>
      </p:sp>
      <p:sp>
        <p:nvSpPr>
          <p:cNvPr id="4" name="矩形 3">
            <a:extLst>
              <a:ext uri="{FF2B5EF4-FFF2-40B4-BE49-F238E27FC236}">
                <a16:creationId xmlns:a16="http://schemas.microsoft.com/office/drawing/2014/main" id="{96BAB6F0-E230-42FE-9F39-CB4FFCB3121B}"/>
              </a:ext>
            </a:extLst>
          </p:cNvPr>
          <p:cNvSpPr>
            <a:spLocks noGrp="1"/>
          </p:cNvSpPr>
          <p:nvPr/>
        </p:nvSpPr>
        <p:spPr>
          <a:xfrm>
            <a:off x="628650" y="3009900"/>
            <a:ext cx="895350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0">
                <a:solidFill>
                  <a:srgbClr val="6E675D"/>
                </a:solidFill>
                <a:latin typeface="Aptos"/>
                <a:ea typeface="Aptos"/>
                <a:cs typeface="Aptos"/>
              </a:defRPr>
            </a:pPr>
            <a:r>
              <a:rPr sz="1575" b="0">
                <a:solidFill>
                  <a:srgbClr val="6E675D"/>
                </a:solidFill>
                <a:latin typeface="Aptos"/>
                <a:ea typeface="Aptos"/>
                <a:cs typeface="Aptos"/>
              </a:rPr>
              <a:t>Main question: why did a strong oceanic event fail to trigger equally strong wind, pressure, rainfall, and convection responses?</a:t>
            </a:r>
          </a:p>
        </p:txBody>
      </p:sp>
      <p:sp>
        <p:nvSpPr>
          <p:cNvPr id="5" name="椭圆 4">
            <a:extLst>
              <a:ext uri="{FF2B5EF4-FFF2-40B4-BE49-F238E27FC236}">
                <a16:creationId xmlns:a16="http://schemas.microsoft.com/office/drawing/2014/main" id="{7311EF36-2AF1-45D7-B519-8C96697B8F06}"/>
              </a:ext>
            </a:extLst>
          </p:cNvPr>
          <p:cNvSpPr>
            <a:spLocks noGrp="1"/>
          </p:cNvSpPr>
          <p:nvPr/>
        </p:nvSpPr>
        <p:spPr>
          <a:xfrm>
            <a:off x="685800" y="42672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6" name="矩形 5">
            <a:extLst>
              <a:ext uri="{FF2B5EF4-FFF2-40B4-BE49-F238E27FC236}">
                <a16:creationId xmlns:a16="http://schemas.microsoft.com/office/drawing/2014/main" id="{B8EC87AF-8B42-4A82-9B32-90FAEBE3E146}"/>
              </a:ext>
            </a:extLst>
          </p:cNvPr>
          <p:cNvSpPr>
            <a:spLocks noGrp="1"/>
          </p:cNvSpPr>
          <p:nvPr/>
        </p:nvSpPr>
        <p:spPr>
          <a:xfrm>
            <a:off x="876300" y="4191000"/>
            <a:ext cx="8001000" cy="4857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Reproduce the core figures and metrics from Peng et al. 2025.</a:t>
            </a:r>
          </a:p>
        </p:txBody>
      </p:sp>
      <p:sp>
        <p:nvSpPr>
          <p:cNvPr id="7" name="椭圆 6">
            <a:extLst>
              <a:ext uri="{FF2B5EF4-FFF2-40B4-BE49-F238E27FC236}">
                <a16:creationId xmlns:a16="http://schemas.microsoft.com/office/drawing/2014/main" id="{44DC48D8-BED6-4BBB-A171-8638E60F5A41}"/>
              </a:ext>
            </a:extLst>
          </p:cNvPr>
          <p:cNvSpPr>
            <a:spLocks noGrp="1"/>
          </p:cNvSpPr>
          <p:nvPr/>
        </p:nvSpPr>
        <p:spPr>
          <a:xfrm>
            <a:off x="685800" y="48006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8" name="矩形 7">
            <a:extLst>
              <a:ext uri="{FF2B5EF4-FFF2-40B4-BE49-F238E27FC236}">
                <a16:creationId xmlns:a16="http://schemas.microsoft.com/office/drawing/2014/main" id="{41CE440F-0531-4FAF-B416-CE49220C05E6}"/>
              </a:ext>
            </a:extLst>
          </p:cNvPr>
          <p:cNvSpPr>
            <a:spLocks noGrp="1"/>
          </p:cNvSpPr>
          <p:nvPr/>
        </p:nvSpPr>
        <p:spPr>
          <a:xfrm>
            <a:off x="876300" y="4724400"/>
            <a:ext cx="8001000" cy="4857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Validate the ocean-strong / atmosphere-weak signal with public datasets.</a:t>
            </a:r>
          </a:p>
        </p:txBody>
      </p:sp>
      <p:sp>
        <p:nvSpPr>
          <p:cNvPr id="9" name="椭圆 8">
            <a:extLst>
              <a:ext uri="{FF2B5EF4-FFF2-40B4-BE49-F238E27FC236}">
                <a16:creationId xmlns:a16="http://schemas.microsoft.com/office/drawing/2014/main" id="{E52EDA1F-5026-4F2F-AE21-66B8CE360809}"/>
              </a:ext>
            </a:extLst>
          </p:cNvPr>
          <p:cNvSpPr>
            <a:spLocks noGrp="1"/>
          </p:cNvSpPr>
          <p:nvPr/>
        </p:nvSpPr>
        <p:spPr>
          <a:xfrm>
            <a:off x="685800" y="53340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0" name="矩形 9">
            <a:extLst>
              <a:ext uri="{FF2B5EF4-FFF2-40B4-BE49-F238E27FC236}">
                <a16:creationId xmlns:a16="http://schemas.microsoft.com/office/drawing/2014/main" id="{C26FD2D5-7BB3-45C1-892B-FACE168C8D43}"/>
              </a:ext>
            </a:extLst>
          </p:cNvPr>
          <p:cNvSpPr>
            <a:spLocks noGrp="1"/>
          </p:cNvSpPr>
          <p:nvPr/>
        </p:nvSpPr>
        <p:spPr>
          <a:xfrm>
            <a:off x="889747" y="5257800"/>
            <a:ext cx="8001000" cy="4857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dirty="0">
                <a:solidFill>
                  <a:srgbClr val="1D1B18"/>
                </a:solidFill>
                <a:latin typeface="Aptos"/>
                <a:ea typeface="Aptos"/>
                <a:cs typeface="Aptos"/>
              </a:rPr>
              <a:t>Extend the analysis to AMJ/JJA historical comparisons.</a:t>
            </a:r>
          </a:p>
        </p:txBody>
      </p:sp>
      <p:sp>
        <p:nvSpPr>
          <p:cNvPr id="11" name="椭圆 10">
            <a:extLst>
              <a:ext uri="{FF2B5EF4-FFF2-40B4-BE49-F238E27FC236}">
                <a16:creationId xmlns:a16="http://schemas.microsoft.com/office/drawing/2014/main" id="{9A4187F4-9BED-46E0-A319-365557CD4876}"/>
              </a:ext>
            </a:extLst>
          </p:cNvPr>
          <p:cNvSpPr>
            <a:spLocks noGrp="1"/>
          </p:cNvSpPr>
          <p:nvPr/>
        </p:nvSpPr>
        <p:spPr>
          <a:xfrm>
            <a:off x="9639300" y="1123950"/>
            <a:ext cx="1409700" cy="1409700"/>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2" name="椭圆 11">
            <a:extLst>
              <a:ext uri="{FF2B5EF4-FFF2-40B4-BE49-F238E27FC236}">
                <a16:creationId xmlns:a16="http://schemas.microsoft.com/office/drawing/2014/main" id="{44E98E58-672E-4171-992B-7D547E591B34}"/>
              </a:ext>
            </a:extLst>
          </p:cNvPr>
          <p:cNvSpPr>
            <a:spLocks noGrp="1"/>
          </p:cNvSpPr>
          <p:nvPr/>
        </p:nvSpPr>
        <p:spPr>
          <a:xfrm>
            <a:off x="10229850" y="2933700"/>
            <a:ext cx="876300" cy="876300"/>
          </a:xfrm>
          <a:prstGeom prst="ellipse">
            <a:avLst/>
          </a:prstGeom>
          <a:solidFill>
            <a:srgbClr val="2F6F73"/>
          </a:solidFill>
          <a:ln w="0">
            <a:solidFill>
              <a:srgbClr val="000000">
                <a:alpha val="0"/>
              </a:srgbClr>
            </a:solidFill>
            <a:prstDash val="solid"/>
          </a:ln>
        </p:spPr>
        <p:txBody>
          <a:bodyPr/>
          <a:lstStyle/>
          <a:p>
            <a:endParaRPr lang="zh-CN" altLang="en-US"/>
          </a:p>
        </p:txBody>
      </p:sp>
      <p:sp>
        <p:nvSpPr>
          <p:cNvPr id="13" name="矩形 12">
            <a:extLst>
              <a:ext uri="{FF2B5EF4-FFF2-40B4-BE49-F238E27FC236}">
                <a16:creationId xmlns:a16="http://schemas.microsoft.com/office/drawing/2014/main" id="{0BBEAFA5-53CB-4B8D-A55E-8124DD2A1EAA}"/>
              </a:ext>
            </a:extLst>
          </p:cNvPr>
          <p:cNvSpPr>
            <a:spLocks noGrp="1"/>
          </p:cNvSpPr>
          <p:nvPr/>
        </p:nvSpPr>
        <p:spPr>
          <a:xfrm>
            <a:off x="9486900" y="4333875"/>
            <a:ext cx="1676400" cy="209550"/>
          </a:xfrm>
          <a:prstGeom prst="rect">
            <a:avLst/>
          </a:prstGeom>
          <a:solidFill>
            <a:srgbClr val="4A5F99"/>
          </a:solidFill>
          <a:ln w="0">
            <a:solidFill>
              <a:srgbClr val="000000">
                <a:alpha val="0"/>
              </a:srgbClr>
            </a:solidFill>
            <a:prstDash val="solid"/>
          </a:ln>
        </p:spPr>
        <p:txBody>
          <a:bodyPr/>
          <a:lstStyle/>
          <a:p>
            <a:endParaRPr lang="zh-CN" altLang="en-US"/>
          </a:p>
        </p:txBody>
      </p:sp>
      <p:sp>
        <p:nvSpPr>
          <p:cNvPr id="14" name="矩形 13">
            <a:extLst>
              <a:ext uri="{FF2B5EF4-FFF2-40B4-BE49-F238E27FC236}">
                <a16:creationId xmlns:a16="http://schemas.microsoft.com/office/drawing/2014/main" id="{1B029211-82E8-41AE-9158-4A82E4BED377}"/>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Peng et al. 2025; NOAA OISST v2.1; GPCP; NCEP/NCAR R1. Briefing date: 2026-05-23.</a:t>
            </a:r>
          </a:p>
        </p:txBody>
      </p:sp>
    </p:spTree>
    <p:extLst>
      <p:ext uri="{BB962C8B-B14F-4D97-AF65-F5344CB8AC3E}">
        <p14:creationId xmlns:p14="http://schemas.microsoft.com/office/powerpoint/2010/main" val="302823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a:extLst>
              <a:ext uri="{FF2B5EF4-FFF2-40B4-BE49-F238E27FC236}">
                <a16:creationId xmlns:a16="http://schemas.microsoft.com/office/drawing/2014/main" id="{80A9154B-F528-4733-A838-DCDF16AFC6BD}"/>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3738540C-B3A3-4710-A5B7-E48C70E38208}"/>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Bottom Line</a:t>
            </a:r>
          </a:p>
        </p:txBody>
      </p:sp>
      <p:sp>
        <p:nvSpPr>
          <p:cNvPr id="3" name="矩形 2">
            <a:extLst>
              <a:ext uri="{FF2B5EF4-FFF2-40B4-BE49-F238E27FC236}">
                <a16:creationId xmlns:a16="http://schemas.microsoft.com/office/drawing/2014/main" id="{2AB63BBB-87B5-44E2-9F2E-54D692162CB6}"/>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The work has moved from reproduction into first-layer original diagnostics</a:t>
            </a:r>
          </a:p>
        </p:txBody>
      </p:sp>
      <p:sp>
        <p:nvSpPr>
          <p:cNvPr id="4" name="矩形 3">
            <a:extLst>
              <a:ext uri="{FF2B5EF4-FFF2-40B4-BE49-F238E27FC236}">
                <a16:creationId xmlns:a16="http://schemas.microsoft.com/office/drawing/2014/main" id="{E7406443-F4AC-4B58-BBDE-D293E0336145}"/>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533E66CC-F0C4-4EB3-9B50-6318A1B151C1}"/>
              </a:ext>
            </a:extLst>
          </p:cNvPr>
          <p:cNvSpPr>
            <a:spLocks noGrp="1"/>
          </p:cNvSpPr>
          <p:nvPr/>
        </p:nvSpPr>
        <p:spPr>
          <a:xfrm>
            <a:off x="800100" y="1809750"/>
            <a:ext cx="9620250" cy="1295400"/>
          </a:xfrm>
          <a:prstGeom prst="rect">
            <a:avLst/>
          </a:prstGeom>
          <a:solidFill>
            <a:srgbClr val="F5E5DF"/>
          </a:solidFill>
          <a:ln w="9525">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6B06FC9A-0374-428C-A80F-55E3A6959570}"/>
              </a:ext>
            </a:extLst>
          </p:cNvPr>
          <p:cNvSpPr>
            <a:spLocks noGrp="1"/>
          </p:cNvSpPr>
          <p:nvPr/>
        </p:nvSpPr>
        <p:spPr>
          <a:xfrm>
            <a:off x="1066800" y="2038350"/>
            <a:ext cx="908685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1D1B18"/>
                </a:solidFill>
                <a:latin typeface="Aptos"/>
                <a:ea typeface="Aptos"/>
                <a:cs typeface="Aptos"/>
              </a:defRPr>
            </a:pPr>
            <a:r>
              <a:rPr sz="1725" b="1">
                <a:solidFill>
                  <a:srgbClr val="1D1B18"/>
                </a:solidFill>
                <a:latin typeface="Aptos"/>
                <a:ea typeface="Aptos"/>
                <a:cs typeface="Aptos"/>
              </a:rPr>
              <a:t>During AMJ/JJA 2023, Niño-3 SST had already reached a historically strong El Niño level, but central-western Pacific low-level wind, SOI-like pressure gradient, and rainfall responses did not intensify synchronously.</a:t>
            </a:r>
          </a:p>
        </p:txBody>
      </p:sp>
      <p:sp>
        <p:nvSpPr>
          <p:cNvPr id="7" name="椭圆 6">
            <a:extLst>
              <a:ext uri="{FF2B5EF4-FFF2-40B4-BE49-F238E27FC236}">
                <a16:creationId xmlns:a16="http://schemas.microsoft.com/office/drawing/2014/main" id="{7E1A3748-679F-47F3-99AE-289AD417C7DC}"/>
              </a:ext>
            </a:extLst>
          </p:cNvPr>
          <p:cNvSpPr>
            <a:spLocks noGrp="1"/>
          </p:cNvSpPr>
          <p:nvPr/>
        </p:nvSpPr>
        <p:spPr>
          <a:xfrm>
            <a:off x="990600" y="36004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8" name="矩形 7">
            <a:extLst>
              <a:ext uri="{FF2B5EF4-FFF2-40B4-BE49-F238E27FC236}">
                <a16:creationId xmlns:a16="http://schemas.microsoft.com/office/drawing/2014/main" id="{E65C047B-5D99-41A3-9AEA-AC8357AECABB}"/>
              </a:ext>
            </a:extLst>
          </p:cNvPr>
          <p:cNvSpPr>
            <a:spLocks noGrp="1"/>
          </p:cNvSpPr>
          <p:nvPr/>
        </p:nvSpPr>
        <p:spPr>
          <a:xfrm>
            <a:off x="1181100" y="352425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Paper contribution: Peng et al. show that ocean dynamics sustained the 2023/24 strong El Niño and that atmospheric feedbacks were weak.</a:t>
            </a:r>
          </a:p>
        </p:txBody>
      </p:sp>
      <p:sp>
        <p:nvSpPr>
          <p:cNvPr id="9" name="椭圆 8">
            <a:extLst>
              <a:ext uri="{FF2B5EF4-FFF2-40B4-BE49-F238E27FC236}">
                <a16:creationId xmlns:a16="http://schemas.microsoft.com/office/drawing/2014/main" id="{D9837AA5-DBBA-4008-8130-563293188875}"/>
              </a:ext>
            </a:extLst>
          </p:cNvPr>
          <p:cNvSpPr>
            <a:spLocks noGrp="1"/>
          </p:cNvSpPr>
          <p:nvPr/>
        </p:nvSpPr>
        <p:spPr>
          <a:xfrm>
            <a:off x="990600" y="42672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0" name="矩形 9">
            <a:extLst>
              <a:ext uri="{FF2B5EF4-FFF2-40B4-BE49-F238E27FC236}">
                <a16:creationId xmlns:a16="http://schemas.microsoft.com/office/drawing/2014/main" id="{F28291C4-F40E-42BF-A83C-06895C92D831}"/>
              </a:ext>
            </a:extLst>
          </p:cNvPr>
          <p:cNvSpPr>
            <a:spLocks noGrp="1"/>
          </p:cNvSpPr>
          <p:nvPr/>
        </p:nvSpPr>
        <p:spPr>
          <a:xfrm>
            <a:off x="1181100" y="419100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lang="en-US" altLang="zh-CN" sz="1350" dirty="0">
                <a:solidFill>
                  <a:srgbClr val="1D1B18"/>
                </a:solidFill>
                <a:latin typeface="Aptos"/>
                <a:ea typeface="Aptos"/>
                <a:cs typeface="Aptos"/>
              </a:rPr>
              <a:t>My</a:t>
            </a:r>
            <a:r>
              <a:rPr sz="1350" b="0" dirty="0">
                <a:solidFill>
                  <a:srgbClr val="1D1B18"/>
                </a:solidFill>
                <a:latin typeface="Aptos"/>
                <a:ea typeface="Aptos"/>
                <a:cs typeface="Aptos"/>
              </a:rPr>
              <a:t> question: when did the weak atmospheric response first emerge, and which external basins or background states may have modulated coupling efficiency?</a:t>
            </a:r>
          </a:p>
        </p:txBody>
      </p:sp>
      <p:sp>
        <p:nvSpPr>
          <p:cNvPr id="11" name="椭圆 10">
            <a:extLst>
              <a:ext uri="{FF2B5EF4-FFF2-40B4-BE49-F238E27FC236}">
                <a16:creationId xmlns:a16="http://schemas.microsoft.com/office/drawing/2014/main" id="{2627CD20-BE05-4EC2-916C-DB751EC91B76}"/>
              </a:ext>
            </a:extLst>
          </p:cNvPr>
          <p:cNvSpPr>
            <a:spLocks noGrp="1"/>
          </p:cNvSpPr>
          <p:nvPr/>
        </p:nvSpPr>
        <p:spPr>
          <a:xfrm>
            <a:off x="990600" y="49339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2" name="矩形 11">
            <a:extLst>
              <a:ext uri="{FF2B5EF4-FFF2-40B4-BE49-F238E27FC236}">
                <a16:creationId xmlns:a16="http://schemas.microsoft.com/office/drawing/2014/main" id="{28086F06-786D-4B40-A871-791D134A0902}"/>
              </a:ext>
            </a:extLst>
          </p:cNvPr>
          <p:cNvSpPr>
            <a:spLocks noGrp="1"/>
          </p:cNvSpPr>
          <p:nvPr/>
        </p:nvSpPr>
        <p:spPr>
          <a:xfrm>
            <a:off x="1181100" y="485775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dirty="0">
                <a:solidFill>
                  <a:srgbClr val="1D1B18"/>
                </a:solidFill>
                <a:latin typeface="Aptos"/>
                <a:ea typeface="Aptos"/>
                <a:cs typeface="Aptos"/>
              </a:rPr>
              <a:t>Current finding: AMJ/JJA is the key window, with simultaneous warming over the TNA, Indian Ocean, Maritime Continent, and western Pacific warm pool.</a:t>
            </a:r>
          </a:p>
        </p:txBody>
      </p:sp>
      <p:sp>
        <p:nvSpPr>
          <p:cNvPr id="13" name="椭圆 12">
            <a:extLst>
              <a:ext uri="{FF2B5EF4-FFF2-40B4-BE49-F238E27FC236}">
                <a16:creationId xmlns:a16="http://schemas.microsoft.com/office/drawing/2014/main" id="{C9400EB1-C9DB-4C0B-B9A8-DE3224D398F2}"/>
              </a:ext>
            </a:extLst>
          </p:cNvPr>
          <p:cNvSpPr>
            <a:spLocks noGrp="1"/>
          </p:cNvSpPr>
          <p:nvPr/>
        </p:nvSpPr>
        <p:spPr>
          <a:xfrm>
            <a:off x="990600" y="56007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4" name="矩形 13">
            <a:extLst>
              <a:ext uri="{FF2B5EF4-FFF2-40B4-BE49-F238E27FC236}">
                <a16:creationId xmlns:a16="http://schemas.microsoft.com/office/drawing/2014/main" id="{C7B5CFF7-8D38-4C77-86C5-9D42CA83B387}"/>
              </a:ext>
            </a:extLst>
          </p:cNvPr>
          <p:cNvSpPr>
            <a:spLocks noGrp="1"/>
          </p:cNvSpPr>
          <p:nvPr/>
        </p:nvSpPr>
        <p:spPr>
          <a:xfrm>
            <a:off x="1181100" y="552450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dirty="0">
                <a:solidFill>
                  <a:srgbClr val="1D1B18"/>
                </a:solidFill>
                <a:latin typeface="Aptos"/>
                <a:ea typeface="Aptos"/>
                <a:cs typeface="Aptos"/>
              </a:rPr>
              <a:t>paper's ocean-dynamics result to ask why the atmospheric branch did not respond as expected.</a:t>
            </a:r>
          </a:p>
        </p:txBody>
      </p:sp>
      <p:sp>
        <p:nvSpPr>
          <p:cNvPr id="15" name="矩形 14">
            <a:extLst>
              <a:ext uri="{FF2B5EF4-FFF2-40B4-BE49-F238E27FC236}">
                <a16:creationId xmlns:a16="http://schemas.microsoft.com/office/drawing/2014/main" id="{D7F7E4C8-BCF5-49A4-AEE2-6446A44439B4}"/>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Current synthesis from reproduced paper figures and data/derived/research seasonal diagnostics.</a:t>
            </a:r>
          </a:p>
        </p:txBody>
      </p:sp>
    </p:spTree>
    <p:extLst>
      <p:ext uri="{BB962C8B-B14F-4D97-AF65-F5344CB8AC3E}">
        <p14:creationId xmlns:p14="http://schemas.microsoft.com/office/powerpoint/2010/main" val="1798249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矩形 24">
            <a:extLst>
              <a:ext uri="{FF2B5EF4-FFF2-40B4-BE49-F238E27FC236}">
                <a16:creationId xmlns:a16="http://schemas.microsoft.com/office/drawing/2014/main" id="{0126A860-7AB4-4439-8CA7-95F630463ECE}"/>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1DA9332B-A666-4FCD-9AC8-91D1188A4DB7}"/>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Storyline</a:t>
            </a:r>
          </a:p>
        </p:txBody>
      </p:sp>
      <p:sp>
        <p:nvSpPr>
          <p:cNvPr id="3" name="矩形 2">
            <a:extLst>
              <a:ext uri="{FF2B5EF4-FFF2-40B4-BE49-F238E27FC236}">
                <a16:creationId xmlns:a16="http://schemas.microsoft.com/office/drawing/2014/main" id="{945F812C-9B21-4B60-B8A5-6E907AB30283}"/>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Deck structure: reproduce the paper, then isolate the developing-season coupling failure</a:t>
            </a:r>
          </a:p>
        </p:txBody>
      </p:sp>
      <p:sp>
        <p:nvSpPr>
          <p:cNvPr id="4" name="矩形 3">
            <a:extLst>
              <a:ext uri="{FF2B5EF4-FFF2-40B4-BE49-F238E27FC236}">
                <a16:creationId xmlns:a16="http://schemas.microsoft.com/office/drawing/2014/main" id="{0E51EF2F-A782-41E1-A292-D406AEBAA844}"/>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4E96BD50-BE28-4400-B13E-FFCD63AAD31B}"/>
              </a:ext>
            </a:extLst>
          </p:cNvPr>
          <p:cNvSpPr>
            <a:spLocks noGrp="1"/>
          </p:cNvSpPr>
          <p:nvPr/>
        </p:nvSpPr>
        <p:spPr>
          <a:xfrm>
            <a:off x="704850" y="2247900"/>
            <a:ext cx="2247900" cy="1257300"/>
          </a:xfrm>
          <a:prstGeom prst="rect">
            <a:avLst/>
          </a:prstGeom>
          <a:solidFill>
            <a:srgbClr val="F5E5DF"/>
          </a:solidFill>
          <a:ln w="9525">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8EDA1023-0D73-499C-8EDB-2A853FBA19CF}"/>
              </a:ext>
            </a:extLst>
          </p:cNvPr>
          <p:cNvSpPr>
            <a:spLocks noGrp="1"/>
          </p:cNvSpPr>
          <p:nvPr/>
        </p:nvSpPr>
        <p:spPr>
          <a:xfrm>
            <a:off x="866775" y="24003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CC5A43"/>
                </a:solidFill>
                <a:latin typeface="Aptos"/>
                <a:ea typeface="Aptos"/>
                <a:cs typeface="Aptos"/>
              </a:defRPr>
            </a:pPr>
            <a:r>
              <a:rPr sz="1275" b="1">
                <a:solidFill>
                  <a:srgbClr val="CC5A43"/>
                </a:solidFill>
                <a:latin typeface="Aptos"/>
                <a:ea typeface="Aptos"/>
                <a:cs typeface="Aptos"/>
              </a:rPr>
              <a:t>01</a:t>
            </a:r>
          </a:p>
        </p:txBody>
      </p:sp>
      <p:sp>
        <p:nvSpPr>
          <p:cNvPr id="7" name="矩形 6">
            <a:extLst>
              <a:ext uri="{FF2B5EF4-FFF2-40B4-BE49-F238E27FC236}">
                <a16:creationId xmlns:a16="http://schemas.microsoft.com/office/drawing/2014/main" id="{3F53FC57-E6E4-484E-B332-2876C63E94DE}"/>
              </a:ext>
            </a:extLst>
          </p:cNvPr>
          <p:cNvSpPr>
            <a:spLocks noGrp="1"/>
          </p:cNvSpPr>
          <p:nvPr/>
        </p:nvSpPr>
        <p:spPr>
          <a:xfrm>
            <a:off x="876300" y="2762250"/>
            <a:ext cx="18859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Paper reproduction</a:t>
            </a:r>
          </a:p>
          <a:p>
            <a:pPr algn="l">
              <a:defRPr sz="1215" b="1">
                <a:solidFill>
                  <a:srgbClr val="1D1B18"/>
                </a:solidFill>
                <a:latin typeface="Aptos"/>
                <a:ea typeface="Aptos"/>
                <a:cs typeface="Aptos"/>
              </a:defRPr>
            </a:pPr>
            <a:r>
              <a:rPr sz="1215" b="1">
                <a:solidFill>
                  <a:srgbClr val="1D1B18"/>
                </a:solidFill>
                <a:latin typeface="Aptos"/>
                <a:ea typeface="Aptos"/>
                <a:cs typeface="Aptos"/>
              </a:rPr>
              <a:t>Fig. 1-4</a:t>
            </a:r>
          </a:p>
        </p:txBody>
      </p:sp>
      <p:sp>
        <p:nvSpPr>
          <p:cNvPr id="8" name="矩形 7">
            <a:extLst>
              <a:ext uri="{FF2B5EF4-FFF2-40B4-BE49-F238E27FC236}">
                <a16:creationId xmlns:a16="http://schemas.microsoft.com/office/drawing/2014/main" id="{6FF3F875-FD9A-4160-81ED-548C6DD84925}"/>
              </a:ext>
            </a:extLst>
          </p:cNvPr>
          <p:cNvSpPr>
            <a:spLocks noGrp="1"/>
          </p:cNvSpPr>
          <p:nvPr/>
        </p:nvSpPr>
        <p:spPr>
          <a:xfrm>
            <a:off x="3067050" y="27051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9" name="矩形 8">
            <a:extLst>
              <a:ext uri="{FF2B5EF4-FFF2-40B4-BE49-F238E27FC236}">
                <a16:creationId xmlns:a16="http://schemas.microsoft.com/office/drawing/2014/main" id="{43AB0F8A-F8CC-4262-82C7-DFB6D874545D}"/>
              </a:ext>
            </a:extLst>
          </p:cNvPr>
          <p:cNvSpPr>
            <a:spLocks noGrp="1"/>
          </p:cNvSpPr>
          <p:nvPr/>
        </p:nvSpPr>
        <p:spPr>
          <a:xfrm>
            <a:off x="3448050" y="2247900"/>
            <a:ext cx="2247900" cy="1257300"/>
          </a:xfrm>
          <a:prstGeom prst="rect">
            <a:avLst/>
          </a:prstGeom>
          <a:solidFill>
            <a:srgbClr val="EDF3EF"/>
          </a:solidFill>
          <a:ln w="9525">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3CF862DA-A0CB-4873-9D0E-4A27A290871A}"/>
              </a:ext>
            </a:extLst>
          </p:cNvPr>
          <p:cNvSpPr>
            <a:spLocks noGrp="1"/>
          </p:cNvSpPr>
          <p:nvPr/>
        </p:nvSpPr>
        <p:spPr>
          <a:xfrm>
            <a:off x="3609975" y="24003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2F6F73"/>
                </a:solidFill>
                <a:latin typeface="Aptos"/>
                <a:ea typeface="Aptos"/>
                <a:cs typeface="Aptos"/>
              </a:defRPr>
            </a:pPr>
            <a:r>
              <a:rPr sz="1275" b="1">
                <a:solidFill>
                  <a:srgbClr val="2F6F73"/>
                </a:solidFill>
                <a:latin typeface="Aptos"/>
                <a:ea typeface="Aptos"/>
                <a:cs typeface="Aptos"/>
              </a:rPr>
              <a:t>02</a:t>
            </a:r>
          </a:p>
        </p:txBody>
      </p:sp>
      <p:sp>
        <p:nvSpPr>
          <p:cNvPr id="11" name="矩形 10">
            <a:extLst>
              <a:ext uri="{FF2B5EF4-FFF2-40B4-BE49-F238E27FC236}">
                <a16:creationId xmlns:a16="http://schemas.microsoft.com/office/drawing/2014/main" id="{CDD2D8C6-92E4-43DC-8883-0FC73EB4A813}"/>
              </a:ext>
            </a:extLst>
          </p:cNvPr>
          <p:cNvSpPr>
            <a:spLocks noGrp="1"/>
          </p:cNvSpPr>
          <p:nvPr/>
        </p:nvSpPr>
        <p:spPr>
          <a:xfrm>
            <a:off x="3619500" y="2762250"/>
            <a:ext cx="18859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Raw validation</a:t>
            </a:r>
          </a:p>
          <a:p>
            <a:pPr algn="l">
              <a:defRPr sz="1215" b="1">
                <a:solidFill>
                  <a:srgbClr val="1D1B18"/>
                </a:solidFill>
                <a:latin typeface="Aptos"/>
                <a:ea typeface="Aptos"/>
                <a:cs typeface="Aptos"/>
              </a:defRPr>
            </a:pPr>
            <a:r>
              <a:rPr sz="1215" b="1">
                <a:solidFill>
                  <a:srgbClr val="1D1B18"/>
                </a:solidFill>
                <a:latin typeface="Aptos"/>
                <a:ea typeface="Aptos"/>
                <a:cs typeface="Aptos"/>
              </a:rPr>
              <a:t>OISST/GPCP/NCEP</a:t>
            </a:r>
          </a:p>
        </p:txBody>
      </p:sp>
      <p:sp>
        <p:nvSpPr>
          <p:cNvPr id="12" name="矩形 11">
            <a:extLst>
              <a:ext uri="{FF2B5EF4-FFF2-40B4-BE49-F238E27FC236}">
                <a16:creationId xmlns:a16="http://schemas.microsoft.com/office/drawing/2014/main" id="{E3E0B5F5-9822-4577-B0C4-A99927BC2EED}"/>
              </a:ext>
            </a:extLst>
          </p:cNvPr>
          <p:cNvSpPr>
            <a:spLocks noGrp="1"/>
          </p:cNvSpPr>
          <p:nvPr/>
        </p:nvSpPr>
        <p:spPr>
          <a:xfrm>
            <a:off x="5810250" y="27051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13" name="矩形 12">
            <a:extLst>
              <a:ext uri="{FF2B5EF4-FFF2-40B4-BE49-F238E27FC236}">
                <a16:creationId xmlns:a16="http://schemas.microsoft.com/office/drawing/2014/main" id="{53D9CC33-9CBA-4B05-8DFB-C9B8DAE047EB}"/>
              </a:ext>
            </a:extLst>
          </p:cNvPr>
          <p:cNvSpPr>
            <a:spLocks noGrp="1"/>
          </p:cNvSpPr>
          <p:nvPr/>
        </p:nvSpPr>
        <p:spPr>
          <a:xfrm>
            <a:off x="6191250" y="2247900"/>
            <a:ext cx="2247900" cy="1257300"/>
          </a:xfrm>
          <a:prstGeom prst="rect">
            <a:avLst/>
          </a:prstGeom>
          <a:solidFill>
            <a:srgbClr val="F5E5DF"/>
          </a:solidFill>
          <a:ln w="9525">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2E9D065F-63FE-4886-A297-08AC38C9634E}"/>
              </a:ext>
            </a:extLst>
          </p:cNvPr>
          <p:cNvSpPr>
            <a:spLocks noGrp="1"/>
          </p:cNvSpPr>
          <p:nvPr/>
        </p:nvSpPr>
        <p:spPr>
          <a:xfrm>
            <a:off x="6353175" y="24003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CC5A43"/>
                </a:solidFill>
                <a:latin typeface="Aptos"/>
                <a:ea typeface="Aptos"/>
                <a:cs typeface="Aptos"/>
              </a:defRPr>
            </a:pPr>
            <a:r>
              <a:rPr sz="1275" b="1">
                <a:solidFill>
                  <a:srgbClr val="CC5A43"/>
                </a:solidFill>
                <a:latin typeface="Aptos"/>
                <a:ea typeface="Aptos"/>
                <a:cs typeface="Aptos"/>
              </a:rPr>
              <a:t>03</a:t>
            </a:r>
          </a:p>
        </p:txBody>
      </p:sp>
      <p:sp>
        <p:nvSpPr>
          <p:cNvPr id="15" name="矩形 14">
            <a:extLst>
              <a:ext uri="{FF2B5EF4-FFF2-40B4-BE49-F238E27FC236}">
                <a16:creationId xmlns:a16="http://schemas.microsoft.com/office/drawing/2014/main" id="{5148FDF8-481D-4ED5-A8D1-A26566AD6430}"/>
              </a:ext>
            </a:extLst>
          </p:cNvPr>
          <p:cNvSpPr>
            <a:spLocks noGrp="1"/>
          </p:cNvSpPr>
          <p:nvPr/>
        </p:nvSpPr>
        <p:spPr>
          <a:xfrm>
            <a:off x="6362700" y="2762250"/>
            <a:ext cx="18859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Developing-season comparison</a:t>
            </a:r>
          </a:p>
          <a:p>
            <a:pPr algn="l">
              <a:defRPr sz="1215" b="1">
                <a:solidFill>
                  <a:srgbClr val="1D1B18"/>
                </a:solidFill>
                <a:latin typeface="Aptos"/>
                <a:ea typeface="Aptos"/>
                <a:cs typeface="Aptos"/>
              </a:defRPr>
            </a:pPr>
            <a:r>
              <a:rPr sz="1215" b="1">
                <a:solidFill>
                  <a:srgbClr val="1D1B18"/>
                </a:solidFill>
                <a:latin typeface="Aptos"/>
                <a:ea typeface="Aptos"/>
                <a:cs typeface="Aptos"/>
              </a:rPr>
              <a:t>AMJ/JJA</a:t>
            </a:r>
          </a:p>
        </p:txBody>
      </p:sp>
      <p:sp>
        <p:nvSpPr>
          <p:cNvPr id="16" name="矩形 15">
            <a:extLst>
              <a:ext uri="{FF2B5EF4-FFF2-40B4-BE49-F238E27FC236}">
                <a16:creationId xmlns:a16="http://schemas.microsoft.com/office/drawing/2014/main" id="{1A3A0B31-FB47-45CD-AC19-46E18586270F}"/>
              </a:ext>
            </a:extLst>
          </p:cNvPr>
          <p:cNvSpPr>
            <a:spLocks noGrp="1"/>
          </p:cNvSpPr>
          <p:nvPr/>
        </p:nvSpPr>
        <p:spPr>
          <a:xfrm>
            <a:off x="8553450" y="27051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17" name="矩形 16">
            <a:extLst>
              <a:ext uri="{FF2B5EF4-FFF2-40B4-BE49-F238E27FC236}">
                <a16:creationId xmlns:a16="http://schemas.microsoft.com/office/drawing/2014/main" id="{E3E62EFF-9FDF-402D-8C7D-86D7DFCE32A8}"/>
              </a:ext>
            </a:extLst>
          </p:cNvPr>
          <p:cNvSpPr>
            <a:spLocks noGrp="1"/>
          </p:cNvSpPr>
          <p:nvPr/>
        </p:nvSpPr>
        <p:spPr>
          <a:xfrm>
            <a:off x="8934450" y="2247900"/>
            <a:ext cx="2247900" cy="1257300"/>
          </a:xfrm>
          <a:prstGeom prst="rect">
            <a:avLst/>
          </a:prstGeom>
          <a:solidFill>
            <a:srgbClr val="EDF3EF"/>
          </a:solidFill>
          <a:ln w="9525">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E5D86585-CCE0-4620-811A-6FD6CB7ADB46}"/>
              </a:ext>
            </a:extLst>
          </p:cNvPr>
          <p:cNvSpPr>
            <a:spLocks noGrp="1"/>
          </p:cNvSpPr>
          <p:nvPr/>
        </p:nvSpPr>
        <p:spPr>
          <a:xfrm>
            <a:off x="9096375" y="24003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2F6F73"/>
                </a:solidFill>
                <a:latin typeface="Aptos"/>
                <a:ea typeface="Aptos"/>
                <a:cs typeface="Aptos"/>
              </a:defRPr>
            </a:pPr>
            <a:r>
              <a:rPr sz="1275" b="1">
                <a:solidFill>
                  <a:srgbClr val="2F6F73"/>
                </a:solidFill>
                <a:latin typeface="Aptos"/>
                <a:ea typeface="Aptos"/>
                <a:cs typeface="Aptos"/>
              </a:rPr>
              <a:t>04</a:t>
            </a:r>
          </a:p>
        </p:txBody>
      </p:sp>
      <p:sp>
        <p:nvSpPr>
          <p:cNvPr id="19" name="矩形 18">
            <a:extLst>
              <a:ext uri="{FF2B5EF4-FFF2-40B4-BE49-F238E27FC236}">
                <a16:creationId xmlns:a16="http://schemas.microsoft.com/office/drawing/2014/main" id="{FE5CD028-1A71-4C83-9706-96C337BD0019}"/>
              </a:ext>
            </a:extLst>
          </p:cNvPr>
          <p:cNvSpPr>
            <a:spLocks noGrp="1"/>
          </p:cNvSpPr>
          <p:nvPr/>
        </p:nvSpPr>
        <p:spPr>
          <a:xfrm>
            <a:off x="9105900" y="2762250"/>
            <a:ext cx="18859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Research distinction</a:t>
            </a:r>
          </a:p>
          <a:p>
            <a:pPr algn="l">
              <a:defRPr sz="1215" b="1">
                <a:solidFill>
                  <a:srgbClr val="1D1B18"/>
                </a:solidFill>
                <a:latin typeface="Aptos"/>
                <a:ea typeface="Aptos"/>
                <a:cs typeface="Aptos"/>
              </a:defRPr>
            </a:pPr>
            <a:r>
              <a:rPr sz="1215" b="1">
                <a:solidFill>
                  <a:srgbClr val="1D1B18"/>
                </a:solidFill>
                <a:latin typeface="Aptos"/>
                <a:ea typeface="Aptos"/>
                <a:cs typeface="Aptos"/>
              </a:rPr>
              <a:t>From genesis to response timing</a:t>
            </a:r>
          </a:p>
        </p:txBody>
      </p:sp>
      <p:sp>
        <p:nvSpPr>
          <p:cNvPr id="21" name="矩形 20">
            <a:extLst>
              <a:ext uri="{FF2B5EF4-FFF2-40B4-BE49-F238E27FC236}">
                <a16:creationId xmlns:a16="http://schemas.microsoft.com/office/drawing/2014/main" id="{DDED2FFB-849B-4624-9544-F6C989030C85}"/>
              </a:ext>
            </a:extLst>
          </p:cNvPr>
          <p:cNvSpPr>
            <a:spLocks noGrp="1"/>
          </p:cNvSpPr>
          <p:nvPr/>
        </p:nvSpPr>
        <p:spPr>
          <a:xfrm>
            <a:off x="1085850" y="4438650"/>
            <a:ext cx="8953500" cy="4476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endParaRPr sz="1350" b="0" dirty="0">
              <a:solidFill>
                <a:srgbClr val="1D1B18"/>
              </a:solidFill>
              <a:latin typeface="Aptos"/>
              <a:ea typeface="Aptos"/>
              <a:cs typeface="Aptos"/>
            </a:endParaRPr>
          </a:p>
        </p:txBody>
      </p:sp>
      <p:sp>
        <p:nvSpPr>
          <p:cNvPr id="23" name="矩形 22">
            <a:extLst>
              <a:ext uri="{FF2B5EF4-FFF2-40B4-BE49-F238E27FC236}">
                <a16:creationId xmlns:a16="http://schemas.microsoft.com/office/drawing/2014/main" id="{264C3E16-0F30-4A5E-910B-46CC0523B0B4}"/>
              </a:ext>
            </a:extLst>
          </p:cNvPr>
          <p:cNvSpPr>
            <a:spLocks noGrp="1"/>
          </p:cNvSpPr>
          <p:nvPr/>
        </p:nvSpPr>
        <p:spPr>
          <a:xfrm>
            <a:off x="1085850" y="4933950"/>
            <a:ext cx="8953500" cy="4476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endParaRPr sz="1350" b="0" dirty="0">
              <a:solidFill>
                <a:srgbClr val="1D1B18"/>
              </a:solidFill>
              <a:latin typeface="Aptos"/>
              <a:ea typeface="Aptos"/>
              <a:cs typeface="Aptos"/>
            </a:endParaRPr>
          </a:p>
        </p:txBody>
      </p:sp>
      <p:sp>
        <p:nvSpPr>
          <p:cNvPr id="24" name="矩形 23">
            <a:extLst>
              <a:ext uri="{FF2B5EF4-FFF2-40B4-BE49-F238E27FC236}">
                <a16:creationId xmlns:a16="http://schemas.microsoft.com/office/drawing/2014/main" id="{CF3696C9-9186-4B36-A889-D1F45D5F2F3F}"/>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dirty="0">
                <a:solidFill>
                  <a:srgbClr val="6E675D"/>
                </a:solidFill>
                <a:latin typeface="Aptos"/>
                <a:ea typeface="Aptos"/>
                <a:cs typeface="Aptos"/>
              </a:rPr>
              <a:t>.</a:t>
            </a:r>
          </a:p>
        </p:txBody>
      </p:sp>
    </p:spTree>
    <p:extLst>
      <p:ext uri="{BB962C8B-B14F-4D97-AF65-F5344CB8AC3E}">
        <p14:creationId xmlns:p14="http://schemas.microsoft.com/office/powerpoint/2010/main" val="215078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矩形 61">
            <a:extLst>
              <a:ext uri="{FF2B5EF4-FFF2-40B4-BE49-F238E27FC236}">
                <a16:creationId xmlns:a16="http://schemas.microsoft.com/office/drawing/2014/main" id="{ADDC2635-8EB6-42F7-898D-26F2273A649F}"/>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9F0CC611-A4C9-4AA4-B847-DC3737DF9CD0}"/>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Terms First</a:t>
            </a:r>
          </a:p>
        </p:txBody>
      </p:sp>
      <p:sp>
        <p:nvSpPr>
          <p:cNvPr id="3" name="矩形 2">
            <a:extLst>
              <a:ext uri="{FF2B5EF4-FFF2-40B4-BE49-F238E27FC236}">
                <a16:creationId xmlns:a16="http://schemas.microsoft.com/office/drawing/2014/main" id="{9E2B2BCB-59AC-490D-A681-A0289C79EAC9}"/>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dirty="0">
                <a:solidFill>
                  <a:srgbClr val="1D1B18"/>
                </a:solidFill>
                <a:latin typeface="Aptos Display"/>
                <a:ea typeface="Aptos Display"/>
                <a:cs typeface="Aptos Display"/>
              </a:rPr>
              <a:t>Common abbreviations</a:t>
            </a:r>
          </a:p>
        </p:txBody>
      </p:sp>
      <p:sp>
        <p:nvSpPr>
          <p:cNvPr id="4" name="矩形 3">
            <a:extLst>
              <a:ext uri="{FF2B5EF4-FFF2-40B4-BE49-F238E27FC236}">
                <a16:creationId xmlns:a16="http://schemas.microsoft.com/office/drawing/2014/main" id="{34FC465D-F5CA-47D5-895D-F42CC58FA54B}"/>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1F738636-D34A-4F66-B0FB-CF9892EBEBED}"/>
              </a:ext>
            </a:extLst>
          </p:cNvPr>
          <p:cNvSpPr>
            <a:spLocks noGrp="1"/>
          </p:cNvSpPr>
          <p:nvPr/>
        </p:nvSpPr>
        <p:spPr>
          <a:xfrm>
            <a:off x="685800" y="1695450"/>
            <a:ext cx="1333500" cy="428625"/>
          </a:xfrm>
          <a:prstGeom prst="rect">
            <a:avLst/>
          </a:prstGeom>
          <a:solidFill>
            <a:srgbClr val="1D1B18"/>
          </a:solidFill>
          <a:ln w="6668">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4335F351-659B-4BD2-B6E3-777EA7CFF588}"/>
              </a:ext>
            </a:extLst>
          </p:cNvPr>
          <p:cNvSpPr>
            <a:spLocks noGrp="1"/>
          </p:cNvSpPr>
          <p:nvPr/>
        </p:nvSpPr>
        <p:spPr>
          <a:xfrm>
            <a:off x="762000" y="1762125"/>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Abbrev.</a:t>
            </a:r>
          </a:p>
        </p:txBody>
      </p:sp>
      <p:sp>
        <p:nvSpPr>
          <p:cNvPr id="7" name="矩形 6">
            <a:extLst>
              <a:ext uri="{FF2B5EF4-FFF2-40B4-BE49-F238E27FC236}">
                <a16:creationId xmlns:a16="http://schemas.microsoft.com/office/drawing/2014/main" id="{4B955C66-5CB1-4830-BD2A-8009BEF22836}"/>
              </a:ext>
            </a:extLst>
          </p:cNvPr>
          <p:cNvSpPr>
            <a:spLocks noGrp="1"/>
          </p:cNvSpPr>
          <p:nvPr/>
        </p:nvSpPr>
        <p:spPr>
          <a:xfrm>
            <a:off x="2019300" y="1695450"/>
            <a:ext cx="2857500" cy="428625"/>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8AD07ACD-41A8-44C8-AF47-E9B4A65980A5}"/>
              </a:ext>
            </a:extLst>
          </p:cNvPr>
          <p:cNvSpPr>
            <a:spLocks noGrp="1"/>
          </p:cNvSpPr>
          <p:nvPr/>
        </p:nvSpPr>
        <p:spPr>
          <a:xfrm>
            <a:off x="2095500" y="1762125"/>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Full name</a:t>
            </a:r>
          </a:p>
        </p:txBody>
      </p:sp>
      <p:sp>
        <p:nvSpPr>
          <p:cNvPr id="9" name="矩形 8">
            <a:extLst>
              <a:ext uri="{FF2B5EF4-FFF2-40B4-BE49-F238E27FC236}">
                <a16:creationId xmlns:a16="http://schemas.microsoft.com/office/drawing/2014/main" id="{A3001966-6FA5-409C-AD33-50A7DD55FF56}"/>
              </a:ext>
            </a:extLst>
          </p:cNvPr>
          <p:cNvSpPr>
            <a:spLocks noGrp="1"/>
          </p:cNvSpPr>
          <p:nvPr/>
        </p:nvSpPr>
        <p:spPr>
          <a:xfrm>
            <a:off x="4876800" y="1695450"/>
            <a:ext cx="6172200" cy="428625"/>
          </a:xfrm>
          <a:prstGeom prst="rect">
            <a:avLst/>
          </a:prstGeom>
          <a:solidFill>
            <a:srgbClr val="1D1B18"/>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B4B150C8-356D-4986-A382-A5D2E7D06A12}"/>
              </a:ext>
            </a:extLst>
          </p:cNvPr>
          <p:cNvSpPr>
            <a:spLocks noGrp="1"/>
          </p:cNvSpPr>
          <p:nvPr/>
        </p:nvSpPr>
        <p:spPr>
          <a:xfrm>
            <a:off x="4953000" y="1762125"/>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Meaning in this project</a:t>
            </a:r>
          </a:p>
        </p:txBody>
      </p:sp>
      <p:sp>
        <p:nvSpPr>
          <p:cNvPr id="11" name="矩形 10">
            <a:extLst>
              <a:ext uri="{FF2B5EF4-FFF2-40B4-BE49-F238E27FC236}">
                <a16:creationId xmlns:a16="http://schemas.microsoft.com/office/drawing/2014/main" id="{1FBB5182-E2B8-47E9-872B-C2D97D6719B5}"/>
              </a:ext>
            </a:extLst>
          </p:cNvPr>
          <p:cNvSpPr>
            <a:spLocks noGrp="1"/>
          </p:cNvSpPr>
          <p:nvPr/>
        </p:nvSpPr>
        <p:spPr>
          <a:xfrm>
            <a:off x="685800" y="2124075"/>
            <a:ext cx="1333500" cy="428625"/>
          </a:xfrm>
          <a:prstGeom prst="rect">
            <a:avLst/>
          </a:prstGeom>
          <a:solidFill>
            <a:srgbClr val="FBF8F1"/>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DB02D79F-F552-43BD-B0F8-2C2A85E59D43}"/>
              </a:ext>
            </a:extLst>
          </p:cNvPr>
          <p:cNvSpPr>
            <a:spLocks noGrp="1"/>
          </p:cNvSpPr>
          <p:nvPr/>
        </p:nvSpPr>
        <p:spPr>
          <a:xfrm>
            <a:off x="762000" y="2190750"/>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SST</a:t>
            </a:r>
          </a:p>
        </p:txBody>
      </p:sp>
      <p:sp>
        <p:nvSpPr>
          <p:cNvPr id="13" name="矩形 12">
            <a:extLst>
              <a:ext uri="{FF2B5EF4-FFF2-40B4-BE49-F238E27FC236}">
                <a16:creationId xmlns:a16="http://schemas.microsoft.com/office/drawing/2014/main" id="{B6015489-A347-441C-B1A9-82F9A862C3B6}"/>
              </a:ext>
            </a:extLst>
          </p:cNvPr>
          <p:cNvSpPr>
            <a:spLocks noGrp="1"/>
          </p:cNvSpPr>
          <p:nvPr/>
        </p:nvSpPr>
        <p:spPr>
          <a:xfrm>
            <a:off x="2019300" y="2124075"/>
            <a:ext cx="2857500" cy="428625"/>
          </a:xfrm>
          <a:prstGeom prst="rect">
            <a:avLst/>
          </a:prstGeom>
          <a:solidFill>
            <a:srgbClr val="FBF8F1"/>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AB7F1E23-7245-4B36-A364-24F16B153D88}"/>
              </a:ext>
            </a:extLst>
          </p:cNvPr>
          <p:cNvSpPr>
            <a:spLocks noGrp="1"/>
          </p:cNvSpPr>
          <p:nvPr/>
        </p:nvSpPr>
        <p:spPr>
          <a:xfrm>
            <a:off x="2095500" y="2190750"/>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Sea Surface Temperature</a:t>
            </a:r>
          </a:p>
        </p:txBody>
      </p:sp>
      <p:sp>
        <p:nvSpPr>
          <p:cNvPr id="15" name="矩形 14">
            <a:extLst>
              <a:ext uri="{FF2B5EF4-FFF2-40B4-BE49-F238E27FC236}">
                <a16:creationId xmlns:a16="http://schemas.microsoft.com/office/drawing/2014/main" id="{B3D67B6A-5730-4E6F-8B14-C5D2A5616B6E}"/>
              </a:ext>
            </a:extLst>
          </p:cNvPr>
          <p:cNvSpPr>
            <a:spLocks noGrp="1"/>
          </p:cNvSpPr>
          <p:nvPr/>
        </p:nvSpPr>
        <p:spPr>
          <a:xfrm>
            <a:off x="4876800" y="2124075"/>
            <a:ext cx="6172200" cy="428625"/>
          </a:xfrm>
          <a:prstGeom prst="rect">
            <a:avLst/>
          </a:prstGeom>
          <a:solidFill>
            <a:srgbClr val="FBF8F1"/>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36633B17-A6E4-40BD-B03C-B7C5877D780E}"/>
              </a:ext>
            </a:extLst>
          </p:cNvPr>
          <p:cNvSpPr>
            <a:spLocks noGrp="1"/>
          </p:cNvSpPr>
          <p:nvPr/>
        </p:nvSpPr>
        <p:spPr>
          <a:xfrm>
            <a:off x="4953000" y="2190750"/>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The core ocean variable used to measure El Niño warming strength.</a:t>
            </a:r>
          </a:p>
        </p:txBody>
      </p:sp>
      <p:sp>
        <p:nvSpPr>
          <p:cNvPr id="17" name="矩形 16">
            <a:extLst>
              <a:ext uri="{FF2B5EF4-FFF2-40B4-BE49-F238E27FC236}">
                <a16:creationId xmlns:a16="http://schemas.microsoft.com/office/drawing/2014/main" id="{4E5260B0-7732-4701-ADE3-49D4A0C653BC}"/>
              </a:ext>
            </a:extLst>
          </p:cNvPr>
          <p:cNvSpPr>
            <a:spLocks noGrp="1"/>
          </p:cNvSpPr>
          <p:nvPr/>
        </p:nvSpPr>
        <p:spPr>
          <a:xfrm>
            <a:off x="685800" y="2552700"/>
            <a:ext cx="1333500" cy="428625"/>
          </a:xfrm>
          <a:prstGeom prst="rect">
            <a:avLst/>
          </a:prstGeom>
          <a:solidFill>
            <a:srgbClr val="F3EDE2"/>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8EEE35A2-3693-43FE-878A-0679B5CF4071}"/>
              </a:ext>
            </a:extLst>
          </p:cNvPr>
          <p:cNvSpPr>
            <a:spLocks noGrp="1"/>
          </p:cNvSpPr>
          <p:nvPr/>
        </p:nvSpPr>
        <p:spPr>
          <a:xfrm>
            <a:off x="762000" y="2619375"/>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Niño-3</a:t>
            </a:r>
          </a:p>
        </p:txBody>
      </p:sp>
      <p:sp>
        <p:nvSpPr>
          <p:cNvPr id="19" name="矩形 18">
            <a:extLst>
              <a:ext uri="{FF2B5EF4-FFF2-40B4-BE49-F238E27FC236}">
                <a16:creationId xmlns:a16="http://schemas.microsoft.com/office/drawing/2014/main" id="{57FFE02D-4273-4473-B487-410548258B00}"/>
              </a:ext>
            </a:extLst>
          </p:cNvPr>
          <p:cNvSpPr>
            <a:spLocks noGrp="1"/>
          </p:cNvSpPr>
          <p:nvPr/>
        </p:nvSpPr>
        <p:spPr>
          <a:xfrm>
            <a:off x="2019300" y="2552700"/>
            <a:ext cx="2857500" cy="428625"/>
          </a:xfrm>
          <a:prstGeom prst="rect">
            <a:avLst/>
          </a:prstGeom>
          <a:solidFill>
            <a:srgbClr val="F3EDE2"/>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C8063BD5-5737-4CDE-AC7E-6B0233CC2FD4}"/>
              </a:ext>
            </a:extLst>
          </p:cNvPr>
          <p:cNvSpPr>
            <a:spLocks noGrp="1"/>
          </p:cNvSpPr>
          <p:nvPr/>
        </p:nvSpPr>
        <p:spPr>
          <a:xfrm>
            <a:off x="2095500" y="2619375"/>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Eastern equatorial Pacific SST region</a:t>
            </a:r>
          </a:p>
        </p:txBody>
      </p:sp>
      <p:sp>
        <p:nvSpPr>
          <p:cNvPr id="21" name="矩形 20">
            <a:extLst>
              <a:ext uri="{FF2B5EF4-FFF2-40B4-BE49-F238E27FC236}">
                <a16:creationId xmlns:a16="http://schemas.microsoft.com/office/drawing/2014/main" id="{8FD27963-51BC-41EB-AE6F-46E36834CB16}"/>
              </a:ext>
            </a:extLst>
          </p:cNvPr>
          <p:cNvSpPr>
            <a:spLocks noGrp="1"/>
          </p:cNvSpPr>
          <p:nvPr/>
        </p:nvSpPr>
        <p:spPr>
          <a:xfrm>
            <a:off x="4876800" y="2552700"/>
            <a:ext cx="6172200" cy="428625"/>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F3FAF142-5688-4777-8B3F-AF875BD1AF46}"/>
              </a:ext>
            </a:extLst>
          </p:cNvPr>
          <p:cNvSpPr>
            <a:spLocks noGrp="1"/>
          </p:cNvSpPr>
          <p:nvPr/>
        </p:nvSpPr>
        <p:spPr>
          <a:xfrm>
            <a:off x="4953000" y="2619375"/>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Usually 5°S-5°N, 150°W-90°W; used here as the eastern-Pacific warming index.</a:t>
            </a:r>
          </a:p>
        </p:txBody>
      </p:sp>
      <p:sp>
        <p:nvSpPr>
          <p:cNvPr id="23" name="矩形 22">
            <a:extLst>
              <a:ext uri="{FF2B5EF4-FFF2-40B4-BE49-F238E27FC236}">
                <a16:creationId xmlns:a16="http://schemas.microsoft.com/office/drawing/2014/main" id="{9C6B2EB5-54AE-40EF-A08C-128FC559A93A}"/>
              </a:ext>
            </a:extLst>
          </p:cNvPr>
          <p:cNvSpPr>
            <a:spLocks noGrp="1"/>
          </p:cNvSpPr>
          <p:nvPr/>
        </p:nvSpPr>
        <p:spPr>
          <a:xfrm>
            <a:off x="685800" y="2981325"/>
            <a:ext cx="1333500" cy="428625"/>
          </a:xfrm>
          <a:prstGeom prst="rect">
            <a:avLst/>
          </a:prstGeom>
          <a:solidFill>
            <a:srgbClr val="FBF8F1"/>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0C9E0993-6AD6-4F40-9A84-67862DAA1E54}"/>
              </a:ext>
            </a:extLst>
          </p:cNvPr>
          <p:cNvSpPr>
            <a:spLocks noGrp="1"/>
          </p:cNvSpPr>
          <p:nvPr/>
        </p:nvSpPr>
        <p:spPr>
          <a:xfrm>
            <a:off x="762000" y="3048000"/>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u10 / u850</a:t>
            </a:r>
          </a:p>
        </p:txBody>
      </p:sp>
      <p:sp>
        <p:nvSpPr>
          <p:cNvPr id="25" name="矩形 24">
            <a:extLst>
              <a:ext uri="{FF2B5EF4-FFF2-40B4-BE49-F238E27FC236}">
                <a16:creationId xmlns:a16="http://schemas.microsoft.com/office/drawing/2014/main" id="{126693EA-EAB7-44FA-A4E9-21E77956558F}"/>
              </a:ext>
            </a:extLst>
          </p:cNvPr>
          <p:cNvSpPr>
            <a:spLocks noGrp="1"/>
          </p:cNvSpPr>
          <p:nvPr/>
        </p:nvSpPr>
        <p:spPr>
          <a:xfrm>
            <a:off x="2019300" y="2981325"/>
            <a:ext cx="2857500" cy="428625"/>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2E7FDC17-8931-4F5F-B297-6B9EE65BA058}"/>
              </a:ext>
            </a:extLst>
          </p:cNvPr>
          <p:cNvSpPr>
            <a:spLocks noGrp="1"/>
          </p:cNvSpPr>
          <p:nvPr/>
        </p:nvSpPr>
        <p:spPr>
          <a:xfrm>
            <a:off x="2095500" y="3048000"/>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10-m / 850-hPa zonal wind</a:t>
            </a:r>
          </a:p>
        </p:txBody>
      </p:sp>
      <p:sp>
        <p:nvSpPr>
          <p:cNvPr id="27" name="矩形 26">
            <a:extLst>
              <a:ext uri="{FF2B5EF4-FFF2-40B4-BE49-F238E27FC236}">
                <a16:creationId xmlns:a16="http://schemas.microsoft.com/office/drawing/2014/main" id="{7C6413CB-B38A-4267-901F-DD6BB67C8D08}"/>
              </a:ext>
            </a:extLst>
          </p:cNvPr>
          <p:cNvSpPr>
            <a:spLocks noGrp="1"/>
          </p:cNvSpPr>
          <p:nvPr/>
        </p:nvSpPr>
        <p:spPr>
          <a:xfrm>
            <a:off x="4876800" y="2981325"/>
            <a:ext cx="6172200" cy="428625"/>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436FD685-5978-4B0C-8890-D95D190CCC6B}"/>
              </a:ext>
            </a:extLst>
          </p:cNvPr>
          <p:cNvSpPr>
            <a:spLocks noGrp="1"/>
          </p:cNvSpPr>
          <p:nvPr/>
        </p:nvSpPr>
        <p:spPr>
          <a:xfrm>
            <a:off x="4953000" y="3048000"/>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East-west wind; positive anomalies usually indicate westerlies that support warm-water eastward propagation.</a:t>
            </a:r>
          </a:p>
        </p:txBody>
      </p:sp>
      <p:sp>
        <p:nvSpPr>
          <p:cNvPr id="29" name="矩形 28">
            <a:extLst>
              <a:ext uri="{FF2B5EF4-FFF2-40B4-BE49-F238E27FC236}">
                <a16:creationId xmlns:a16="http://schemas.microsoft.com/office/drawing/2014/main" id="{205187C5-1958-4C87-91E8-2B6FD60E5430}"/>
              </a:ext>
            </a:extLst>
          </p:cNvPr>
          <p:cNvSpPr>
            <a:spLocks noGrp="1"/>
          </p:cNvSpPr>
          <p:nvPr/>
        </p:nvSpPr>
        <p:spPr>
          <a:xfrm>
            <a:off x="685800" y="3409950"/>
            <a:ext cx="1333500" cy="428625"/>
          </a:xfrm>
          <a:prstGeom prst="rect">
            <a:avLst/>
          </a:prstGeom>
          <a:solidFill>
            <a:srgbClr val="F3EDE2"/>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463BD64C-069B-4ED8-862F-1B2436601D9E}"/>
              </a:ext>
            </a:extLst>
          </p:cNvPr>
          <p:cNvSpPr>
            <a:spLocks noGrp="1"/>
          </p:cNvSpPr>
          <p:nvPr/>
        </p:nvSpPr>
        <p:spPr>
          <a:xfrm>
            <a:off x="762000" y="3476625"/>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SOI / SLP</a:t>
            </a:r>
          </a:p>
        </p:txBody>
      </p:sp>
      <p:sp>
        <p:nvSpPr>
          <p:cNvPr id="31" name="矩形 30">
            <a:extLst>
              <a:ext uri="{FF2B5EF4-FFF2-40B4-BE49-F238E27FC236}">
                <a16:creationId xmlns:a16="http://schemas.microsoft.com/office/drawing/2014/main" id="{A7D0F764-A7AE-4324-8573-4026EC2CF6D5}"/>
              </a:ext>
            </a:extLst>
          </p:cNvPr>
          <p:cNvSpPr>
            <a:spLocks noGrp="1"/>
          </p:cNvSpPr>
          <p:nvPr/>
        </p:nvSpPr>
        <p:spPr>
          <a:xfrm>
            <a:off x="2019300" y="3409950"/>
            <a:ext cx="2857500" cy="428625"/>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122ECD4B-17CD-4A6A-8F45-01389B7C93D6}"/>
              </a:ext>
            </a:extLst>
          </p:cNvPr>
          <p:cNvSpPr>
            <a:spLocks noGrp="1"/>
          </p:cNvSpPr>
          <p:nvPr/>
        </p:nvSpPr>
        <p:spPr>
          <a:xfrm>
            <a:off x="2095500" y="3476625"/>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Southern Oscillation Index / Sea-Level Pressure</a:t>
            </a:r>
          </a:p>
        </p:txBody>
      </p:sp>
      <p:sp>
        <p:nvSpPr>
          <p:cNvPr id="33" name="矩形 32">
            <a:extLst>
              <a:ext uri="{FF2B5EF4-FFF2-40B4-BE49-F238E27FC236}">
                <a16:creationId xmlns:a16="http://schemas.microsoft.com/office/drawing/2014/main" id="{FB5C264A-CD73-476C-BCA6-516F5B6EEE30}"/>
              </a:ext>
            </a:extLst>
          </p:cNvPr>
          <p:cNvSpPr>
            <a:spLocks noGrp="1"/>
          </p:cNvSpPr>
          <p:nvPr/>
        </p:nvSpPr>
        <p:spPr>
          <a:xfrm>
            <a:off x="4876800" y="3409950"/>
            <a:ext cx="6172200" cy="428625"/>
          </a:xfrm>
          <a:prstGeom prst="rect">
            <a:avLst/>
          </a:prstGeom>
          <a:solidFill>
            <a:srgbClr val="F3EDE2"/>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8D064C7A-9259-4E30-8ACF-A7F7B2DCEDAF}"/>
              </a:ext>
            </a:extLst>
          </p:cNvPr>
          <p:cNvSpPr>
            <a:spLocks noGrp="1"/>
          </p:cNvSpPr>
          <p:nvPr/>
        </p:nvSpPr>
        <p:spPr>
          <a:xfrm>
            <a:off x="4953000" y="3476625"/>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SOI measures the east-west Pacific pressure seesaw; SLP is used to build SOI-like gradients.</a:t>
            </a:r>
          </a:p>
        </p:txBody>
      </p:sp>
      <p:sp>
        <p:nvSpPr>
          <p:cNvPr id="35" name="矩形 34">
            <a:extLst>
              <a:ext uri="{FF2B5EF4-FFF2-40B4-BE49-F238E27FC236}">
                <a16:creationId xmlns:a16="http://schemas.microsoft.com/office/drawing/2014/main" id="{67853292-CAE2-49DA-9211-9090449A09AF}"/>
              </a:ext>
            </a:extLst>
          </p:cNvPr>
          <p:cNvSpPr>
            <a:spLocks noGrp="1"/>
          </p:cNvSpPr>
          <p:nvPr/>
        </p:nvSpPr>
        <p:spPr>
          <a:xfrm>
            <a:off x="685800" y="3838575"/>
            <a:ext cx="1333500" cy="428625"/>
          </a:xfrm>
          <a:prstGeom prst="rect">
            <a:avLst/>
          </a:prstGeom>
          <a:solidFill>
            <a:srgbClr val="FBF8F1"/>
          </a:solidFill>
          <a:ln w="6668">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6F188E03-7F08-4DA0-9F2F-2792288F5B91}"/>
              </a:ext>
            </a:extLst>
          </p:cNvPr>
          <p:cNvSpPr>
            <a:spLocks noGrp="1"/>
          </p:cNvSpPr>
          <p:nvPr/>
        </p:nvSpPr>
        <p:spPr>
          <a:xfrm>
            <a:off x="762000" y="3905250"/>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OLR / χ200</a:t>
            </a:r>
          </a:p>
        </p:txBody>
      </p:sp>
      <p:sp>
        <p:nvSpPr>
          <p:cNvPr id="37" name="矩形 36">
            <a:extLst>
              <a:ext uri="{FF2B5EF4-FFF2-40B4-BE49-F238E27FC236}">
                <a16:creationId xmlns:a16="http://schemas.microsoft.com/office/drawing/2014/main" id="{A018A7AE-B859-4F45-9068-E9C69C97272E}"/>
              </a:ext>
            </a:extLst>
          </p:cNvPr>
          <p:cNvSpPr>
            <a:spLocks noGrp="1"/>
          </p:cNvSpPr>
          <p:nvPr/>
        </p:nvSpPr>
        <p:spPr>
          <a:xfrm>
            <a:off x="2019300" y="3838575"/>
            <a:ext cx="2857500" cy="428625"/>
          </a:xfrm>
          <a:prstGeom prst="rect">
            <a:avLst/>
          </a:prstGeom>
          <a:solidFill>
            <a:srgbClr val="FBF8F1"/>
          </a:solidFill>
          <a:ln w="6668">
            <a:solidFill>
              <a:srgbClr val="D8D1C4"/>
            </a:solidFill>
            <a:prstDash val="solid"/>
          </a:ln>
        </p:spPr>
        <p:txBody>
          <a:bodyPr/>
          <a:lstStyle/>
          <a:p>
            <a:endParaRPr lang="zh-CN" altLang="en-US"/>
          </a:p>
        </p:txBody>
      </p:sp>
      <p:sp>
        <p:nvSpPr>
          <p:cNvPr id="38" name="矩形 37">
            <a:extLst>
              <a:ext uri="{FF2B5EF4-FFF2-40B4-BE49-F238E27FC236}">
                <a16:creationId xmlns:a16="http://schemas.microsoft.com/office/drawing/2014/main" id="{AC7BE6B2-F970-4734-AD9E-8DF9FFE2AD6E}"/>
              </a:ext>
            </a:extLst>
          </p:cNvPr>
          <p:cNvSpPr>
            <a:spLocks noGrp="1"/>
          </p:cNvSpPr>
          <p:nvPr/>
        </p:nvSpPr>
        <p:spPr>
          <a:xfrm>
            <a:off x="2095500" y="3905250"/>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Outgoing Longwave Radiation / 200-hPa velocity potential</a:t>
            </a:r>
          </a:p>
        </p:txBody>
      </p:sp>
      <p:sp>
        <p:nvSpPr>
          <p:cNvPr id="39" name="矩形 38">
            <a:extLst>
              <a:ext uri="{FF2B5EF4-FFF2-40B4-BE49-F238E27FC236}">
                <a16:creationId xmlns:a16="http://schemas.microsoft.com/office/drawing/2014/main" id="{D6B5D28A-626F-4379-98B2-7B1BE5434A42}"/>
              </a:ext>
            </a:extLst>
          </p:cNvPr>
          <p:cNvSpPr>
            <a:spLocks noGrp="1"/>
          </p:cNvSpPr>
          <p:nvPr/>
        </p:nvSpPr>
        <p:spPr>
          <a:xfrm>
            <a:off x="4876800" y="3838575"/>
            <a:ext cx="6172200" cy="428625"/>
          </a:xfrm>
          <a:prstGeom prst="rect">
            <a:avLst/>
          </a:prstGeom>
          <a:solidFill>
            <a:srgbClr val="FBF8F1"/>
          </a:solidFill>
          <a:ln w="6668">
            <a:solidFill>
              <a:srgbClr val="D8D1C4"/>
            </a:solidFill>
            <a:prstDash val="solid"/>
          </a:ln>
        </p:spPr>
        <p:txBody>
          <a:bodyPr/>
          <a:lstStyle/>
          <a:p>
            <a:endParaRPr lang="zh-CN" altLang="en-US"/>
          </a:p>
        </p:txBody>
      </p:sp>
      <p:sp>
        <p:nvSpPr>
          <p:cNvPr id="40" name="矩形 39">
            <a:extLst>
              <a:ext uri="{FF2B5EF4-FFF2-40B4-BE49-F238E27FC236}">
                <a16:creationId xmlns:a16="http://schemas.microsoft.com/office/drawing/2014/main" id="{F462A136-A967-434F-A73F-3EA9E7BB61E8}"/>
              </a:ext>
            </a:extLst>
          </p:cNvPr>
          <p:cNvSpPr>
            <a:spLocks noGrp="1"/>
          </p:cNvSpPr>
          <p:nvPr/>
        </p:nvSpPr>
        <p:spPr>
          <a:xfrm>
            <a:off x="4953000" y="3905250"/>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OLR diagnoses deep convection; χ200 diagnoses upper-level Walker-circulation divergence.</a:t>
            </a:r>
          </a:p>
        </p:txBody>
      </p:sp>
      <p:sp>
        <p:nvSpPr>
          <p:cNvPr id="41" name="矩形 40">
            <a:extLst>
              <a:ext uri="{FF2B5EF4-FFF2-40B4-BE49-F238E27FC236}">
                <a16:creationId xmlns:a16="http://schemas.microsoft.com/office/drawing/2014/main" id="{7862478A-DBF0-4B25-B67F-8C56BDA8E211}"/>
              </a:ext>
            </a:extLst>
          </p:cNvPr>
          <p:cNvSpPr>
            <a:spLocks noGrp="1"/>
          </p:cNvSpPr>
          <p:nvPr/>
        </p:nvSpPr>
        <p:spPr>
          <a:xfrm>
            <a:off x="685800" y="4267200"/>
            <a:ext cx="1333500" cy="428625"/>
          </a:xfrm>
          <a:prstGeom prst="rect">
            <a:avLst/>
          </a:prstGeom>
          <a:solidFill>
            <a:srgbClr val="F3EDE2"/>
          </a:solidFill>
          <a:ln w="6668">
            <a:solidFill>
              <a:srgbClr val="D8D1C4"/>
            </a:solidFill>
            <a:prstDash val="solid"/>
          </a:ln>
        </p:spPr>
        <p:txBody>
          <a:bodyPr/>
          <a:lstStyle/>
          <a:p>
            <a:endParaRPr lang="zh-CN" altLang="en-US"/>
          </a:p>
        </p:txBody>
      </p:sp>
      <p:sp>
        <p:nvSpPr>
          <p:cNvPr id="42" name="矩形 41">
            <a:extLst>
              <a:ext uri="{FF2B5EF4-FFF2-40B4-BE49-F238E27FC236}">
                <a16:creationId xmlns:a16="http://schemas.microsoft.com/office/drawing/2014/main" id="{3D4BF361-4DDE-4F73-84FD-AF8C7B338180}"/>
              </a:ext>
            </a:extLst>
          </p:cNvPr>
          <p:cNvSpPr>
            <a:spLocks noGrp="1"/>
          </p:cNvSpPr>
          <p:nvPr/>
        </p:nvSpPr>
        <p:spPr>
          <a:xfrm>
            <a:off x="762000" y="4333875"/>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AMJ/JJA/SON/DJF</a:t>
            </a:r>
          </a:p>
        </p:txBody>
      </p:sp>
      <p:sp>
        <p:nvSpPr>
          <p:cNvPr id="43" name="矩形 42">
            <a:extLst>
              <a:ext uri="{FF2B5EF4-FFF2-40B4-BE49-F238E27FC236}">
                <a16:creationId xmlns:a16="http://schemas.microsoft.com/office/drawing/2014/main" id="{D54AAA65-9FE4-4B04-A367-48300316C622}"/>
              </a:ext>
            </a:extLst>
          </p:cNvPr>
          <p:cNvSpPr>
            <a:spLocks noGrp="1"/>
          </p:cNvSpPr>
          <p:nvPr/>
        </p:nvSpPr>
        <p:spPr>
          <a:xfrm>
            <a:off x="2019300" y="4267200"/>
            <a:ext cx="2857500" cy="428625"/>
          </a:xfrm>
          <a:prstGeom prst="rect">
            <a:avLst/>
          </a:prstGeom>
          <a:solidFill>
            <a:srgbClr val="F3EDE2"/>
          </a:solidFill>
          <a:ln w="6668">
            <a:solidFill>
              <a:srgbClr val="D8D1C4"/>
            </a:solidFill>
            <a:prstDash val="solid"/>
          </a:ln>
        </p:spPr>
        <p:txBody>
          <a:bodyPr/>
          <a:lstStyle/>
          <a:p>
            <a:endParaRPr lang="zh-CN" altLang="en-US"/>
          </a:p>
        </p:txBody>
      </p:sp>
      <p:sp>
        <p:nvSpPr>
          <p:cNvPr id="44" name="矩形 43">
            <a:extLst>
              <a:ext uri="{FF2B5EF4-FFF2-40B4-BE49-F238E27FC236}">
                <a16:creationId xmlns:a16="http://schemas.microsoft.com/office/drawing/2014/main" id="{35981CEA-70D6-43BB-87BE-35162817FD6F}"/>
              </a:ext>
            </a:extLst>
          </p:cNvPr>
          <p:cNvSpPr>
            <a:spLocks noGrp="1"/>
          </p:cNvSpPr>
          <p:nvPr/>
        </p:nvSpPr>
        <p:spPr>
          <a:xfrm>
            <a:off x="2095500" y="4333875"/>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Apr-Jun / Jun-Aug / Sep-Nov / Dec-Feb</a:t>
            </a:r>
          </a:p>
        </p:txBody>
      </p:sp>
      <p:sp>
        <p:nvSpPr>
          <p:cNvPr id="45" name="矩形 44">
            <a:extLst>
              <a:ext uri="{FF2B5EF4-FFF2-40B4-BE49-F238E27FC236}">
                <a16:creationId xmlns:a16="http://schemas.microsoft.com/office/drawing/2014/main" id="{5BCFF909-A041-4594-9B68-8A6B4C9DFB0E}"/>
              </a:ext>
            </a:extLst>
          </p:cNvPr>
          <p:cNvSpPr>
            <a:spLocks noGrp="1"/>
          </p:cNvSpPr>
          <p:nvPr/>
        </p:nvSpPr>
        <p:spPr>
          <a:xfrm>
            <a:off x="4876800" y="4267200"/>
            <a:ext cx="6172200" cy="428625"/>
          </a:xfrm>
          <a:prstGeom prst="rect">
            <a:avLst/>
          </a:prstGeom>
          <a:solidFill>
            <a:srgbClr val="F3EDE2"/>
          </a:solidFill>
          <a:ln w="6668">
            <a:solidFill>
              <a:srgbClr val="D8D1C4"/>
            </a:solidFill>
            <a:prstDash val="solid"/>
          </a:ln>
        </p:spPr>
        <p:txBody>
          <a:bodyPr/>
          <a:lstStyle/>
          <a:p>
            <a:endParaRPr lang="zh-CN" altLang="en-US"/>
          </a:p>
        </p:txBody>
      </p:sp>
      <p:sp>
        <p:nvSpPr>
          <p:cNvPr id="46" name="矩形 45">
            <a:extLst>
              <a:ext uri="{FF2B5EF4-FFF2-40B4-BE49-F238E27FC236}">
                <a16:creationId xmlns:a16="http://schemas.microsoft.com/office/drawing/2014/main" id="{8FFC603D-F1C1-44F9-BE39-0CA3EE7D1CEF}"/>
              </a:ext>
            </a:extLst>
          </p:cNvPr>
          <p:cNvSpPr>
            <a:spLocks noGrp="1"/>
          </p:cNvSpPr>
          <p:nvPr/>
        </p:nvSpPr>
        <p:spPr>
          <a:xfrm>
            <a:off x="4953000" y="4333875"/>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Seasonal windows for the 2023/24 event; AMJ and JJA are the early developing seasons.</a:t>
            </a:r>
          </a:p>
        </p:txBody>
      </p:sp>
      <p:sp>
        <p:nvSpPr>
          <p:cNvPr id="47" name="矩形 46">
            <a:extLst>
              <a:ext uri="{FF2B5EF4-FFF2-40B4-BE49-F238E27FC236}">
                <a16:creationId xmlns:a16="http://schemas.microsoft.com/office/drawing/2014/main" id="{07CC66B9-1302-4E4C-8EC5-E2B9F3831B60}"/>
              </a:ext>
            </a:extLst>
          </p:cNvPr>
          <p:cNvSpPr>
            <a:spLocks noGrp="1"/>
          </p:cNvSpPr>
          <p:nvPr/>
        </p:nvSpPr>
        <p:spPr>
          <a:xfrm>
            <a:off x="685800" y="4695825"/>
            <a:ext cx="1333500" cy="428625"/>
          </a:xfrm>
          <a:prstGeom prst="rect">
            <a:avLst/>
          </a:prstGeom>
          <a:solidFill>
            <a:srgbClr val="FBF8F1"/>
          </a:solidFill>
          <a:ln w="6668">
            <a:solidFill>
              <a:srgbClr val="D8D1C4"/>
            </a:solidFill>
            <a:prstDash val="solid"/>
          </a:ln>
        </p:spPr>
        <p:txBody>
          <a:bodyPr/>
          <a:lstStyle/>
          <a:p>
            <a:endParaRPr lang="zh-CN" altLang="en-US"/>
          </a:p>
        </p:txBody>
      </p:sp>
      <p:sp>
        <p:nvSpPr>
          <p:cNvPr id="48" name="矩形 47">
            <a:extLst>
              <a:ext uri="{FF2B5EF4-FFF2-40B4-BE49-F238E27FC236}">
                <a16:creationId xmlns:a16="http://schemas.microsoft.com/office/drawing/2014/main" id="{04A54B59-86A4-41E6-AADE-422E68E1DCC4}"/>
              </a:ext>
            </a:extLst>
          </p:cNvPr>
          <p:cNvSpPr>
            <a:spLocks noGrp="1"/>
          </p:cNvSpPr>
          <p:nvPr/>
        </p:nvSpPr>
        <p:spPr>
          <a:xfrm>
            <a:off x="762000" y="4762500"/>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OISST/GPCP/NCEP</a:t>
            </a:r>
          </a:p>
        </p:txBody>
      </p:sp>
      <p:sp>
        <p:nvSpPr>
          <p:cNvPr id="49" name="矩形 48">
            <a:extLst>
              <a:ext uri="{FF2B5EF4-FFF2-40B4-BE49-F238E27FC236}">
                <a16:creationId xmlns:a16="http://schemas.microsoft.com/office/drawing/2014/main" id="{53FF5AD0-3041-43CB-A9BE-6943EA1CBA81}"/>
              </a:ext>
            </a:extLst>
          </p:cNvPr>
          <p:cNvSpPr>
            <a:spLocks noGrp="1"/>
          </p:cNvSpPr>
          <p:nvPr/>
        </p:nvSpPr>
        <p:spPr>
          <a:xfrm>
            <a:off x="2019300" y="4695825"/>
            <a:ext cx="2857500" cy="428625"/>
          </a:xfrm>
          <a:prstGeom prst="rect">
            <a:avLst/>
          </a:prstGeom>
          <a:solidFill>
            <a:srgbClr val="FBF8F1"/>
          </a:solidFill>
          <a:ln w="6668">
            <a:solidFill>
              <a:srgbClr val="D8D1C4"/>
            </a:solidFill>
            <a:prstDash val="solid"/>
          </a:ln>
        </p:spPr>
        <p:txBody>
          <a:bodyPr/>
          <a:lstStyle/>
          <a:p>
            <a:endParaRPr lang="zh-CN" altLang="en-US"/>
          </a:p>
        </p:txBody>
      </p:sp>
      <p:sp>
        <p:nvSpPr>
          <p:cNvPr id="50" name="矩形 49">
            <a:extLst>
              <a:ext uri="{FF2B5EF4-FFF2-40B4-BE49-F238E27FC236}">
                <a16:creationId xmlns:a16="http://schemas.microsoft.com/office/drawing/2014/main" id="{C394FAE0-6E1F-4E81-AAC8-5ABFD7E1A3DB}"/>
              </a:ext>
            </a:extLst>
          </p:cNvPr>
          <p:cNvSpPr>
            <a:spLocks noGrp="1"/>
          </p:cNvSpPr>
          <p:nvPr/>
        </p:nvSpPr>
        <p:spPr>
          <a:xfrm>
            <a:off x="2095500" y="4762500"/>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NOAA SST / global precipitation / NCEP reanalysis</a:t>
            </a:r>
          </a:p>
        </p:txBody>
      </p:sp>
      <p:sp>
        <p:nvSpPr>
          <p:cNvPr id="51" name="矩形 50">
            <a:extLst>
              <a:ext uri="{FF2B5EF4-FFF2-40B4-BE49-F238E27FC236}">
                <a16:creationId xmlns:a16="http://schemas.microsoft.com/office/drawing/2014/main" id="{4BDF842D-0DE1-4BFA-AA57-1E023D9724BE}"/>
              </a:ext>
            </a:extLst>
          </p:cNvPr>
          <p:cNvSpPr>
            <a:spLocks noGrp="1"/>
          </p:cNvSpPr>
          <p:nvPr/>
        </p:nvSpPr>
        <p:spPr>
          <a:xfrm>
            <a:off x="4876800" y="4695825"/>
            <a:ext cx="6172200" cy="428625"/>
          </a:xfrm>
          <a:prstGeom prst="rect">
            <a:avLst/>
          </a:prstGeom>
          <a:solidFill>
            <a:srgbClr val="FBF8F1"/>
          </a:solidFill>
          <a:ln w="6668">
            <a:solidFill>
              <a:srgbClr val="D8D1C4"/>
            </a:solidFill>
            <a:prstDash val="solid"/>
          </a:ln>
        </p:spPr>
        <p:txBody>
          <a:bodyPr/>
          <a:lstStyle/>
          <a:p>
            <a:endParaRPr lang="zh-CN" altLang="en-US"/>
          </a:p>
        </p:txBody>
      </p:sp>
      <p:sp>
        <p:nvSpPr>
          <p:cNvPr id="52" name="矩形 51">
            <a:extLst>
              <a:ext uri="{FF2B5EF4-FFF2-40B4-BE49-F238E27FC236}">
                <a16:creationId xmlns:a16="http://schemas.microsoft.com/office/drawing/2014/main" id="{6DAA417E-F5BE-4B0A-9588-C0FC4D5AC53D}"/>
              </a:ext>
            </a:extLst>
          </p:cNvPr>
          <p:cNvSpPr>
            <a:spLocks noGrp="1"/>
          </p:cNvSpPr>
          <p:nvPr/>
        </p:nvSpPr>
        <p:spPr>
          <a:xfrm>
            <a:off x="4953000" y="4762500"/>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Public datasets already used for validation; ERA5 and OLR are next-stage additions.</a:t>
            </a:r>
          </a:p>
        </p:txBody>
      </p:sp>
      <p:sp>
        <p:nvSpPr>
          <p:cNvPr id="53" name="矩形 52">
            <a:extLst>
              <a:ext uri="{FF2B5EF4-FFF2-40B4-BE49-F238E27FC236}">
                <a16:creationId xmlns:a16="http://schemas.microsoft.com/office/drawing/2014/main" id="{97F6411E-D8E9-4031-946C-756E9883DF55}"/>
              </a:ext>
            </a:extLst>
          </p:cNvPr>
          <p:cNvSpPr>
            <a:spLocks noGrp="1"/>
          </p:cNvSpPr>
          <p:nvPr/>
        </p:nvSpPr>
        <p:spPr>
          <a:xfrm>
            <a:off x="685800" y="5124450"/>
            <a:ext cx="1333500" cy="428625"/>
          </a:xfrm>
          <a:prstGeom prst="rect">
            <a:avLst/>
          </a:prstGeom>
          <a:solidFill>
            <a:srgbClr val="F3EDE2"/>
          </a:solidFill>
          <a:ln w="6668">
            <a:solidFill>
              <a:srgbClr val="D8D1C4"/>
            </a:solidFill>
            <a:prstDash val="solid"/>
          </a:ln>
        </p:spPr>
        <p:txBody>
          <a:bodyPr/>
          <a:lstStyle/>
          <a:p>
            <a:endParaRPr lang="zh-CN" altLang="en-US"/>
          </a:p>
        </p:txBody>
      </p:sp>
      <p:sp>
        <p:nvSpPr>
          <p:cNvPr id="54" name="矩形 53">
            <a:extLst>
              <a:ext uri="{FF2B5EF4-FFF2-40B4-BE49-F238E27FC236}">
                <a16:creationId xmlns:a16="http://schemas.microsoft.com/office/drawing/2014/main" id="{ED858FBF-F895-46D2-8DDF-4D88C1091F72}"/>
              </a:ext>
            </a:extLst>
          </p:cNvPr>
          <p:cNvSpPr>
            <a:spLocks noGrp="1"/>
          </p:cNvSpPr>
          <p:nvPr/>
        </p:nvSpPr>
        <p:spPr>
          <a:xfrm>
            <a:off x="762000" y="5191125"/>
            <a:ext cx="1181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TNA/MC/WPWP/TIO</a:t>
            </a:r>
          </a:p>
        </p:txBody>
      </p:sp>
      <p:sp>
        <p:nvSpPr>
          <p:cNvPr id="55" name="矩形 54">
            <a:extLst>
              <a:ext uri="{FF2B5EF4-FFF2-40B4-BE49-F238E27FC236}">
                <a16:creationId xmlns:a16="http://schemas.microsoft.com/office/drawing/2014/main" id="{FA576730-7716-4AFD-9142-ADEF64CEB000}"/>
              </a:ext>
            </a:extLst>
          </p:cNvPr>
          <p:cNvSpPr>
            <a:spLocks noGrp="1"/>
          </p:cNvSpPr>
          <p:nvPr/>
        </p:nvSpPr>
        <p:spPr>
          <a:xfrm>
            <a:off x="2019300" y="5124450"/>
            <a:ext cx="2857500" cy="428625"/>
          </a:xfrm>
          <a:prstGeom prst="rect">
            <a:avLst/>
          </a:prstGeom>
          <a:solidFill>
            <a:srgbClr val="F3EDE2"/>
          </a:solidFill>
          <a:ln w="6668">
            <a:solidFill>
              <a:srgbClr val="D8D1C4"/>
            </a:solidFill>
            <a:prstDash val="solid"/>
          </a:ln>
        </p:spPr>
        <p:txBody>
          <a:bodyPr/>
          <a:lstStyle/>
          <a:p>
            <a:endParaRPr lang="zh-CN" altLang="en-US"/>
          </a:p>
        </p:txBody>
      </p:sp>
      <p:sp>
        <p:nvSpPr>
          <p:cNvPr id="56" name="矩形 55">
            <a:extLst>
              <a:ext uri="{FF2B5EF4-FFF2-40B4-BE49-F238E27FC236}">
                <a16:creationId xmlns:a16="http://schemas.microsoft.com/office/drawing/2014/main" id="{140E00CC-10C6-472E-8314-1E1A820B2BC6}"/>
              </a:ext>
            </a:extLst>
          </p:cNvPr>
          <p:cNvSpPr>
            <a:spLocks noGrp="1"/>
          </p:cNvSpPr>
          <p:nvPr/>
        </p:nvSpPr>
        <p:spPr>
          <a:xfrm>
            <a:off x="2095500" y="5191125"/>
            <a:ext cx="27051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Tropical North Atlantic / Maritime Continent / Western Pacific warm pool / Tropical Indian Ocean</a:t>
            </a:r>
          </a:p>
        </p:txBody>
      </p:sp>
      <p:sp>
        <p:nvSpPr>
          <p:cNvPr id="57" name="矩形 56">
            <a:extLst>
              <a:ext uri="{FF2B5EF4-FFF2-40B4-BE49-F238E27FC236}">
                <a16:creationId xmlns:a16="http://schemas.microsoft.com/office/drawing/2014/main" id="{131BA461-1AEF-47EA-8D85-27E030F0EED1}"/>
              </a:ext>
            </a:extLst>
          </p:cNvPr>
          <p:cNvSpPr>
            <a:spLocks noGrp="1"/>
          </p:cNvSpPr>
          <p:nvPr/>
        </p:nvSpPr>
        <p:spPr>
          <a:xfrm>
            <a:off x="4876800" y="5124450"/>
            <a:ext cx="6172200" cy="428625"/>
          </a:xfrm>
          <a:prstGeom prst="rect">
            <a:avLst/>
          </a:prstGeom>
          <a:solidFill>
            <a:srgbClr val="F3EDE2"/>
          </a:solidFill>
          <a:ln w="6668">
            <a:solidFill>
              <a:srgbClr val="D8D1C4"/>
            </a:solidFill>
            <a:prstDash val="solid"/>
          </a:ln>
        </p:spPr>
        <p:txBody>
          <a:bodyPr/>
          <a:lstStyle/>
          <a:p>
            <a:endParaRPr lang="zh-CN" altLang="en-US"/>
          </a:p>
        </p:txBody>
      </p:sp>
      <p:sp>
        <p:nvSpPr>
          <p:cNvPr id="58" name="矩形 57">
            <a:extLst>
              <a:ext uri="{FF2B5EF4-FFF2-40B4-BE49-F238E27FC236}">
                <a16:creationId xmlns:a16="http://schemas.microsoft.com/office/drawing/2014/main" id="{915E6470-9DD7-4B19-A10F-7FEED8403491}"/>
              </a:ext>
            </a:extLst>
          </p:cNvPr>
          <p:cNvSpPr>
            <a:spLocks noGrp="1"/>
          </p:cNvSpPr>
          <p:nvPr/>
        </p:nvSpPr>
        <p:spPr>
          <a:xfrm>
            <a:off x="4953000" y="5191125"/>
            <a:ext cx="6019800" cy="3333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1D1B18"/>
                </a:solidFill>
                <a:latin typeface="Aptos"/>
                <a:ea typeface="Aptos"/>
                <a:cs typeface="Aptos"/>
              </a:defRPr>
            </a:pPr>
            <a:r>
              <a:rPr sz="810" b="0">
                <a:solidFill>
                  <a:srgbClr val="1D1B18"/>
                </a:solidFill>
                <a:latin typeface="Aptos"/>
                <a:ea typeface="Aptos"/>
                <a:cs typeface="Aptos"/>
              </a:rPr>
              <a:t>External-basin and tropical-background regions used in the mechanism diagnostics.</a:t>
            </a:r>
          </a:p>
        </p:txBody>
      </p:sp>
      <p:sp>
        <p:nvSpPr>
          <p:cNvPr id="59" name="矩形 58">
            <a:extLst>
              <a:ext uri="{FF2B5EF4-FFF2-40B4-BE49-F238E27FC236}">
                <a16:creationId xmlns:a16="http://schemas.microsoft.com/office/drawing/2014/main" id="{8FE20F3B-2A66-486E-BC9E-39124BE5E6E7}"/>
              </a:ext>
            </a:extLst>
          </p:cNvPr>
          <p:cNvSpPr>
            <a:spLocks noGrp="1"/>
          </p:cNvSpPr>
          <p:nvPr/>
        </p:nvSpPr>
        <p:spPr>
          <a:xfrm>
            <a:off x="685800" y="5676900"/>
            <a:ext cx="10363200" cy="514350"/>
          </a:xfrm>
          <a:prstGeom prst="rect">
            <a:avLst/>
          </a:prstGeom>
          <a:solidFill>
            <a:srgbClr val="FFFAF1"/>
          </a:solidFill>
          <a:ln w="7620">
            <a:solidFill>
              <a:srgbClr val="D8D1C4"/>
            </a:solidFill>
            <a:prstDash val="solid"/>
          </a:ln>
        </p:spPr>
        <p:txBody>
          <a:bodyPr/>
          <a:lstStyle/>
          <a:p>
            <a:endParaRPr lang="zh-CN" altLang="en-US"/>
          </a:p>
        </p:txBody>
      </p:sp>
      <p:sp>
        <p:nvSpPr>
          <p:cNvPr id="60" name="矩形 59">
            <a:extLst>
              <a:ext uri="{FF2B5EF4-FFF2-40B4-BE49-F238E27FC236}">
                <a16:creationId xmlns:a16="http://schemas.microsoft.com/office/drawing/2014/main" id="{9A5A3990-F921-4A98-90D5-03A1AD47FD78}"/>
              </a:ext>
            </a:extLst>
          </p:cNvPr>
          <p:cNvSpPr>
            <a:spLocks noGrp="1"/>
          </p:cNvSpPr>
          <p:nvPr/>
        </p:nvSpPr>
        <p:spPr>
          <a:xfrm>
            <a:off x="800100" y="5753100"/>
            <a:ext cx="101346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a:solidFill>
                  <a:srgbClr val="6E675D"/>
                </a:solidFill>
                <a:latin typeface="Aptos"/>
                <a:ea typeface="Aptos"/>
                <a:cs typeface="Aptos"/>
              </a:rPr>
              <a:t>Reading guide: later slides spell out the full name before using abbreviations where possible. The one-line storyline is that SST was strong, but wind, pressure, rainfall, and convection did not respond in the historical strong-El Niño way.</a:t>
            </a:r>
          </a:p>
        </p:txBody>
      </p:sp>
      <p:sp>
        <p:nvSpPr>
          <p:cNvPr id="61" name="矩形 60">
            <a:extLst>
              <a:ext uri="{FF2B5EF4-FFF2-40B4-BE49-F238E27FC236}">
                <a16:creationId xmlns:a16="http://schemas.microsoft.com/office/drawing/2014/main" id="{5CF803B3-CF16-4EE3-A943-EE477D5B1764}"/>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Definitions follow standard climate diagnostics; variable usage follows docs/data_source_log.md and local analysis scripts.</a:t>
            </a:r>
          </a:p>
        </p:txBody>
      </p:sp>
    </p:spTree>
    <p:extLst>
      <p:ext uri="{BB962C8B-B14F-4D97-AF65-F5344CB8AC3E}">
        <p14:creationId xmlns:p14="http://schemas.microsoft.com/office/powerpoint/2010/main" val="1433556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a:extLst>
              <a:ext uri="{FF2B5EF4-FFF2-40B4-BE49-F238E27FC236}">
                <a16:creationId xmlns:a16="http://schemas.microsoft.com/office/drawing/2014/main" id="{37D1EFD6-C4B7-4F6B-948D-B3461397FB2A}"/>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27ADD1B5-6717-4C64-9DCA-9D20DA0E39CA}"/>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Reproduction 1</a:t>
            </a:r>
          </a:p>
        </p:txBody>
      </p:sp>
      <p:sp>
        <p:nvSpPr>
          <p:cNvPr id="3" name="矩形 2">
            <a:extLst>
              <a:ext uri="{FF2B5EF4-FFF2-40B4-BE49-F238E27FC236}">
                <a16:creationId xmlns:a16="http://schemas.microsoft.com/office/drawing/2014/main" id="{37E9ED53-4791-48C2-A6A6-FC8A669E98CB}"/>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Peng et al. Fig. 1: strong sea-surface temperature but weak wind-pressure coupling in 2023/24</a:t>
            </a:r>
          </a:p>
        </p:txBody>
      </p:sp>
      <p:sp>
        <p:nvSpPr>
          <p:cNvPr id="4" name="矩形 3">
            <a:extLst>
              <a:ext uri="{FF2B5EF4-FFF2-40B4-BE49-F238E27FC236}">
                <a16:creationId xmlns:a16="http://schemas.microsoft.com/office/drawing/2014/main" id="{DC234357-8C70-4180-AF4C-D1C981A01726}"/>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934826" y="1695450"/>
            <a:ext cx="4416849" cy="3676650"/>
          </a:xfrm>
          <a:prstGeom prst="rect">
            <a:avLst/>
          </a:prstGeom>
        </p:spPr>
      </p:pic>
      <p:pic>
        <p:nvPicPr>
          <p:cNvPr id="6" name="图片 5"/>
          <p:cNvPicPr>
            <a:picLocks noChangeAspect="1"/>
          </p:cNvPicPr>
          <p:nvPr/>
        </p:nvPicPr>
        <p:blipFill>
          <a:blip r:embed="rId4"/>
          <a:stretch/>
        </p:blipFill>
        <p:spPr>
          <a:xfrm>
            <a:off x="5905500" y="2091157"/>
            <a:ext cx="4095750" cy="1742236"/>
          </a:xfrm>
          <a:prstGeom prst="rect">
            <a:avLst/>
          </a:prstGeom>
        </p:spPr>
      </p:pic>
      <p:sp>
        <p:nvSpPr>
          <p:cNvPr id="7" name="椭圆 6">
            <a:extLst>
              <a:ext uri="{FF2B5EF4-FFF2-40B4-BE49-F238E27FC236}">
                <a16:creationId xmlns:a16="http://schemas.microsoft.com/office/drawing/2014/main" id="{0AE26891-ECC0-43FE-A23D-514B7E85419B}"/>
              </a:ext>
            </a:extLst>
          </p:cNvPr>
          <p:cNvSpPr>
            <a:spLocks noGrp="1"/>
          </p:cNvSpPr>
          <p:nvPr/>
        </p:nvSpPr>
        <p:spPr>
          <a:xfrm>
            <a:off x="6019800" y="44767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8" name="矩形 7">
            <a:extLst>
              <a:ext uri="{FF2B5EF4-FFF2-40B4-BE49-F238E27FC236}">
                <a16:creationId xmlns:a16="http://schemas.microsoft.com/office/drawing/2014/main" id="{1C90069C-6316-46BA-B9E1-DBA2690832A4}"/>
              </a:ext>
            </a:extLst>
          </p:cNvPr>
          <p:cNvSpPr>
            <a:spLocks noGrp="1"/>
          </p:cNvSpPr>
          <p:nvPr/>
        </p:nvSpPr>
        <p:spPr>
          <a:xfrm>
            <a:off x="6210300" y="4400550"/>
            <a:ext cx="4381500" cy="3524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88" b="0">
                <a:solidFill>
                  <a:srgbClr val="1D1B18"/>
                </a:solidFill>
                <a:latin typeface="Aptos"/>
                <a:ea typeface="Aptos"/>
                <a:cs typeface="Aptos"/>
              </a:defRPr>
            </a:pPr>
            <a:r>
              <a:rPr sz="1088" b="0">
                <a:solidFill>
                  <a:srgbClr val="1D1B18"/>
                </a:solidFill>
                <a:latin typeface="Aptos"/>
                <a:ea typeface="Aptos"/>
                <a:cs typeface="Aptos"/>
              </a:rPr>
              <a:t>Reproduction confirms 2023/24 as a strong SST event.</a:t>
            </a:r>
          </a:p>
        </p:txBody>
      </p:sp>
      <p:sp>
        <p:nvSpPr>
          <p:cNvPr id="9" name="椭圆 8">
            <a:extLst>
              <a:ext uri="{FF2B5EF4-FFF2-40B4-BE49-F238E27FC236}">
                <a16:creationId xmlns:a16="http://schemas.microsoft.com/office/drawing/2014/main" id="{AEAA8AF1-53FC-4E31-AFA1-66388289D6A0}"/>
              </a:ext>
            </a:extLst>
          </p:cNvPr>
          <p:cNvSpPr>
            <a:spLocks noGrp="1"/>
          </p:cNvSpPr>
          <p:nvPr/>
        </p:nvSpPr>
        <p:spPr>
          <a:xfrm>
            <a:off x="6019800" y="48768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0" name="矩形 9">
            <a:extLst>
              <a:ext uri="{FF2B5EF4-FFF2-40B4-BE49-F238E27FC236}">
                <a16:creationId xmlns:a16="http://schemas.microsoft.com/office/drawing/2014/main" id="{AA120F21-5AFC-4CDB-BF55-0D47E6D994EB}"/>
              </a:ext>
            </a:extLst>
          </p:cNvPr>
          <p:cNvSpPr>
            <a:spLocks noGrp="1"/>
          </p:cNvSpPr>
          <p:nvPr/>
        </p:nvSpPr>
        <p:spPr>
          <a:xfrm>
            <a:off x="6210300" y="4800600"/>
            <a:ext cx="4381500" cy="3524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88" b="0">
                <a:solidFill>
                  <a:srgbClr val="1D1B18"/>
                </a:solidFill>
                <a:latin typeface="Aptos"/>
                <a:ea typeface="Aptos"/>
                <a:cs typeface="Aptos"/>
              </a:defRPr>
            </a:pPr>
            <a:r>
              <a:rPr sz="1088" b="0">
                <a:solidFill>
                  <a:srgbClr val="1D1B18"/>
                </a:solidFill>
                <a:latin typeface="Aptos"/>
                <a:ea typeface="Aptos"/>
                <a:cs typeface="Aptos"/>
              </a:rPr>
              <a:t>Wind and pressure responses are muted relative to 1982/83, 1997/98, and 2015/16.</a:t>
            </a:r>
          </a:p>
        </p:txBody>
      </p:sp>
      <p:sp>
        <p:nvSpPr>
          <p:cNvPr id="11" name="矩形 10">
            <a:extLst>
              <a:ext uri="{FF2B5EF4-FFF2-40B4-BE49-F238E27FC236}">
                <a16:creationId xmlns:a16="http://schemas.microsoft.com/office/drawing/2014/main" id="{3CDEB5E2-BF6D-482E-AC61-2B79A8553FAD}"/>
              </a:ext>
            </a:extLst>
          </p:cNvPr>
          <p:cNvSpPr>
            <a:spLocks noGrp="1"/>
          </p:cNvSpPr>
          <p:nvPr/>
        </p:nvSpPr>
        <p:spPr>
          <a:xfrm>
            <a:off x="647700" y="5467350"/>
            <a:ext cx="10363200" cy="781050"/>
          </a:xfrm>
          <a:prstGeom prst="rect">
            <a:avLst/>
          </a:prstGeom>
          <a:solidFill>
            <a:srgbClr val="FFFAF1"/>
          </a:solidFill>
          <a:ln w="7620">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289E2E8E-F973-4F82-9641-B528F86F01B9}"/>
              </a:ext>
            </a:extLst>
          </p:cNvPr>
          <p:cNvSpPr>
            <a:spLocks noGrp="1"/>
          </p:cNvSpPr>
          <p:nvPr/>
        </p:nvSpPr>
        <p:spPr>
          <a:xfrm>
            <a:off x="762000" y="5543550"/>
            <a:ext cx="1013460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dirty="0">
                <a:solidFill>
                  <a:srgbClr val="6E675D"/>
                </a:solidFill>
                <a:latin typeface="Aptos"/>
                <a:ea typeface="Aptos"/>
                <a:cs typeface="Aptos"/>
              </a:rPr>
              <a:t>Data note: Peng et al. 2025 source archive Fig. 1; local table fig1_event_coupling.csv. Niño-3 is the eastern equatorial Pacific SST region; u10 is 10-m zonal wind; SOI is the Southern Oscillation Index. For 2023, Niño-3=1.929, u10=0.640, SOI=-0.433; u10 and SOI response ratios are only 0.27 and 0.31. </a:t>
            </a:r>
            <a:r>
              <a:rPr lang="en-US" sz="780" b="0" dirty="0">
                <a:solidFill>
                  <a:srgbClr val="6E675D"/>
                </a:solidFill>
                <a:latin typeface="Aptos"/>
                <a:ea typeface="Aptos"/>
                <a:cs typeface="Aptos"/>
              </a:rPr>
              <a:t>T</a:t>
            </a:r>
            <a:r>
              <a:rPr sz="780" b="0" dirty="0">
                <a:solidFill>
                  <a:srgbClr val="6E675D"/>
                </a:solidFill>
                <a:latin typeface="Aptos"/>
                <a:ea typeface="Aptos"/>
                <a:cs typeface="Aptos"/>
              </a:rPr>
              <a:t>he left panel reproduces the paper's SST, MSLP/u10, and scatter relationships; the right panel compresses them into response ratios. The anomaly is not weak SST, but a weak atmospheric response relative to historical slopes.</a:t>
            </a:r>
          </a:p>
        </p:txBody>
      </p:sp>
      <p:sp>
        <p:nvSpPr>
          <p:cNvPr id="13" name="矩形 12">
            <a:extLst>
              <a:ext uri="{FF2B5EF4-FFF2-40B4-BE49-F238E27FC236}">
                <a16:creationId xmlns:a16="http://schemas.microsoft.com/office/drawing/2014/main" id="{594E92D2-F09E-43C2-91E4-7087B5765F2B}"/>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L1 Peng et al. 2025; local reproduction: data/derived/peng2025_repro/figures/Fig1.png.</a:t>
            </a:r>
          </a:p>
        </p:txBody>
      </p:sp>
    </p:spTree>
    <p:extLst>
      <p:ext uri="{BB962C8B-B14F-4D97-AF65-F5344CB8AC3E}">
        <p14:creationId xmlns:p14="http://schemas.microsoft.com/office/powerpoint/2010/main" val="1935456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799E46EA-5240-4C63-A9F0-C8BD73110EAC}"/>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dirty="0"/>
          </a:p>
        </p:txBody>
      </p:sp>
      <p:sp>
        <p:nvSpPr>
          <p:cNvPr id="2" name="矩形 1">
            <a:extLst>
              <a:ext uri="{FF2B5EF4-FFF2-40B4-BE49-F238E27FC236}">
                <a16:creationId xmlns:a16="http://schemas.microsoft.com/office/drawing/2014/main" id="{81A8511D-AAD5-48AF-802C-13EC2A3804D7}"/>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Reproduction 2</a:t>
            </a:r>
          </a:p>
        </p:txBody>
      </p:sp>
      <p:sp>
        <p:nvSpPr>
          <p:cNvPr id="3" name="矩形 2">
            <a:extLst>
              <a:ext uri="{FF2B5EF4-FFF2-40B4-BE49-F238E27FC236}">
                <a16:creationId xmlns:a16="http://schemas.microsoft.com/office/drawing/2014/main" id="{A70C427C-100F-4F9A-B84A-B2653FE6178F}"/>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dirty="0">
                <a:solidFill>
                  <a:srgbClr val="1D1B18"/>
                </a:solidFill>
                <a:latin typeface="Aptos Display"/>
                <a:ea typeface="Aptos Display"/>
                <a:cs typeface="Aptos Display"/>
              </a:rPr>
              <a:t>Peng et al. Fig. 2: the paper attributes the strong event to equatorial Pacific ocean dynamics</a:t>
            </a:r>
          </a:p>
        </p:txBody>
      </p:sp>
      <p:sp>
        <p:nvSpPr>
          <p:cNvPr id="4" name="矩形 3">
            <a:extLst>
              <a:ext uri="{FF2B5EF4-FFF2-40B4-BE49-F238E27FC236}">
                <a16:creationId xmlns:a16="http://schemas.microsoft.com/office/drawing/2014/main" id="{756AAF54-4B0A-4122-AC28-9DCCAE4E0C2D}"/>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4278628" y="1638300"/>
            <a:ext cx="3063243" cy="3619500"/>
          </a:xfrm>
          <a:prstGeom prst="rect">
            <a:avLst/>
          </a:prstGeom>
        </p:spPr>
      </p:pic>
      <p:sp>
        <p:nvSpPr>
          <p:cNvPr id="8" name="矩形 7">
            <a:extLst>
              <a:ext uri="{FF2B5EF4-FFF2-40B4-BE49-F238E27FC236}">
                <a16:creationId xmlns:a16="http://schemas.microsoft.com/office/drawing/2014/main" id="{D86B0BBC-7615-42F9-B397-90F04AC44381}"/>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L1 Peng et al. 2025; local reproduction: data/derived/peng2025_repro/figures/Fig2.png.</a:t>
            </a:r>
          </a:p>
        </p:txBody>
      </p:sp>
      <p:sp>
        <p:nvSpPr>
          <p:cNvPr id="10" name="文本框 9">
            <a:extLst>
              <a:ext uri="{FF2B5EF4-FFF2-40B4-BE49-F238E27FC236}">
                <a16:creationId xmlns:a16="http://schemas.microsoft.com/office/drawing/2014/main" id="{2C89B548-9916-E2BC-3FCB-81705CF39A1C}"/>
              </a:ext>
            </a:extLst>
          </p:cNvPr>
          <p:cNvSpPr txBox="1"/>
          <p:nvPr/>
        </p:nvSpPr>
        <p:spPr>
          <a:xfrm>
            <a:off x="400050" y="1681163"/>
            <a:ext cx="3276600" cy="1600438"/>
          </a:xfrm>
          <a:prstGeom prst="rect">
            <a:avLst/>
          </a:prstGeom>
          <a:noFill/>
        </p:spPr>
        <p:txBody>
          <a:bodyPr wrap="square" rtlCol="0">
            <a:spAutoFit/>
          </a:bodyPr>
          <a:lstStyle/>
          <a:p>
            <a:r>
              <a:rPr lang="en" altLang="zh-CN" sz="1600" b="0" dirty="0">
                <a:solidFill>
                  <a:srgbClr val="6E675D"/>
                </a:solidFill>
                <a:latin typeface="Aptos"/>
                <a:ea typeface="Aptos"/>
                <a:cs typeface="Aptos"/>
              </a:rPr>
              <a:t>It explains how ocean dynamics produced strong warming, but it does not fully explain why early wind, pressure, and rainfall responses lagged</a:t>
            </a:r>
            <a:r>
              <a:rPr lang="en" altLang="zh-CN" sz="800" b="0" dirty="0">
                <a:solidFill>
                  <a:srgbClr val="6E675D"/>
                </a:solidFill>
                <a:latin typeface="Aptos"/>
                <a:ea typeface="Aptos"/>
                <a:cs typeface="Aptos"/>
              </a:rPr>
              <a:t>.</a:t>
            </a:r>
          </a:p>
          <a:p>
            <a:endParaRPr kumimoji="1" lang="zh-CN" altLang="en-US" dirty="0"/>
          </a:p>
        </p:txBody>
      </p:sp>
    </p:spTree>
    <p:extLst>
      <p:ext uri="{BB962C8B-B14F-4D97-AF65-F5344CB8AC3E}">
        <p14:creationId xmlns:p14="http://schemas.microsoft.com/office/powerpoint/2010/main" val="1302076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矩形 30">
            <a:extLst>
              <a:ext uri="{FF2B5EF4-FFF2-40B4-BE49-F238E27FC236}">
                <a16:creationId xmlns:a16="http://schemas.microsoft.com/office/drawing/2014/main" id="{7E7D4AE6-7755-4F25-A65E-FF7FCBE82A9E}"/>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B6CFDEE0-7712-45BC-B10D-E5A28B66DDDF}"/>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Reproduction 3</a:t>
            </a:r>
          </a:p>
        </p:txBody>
      </p:sp>
      <p:sp>
        <p:nvSpPr>
          <p:cNvPr id="3" name="矩形 2">
            <a:extLst>
              <a:ext uri="{FF2B5EF4-FFF2-40B4-BE49-F238E27FC236}">
                <a16:creationId xmlns:a16="http://schemas.microsoft.com/office/drawing/2014/main" id="{EE50E55D-4BEC-4CFC-A86B-1AA33BD5C2E5}"/>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Peng et al. Fig. 3-4: external-basin sea-surface temperature and 2023 wind forcing both damp the canonical response</a:t>
            </a:r>
          </a:p>
        </p:txBody>
      </p:sp>
      <p:sp>
        <p:nvSpPr>
          <p:cNvPr id="4" name="矩形 3">
            <a:extLst>
              <a:ext uri="{FF2B5EF4-FFF2-40B4-BE49-F238E27FC236}">
                <a16:creationId xmlns:a16="http://schemas.microsoft.com/office/drawing/2014/main" id="{404F6886-0D5A-422B-9CD1-C89D3AD857B8}"/>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614340" y="1695450"/>
            <a:ext cx="3571920" cy="2819400"/>
          </a:xfrm>
          <a:prstGeom prst="rect">
            <a:avLst/>
          </a:prstGeom>
        </p:spPr>
      </p:pic>
      <p:pic>
        <p:nvPicPr>
          <p:cNvPr id="6" name="图片 5"/>
          <p:cNvPicPr>
            <a:picLocks noChangeAspect="1"/>
          </p:cNvPicPr>
          <p:nvPr/>
        </p:nvPicPr>
        <p:blipFill>
          <a:blip r:embed="rId4"/>
          <a:stretch/>
        </p:blipFill>
        <p:spPr>
          <a:xfrm>
            <a:off x="5089741" y="1695450"/>
            <a:ext cx="2126819" cy="2819400"/>
          </a:xfrm>
          <a:prstGeom prst="rect">
            <a:avLst/>
          </a:prstGeom>
        </p:spPr>
      </p:pic>
      <p:sp>
        <p:nvSpPr>
          <p:cNvPr id="7" name="矩形 6">
            <a:extLst>
              <a:ext uri="{FF2B5EF4-FFF2-40B4-BE49-F238E27FC236}">
                <a16:creationId xmlns:a16="http://schemas.microsoft.com/office/drawing/2014/main" id="{A55FA215-4861-4908-9445-4C665511F50F}"/>
              </a:ext>
            </a:extLst>
          </p:cNvPr>
          <p:cNvSpPr>
            <a:spLocks noGrp="1"/>
          </p:cNvSpPr>
          <p:nvPr/>
        </p:nvSpPr>
        <p:spPr>
          <a:xfrm>
            <a:off x="8286750" y="1752600"/>
            <a:ext cx="2476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D1B18"/>
                </a:solidFill>
                <a:latin typeface="Aptos"/>
                <a:ea typeface="Aptos"/>
                <a:cs typeface="Aptos"/>
              </a:defRPr>
            </a:pPr>
            <a:r>
              <a:rPr sz="1350" b="1">
                <a:solidFill>
                  <a:srgbClr val="1D1B18"/>
                </a:solidFill>
                <a:latin typeface="Aptos"/>
                <a:ea typeface="Aptos"/>
                <a:cs typeface="Aptos"/>
              </a:rPr>
              <a:t>Extracted metrics</a:t>
            </a:r>
          </a:p>
        </p:txBody>
      </p:sp>
      <p:sp>
        <p:nvSpPr>
          <p:cNvPr id="8" name="矩形 7">
            <a:extLst>
              <a:ext uri="{FF2B5EF4-FFF2-40B4-BE49-F238E27FC236}">
                <a16:creationId xmlns:a16="http://schemas.microsoft.com/office/drawing/2014/main" id="{A4411848-CBBC-423B-A0AA-8E47F1097D70}"/>
              </a:ext>
            </a:extLst>
          </p:cNvPr>
          <p:cNvSpPr>
            <a:spLocks noGrp="1"/>
          </p:cNvSpPr>
          <p:nvPr/>
        </p:nvSpPr>
        <p:spPr>
          <a:xfrm>
            <a:off x="8191500" y="2133600"/>
            <a:ext cx="1476375" cy="400050"/>
          </a:xfrm>
          <a:prstGeom prst="rect">
            <a:avLst/>
          </a:prstGeom>
          <a:solidFill>
            <a:srgbClr val="1D1B18"/>
          </a:solidFill>
          <a:ln w="6668">
            <a:solidFill>
              <a:srgbClr val="D8D1C4"/>
            </a:solidFill>
            <a:prstDash val="solid"/>
          </a:ln>
        </p:spPr>
        <p:txBody>
          <a:bodyPr/>
          <a:lstStyle/>
          <a:p>
            <a:endParaRPr lang="zh-CN" altLang="en-US"/>
          </a:p>
        </p:txBody>
      </p:sp>
      <p:sp>
        <p:nvSpPr>
          <p:cNvPr id="9" name="矩形 8">
            <a:extLst>
              <a:ext uri="{FF2B5EF4-FFF2-40B4-BE49-F238E27FC236}">
                <a16:creationId xmlns:a16="http://schemas.microsoft.com/office/drawing/2014/main" id="{8B90197A-DEB7-48B3-A5A1-0F34927547C5}"/>
              </a:ext>
            </a:extLst>
          </p:cNvPr>
          <p:cNvSpPr>
            <a:spLocks noGrp="1"/>
          </p:cNvSpPr>
          <p:nvPr/>
        </p:nvSpPr>
        <p:spPr>
          <a:xfrm>
            <a:off x="8267700" y="22002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Metric</a:t>
            </a:r>
          </a:p>
        </p:txBody>
      </p:sp>
      <p:sp>
        <p:nvSpPr>
          <p:cNvPr id="10" name="矩形 9">
            <a:extLst>
              <a:ext uri="{FF2B5EF4-FFF2-40B4-BE49-F238E27FC236}">
                <a16:creationId xmlns:a16="http://schemas.microsoft.com/office/drawing/2014/main" id="{3855D60B-096F-448F-8AB8-3E16B8E94746}"/>
              </a:ext>
            </a:extLst>
          </p:cNvPr>
          <p:cNvSpPr>
            <a:spLocks noGrp="1"/>
          </p:cNvSpPr>
          <p:nvPr/>
        </p:nvSpPr>
        <p:spPr>
          <a:xfrm>
            <a:off x="9667875" y="2133600"/>
            <a:ext cx="1476375" cy="400050"/>
          </a:xfrm>
          <a:prstGeom prst="rect">
            <a:avLst/>
          </a:prstGeom>
          <a:solidFill>
            <a:srgbClr val="1D1B18"/>
          </a:solidFill>
          <a:ln w="6668">
            <a:solidFill>
              <a:srgbClr val="D8D1C4"/>
            </a:solidFill>
            <a:prstDash val="solid"/>
          </a:ln>
        </p:spPr>
        <p:txBody>
          <a:bodyPr/>
          <a:lstStyle/>
          <a:p>
            <a:endParaRPr lang="zh-CN" altLang="en-US"/>
          </a:p>
        </p:txBody>
      </p:sp>
      <p:sp>
        <p:nvSpPr>
          <p:cNvPr id="11" name="矩形 10">
            <a:extLst>
              <a:ext uri="{FF2B5EF4-FFF2-40B4-BE49-F238E27FC236}">
                <a16:creationId xmlns:a16="http://schemas.microsoft.com/office/drawing/2014/main" id="{84127EC7-0397-4F1C-93CD-9F2FD587E729}"/>
              </a:ext>
            </a:extLst>
          </p:cNvPr>
          <p:cNvSpPr>
            <a:spLocks noGrp="1"/>
          </p:cNvSpPr>
          <p:nvPr/>
        </p:nvSpPr>
        <p:spPr>
          <a:xfrm>
            <a:off x="9744075" y="22002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Value</a:t>
            </a:r>
          </a:p>
        </p:txBody>
      </p:sp>
      <p:sp>
        <p:nvSpPr>
          <p:cNvPr id="12" name="矩形 11">
            <a:extLst>
              <a:ext uri="{FF2B5EF4-FFF2-40B4-BE49-F238E27FC236}">
                <a16:creationId xmlns:a16="http://schemas.microsoft.com/office/drawing/2014/main" id="{DC219605-6806-4D9C-9A0C-4F9056D0DD42}"/>
              </a:ext>
            </a:extLst>
          </p:cNvPr>
          <p:cNvSpPr>
            <a:spLocks noGrp="1"/>
          </p:cNvSpPr>
          <p:nvPr/>
        </p:nvSpPr>
        <p:spPr>
          <a:xfrm>
            <a:off x="8191500" y="2533650"/>
            <a:ext cx="1476375" cy="400050"/>
          </a:xfrm>
          <a:prstGeom prst="rect">
            <a:avLst/>
          </a:prstGeom>
          <a:solidFill>
            <a:srgbClr val="FBF8F1"/>
          </a:solidFill>
          <a:ln w="6668">
            <a:solidFill>
              <a:srgbClr val="D8D1C4"/>
            </a:solidFill>
            <a:prstDash val="solid"/>
          </a:ln>
        </p:spPr>
        <p:txBody>
          <a:bodyPr/>
          <a:lstStyle/>
          <a:p>
            <a:endParaRPr lang="zh-CN" altLang="en-US"/>
          </a:p>
        </p:txBody>
      </p:sp>
      <p:sp>
        <p:nvSpPr>
          <p:cNvPr id="13" name="矩形 12">
            <a:extLst>
              <a:ext uri="{FF2B5EF4-FFF2-40B4-BE49-F238E27FC236}">
                <a16:creationId xmlns:a16="http://schemas.microsoft.com/office/drawing/2014/main" id="{53D565F7-BC67-46E8-9034-180F15A57366}"/>
              </a:ext>
            </a:extLst>
          </p:cNvPr>
          <p:cNvSpPr>
            <a:spLocks noGrp="1"/>
          </p:cNvSpPr>
          <p:nvPr/>
        </p:nvSpPr>
        <p:spPr>
          <a:xfrm>
            <a:off x="8267700" y="260032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aPac wind stress</a:t>
            </a:r>
          </a:p>
        </p:txBody>
      </p:sp>
      <p:sp>
        <p:nvSpPr>
          <p:cNvPr id="14" name="矩形 13">
            <a:extLst>
              <a:ext uri="{FF2B5EF4-FFF2-40B4-BE49-F238E27FC236}">
                <a16:creationId xmlns:a16="http://schemas.microsoft.com/office/drawing/2014/main" id="{60F39803-D331-447B-9785-0B2B1D640D30}"/>
              </a:ext>
            </a:extLst>
          </p:cNvPr>
          <p:cNvSpPr>
            <a:spLocks noGrp="1"/>
          </p:cNvSpPr>
          <p:nvPr/>
        </p:nvSpPr>
        <p:spPr>
          <a:xfrm>
            <a:off x="9667875" y="2533650"/>
            <a:ext cx="1476375" cy="400050"/>
          </a:xfrm>
          <a:prstGeom prst="rect">
            <a:avLst/>
          </a:prstGeom>
          <a:solidFill>
            <a:srgbClr val="FBF8F1"/>
          </a:solidFill>
          <a:ln w="6668">
            <a:solidFill>
              <a:srgbClr val="D8D1C4"/>
            </a:solidFill>
            <a:prstDash val="solid"/>
          </a:ln>
        </p:spPr>
        <p:txBody>
          <a:bodyPr/>
          <a:lstStyle/>
          <a:p>
            <a:endParaRPr lang="zh-CN" altLang="en-US"/>
          </a:p>
        </p:txBody>
      </p:sp>
      <p:sp>
        <p:nvSpPr>
          <p:cNvPr id="15" name="矩形 14">
            <a:extLst>
              <a:ext uri="{FF2B5EF4-FFF2-40B4-BE49-F238E27FC236}">
                <a16:creationId xmlns:a16="http://schemas.microsoft.com/office/drawing/2014/main" id="{58129A83-FC40-4A82-A0DE-E2ADEEE59302}"/>
              </a:ext>
            </a:extLst>
          </p:cNvPr>
          <p:cNvSpPr>
            <a:spLocks noGrp="1"/>
          </p:cNvSpPr>
          <p:nvPr/>
        </p:nvSpPr>
        <p:spPr>
          <a:xfrm>
            <a:off x="9744075" y="260032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0.0333</a:t>
            </a:r>
          </a:p>
        </p:txBody>
      </p:sp>
      <p:sp>
        <p:nvSpPr>
          <p:cNvPr id="16" name="矩形 15">
            <a:extLst>
              <a:ext uri="{FF2B5EF4-FFF2-40B4-BE49-F238E27FC236}">
                <a16:creationId xmlns:a16="http://schemas.microsoft.com/office/drawing/2014/main" id="{43B60F70-D96A-4F0A-BEDD-12A2C72FF670}"/>
              </a:ext>
            </a:extLst>
          </p:cNvPr>
          <p:cNvSpPr>
            <a:spLocks noGrp="1"/>
          </p:cNvSpPr>
          <p:nvPr/>
        </p:nvSpPr>
        <p:spPr>
          <a:xfrm>
            <a:off x="8191500" y="2933700"/>
            <a:ext cx="1476375" cy="400050"/>
          </a:xfrm>
          <a:prstGeom prst="rect">
            <a:avLst/>
          </a:prstGeom>
          <a:solidFill>
            <a:srgbClr val="F3EDE2"/>
          </a:solidFill>
          <a:ln w="6668">
            <a:solidFill>
              <a:srgbClr val="D8D1C4"/>
            </a:solidFill>
            <a:prstDash val="solid"/>
          </a:ln>
        </p:spPr>
        <p:txBody>
          <a:bodyPr/>
          <a:lstStyle/>
          <a:p>
            <a:endParaRPr lang="zh-CN" altLang="en-US"/>
          </a:p>
        </p:txBody>
      </p:sp>
      <p:sp>
        <p:nvSpPr>
          <p:cNvPr id="17" name="矩形 16">
            <a:extLst>
              <a:ext uri="{FF2B5EF4-FFF2-40B4-BE49-F238E27FC236}">
                <a16:creationId xmlns:a16="http://schemas.microsoft.com/office/drawing/2014/main" id="{B5FA1E50-6F42-49D7-A96C-6AF8863BA5B9}"/>
              </a:ext>
            </a:extLst>
          </p:cNvPr>
          <p:cNvSpPr>
            <a:spLocks noGrp="1"/>
          </p:cNvSpPr>
          <p:nvPr/>
        </p:nvSpPr>
        <p:spPr>
          <a:xfrm>
            <a:off x="8267700" y="30003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aIndAtl wind stress</a:t>
            </a:r>
          </a:p>
        </p:txBody>
      </p:sp>
      <p:sp>
        <p:nvSpPr>
          <p:cNvPr id="18" name="矩形 17">
            <a:extLst>
              <a:ext uri="{FF2B5EF4-FFF2-40B4-BE49-F238E27FC236}">
                <a16:creationId xmlns:a16="http://schemas.microsoft.com/office/drawing/2014/main" id="{77C536D4-3594-420D-B121-5B50601F2805}"/>
              </a:ext>
            </a:extLst>
          </p:cNvPr>
          <p:cNvSpPr>
            <a:spLocks noGrp="1"/>
          </p:cNvSpPr>
          <p:nvPr/>
        </p:nvSpPr>
        <p:spPr>
          <a:xfrm>
            <a:off x="9667875" y="2933700"/>
            <a:ext cx="1476375" cy="400050"/>
          </a:xfrm>
          <a:prstGeom prst="rect">
            <a:avLst/>
          </a:prstGeom>
          <a:solidFill>
            <a:srgbClr val="F3EDE2"/>
          </a:solidFill>
          <a:ln w="6668">
            <a:solidFill>
              <a:srgbClr val="D8D1C4"/>
            </a:solidFill>
            <a:prstDash val="solid"/>
          </a:ln>
        </p:spPr>
        <p:txBody>
          <a:bodyPr/>
          <a:lstStyle/>
          <a:p>
            <a:endParaRPr lang="zh-CN" altLang="en-US"/>
          </a:p>
        </p:txBody>
      </p:sp>
      <p:sp>
        <p:nvSpPr>
          <p:cNvPr id="19" name="矩形 18">
            <a:extLst>
              <a:ext uri="{FF2B5EF4-FFF2-40B4-BE49-F238E27FC236}">
                <a16:creationId xmlns:a16="http://schemas.microsoft.com/office/drawing/2014/main" id="{E58C9602-B27C-4679-BEAB-77E32F7910B1}"/>
              </a:ext>
            </a:extLst>
          </p:cNvPr>
          <p:cNvSpPr>
            <a:spLocks noGrp="1"/>
          </p:cNvSpPr>
          <p:nvPr/>
        </p:nvSpPr>
        <p:spPr>
          <a:xfrm>
            <a:off x="9744075" y="30003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-0.0099</a:t>
            </a:r>
          </a:p>
        </p:txBody>
      </p:sp>
      <p:sp>
        <p:nvSpPr>
          <p:cNvPr id="20" name="矩形 19">
            <a:extLst>
              <a:ext uri="{FF2B5EF4-FFF2-40B4-BE49-F238E27FC236}">
                <a16:creationId xmlns:a16="http://schemas.microsoft.com/office/drawing/2014/main" id="{66A399E1-46C8-4784-AB36-39C23E3E8E7E}"/>
              </a:ext>
            </a:extLst>
          </p:cNvPr>
          <p:cNvSpPr>
            <a:spLocks noGrp="1"/>
          </p:cNvSpPr>
          <p:nvPr/>
        </p:nvSpPr>
        <p:spPr>
          <a:xfrm>
            <a:off x="8191500" y="3333750"/>
            <a:ext cx="1476375" cy="400050"/>
          </a:xfrm>
          <a:prstGeom prst="rect">
            <a:avLst/>
          </a:prstGeom>
          <a:solidFill>
            <a:srgbClr val="FBF8F1"/>
          </a:solidFill>
          <a:ln w="6668">
            <a:solidFill>
              <a:srgbClr val="D8D1C4"/>
            </a:solidFill>
            <a:prstDash val="solid"/>
          </a:ln>
        </p:spPr>
        <p:txBody>
          <a:bodyPr/>
          <a:lstStyle/>
          <a:p>
            <a:endParaRPr lang="zh-CN" altLang="en-US"/>
          </a:p>
        </p:txBody>
      </p:sp>
      <p:sp>
        <p:nvSpPr>
          <p:cNvPr id="21" name="矩形 20">
            <a:extLst>
              <a:ext uri="{FF2B5EF4-FFF2-40B4-BE49-F238E27FC236}">
                <a16:creationId xmlns:a16="http://schemas.microsoft.com/office/drawing/2014/main" id="{D36715E7-F905-40A2-B642-0054D05B0121}"/>
              </a:ext>
            </a:extLst>
          </p:cNvPr>
          <p:cNvSpPr>
            <a:spLocks noGrp="1"/>
          </p:cNvSpPr>
          <p:nvPr/>
        </p:nvSpPr>
        <p:spPr>
          <a:xfrm>
            <a:off x="8267700" y="340042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Dec Niño-3 CTRL</a:t>
            </a:r>
          </a:p>
        </p:txBody>
      </p:sp>
      <p:sp>
        <p:nvSpPr>
          <p:cNvPr id="22" name="矩形 21">
            <a:extLst>
              <a:ext uri="{FF2B5EF4-FFF2-40B4-BE49-F238E27FC236}">
                <a16:creationId xmlns:a16="http://schemas.microsoft.com/office/drawing/2014/main" id="{D55C6F06-9360-4C7F-B5DC-069C19926B3B}"/>
              </a:ext>
            </a:extLst>
          </p:cNvPr>
          <p:cNvSpPr>
            <a:spLocks noGrp="1"/>
          </p:cNvSpPr>
          <p:nvPr/>
        </p:nvSpPr>
        <p:spPr>
          <a:xfrm>
            <a:off x="9667875" y="3333750"/>
            <a:ext cx="1476375" cy="400050"/>
          </a:xfrm>
          <a:prstGeom prst="rect">
            <a:avLst/>
          </a:prstGeom>
          <a:solidFill>
            <a:srgbClr val="FBF8F1"/>
          </a:solidFill>
          <a:ln w="6668">
            <a:solidFill>
              <a:srgbClr val="D8D1C4"/>
            </a:solidFill>
            <a:prstDash val="solid"/>
          </a:ln>
        </p:spPr>
        <p:txBody>
          <a:bodyPr/>
          <a:lstStyle/>
          <a:p>
            <a:endParaRPr lang="zh-CN" altLang="en-US"/>
          </a:p>
        </p:txBody>
      </p:sp>
      <p:sp>
        <p:nvSpPr>
          <p:cNvPr id="23" name="矩形 22">
            <a:extLst>
              <a:ext uri="{FF2B5EF4-FFF2-40B4-BE49-F238E27FC236}">
                <a16:creationId xmlns:a16="http://schemas.microsoft.com/office/drawing/2014/main" id="{4F4E6C25-FA38-4271-8A64-BADCA3514053}"/>
              </a:ext>
            </a:extLst>
          </p:cNvPr>
          <p:cNvSpPr>
            <a:spLocks noGrp="1"/>
          </p:cNvSpPr>
          <p:nvPr/>
        </p:nvSpPr>
        <p:spPr>
          <a:xfrm>
            <a:off x="9744075" y="340042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2.344</a:t>
            </a:r>
          </a:p>
        </p:txBody>
      </p:sp>
      <p:sp>
        <p:nvSpPr>
          <p:cNvPr id="24" name="矩形 23">
            <a:extLst>
              <a:ext uri="{FF2B5EF4-FFF2-40B4-BE49-F238E27FC236}">
                <a16:creationId xmlns:a16="http://schemas.microsoft.com/office/drawing/2014/main" id="{DE6056FC-42C9-4866-89E8-7982F67F84DD}"/>
              </a:ext>
            </a:extLst>
          </p:cNvPr>
          <p:cNvSpPr>
            <a:spLocks noGrp="1"/>
          </p:cNvSpPr>
          <p:nvPr/>
        </p:nvSpPr>
        <p:spPr>
          <a:xfrm>
            <a:off x="8191500" y="3733800"/>
            <a:ext cx="1476375" cy="400050"/>
          </a:xfrm>
          <a:prstGeom prst="rect">
            <a:avLst/>
          </a:prstGeom>
          <a:solidFill>
            <a:srgbClr val="F3EDE2"/>
          </a:solidFill>
          <a:ln w="6668">
            <a:solidFill>
              <a:srgbClr val="D8D1C4"/>
            </a:solidFill>
            <a:prstDash val="solid"/>
          </a:ln>
        </p:spPr>
        <p:txBody>
          <a:bodyPr/>
          <a:lstStyle/>
          <a:p>
            <a:endParaRPr lang="zh-CN" altLang="en-US"/>
          </a:p>
        </p:txBody>
      </p:sp>
      <p:sp>
        <p:nvSpPr>
          <p:cNvPr id="25" name="矩形 24">
            <a:extLst>
              <a:ext uri="{FF2B5EF4-FFF2-40B4-BE49-F238E27FC236}">
                <a16:creationId xmlns:a16="http://schemas.microsoft.com/office/drawing/2014/main" id="{FFEFC423-F882-4A2B-8DAF-720C6CAA7D6D}"/>
              </a:ext>
            </a:extLst>
          </p:cNvPr>
          <p:cNvSpPr>
            <a:spLocks noGrp="1"/>
          </p:cNvSpPr>
          <p:nvPr/>
        </p:nvSpPr>
        <p:spPr>
          <a:xfrm>
            <a:off x="8267700" y="38004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Dec Niño-3 Wind2023</a:t>
            </a:r>
          </a:p>
        </p:txBody>
      </p:sp>
      <p:sp>
        <p:nvSpPr>
          <p:cNvPr id="26" name="矩形 25">
            <a:extLst>
              <a:ext uri="{FF2B5EF4-FFF2-40B4-BE49-F238E27FC236}">
                <a16:creationId xmlns:a16="http://schemas.microsoft.com/office/drawing/2014/main" id="{7A3E5AA1-84EE-4D6B-9567-BD235BA967D8}"/>
              </a:ext>
            </a:extLst>
          </p:cNvPr>
          <p:cNvSpPr>
            <a:spLocks noGrp="1"/>
          </p:cNvSpPr>
          <p:nvPr/>
        </p:nvSpPr>
        <p:spPr>
          <a:xfrm>
            <a:off x="9667875" y="3733800"/>
            <a:ext cx="1476375" cy="400050"/>
          </a:xfrm>
          <a:prstGeom prst="rect">
            <a:avLst/>
          </a:prstGeom>
          <a:solidFill>
            <a:srgbClr val="F3EDE2"/>
          </a:solidFill>
          <a:ln w="6668">
            <a:solidFill>
              <a:srgbClr val="D8D1C4"/>
            </a:solidFill>
            <a:prstDash val="solid"/>
          </a:ln>
        </p:spPr>
        <p:txBody>
          <a:bodyPr/>
          <a:lstStyle/>
          <a:p>
            <a:endParaRPr lang="zh-CN" altLang="en-US"/>
          </a:p>
        </p:txBody>
      </p:sp>
      <p:sp>
        <p:nvSpPr>
          <p:cNvPr id="27" name="矩形 26">
            <a:extLst>
              <a:ext uri="{FF2B5EF4-FFF2-40B4-BE49-F238E27FC236}">
                <a16:creationId xmlns:a16="http://schemas.microsoft.com/office/drawing/2014/main" id="{08C08646-229E-4323-8637-435194A1C035}"/>
              </a:ext>
            </a:extLst>
          </p:cNvPr>
          <p:cNvSpPr>
            <a:spLocks noGrp="1"/>
          </p:cNvSpPr>
          <p:nvPr/>
        </p:nvSpPr>
        <p:spPr>
          <a:xfrm>
            <a:off x="9744075" y="3800475"/>
            <a:ext cx="1323975"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0.681</a:t>
            </a:r>
          </a:p>
        </p:txBody>
      </p:sp>
      <p:sp>
        <p:nvSpPr>
          <p:cNvPr id="28" name="矩形 27">
            <a:extLst>
              <a:ext uri="{FF2B5EF4-FFF2-40B4-BE49-F238E27FC236}">
                <a16:creationId xmlns:a16="http://schemas.microsoft.com/office/drawing/2014/main" id="{E5332073-EBC4-4115-B532-A80E3087E1A3}"/>
              </a:ext>
            </a:extLst>
          </p:cNvPr>
          <p:cNvSpPr>
            <a:spLocks noGrp="1"/>
          </p:cNvSpPr>
          <p:nvPr/>
        </p:nvSpPr>
        <p:spPr>
          <a:xfrm>
            <a:off x="628650" y="5410200"/>
            <a:ext cx="10363200" cy="838200"/>
          </a:xfrm>
          <a:prstGeom prst="rect">
            <a:avLst/>
          </a:prstGeom>
          <a:solidFill>
            <a:srgbClr val="FFFAF1"/>
          </a:solidFill>
          <a:ln w="7620">
            <a:solidFill>
              <a:srgbClr val="D8D1C4"/>
            </a:solidFill>
            <a:prstDash val="solid"/>
          </a:ln>
        </p:spPr>
        <p:txBody>
          <a:bodyPr/>
          <a:lstStyle/>
          <a:p>
            <a:endParaRPr lang="zh-CN" altLang="en-US"/>
          </a:p>
        </p:txBody>
      </p:sp>
      <p:sp>
        <p:nvSpPr>
          <p:cNvPr id="29" name="矩形 28">
            <a:extLst>
              <a:ext uri="{FF2B5EF4-FFF2-40B4-BE49-F238E27FC236}">
                <a16:creationId xmlns:a16="http://schemas.microsoft.com/office/drawing/2014/main" id="{73BAB4C6-7F8A-419B-AC4E-601889551F7B}"/>
              </a:ext>
            </a:extLst>
          </p:cNvPr>
          <p:cNvSpPr>
            <a:spLocks noGrp="1"/>
          </p:cNvSpPr>
          <p:nvPr/>
        </p:nvSpPr>
        <p:spPr>
          <a:xfrm>
            <a:off x="742950" y="5486400"/>
            <a:ext cx="101346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780" b="0">
                <a:solidFill>
                  <a:srgbClr val="6E675D"/>
                </a:solidFill>
                <a:latin typeface="Aptos"/>
                <a:ea typeface="Aptos"/>
                <a:cs typeface="Aptos"/>
              </a:defRPr>
            </a:pPr>
            <a:r>
              <a:rPr lang="en" altLang="zh-CN" sz="1600" b="0" dirty="0" err="1">
                <a:solidFill>
                  <a:srgbClr val="6E675D"/>
                </a:solidFill>
                <a:latin typeface="Aptos"/>
                <a:ea typeface="Aptos"/>
                <a:cs typeface="Aptos"/>
              </a:rPr>
              <a:t>aPac</a:t>
            </a:r>
            <a:r>
              <a:rPr lang="en" altLang="zh-CN" sz="1600" b="0" dirty="0">
                <a:solidFill>
                  <a:srgbClr val="6E675D"/>
                </a:solidFill>
                <a:latin typeface="Aptos"/>
                <a:ea typeface="Aptos"/>
                <a:cs typeface="Aptos"/>
              </a:rPr>
              <a:t> is the canonical Pacific SST-driven atmospheric wind-stress response, while </a:t>
            </a:r>
            <a:r>
              <a:rPr lang="en" altLang="zh-CN" sz="1600" b="0" dirty="0" err="1">
                <a:solidFill>
                  <a:srgbClr val="6E675D"/>
                </a:solidFill>
                <a:latin typeface="Aptos"/>
                <a:ea typeface="Aptos"/>
                <a:cs typeface="Aptos"/>
              </a:rPr>
              <a:t>aIndAtl</a:t>
            </a:r>
            <a:r>
              <a:rPr lang="en" altLang="zh-CN" sz="1600" b="0" dirty="0">
                <a:solidFill>
                  <a:srgbClr val="6E675D"/>
                </a:solidFill>
                <a:latin typeface="Aptos"/>
                <a:ea typeface="Aptos"/>
                <a:cs typeface="Aptos"/>
              </a:rPr>
              <a:t> captures Indian-Atlantic external-basin influence. The negative external-basin term suggests possible damping of the Pacific response.</a:t>
            </a:r>
          </a:p>
          <a:p>
            <a:pPr algn="l">
              <a:defRPr sz="780" b="0">
                <a:solidFill>
                  <a:srgbClr val="6E675D"/>
                </a:solidFill>
                <a:latin typeface="Aptos"/>
                <a:ea typeface="Aptos"/>
                <a:cs typeface="Aptos"/>
              </a:defRPr>
            </a:pPr>
            <a:endParaRPr sz="1600" b="0" dirty="0">
              <a:solidFill>
                <a:srgbClr val="6E675D"/>
              </a:solidFill>
              <a:latin typeface="Aptos"/>
              <a:ea typeface="Aptos"/>
              <a:cs typeface="Aptos"/>
            </a:endParaRPr>
          </a:p>
        </p:txBody>
      </p:sp>
      <p:sp>
        <p:nvSpPr>
          <p:cNvPr id="30" name="矩形 29">
            <a:extLst>
              <a:ext uri="{FF2B5EF4-FFF2-40B4-BE49-F238E27FC236}">
                <a16:creationId xmlns:a16="http://schemas.microsoft.com/office/drawing/2014/main" id="{7BCB61A3-788A-42AD-854B-FF295F3BCD92}"/>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dirty="0">
                <a:solidFill>
                  <a:srgbClr val="6E675D"/>
                </a:solidFill>
                <a:latin typeface="Aptos"/>
                <a:ea typeface="Aptos"/>
                <a:cs typeface="Aptos"/>
              </a:rPr>
              <a:t>L1 Peng et al. 2025; reproduction tables in data/derived/peng2025_repro/tables.</a:t>
            </a:r>
          </a:p>
        </p:txBody>
      </p:sp>
    </p:spTree>
    <p:extLst>
      <p:ext uri="{BB962C8B-B14F-4D97-AF65-F5344CB8AC3E}">
        <p14:creationId xmlns:p14="http://schemas.microsoft.com/office/powerpoint/2010/main" val="1452659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矩形 37">
            <a:extLst>
              <a:ext uri="{FF2B5EF4-FFF2-40B4-BE49-F238E27FC236}">
                <a16:creationId xmlns:a16="http://schemas.microsoft.com/office/drawing/2014/main" id="{54EED14D-1819-46A3-BD26-1026B22CEDEE}"/>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C0A16D8D-F7CB-4E6A-8687-CD5323E09A27}"/>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Paper Contribution</a:t>
            </a:r>
          </a:p>
        </p:txBody>
      </p:sp>
      <p:sp>
        <p:nvSpPr>
          <p:cNvPr id="3" name="矩形 2">
            <a:extLst>
              <a:ext uri="{FF2B5EF4-FFF2-40B4-BE49-F238E27FC236}">
                <a16:creationId xmlns:a16="http://schemas.microsoft.com/office/drawing/2014/main" id="{948F3F2E-CD6F-49B9-B258-03BFA3926624}"/>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The paper explains how the strong El Niño formed, but leaves open when and why coupling failed</a:t>
            </a:r>
          </a:p>
        </p:txBody>
      </p:sp>
      <p:sp>
        <p:nvSpPr>
          <p:cNvPr id="4" name="矩形 3">
            <a:extLst>
              <a:ext uri="{FF2B5EF4-FFF2-40B4-BE49-F238E27FC236}">
                <a16:creationId xmlns:a16="http://schemas.microsoft.com/office/drawing/2014/main" id="{40BC31DA-E1F3-4E4A-B8B7-97B2967C53AB}"/>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BDE43BF6-57EF-4F8B-B6F9-6710C9249136}"/>
              </a:ext>
            </a:extLst>
          </p:cNvPr>
          <p:cNvSpPr>
            <a:spLocks noGrp="1"/>
          </p:cNvSpPr>
          <p:nvPr/>
        </p:nvSpPr>
        <p:spPr>
          <a:xfrm>
            <a:off x="685800" y="1809750"/>
            <a:ext cx="1809750" cy="514350"/>
          </a:xfrm>
          <a:prstGeom prst="rect">
            <a:avLst/>
          </a:prstGeom>
          <a:solidFill>
            <a:srgbClr val="1D1B18"/>
          </a:solidFill>
          <a:ln w="6668">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77070E85-0D88-444D-90FC-87AB88033497}"/>
              </a:ext>
            </a:extLst>
          </p:cNvPr>
          <p:cNvSpPr>
            <a:spLocks noGrp="1"/>
          </p:cNvSpPr>
          <p:nvPr/>
        </p:nvSpPr>
        <p:spPr>
          <a:xfrm>
            <a:off x="762000" y="18764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Dimension</a:t>
            </a:r>
          </a:p>
        </p:txBody>
      </p:sp>
      <p:sp>
        <p:nvSpPr>
          <p:cNvPr id="7" name="矩形 6">
            <a:extLst>
              <a:ext uri="{FF2B5EF4-FFF2-40B4-BE49-F238E27FC236}">
                <a16:creationId xmlns:a16="http://schemas.microsoft.com/office/drawing/2014/main" id="{DC01EF97-9447-40CD-8644-AEF79A73A315}"/>
              </a:ext>
            </a:extLst>
          </p:cNvPr>
          <p:cNvSpPr>
            <a:spLocks noGrp="1"/>
          </p:cNvSpPr>
          <p:nvPr/>
        </p:nvSpPr>
        <p:spPr>
          <a:xfrm>
            <a:off x="2495550" y="1809750"/>
            <a:ext cx="3857625" cy="514350"/>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20EBCFDD-19E3-4D7A-8D65-0F8B53999553}"/>
              </a:ext>
            </a:extLst>
          </p:cNvPr>
          <p:cNvSpPr>
            <a:spLocks noGrp="1"/>
          </p:cNvSpPr>
          <p:nvPr/>
        </p:nvSpPr>
        <p:spPr>
          <a:xfrm>
            <a:off x="2571750" y="18764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Peng et al. 2025 contribution</a:t>
            </a:r>
          </a:p>
        </p:txBody>
      </p:sp>
      <p:sp>
        <p:nvSpPr>
          <p:cNvPr id="9" name="矩形 8">
            <a:extLst>
              <a:ext uri="{FF2B5EF4-FFF2-40B4-BE49-F238E27FC236}">
                <a16:creationId xmlns:a16="http://schemas.microsoft.com/office/drawing/2014/main" id="{C84420DE-D897-4A3D-9EDD-75BA7924A3B3}"/>
              </a:ext>
            </a:extLst>
          </p:cNvPr>
          <p:cNvSpPr>
            <a:spLocks noGrp="1"/>
          </p:cNvSpPr>
          <p:nvPr/>
        </p:nvSpPr>
        <p:spPr>
          <a:xfrm>
            <a:off x="6353175" y="1809750"/>
            <a:ext cx="4695825" cy="514350"/>
          </a:xfrm>
          <a:prstGeom prst="rect">
            <a:avLst/>
          </a:prstGeom>
          <a:solidFill>
            <a:srgbClr val="1D1B18"/>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859AEE98-E944-48F6-8D50-D2820F5AFB31}"/>
              </a:ext>
            </a:extLst>
          </p:cNvPr>
          <p:cNvSpPr>
            <a:spLocks noGrp="1"/>
          </p:cNvSpPr>
          <p:nvPr/>
        </p:nvSpPr>
        <p:spPr>
          <a:xfrm>
            <a:off x="6429375" y="18764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lang="en-US" sz="825" b="1" dirty="0">
                <a:solidFill>
                  <a:srgbClr val="FFFFFF"/>
                </a:solidFill>
                <a:latin typeface="Aptos"/>
                <a:ea typeface="Aptos"/>
                <a:cs typeface="Aptos"/>
              </a:rPr>
              <a:t>My thought</a:t>
            </a:r>
            <a:endParaRPr sz="825" b="1" dirty="0">
              <a:solidFill>
                <a:srgbClr val="FFFFFF"/>
              </a:solidFill>
              <a:latin typeface="Aptos"/>
              <a:ea typeface="Aptos"/>
              <a:cs typeface="Aptos"/>
            </a:endParaRPr>
          </a:p>
        </p:txBody>
      </p:sp>
      <p:sp>
        <p:nvSpPr>
          <p:cNvPr id="11" name="矩形 10">
            <a:extLst>
              <a:ext uri="{FF2B5EF4-FFF2-40B4-BE49-F238E27FC236}">
                <a16:creationId xmlns:a16="http://schemas.microsoft.com/office/drawing/2014/main" id="{24E58C40-DD0E-4B98-B560-24028198D4A0}"/>
              </a:ext>
            </a:extLst>
          </p:cNvPr>
          <p:cNvSpPr>
            <a:spLocks noGrp="1"/>
          </p:cNvSpPr>
          <p:nvPr/>
        </p:nvSpPr>
        <p:spPr>
          <a:xfrm>
            <a:off x="685800" y="2324100"/>
            <a:ext cx="1809750" cy="514350"/>
          </a:xfrm>
          <a:prstGeom prst="rect">
            <a:avLst/>
          </a:prstGeom>
          <a:solidFill>
            <a:srgbClr val="FBF8F1"/>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B4E601C6-D0A5-4611-B67A-FEBFDEA4C568}"/>
              </a:ext>
            </a:extLst>
          </p:cNvPr>
          <p:cNvSpPr>
            <a:spLocks noGrp="1"/>
          </p:cNvSpPr>
          <p:nvPr/>
        </p:nvSpPr>
        <p:spPr>
          <a:xfrm>
            <a:off x="762000" y="239077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Main question</a:t>
            </a:r>
          </a:p>
        </p:txBody>
      </p:sp>
      <p:sp>
        <p:nvSpPr>
          <p:cNvPr id="13" name="矩形 12">
            <a:extLst>
              <a:ext uri="{FF2B5EF4-FFF2-40B4-BE49-F238E27FC236}">
                <a16:creationId xmlns:a16="http://schemas.microsoft.com/office/drawing/2014/main" id="{A4949856-0923-403E-A43A-3241E089A44D}"/>
              </a:ext>
            </a:extLst>
          </p:cNvPr>
          <p:cNvSpPr>
            <a:spLocks noGrp="1"/>
          </p:cNvSpPr>
          <p:nvPr/>
        </p:nvSpPr>
        <p:spPr>
          <a:xfrm>
            <a:off x="2495550" y="2324100"/>
            <a:ext cx="3857625" cy="514350"/>
          </a:xfrm>
          <a:prstGeom prst="rect">
            <a:avLst/>
          </a:prstGeom>
          <a:solidFill>
            <a:srgbClr val="FBF8F1"/>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75EE8473-D080-4B0F-BBDF-6DC6B21764E4}"/>
              </a:ext>
            </a:extLst>
          </p:cNvPr>
          <p:cNvSpPr>
            <a:spLocks noGrp="1"/>
          </p:cNvSpPr>
          <p:nvPr/>
        </p:nvSpPr>
        <p:spPr>
          <a:xfrm>
            <a:off x="2571750" y="239077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Ocean-dynamical generation of the strong 2023/24 El Niño</a:t>
            </a:r>
          </a:p>
        </p:txBody>
      </p:sp>
      <p:sp>
        <p:nvSpPr>
          <p:cNvPr id="15" name="矩形 14">
            <a:extLst>
              <a:ext uri="{FF2B5EF4-FFF2-40B4-BE49-F238E27FC236}">
                <a16:creationId xmlns:a16="http://schemas.microsoft.com/office/drawing/2014/main" id="{4913B16E-75C6-4E2C-9D66-936117B7D56D}"/>
              </a:ext>
            </a:extLst>
          </p:cNvPr>
          <p:cNvSpPr>
            <a:spLocks noGrp="1"/>
          </p:cNvSpPr>
          <p:nvPr/>
        </p:nvSpPr>
        <p:spPr>
          <a:xfrm>
            <a:off x="6353175" y="2324100"/>
            <a:ext cx="4695825" cy="514350"/>
          </a:xfrm>
          <a:prstGeom prst="rect">
            <a:avLst/>
          </a:prstGeom>
          <a:solidFill>
            <a:srgbClr val="FBF8F1"/>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64E0AD08-2D68-441B-9E9B-023B943BE543}"/>
              </a:ext>
            </a:extLst>
          </p:cNvPr>
          <p:cNvSpPr>
            <a:spLocks noGrp="1"/>
          </p:cNvSpPr>
          <p:nvPr/>
        </p:nvSpPr>
        <p:spPr>
          <a:xfrm>
            <a:off x="6429375" y="239077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Why the atmosphere did not respond synchronously</a:t>
            </a:r>
          </a:p>
        </p:txBody>
      </p:sp>
      <p:sp>
        <p:nvSpPr>
          <p:cNvPr id="17" name="矩形 16">
            <a:extLst>
              <a:ext uri="{FF2B5EF4-FFF2-40B4-BE49-F238E27FC236}">
                <a16:creationId xmlns:a16="http://schemas.microsoft.com/office/drawing/2014/main" id="{8FC2D632-92E9-4364-9765-D6E162A25454}"/>
              </a:ext>
            </a:extLst>
          </p:cNvPr>
          <p:cNvSpPr>
            <a:spLocks noGrp="1"/>
          </p:cNvSpPr>
          <p:nvPr/>
        </p:nvSpPr>
        <p:spPr>
          <a:xfrm>
            <a:off x="685800" y="2838450"/>
            <a:ext cx="1809750" cy="514350"/>
          </a:xfrm>
          <a:prstGeom prst="rect">
            <a:avLst/>
          </a:prstGeom>
          <a:solidFill>
            <a:srgbClr val="F3EDE2"/>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95B60F81-8E3F-4E25-A879-F029706E3714}"/>
              </a:ext>
            </a:extLst>
          </p:cNvPr>
          <p:cNvSpPr>
            <a:spLocks noGrp="1"/>
          </p:cNvSpPr>
          <p:nvPr/>
        </p:nvSpPr>
        <p:spPr>
          <a:xfrm>
            <a:off x="762000" y="29051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Evidence base</a:t>
            </a:r>
          </a:p>
        </p:txBody>
      </p:sp>
      <p:sp>
        <p:nvSpPr>
          <p:cNvPr id="19" name="矩形 18">
            <a:extLst>
              <a:ext uri="{FF2B5EF4-FFF2-40B4-BE49-F238E27FC236}">
                <a16:creationId xmlns:a16="http://schemas.microsoft.com/office/drawing/2014/main" id="{0429FD8B-AD89-4902-9C85-7A52543333A5}"/>
              </a:ext>
            </a:extLst>
          </p:cNvPr>
          <p:cNvSpPr>
            <a:spLocks noGrp="1"/>
          </p:cNvSpPr>
          <p:nvPr/>
        </p:nvSpPr>
        <p:spPr>
          <a:xfrm>
            <a:off x="2495550" y="2838450"/>
            <a:ext cx="3857625" cy="514350"/>
          </a:xfrm>
          <a:prstGeom prst="rect">
            <a:avLst/>
          </a:prstGeom>
          <a:solidFill>
            <a:srgbClr val="F3EDE2"/>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554DC56F-D929-457B-9FBE-FFC022E76FCF}"/>
              </a:ext>
            </a:extLst>
          </p:cNvPr>
          <p:cNvSpPr>
            <a:spLocks noGrp="1"/>
          </p:cNvSpPr>
          <p:nvPr/>
        </p:nvSpPr>
        <p:spPr>
          <a:xfrm>
            <a:off x="2571750" y="29051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Heat content, equatorial propagation, wind-stress experiments</a:t>
            </a:r>
          </a:p>
        </p:txBody>
      </p:sp>
      <p:sp>
        <p:nvSpPr>
          <p:cNvPr id="21" name="矩形 20">
            <a:extLst>
              <a:ext uri="{FF2B5EF4-FFF2-40B4-BE49-F238E27FC236}">
                <a16:creationId xmlns:a16="http://schemas.microsoft.com/office/drawing/2014/main" id="{384F643E-6622-47EC-BCAC-36E2195BB216}"/>
              </a:ext>
            </a:extLst>
          </p:cNvPr>
          <p:cNvSpPr>
            <a:spLocks noGrp="1"/>
          </p:cNvSpPr>
          <p:nvPr/>
        </p:nvSpPr>
        <p:spPr>
          <a:xfrm>
            <a:off x="6353175" y="2838450"/>
            <a:ext cx="4695825" cy="514350"/>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47624EB3-C552-4E4C-9E80-2A8CE501ECCB}"/>
              </a:ext>
            </a:extLst>
          </p:cNvPr>
          <p:cNvSpPr>
            <a:spLocks noGrp="1"/>
          </p:cNvSpPr>
          <p:nvPr/>
        </p:nvSpPr>
        <p:spPr>
          <a:xfrm>
            <a:off x="6429375" y="29051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Seasonal sea-surface-temperature, wind, pressure, rainfall, and convection coupling efficiency</a:t>
            </a:r>
          </a:p>
        </p:txBody>
      </p:sp>
      <p:sp>
        <p:nvSpPr>
          <p:cNvPr id="23" name="矩形 22">
            <a:extLst>
              <a:ext uri="{FF2B5EF4-FFF2-40B4-BE49-F238E27FC236}">
                <a16:creationId xmlns:a16="http://schemas.microsoft.com/office/drawing/2014/main" id="{6122E03A-9D68-4775-B352-07CD36872957}"/>
              </a:ext>
            </a:extLst>
          </p:cNvPr>
          <p:cNvSpPr>
            <a:spLocks noGrp="1"/>
          </p:cNvSpPr>
          <p:nvPr/>
        </p:nvSpPr>
        <p:spPr>
          <a:xfrm>
            <a:off x="685800" y="3352800"/>
            <a:ext cx="1809750" cy="514350"/>
          </a:xfrm>
          <a:prstGeom prst="rect">
            <a:avLst/>
          </a:prstGeom>
          <a:solidFill>
            <a:srgbClr val="FBF8F1"/>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EF226A63-65B8-4D6C-BF42-18D151501356}"/>
              </a:ext>
            </a:extLst>
          </p:cNvPr>
          <p:cNvSpPr>
            <a:spLocks noGrp="1"/>
          </p:cNvSpPr>
          <p:nvPr/>
        </p:nvSpPr>
        <p:spPr>
          <a:xfrm>
            <a:off x="762000" y="341947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Timescale</a:t>
            </a:r>
          </a:p>
        </p:txBody>
      </p:sp>
      <p:sp>
        <p:nvSpPr>
          <p:cNvPr id="25" name="矩形 24">
            <a:extLst>
              <a:ext uri="{FF2B5EF4-FFF2-40B4-BE49-F238E27FC236}">
                <a16:creationId xmlns:a16="http://schemas.microsoft.com/office/drawing/2014/main" id="{D0E4609A-0A8C-4AB0-816C-EF4D0736694A}"/>
              </a:ext>
            </a:extLst>
          </p:cNvPr>
          <p:cNvSpPr>
            <a:spLocks noGrp="1"/>
          </p:cNvSpPr>
          <p:nvPr/>
        </p:nvSpPr>
        <p:spPr>
          <a:xfrm>
            <a:off x="2495550" y="3352800"/>
            <a:ext cx="3857625" cy="514350"/>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FEF99C08-F1ED-448B-AEE0-12B734F56BEE}"/>
              </a:ext>
            </a:extLst>
          </p:cNvPr>
          <p:cNvSpPr>
            <a:spLocks noGrp="1"/>
          </p:cNvSpPr>
          <p:nvPr/>
        </p:nvSpPr>
        <p:spPr>
          <a:xfrm>
            <a:off x="2571750" y="341947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Event development and mature phase</a:t>
            </a:r>
          </a:p>
        </p:txBody>
      </p:sp>
      <p:sp>
        <p:nvSpPr>
          <p:cNvPr id="27" name="矩形 26">
            <a:extLst>
              <a:ext uri="{FF2B5EF4-FFF2-40B4-BE49-F238E27FC236}">
                <a16:creationId xmlns:a16="http://schemas.microsoft.com/office/drawing/2014/main" id="{FD19EBC2-EAB7-46C3-AC14-5C7B97295FDA}"/>
              </a:ext>
            </a:extLst>
          </p:cNvPr>
          <p:cNvSpPr>
            <a:spLocks noGrp="1"/>
          </p:cNvSpPr>
          <p:nvPr/>
        </p:nvSpPr>
        <p:spPr>
          <a:xfrm>
            <a:off x="6353175" y="3352800"/>
            <a:ext cx="4695825" cy="514350"/>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AB9995B5-C31E-48EA-951A-736946020636}"/>
              </a:ext>
            </a:extLst>
          </p:cNvPr>
          <p:cNvSpPr>
            <a:spLocks noGrp="1"/>
          </p:cNvSpPr>
          <p:nvPr/>
        </p:nvSpPr>
        <p:spPr>
          <a:xfrm>
            <a:off x="6429375" y="341947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AMJ/JJA/SON/DJF asynchronous response</a:t>
            </a:r>
          </a:p>
        </p:txBody>
      </p:sp>
      <p:sp>
        <p:nvSpPr>
          <p:cNvPr id="29" name="矩形 28">
            <a:extLst>
              <a:ext uri="{FF2B5EF4-FFF2-40B4-BE49-F238E27FC236}">
                <a16:creationId xmlns:a16="http://schemas.microsoft.com/office/drawing/2014/main" id="{F5CC37CD-34BA-4338-8921-E42C4BD345B4}"/>
              </a:ext>
            </a:extLst>
          </p:cNvPr>
          <p:cNvSpPr>
            <a:spLocks noGrp="1"/>
          </p:cNvSpPr>
          <p:nvPr/>
        </p:nvSpPr>
        <p:spPr>
          <a:xfrm>
            <a:off x="685800" y="3867150"/>
            <a:ext cx="1809750" cy="514350"/>
          </a:xfrm>
          <a:prstGeom prst="rect">
            <a:avLst/>
          </a:prstGeom>
          <a:solidFill>
            <a:srgbClr val="F3EDE2"/>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CBCF8977-EB32-4B85-900C-5A40E6F20E8D}"/>
              </a:ext>
            </a:extLst>
          </p:cNvPr>
          <p:cNvSpPr>
            <a:spLocks noGrp="1"/>
          </p:cNvSpPr>
          <p:nvPr/>
        </p:nvSpPr>
        <p:spPr>
          <a:xfrm>
            <a:off x="762000" y="39338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Candidate mechanisms</a:t>
            </a:r>
          </a:p>
        </p:txBody>
      </p:sp>
      <p:sp>
        <p:nvSpPr>
          <p:cNvPr id="31" name="矩形 30">
            <a:extLst>
              <a:ext uri="{FF2B5EF4-FFF2-40B4-BE49-F238E27FC236}">
                <a16:creationId xmlns:a16="http://schemas.microsoft.com/office/drawing/2014/main" id="{151DF378-5FA0-42B5-9112-C77B0438C6BB}"/>
              </a:ext>
            </a:extLst>
          </p:cNvPr>
          <p:cNvSpPr>
            <a:spLocks noGrp="1"/>
          </p:cNvSpPr>
          <p:nvPr/>
        </p:nvSpPr>
        <p:spPr>
          <a:xfrm>
            <a:off x="2495550" y="3867150"/>
            <a:ext cx="3857625" cy="514350"/>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E862F510-D604-4237-A90E-15489E9CA2AF}"/>
              </a:ext>
            </a:extLst>
          </p:cNvPr>
          <p:cNvSpPr>
            <a:spLocks noGrp="1"/>
          </p:cNvSpPr>
          <p:nvPr/>
        </p:nvSpPr>
        <p:spPr>
          <a:xfrm>
            <a:off x="2571750" y="39338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Pacific ocean dynamics and external-basin SST influence</a:t>
            </a:r>
          </a:p>
        </p:txBody>
      </p:sp>
      <p:sp>
        <p:nvSpPr>
          <p:cNvPr id="33" name="矩形 32">
            <a:extLst>
              <a:ext uri="{FF2B5EF4-FFF2-40B4-BE49-F238E27FC236}">
                <a16:creationId xmlns:a16="http://schemas.microsoft.com/office/drawing/2014/main" id="{70422A9A-42EC-451E-9A93-70CE62DBE6F3}"/>
              </a:ext>
            </a:extLst>
          </p:cNvPr>
          <p:cNvSpPr>
            <a:spLocks noGrp="1"/>
          </p:cNvSpPr>
          <p:nvPr/>
        </p:nvSpPr>
        <p:spPr>
          <a:xfrm>
            <a:off x="6353175" y="3867150"/>
            <a:ext cx="4695825" cy="514350"/>
          </a:xfrm>
          <a:prstGeom prst="rect">
            <a:avLst/>
          </a:prstGeom>
          <a:solidFill>
            <a:srgbClr val="F3EDE2"/>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C42E3D97-25A4-4CE3-BE37-22B31D97D0FE}"/>
              </a:ext>
            </a:extLst>
          </p:cNvPr>
          <p:cNvSpPr>
            <a:spLocks noGrp="1"/>
          </p:cNvSpPr>
          <p:nvPr/>
        </p:nvSpPr>
        <p:spPr>
          <a:xfrm>
            <a:off x="6429375" y="39338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TNA, Indian Ocean, Maritime Continent, and warm-pool background-state modulation</a:t>
            </a:r>
          </a:p>
        </p:txBody>
      </p:sp>
      <p:sp>
        <p:nvSpPr>
          <p:cNvPr id="35" name="矩形 34">
            <a:extLst>
              <a:ext uri="{FF2B5EF4-FFF2-40B4-BE49-F238E27FC236}">
                <a16:creationId xmlns:a16="http://schemas.microsoft.com/office/drawing/2014/main" id="{6A5AA8FC-060C-4D84-B83B-D993C20DAAEA}"/>
              </a:ext>
            </a:extLst>
          </p:cNvPr>
          <p:cNvSpPr>
            <a:spLocks noGrp="1"/>
          </p:cNvSpPr>
          <p:nvPr/>
        </p:nvSpPr>
        <p:spPr>
          <a:xfrm>
            <a:off x="685800" y="5143499"/>
            <a:ext cx="10363200" cy="1095375"/>
          </a:xfrm>
          <a:prstGeom prst="rect">
            <a:avLst/>
          </a:prstGeom>
          <a:solidFill>
            <a:srgbClr val="FFFAF1"/>
          </a:solidFill>
          <a:ln w="7620">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160EFF3A-F064-4A1B-8576-4F3A0D020C32}"/>
              </a:ext>
            </a:extLst>
          </p:cNvPr>
          <p:cNvSpPr>
            <a:spLocks noGrp="1"/>
          </p:cNvSpPr>
          <p:nvPr/>
        </p:nvSpPr>
        <p:spPr>
          <a:xfrm>
            <a:off x="800100" y="5219700"/>
            <a:ext cx="101346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2000" b="0" dirty="0">
                <a:solidFill>
                  <a:srgbClr val="6E675D"/>
                </a:solidFill>
                <a:latin typeface="Aptos"/>
                <a:ea typeface="Aptos"/>
                <a:cs typeface="Aptos"/>
              </a:rPr>
              <a:t>why the atmosphere failed to respond synchronously once strong SST had already developed. That requires seasonal, multi-variable diagnostics rather than an event-mean view.</a:t>
            </a:r>
          </a:p>
        </p:txBody>
      </p:sp>
      <p:sp>
        <p:nvSpPr>
          <p:cNvPr id="37" name="矩形 36">
            <a:extLst>
              <a:ext uri="{FF2B5EF4-FFF2-40B4-BE49-F238E27FC236}">
                <a16:creationId xmlns:a16="http://schemas.microsoft.com/office/drawing/2014/main" id="{78A26648-727D-4666-BD27-36F0BA7CA11E}"/>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Synthesis of L1 and current diagnostics; citations listed in final appendix.</a:t>
            </a:r>
          </a:p>
        </p:txBody>
      </p:sp>
    </p:spTree>
    <p:extLst>
      <p:ext uri="{BB962C8B-B14F-4D97-AF65-F5344CB8AC3E}">
        <p14:creationId xmlns:p14="http://schemas.microsoft.com/office/powerpoint/2010/main" val="1520637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2F037760-3047-4D6C-B0EC-DFC91541A475}"/>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9530E058-AA4A-49CF-BAE0-D31CBBF12BE5}"/>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Raw Validation</a:t>
            </a:r>
          </a:p>
        </p:txBody>
      </p:sp>
      <p:sp>
        <p:nvSpPr>
          <p:cNvPr id="3" name="矩形 2">
            <a:extLst>
              <a:ext uri="{FF2B5EF4-FFF2-40B4-BE49-F238E27FC236}">
                <a16:creationId xmlns:a16="http://schemas.microsoft.com/office/drawing/2014/main" id="{20EAEB40-14E4-4E31-B46A-514734781AAE}"/>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Public datasets confirm that the paper-level signal is not a single-dataset artifact</a:t>
            </a:r>
          </a:p>
        </p:txBody>
      </p:sp>
      <p:sp>
        <p:nvSpPr>
          <p:cNvPr id="4" name="矩形 3">
            <a:extLst>
              <a:ext uri="{FF2B5EF4-FFF2-40B4-BE49-F238E27FC236}">
                <a16:creationId xmlns:a16="http://schemas.microsoft.com/office/drawing/2014/main" id="{2FE65F40-8E80-4B4C-93CA-F16CF1F2BA9E}"/>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742950" y="1755420"/>
            <a:ext cx="5219700" cy="3404311"/>
          </a:xfrm>
          <a:prstGeom prst="rect">
            <a:avLst/>
          </a:prstGeom>
        </p:spPr>
      </p:pic>
      <p:sp>
        <p:nvSpPr>
          <p:cNvPr id="6" name="椭圆 5">
            <a:extLst>
              <a:ext uri="{FF2B5EF4-FFF2-40B4-BE49-F238E27FC236}">
                <a16:creationId xmlns:a16="http://schemas.microsoft.com/office/drawing/2014/main" id="{FE56C29E-575B-4EC7-A55A-B14CBB5DB92C}"/>
              </a:ext>
            </a:extLst>
          </p:cNvPr>
          <p:cNvSpPr>
            <a:spLocks noGrp="1"/>
          </p:cNvSpPr>
          <p:nvPr/>
        </p:nvSpPr>
        <p:spPr>
          <a:xfrm>
            <a:off x="6477000" y="21145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7" name="矩形 6">
            <a:extLst>
              <a:ext uri="{FF2B5EF4-FFF2-40B4-BE49-F238E27FC236}">
                <a16:creationId xmlns:a16="http://schemas.microsoft.com/office/drawing/2014/main" id="{B598E35B-DFBA-48C1-BC42-D02BE824494F}"/>
              </a:ext>
            </a:extLst>
          </p:cNvPr>
          <p:cNvSpPr>
            <a:spLocks noGrp="1"/>
          </p:cNvSpPr>
          <p:nvPr/>
        </p:nvSpPr>
        <p:spPr>
          <a:xfrm>
            <a:off x="6667500" y="2038350"/>
            <a:ext cx="3905250" cy="695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NOAA Optimum Interpolation SST, or OISST, Niño-3 correlates 0.9999 with reproduced Fig. 1.</a:t>
            </a:r>
          </a:p>
        </p:txBody>
      </p:sp>
      <p:sp>
        <p:nvSpPr>
          <p:cNvPr id="8" name="椭圆 7">
            <a:extLst>
              <a:ext uri="{FF2B5EF4-FFF2-40B4-BE49-F238E27FC236}">
                <a16:creationId xmlns:a16="http://schemas.microsoft.com/office/drawing/2014/main" id="{EB865C96-F319-47E2-B11E-769DC0631107}"/>
              </a:ext>
            </a:extLst>
          </p:cNvPr>
          <p:cNvSpPr>
            <a:spLocks noGrp="1"/>
          </p:cNvSpPr>
          <p:nvPr/>
        </p:nvSpPr>
        <p:spPr>
          <a:xfrm>
            <a:off x="6477000" y="28575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9" name="矩形 8">
            <a:extLst>
              <a:ext uri="{FF2B5EF4-FFF2-40B4-BE49-F238E27FC236}">
                <a16:creationId xmlns:a16="http://schemas.microsoft.com/office/drawing/2014/main" id="{9F7DAF0F-9E82-4AF4-BA64-D3F961DED454}"/>
              </a:ext>
            </a:extLst>
          </p:cNvPr>
          <p:cNvSpPr>
            <a:spLocks noGrp="1"/>
          </p:cNvSpPr>
          <p:nvPr/>
        </p:nvSpPr>
        <p:spPr>
          <a:xfrm>
            <a:off x="6667500" y="2781300"/>
            <a:ext cx="3905250" cy="695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Global Precipitation Climatology Project, or GPCP, shows weaker central/eastern Pacific rainfall in 2023 than in the strong-event composite.</a:t>
            </a:r>
          </a:p>
        </p:txBody>
      </p:sp>
      <p:sp>
        <p:nvSpPr>
          <p:cNvPr id="10" name="椭圆 9">
            <a:extLst>
              <a:ext uri="{FF2B5EF4-FFF2-40B4-BE49-F238E27FC236}">
                <a16:creationId xmlns:a16="http://schemas.microsoft.com/office/drawing/2014/main" id="{0425691F-F3B8-491C-9380-728476D1ADA5}"/>
              </a:ext>
            </a:extLst>
          </p:cNvPr>
          <p:cNvSpPr>
            <a:spLocks noGrp="1"/>
          </p:cNvSpPr>
          <p:nvPr/>
        </p:nvSpPr>
        <p:spPr>
          <a:xfrm>
            <a:off x="6477000" y="36004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1" name="矩形 10">
            <a:extLst>
              <a:ext uri="{FF2B5EF4-FFF2-40B4-BE49-F238E27FC236}">
                <a16:creationId xmlns:a16="http://schemas.microsoft.com/office/drawing/2014/main" id="{CC4B2C6B-1F3F-4DCE-A1C9-8489CA43CE01}"/>
              </a:ext>
            </a:extLst>
          </p:cNvPr>
          <p:cNvSpPr>
            <a:spLocks noGrp="1"/>
          </p:cNvSpPr>
          <p:nvPr/>
        </p:nvSpPr>
        <p:spPr>
          <a:xfrm>
            <a:off x="6667500" y="3524250"/>
            <a:ext cx="3905250" cy="695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NCEP/NCAR reanalysis wind and SOI-like pressure-gradient proxies align closely with the paper's atmospheric metrics.</a:t>
            </a:r>
          </a:p>
        </p:txBody>
      </p:sp>
      <p:sp>
        <p:nvSpPr>
          <p:cNvPr id="13" name="矩形 12">
            <a:extLst>
              <a:ext uri="{FF2B5EF4-FFF2-40B4-BE49-F238E27FC236}">
                <a16:creationId xmlns:a16="http://schemas.microsoft.com/office/drawing/2014/main" id="{32480C66-D615-4EE4-996A-C05E245A38EC}"/>
              </a:ext>
            </a:extLst>
          </p:cNvPr>
          <p:cNvSpPr>
            <a:spLocks noGrp="1"/>
          </p:cNvSpPr>
          <p:nvPr/>
        </p:nvSpPr>
        <p:spPr>
          <a:xfrm>
            <a:off x="857250" y="5486400"/>
            <a:ext cx="100584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endParaRPr sz="780" b="0" dirty="0">
              <a:solidFill>
                <a:srgbClr val="6E675D"/>
              </a:solidFill>
              <a:latin typeface="Aptos"/>
              <a:ea typeface="Aptos"/>
              <a:cs typeface="Aptos"/>
            </a:endParaRPr>
          </a:p>
        </p:txBody>
      </p:sp>
      <p:sp>
        <p:nvSpPr>
          <p:cNvPr id="14" name="矩形 13">
            <a:extLst>
              <a:ext uri="{FF2B5EF4-FFF2-40B4-BE49-F238E27FC236}">
                <a16:creationId xmlns:a16="http://schemas.microsoft.com/office/drawing/2014/main" id="{246E216D-CD80-4B85-BAAE-F49080DD50D8}"/>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D2 NOAA OISST; D3 GPCP; D4 NCEP/NCAR R1 via NOAA PSL OPeNDAP.</a:t>
            </a:r>
          </a:p>
        </p:txBody>
      </p:sp>
    </p:spTree>
    <p:extLst>
      <p:ext uri="{BB962C8B-B14F-4D97-AF65-F5344CB8AC3E}">
        <p14:creationId xmlns:p14="http://schemas.microsoft.com/office/powerpoint/2010/main" val="397437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a:extLst>
              <a:ext uri="{FF2B5EF4-FFF2-40B4-BE49-F238E27FC236}">
                <a16:creationId xmlns:a16="http://schemas.microsoft.com/office/drawing/2014/main" id="{FDC11936-7487-45F8-9E58-CA6468F22EB3}"/>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54A24F17-5E24-4FA4-B56E-418EBAD8EC82}"/>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Finding 1</a:t>
            </a:r>
          </a:p>
        </p:txBody>
      </p:sp>
      <p:sp>
        <p:nvSpPr>
          <p:cNvPr id="3" name="矩形 2">
            <a:extLst>
              <a:ext uri="{FF2B5EF4-FFF2-40B4-BE49-F238E27FC236}">
                <a16:creationId xmlns:a16="http://schemas.microsoft.com/office/drawing/2014/main" id="{D4025100-9DE6-497B-A095-DBF91F50CBE5}"/>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Historical comparison: spring AMJ / summer JJA SST was strong, but synchronous wind-pressure coupling failed</a:t>
            </a:r>
          </a:p>
        </p:txBody>
      </p:sp>
      <p:sp>
        <p:nvSpPr>
          <p:cNvPr id="4" name="矩形 3">
            <a:extLst>
              <a:ext uri="{FF2B5EF4-FFF2-40B4-BE49-F238E27FC236}">
                <a16:creationId xmlns:a16="http://schemas.microsoft.com/office/drawing/2014/main" id="{88346F92-D992-4F96-B95B-1D4C41103BF8}"/>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685800" y="2094309"/>
            <a:ext cx="6191250" cy="2321719"/>
          </a:xfrm>
          <a:prstGeom prst="rect">
            <a:avLst/>
          </a:prstGeom>
        </p:spPr>
      </p:pic>
      <p:sp>
        <p:nvSpPr>
          <p:cNvPr id="6" name="矩形 5">
            <a:extLst>
              <a:ext uri="{FF2B5EF4-FFF2-40B4-BE49-F238E27FC236}">
                <a16:creationId xmlns:a16="http://schemas.microsoft.com/office/drawing/2014/main" id="{4901D6CD-6BA8-41EA-A065-FD004F71C82F}"/>
              </a:ext>
            </a:extLst>
          </p:cNvPr>
          <p:cNvSpPr>
            <a:spLocks noGrp="1"/>
          </p:cNvSpPr>
          <p:nvPr/>
        </p:nvSpPr>
        <p:spPr>
          <a:xfrm>
            <a:off x="7239000" y="2076450"/>
            <a:ext cx="1206500" cy="419100"/>
          </a:xfrm>
          <a:prstGeom prst="rect">
            <a:avLst/>
          </a:prstGeom>
          <a:solidFill>
            <a:srgbClr val="1D1B18"/>
          </a:solidFill>
          <a:ln w="6668">
            <a:solidFill>
              <a:srgbClr val="D8D1C4"/>
            </a:solidFill>
            <a:prstDash val="solid"/>
          </a:ln>
        </p:spPr>
        <p:txBody>
          <a:bodyPr/>
          <a:lstStyle/>
          <a:p>
            <a:endParaRPr lang="zh-CN" altLang="en-US"/>
          </a:p>
        </p:txBody>
      </p:sp>
      <p:sp>
        <p:nvSpPr>
          <p:cNvPr id="7" name="矩形 6">
            <a:extLst>
              <a:ext uri="{FF2B5EF4-FFF2-40B4-BE49-F238E27FC236}">
                <a16:creationId xmlns:a16="http://schemas.microsoft.com/office/drawing/2014/main" id="{2255146E-39B2-4EED-B312-A996BF8EE186}"/>
              </a:ext>
            </a:extLst>
          </p:cNvPr>
          <p:cNvSpPr>
            <a:spLocks noGrp="1"/>
          </p:cNvSpPr>
          <p:nvPr/>
        </p:nvSpPr>
        <p:spPr>
          <a:xfrm>
            <a:off x="7315200" y="21431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Metric</a:t>
            </a:r>
          </a:p>
        </p:txBody>
      </p:sp>
      <p:sp>
        <p:nvSpPr>
          <p:cNvPr id="8" name="矩形 7">
            <a:extLst>
              <a:ext uri="{FF2B5EF4-FFF2-40B4-BE49-F238E27FC236}">
                <a16:creationId xmlns:a16="http://schemas.microsoft.com/office/drawing/2014/main" id="{ACB30958-B6A3-4BC7-9B01-E7BD9ABFB59E}"/>
              </a:ext>
            </a:extLst>
          </p:cNvPr>
          <p:cNvSpPr>
            <a:spLocks noGrp="1"/>
          </p:cNvSpPr>
          <p:nvPr/>
        </p:nvSpPr>
        <p:spPr>
          <a:xfrm>
            <a:off x="8445500" y="2076450"/>
            <a:ext cx="1206500" cy="419100"/>
          </a:xfrm>
          <a:prstGeom prst="rect">
            <a:avLst/>
          </a:prstGeom>
          <a:solidFill>
            <a:srgbClr val="1D1B18"/>
          </a:solidFill>
          <a:ln w="6668">
            <a:solidFill>
              <a:srgbClr val="D8D1C4"/>
            </a:solidFill>
            <a:prstDash val="solid"/>
          </a:ln>
        </p:spPr>
        <p:txBody>
          <a:bodyPr/>
          <a:lstStyle/>
          <a:p>
            <a:endParaRPr lang="zh-CN" altLang="en-US"/>
          </a:p>
        </p:txBody>
      </p:sp>
      <p:sp>
        <p:nvSpPr>
          <p:cNvPr id="9" name="矩形 8">
            <a:extLst>
              <a:ext uri="{FF2B5EF4-FFF2-40B4-BE49-F238E27FC236}">
                <a16:creationId xmlns:a16="http://schemas.microsoft.com/office/drawing/2014/main" id="{068E3C7C-5BD9-4962-85AD-7E5CD3E7F3A0}"/>
              </a:ext>
            </a:extLst>
          </p:cNvPr>
          <p:cNvSpPr>
            <a:spLocks noGrp="1"/>
          </p:cNvSpPr>
          <p:nvPr/>
        </p:nvSpPr>
        <p:spPr>
          <a:xfrm>
            <a:off x="8521700" y="21431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AMJ</a:t>
            </a:r>
          </a:p>
        </p:txBody>
      </p:sp>
      <p:sp>
        <p:nvSpPr>
          <p:cNvPr id="10" name="矩形 9">
            <a:extLst>
              <a:ext uri="{FF2B5EF4-FFF2-40B4-BE49-F238E27FC236}">
                <a16:creationId xmlns:a16="http://schemas.microsoft.com/office/drawing/2014/main" id="{1C34DC8A-D8B9-48D0-BD9E-B1CDA47E3F10}"/>
              </a:ext>
            </a:extLst>
          </p:cNvPr>
          <p:cNvSpPr>
            <a:spLocks noGrp="1"/>
          </p:cNvSpPr>
          <p:nvPr/>
        </p:nvSpPr>
        <p:spPr>
          <a:xfrm>
            <a:off x="9652000" y="2076450"/>
            <a:ext cx="1206500" cy="419100"/>
          </a:xfrm>
          <a:prstGeom prst="rect">
            <a:avLst/>
          </a:prstGeom>
          <a:solidFill>
            <a:srgbClr val="1D1B18"/>
          </a:solidFill>
          <a:ln w="6668">
            <a:solidFill>
              <a:srgbClr val="D8D1C4"/>
            </a:solidFill>
            <a:prstDash val="solid"/>
          </a:ln>
        </p:spPr>
        <p:txBody>
          <a:bodyPr/>
          <a:lstStyle/>
          <a:p>
            <a:endParaRPr lang="zh-CN" altLang="en-US"/>
          </a:p>
        </p:txBody>
      </p:sp>
      <p:sp>
        <p:nvSpPr>
          <p:cNvPr id="11" name="矩形 10">
            <a:extLst>
              <a:ext uri="{FF2B5EF4-FFF2-40B4-BE49-F238E27FC236}">
                <a16:creationId xmlns:a16="http://schemas.microsoft.com/office/drawing/2014/main" id="{1B6D7FA6-88B5-4E81-AB98-6E534067A61B}"/>
              </a:ext>
            </a:extLst>
          </p:cNvPr>
          <p:cNvSpPr>
            <a:spLocks noGrp="1"/>
          </p:cNvSpPr>
          <p:nvPr/>
        </p:nvSpPr>
        <p:spPr>
          <a:xfrm>
            <a:off x="9728200" y="21431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JJA</a:t>
            </a:r>
          </a:p>
        </p:txBody>
      </p:sp>
      <p:sp>
        <p:nvSpPr>
          <p:cNvPr id="12" name="矩形 11">
            <a:extLst>
              <a:ext uri="{FF2B5EF4-FFF2-40B4-BE49-F238E27FC236}">
                <a16:creationId xmlns:a16="http://schemas.microsoft.com/office/drawing/2014/main" id="{425CEDF4-54AE-46A3-B00A-5F040D26753B}"/>
              </a:ext>
            </a:extLst>
          </p:cNvPr>
          <p:cNvSpPr>
            <a:spLocks noGrp="1"/>
          </p:cNvSpPr>
          <p:nvPr/>
        </p:nvSpPr>
        <p:spPr>
          <a:xfrm>
            <a:off x="7239000" y="24955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13" name="矩形 12">
            <a:extLst>
              <a:ext uri="{FF2B5EF4-FFF2-40B4-BE49-F238E27FC236}">
                <a16:creationId xmlns:a16="http://schemas.microsoft.com/office/drawing/2014/main" id="{686E0151-A4E8-4258-97B8-04454DF84B43}"/>
              </a:ext>
            </a:extLst>
          </p:cNvPr>
          <p:cNvSpPr>
            <a:spLocks noGrp="1"/>
          </p:cNvSpPr>
          <p:nvPr/>
        </p:nvSpPr>
        <p:spPr>
          <a:xfrm>
            <a:off x="7315200" y="25622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Niño-3 SST ratio</a:t>
            </a:r>
          </a:p>
        </p:txBody>
      </p:sp>
      <p:sp>
        <p:nvSpPr>
          <p:cNvPr id="14" name="矩形 13">
            <a:extLst>
              <a:ext uri="{FF2B5EF4-FFF2-40B4-BE49-F238E27FC236}">
                <a16:creationId xmlns:a16="http://schemas.microsoft.com/office/drawing/2014/main" id="{3B6FB830-5DA8-402C-9FA1-BFDBBA2BE44B}"/>
              </a:ext>
            </a:extLst>
          </p:cNvPr>
          <p:cNvSpPr>
            <a:spLocks noGrp="1"/>
          </p:cNvSpPr>
          <p:nvPr/>
        </p:nvSpPr>
        <p:spPr>
          <a:xfrm>
            <a:off x="8445500" y="24955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15" name="矩形 14">
            <a:extLst>
              <a:ext uri="{FF2B5EF4-FFF2-40B4-BE49-F238E27FC236}">
                <a16:creationId xmlns:a16="http://schemas.microsoft.com/office/drawing/2014/main" id="{79BA9D13-9EFC-4539-AFD4-1FF9A01B5F33}"/>
              </a:ext>
            </a:extLst>
          </p:cNvPr>
          <p:cNvSpPr>
            <a:spLocks noGrp="1"/>
          </p:cNvSpPr>
          <p:nvPr/>
        </p:nvSpPr>
        <p:spPr>
          <a:xfrm>
            <a:off x="8521700" y="25622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1.41</a:t>
            </a:r>
          </a:p>
        </p:txBody>
      </p:sp>
      <p:sp>
        <p:nvSpPr>
          <p:cNvPr id="16" name="矩形 15">
            <a:extLst>
              <a:ext uri="{FF2B5EF4-FFF2-40B4-BE49-F238E27FC236}">
                <a16:creationId xmlns:a16="http://schemas.microsoft.com/office/drawing/2014/main" id="{C97D5C81-D536-485E-8D04-C0ACD2A0B3E1}"/>
              </a:ext>
            </a:extLst>
          </p:cNvPr>
          <p:cNvSpPr>
            <a:spLocks noGrp="1"/>
          </p:cNvSpPr>
          <p:nvPr/>
        </p:nvSpPr>
        <p:spPr>
          <a:xfrm>
            <a:off x="9652000" y="24955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17" name="矩形 16">
            <a:extLst>
              <a:ext uri="{FF2B5EF4-FFF2-40B4-BE49-F238E27FC236}">
                <a16:creationId xmlns:a16="http://schemas.microsoft.com/office/drawing/2014/main" id="{2F5E7723-ACF9-49CD-BE3F-D23DE7211EBD}"/>
              </a:ext>
            </a:extLst>
          </p:cNvPr>
          <p:cNvSpPr>
            <a:spLocks noGrp="1"/>
          </p:cNvSpPr>
          <p:nvPr/>
        </p:nvSpPr>
        <p:spPr>
          <a:xfrm>
            <a:off x="9728200" y="25622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1.22</a:t>
            </a:r>
          </a:p>
        </p:txBody>
      </p:sp>
      <p:sp>
        <p:nvSpPr>
          <p:cNvPr id="18" name="矩形 17">
            <a:extLst>
              <a:ext uri="{FF2B5EF4-FFF2-40B4-BE49-F238E27FC236}">
                <a16:creationId xmlns:a16="http://schemas.microsoft.com/office/drawing/2014/main" id="{DAA78E7A-9DCA-442E-8B42-D4D498D422AB}"/>
              </a:ext>
            </a:extLst>
          </p:cNvPr>
          <p:cNvSpPr>
            <a:spLocks noGrp="1"/>
          </p:cNvSpPr>
          <p:nvPr/>
        </p:nvSpPr>
        <p:spPr>
          <a:xfrm>
            <a:off x="7239000" y="29146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19" name="矩形 18">
            <a:extLst>
              <a:ext uri="{FF2B5EF4-FFF2-40B4-BE49-F238E27FC236}">
                <a16:creationId xmlns:a16="http://schemas.microsoft.com/office/drawing/2014/main" id="{E4D1418A-8462-4CDE-95EF-5F41D615F420}"/>
              </a:ext>
            </a:extLst>
          </p:cNvPr>
          <p:cNvSpPr>
            <a:spLocks noGrp="1"/>
          </p:cNvSpPr>
          <p:nvPr/>
        </p:nvSpPr>
        <p:spPr>
          <a:xfrm>
            <a:off x="7315200" y="29813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Central-west Pacific CWP wind ratio</a:t>
            </a:r>
          </a:p>
        </p:txBody>
      </p:sp>
      <p:sp>
        <p:nvSpPr>
          <p:cNvPr id="20" name="矩形 19">
            <a:extLst>
              <a:ext uri="{FF2B5EF4-FFF2-40B4-BE49-F238E27FC236}">
                <a16:creationId xmlns:a16="http://schemas.microsoft.com/office/drawing/2014/main" id="{A1CE9525-23A4-4324-9531-A4894002135C}"/>
              </a:ext>
            </a:extLst>
          </p:cNvPr>
          <p:cNvSpPr>
            <a:spLocks noGrp="1"/>
          </p:cNvSpPr>
          <p:nvPr/>
        </p:nvSpPr>
        <p:spPr>
          <a:xfrm>
            <a:off x="8445500" y="29146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21" name="矩形 20">
            <a:extLst>
              <a:ext uri="{FF2B5EF4-FFF2-40B4-BE49-F238E27FC236}">
                <a16:creationId xmlns:a16="http://schemas.microsoft.com/office/drawing/2014/main" id="{F9BC22D4-81C4-4E81-B207-81AC90BD7FA8}"/>
              </a:ext>
            </a:extLst>
          </p:cNvPr>
          <p:cNvSpPr>
            <a:spLocks noGrp="1"/>
          </p:cNvSpPr>
          <p:nvPr/>
        </p:nvSpPr>
        <p:spPr>
          <a:xfrm>
            <a:off x="8521700" y="29813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-0.43</a:t>
            </a:r>
          </a:p>
        </p:txBody>
      </p:sp>
      <p:sp>
        <p:nvSpPr>
          <p:cNvPr id="22" name="矩形 21">
            <a:extLst>
              <a:ext uri="{FF2B5EF4-FFF2-40B4-BE49-F238E27FC236}">
                <a16:creationId xmlns:a16="http://schemas.microsoft.com/office/drawing/2014/main" id="{064334EA-56F2-4697-85ED-89883DF0A056}"/>
              </a:ext>
            </a:extLst>
          </p:cNvPr>
          <p:cNvSpPr>
            <a:spLocks noGrp="1"/>
          </p:cNvSpPr>
          <p:nvPr/>
        </p:nvSpPr>
        <p:spPr>
          <a:xfrm>
            <a:off x="9652000" y="29146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23" name="矩形 22">
            <a:extLst>
              <a:ext uri="{FF2B5EF4-FFF2-40B4-BE49-F238E27FC236}">
                <a16:creationId xmlns:a16="http://schemas.microsoft.com/office/drawing/2014/main" id="{7BF35889-9F95-4970-A9EE-B9A47F6C0F9C}"/>
              </a:ext>
            </a:extLst>
          </p:cNvPr>
          <p:cNvSpPr>
            <a:spLocks noGrp="1"/>
          </p:cNvSpPr>
          <p:nvPr/>
        </p:nvSpPr>
        <p:spPr>
          <a:xfrm>
            <a:off x="9728200" y="29813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-0.14</a:t>
            </a:r>
          </a:p>
        </p:txBody>
      </p:sp>
      <p:sp>
        <p:nvSpPr>
          <p:cNvPr id="24" name="矩形 23">
            <a:extLst>
              <a:ext uri="{FF2B5EF4-FFF2-40B4-BE49-F238E27FC236}">
                <a16:creationId xmlns:a16="http://schemas.microsoft.com/office/drawing/2014/main" id="{16D2C4B5-234D-4E63-A513-2C2455023125}"/>
              </a:ext>
            </a:extLst>
          </p:cNvPr>
          <p:cNvSpPr>
            <a:spLocks noGrp="1"/>
          </p:cNvSpPr>
          <p:nvPr/>
        </p:nvSpPr>
        <p:spPr>
          <a:xfrm>
            <a:off x="7239000" y="33337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25" name="矩形 24">
            <a:extLst>
              <a:ext uri="{FF2B5EF4-FFF2-40B4-BE49-F238E27FC236}">
                <a16:creationId xmlns:a16="http://schemas.microsoft.com/office/drawing/2014/main" id="{677C6463-1191-4959-8B6A-2A1C230A8FDD}"/>
              </a:ext>
            </a:extLst>
          </p:cNvPr>
          <p:cNvSpPr>
            <a:spLocks noGrp="1"/>
          </p:cNvSpPr>
          <p:nvPr/>
        </p:nvSpPr>
        <p:spPr>
          <a:xfrm>
            <a:off x="7315200" y="34004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SOI-like efficiency</a:t>
            </a:r>
          </a:p>
        </p:txBody>
      </p:sp>
      <p:sp>
        <p:nvSpPr>
          <p:cNvPr id="26" name="矩形 25">
            <a:extLst>
              <a:ext uri="{FF2B5EF4-FFF2-40B4-BE49-F238E27FC236}">
                <a16:creationId xmlns:a16="http://schemas.microsoft.com/office/drawing/2014/main" id="{F0E8B68C-7439-4156-A05C-0CBA39BF836E}"/>
              </a:ext>
            </a:extLst>
          </p:cNvPr>
          <p:cNvSpPr>
            <a:spLocks noGrp="1"/>
          </p:cNvSpPr>
          <p:nvPr/>
        </p:nvSpPr>
        <p:spPr>
          <a:xfrm>
            <a:off x="8445500" y="33337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27" name="矩形 26">
            <a:extLst>
              <a:ext uri="{FF2B5EF4-FFF2-40B4-BE49-F238E27FC236}">
                <a16:creationId xmlns:a16="http://schemas.microsoft.com/office/drawing/2014/main" id="{4E46E0F9-A3A6-45F4-8AA6-DC5804EFD38C}"/>
              </a:ext>
            </a:extLst>
          </p:cNvPr>
          <p:cNvSpPr>
            <a:spLocks noGrp="1"/>
          </p:cNvSpPr>
          <p:nvPr/>
        </p:nvSpPr>
        <p:spPr>
          <a:xfrm>
            <a:off x="8521700" y="34004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0.22</a:t>
            </a:r>
          </a:p>
        </p:txBody>
      </p:sp>
      <p:sp>
        <p:nvSpPr>
          <p:cNvPr id="28" name="矩形 27">
            <a:extLst>
              <a:ext uri="{FF2B5EF4-FFF2-40B4-BE49-F238E27FC236}">
                <a16:creationId xmlns:a16="http://schemas.microsoft.com/office/drawing/2014/main" id="{8BF597AC-15E1-4320-8247-B78B43A1E6D8}"/>
              </a:ext>
            </a:extLst>
          </p:cNvPr>
          <p:cNvSpPr>
            <a:spLocks noGrp="1"/>
          </p:cNvSpPr>
          <p:nvPr/>
        </p:nvSpPr>
        <p:spPr>
          <a:xfrm>
            <a:off x="9652000" y="3333750"/>
            <a:ext cx="1206500" cy="419100"/>
          </a:xfrm>
          <a:prstGeom prst="rect">
            <a:avLst/>
          </a:prstGeom>
          <a:solidFill>
            <a:srgbClr val="FBF8F1"/>
          </a:solidFill>
          <a:ln w="6668">
            <a:solidFill>
              <a:srgbClr val="D8D1C4"/>
            </a:solidFill>
            <a:prstDash val="solid"/>
          </a:ln>
        </p:spPr>
        <p:txBody>
          <a:bodyPr/>
          <a:lstStyle/>
          <a:p>
            <a:endParaRPr lang="zh-CN" altLang="en-US"/>
          </a:p>
        </p:txBody>
      </p:sp>
      <p:sp>
        <p:nvSpPr>
          <p:cNvPr id="29" name="矩形 28">
            <a:extLst>
              <a:ext uri="{FF2B5EF4-FFF2-40B4-BE49-F238E27FC236}">
                <a16:creationId xmlns:a16="http://schemas.microsoft.com/office/drawing/2014/main" id="{C775F382-0964-4090-8B5C-90639491245D}"/>
              </a:ext>
            </a:extLst>
          </p:cNvPr>
          <p:cNvSpPr>
            <a:spLocks noGrp="1"/>
          </p:cNvSpPr>
          <p:nvPr/>
        </p:nvSpPr>
        <p:spPr>
          <a:xfrm>
            <a:off x="9728200" y="34004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0.28</a:t>
            </a:r>
          </a:p>
        </p:txBody>
      </p:sp>
      <p:sp>
        <p:nvSpPr>
          <p:cNvPr id="30" name="矩形 29">
            <a:extLst>
              <a:ext uri="{FF2B5EF4-FFF2-40B4-BE49-F238E27FC236}">
                <a16:creationId xmlns:a16="http://schemas.microsoft.com/office/drawing/2014/main" id="{C6FAB024-AC43-4F3E-BF79-1699E377FD8D}"/>
              </a:ext>
            </a:extLst>
          </p:cNvPr>
          <p:cNvSpPr>
            <a:spLocks noGrp="1"/>
          </p:cNvSpPr>
          <p:nvPr/>
        </p:nvSpPr>
        <p:spPr>
          <a:xfrm>
            <a:off x="7239000" y="37528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31" name="矩形 30">
            <a:extLst>
              <a:ext uri="{FF2B5EF4-FFF2-40B4-BE49-F238E27FC236}">
                <a16:creationId xmlns:a16="http://schemas.microsoft.com/office/drawing/2014/main" id="{BE925913-4AF3-4297-ABA7-0376B68E1BAC}"/>
              </a:ext>
            </a:extLst>
          </p:cNvPr>
          <p:cNvSpPr>
            <a:spLocks noGrp="1"/>
          </p:cNvSpPr>
          <p:nvPr/>
        </p:nvSpPr>
        <p:spPr>
          <a:xfrm>
            <a:off x="7315200" y="38195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CP rainfall ratio</a:t>
            </a:r>
          </a:p>
        </p:txBody>
      </p:sp>
      <p:sp>
        <p:nvSpPr>
          <p:cNvPr id="32" name="矩形 31">
            <a:extLst>
              <a:ext uri="{FF2B5EF4-FFF2-40B4-BE49-F238E27FC236}">
                <a16:creationId xmlns:a16="http://schemas.microsoft.com/office/drawing/2014/main" id="{40641C34-CADE-4214-A1C2-9522ED752A9C}"/>
              </a:ext>
            </a:extLst>
          </p:cNvPr>
          <p:cNvSpPr>
            <a:spLocks noGrp="1"/>
          </p:cNvSpPr>
          <p:nvPr/>
        </p:nvSpPr>
        <p:spPr>
          <a:xfrm>
            <a:off x="8445500" y="37528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33" name="矩形 32">
            <a:extLst>
              <a:ext uri="{FF2B5EF4-FFF2-40B4-BE49-F238E27FC236}">
                <a16:creationId xmlns:a16="http://schemas.microsoft.com/office/drawing/2014/main" id="{2F0F7813-DFB3-443D-A349-F5F23F45568C}"/>
              </a:ext>
            </a:extLst>
          </p:cNvPr>
          <p:cNvSpPr>
            <a:spLocks noGrp="1"/>
          </p:cNvSpPr>
          <p:nvPr/>
        </p:nvSpPr>
        <p:spPr>
          <a:xfrm>
            <a:off x="8521700" y="38195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0.43</a:t>
            </a:r>
          </a:p>
        </p:txBody>
      </p:sp>
      <p:sp>
        <p:nvSpPr>
          <p:cNvPr id="34" name="矩形 33">
            <a:extLst>
              <a:ext uri="{FF2B5EF4-FFF2-40B4-BE49-F238E27FC236}">
                <a16:creationId xmlns:a16="http://schemas.microsoft.com/office/drawing/2014/main" id="{F437A520-7D51-4DB7-A827-902956ECA93D}"/>
              </a:ext>
            </a:extLst>
          </p:cNvPr>
          <p:cNvSpPr>
            <a:spLocks noGrp="1"/>
          </p:cNvSpPr>
          <p:nvPr/>
        </p:nvSpPr>
        <p:spPr>
          <a:xfrm>
            <a:off x="9652000" y="3752850"/>
            <a:ext cx="1206500" cy="419100"/>
          </a:xfrm>
          <a:prstGeom prst="rect">
            <a:avLst/>
          </a:prstGeom>
          <a:solidFill>
            <a:srgbClr val="F3EDE2"/>
          </a:solidFill>
          <a:ln w="6668">
            <a:solidFill>
              <a:srgbClr val="D8D1C4"/>
            </a:solidFill>
            <a:prstDash val="solid"/>
          </a:ln>
        </p:spPr>
        <p:txBody>
          <a:bodyPr/>
          <a:lstStyle/>
          <a:p>
            <a:endParaRPr lang="zh-CN" altLang="en-US"/>
          </a:p>
        </p:txBody>
      </p:sp>
      <p:sp>
        <p:nvSpPr>
          <p:cNvPr id="35" name="矩形 34">
            <a:extLst>
              <a:ext uri="{FF2B5EF4-FFF2-40B4-BE49-F238E27FC236}">
                <a16:creationId xmlns:a16="http://schemas.microsoft.com/office/drawing/2014/main" id="{8384E085-E03F-4603-80B4-CF44041F3A04}"/>
              </a:ext>
            </a:extLst>
          </p:cNvPr>
          <p:cNvSpPr>
            <a:spLocks noGrp="1"/>
          </p:cNvSpPr>
          <p:nvPr/>
        </p:nvSpPr>
        <p:spPr>
          <a:xfrm>
            <a:off x="9728200" y="3819525"/>
            <a:ext cx="10541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1D1B18"/>
                </a:solidFill>
                <a:latin typeface="Aptos"/>
                <a:ea typeface="Aptos"/>
                <a:cs typeface="Aptos"/>
              </a:defRPr>
            </a:pPr>
            <a:r>
              <a:rPr sz="915" b="0">
                <a:solidFill>
                  <a:srgbClr val="1D1B18"/>
                </a:solidFill>
                <a:latin typeface="Aptos"/>
                <a:ea typeface="Aptos"/>
                <a:cs typeface="Aptos"/>
              </a:rPr>
              <a:t>0.38</a:t>
            </a:r>
          </a:p>
        </p:txBody>
      </p:sp>
      <p:sp>
        <p:nvSpPr>
          <p:cNvPr id="36" name="矩形 35">
            <a:extLst>
              <a:ext uri="{FF2B5EF4-FFF2-40B4-BE49-F238E27FC236}">
                <a16:creationId xmlns:a16="http://schemas.microsoft.com/office/drawing/2014/main" id="{98D3FDED-E68F-4E0D-813E-05B3085EEA27}"/>
              </a:ext>
            </a:extLst>
          </p:cNvPr>
          <p:cNvSpPr>
            <a:spLocks noGrp="1"/>
          </p:cNvSpPr>
          <p:nvPr/>
        </p:nvSpPr>
        <p:spPr>
          <a:xfrm>
            <a:off x="685800" y="5410200"/>
            <a:ext cx="10287000" cy="838200"/>
          </a:xfrm>
          <a:prstGeom prst="rect">
            <a:avLst/>
          </a:prstGeom>
          <a:solidFill>
            <a:srgbClr val="FFFAF1"/>
          </a:solidFill>
          <a:ln w="7620">
            <a:solidFill>
              <a:srgbClr val="D8D1C4"/>
            </a:solidFill>
            <a:prstDash val="solid"/>
          </a:ln>
        </p:spPr>
        <p:txBody>
          <a:bodyPr/>
          <a:lstStyle/>
          <a:p>
            <a:endParaRPr lang="zh-CN" altLang="en-US"/>
          </a:p>
        </p:txBody>
      </p:sp>
      <p:sp>
        <p:nvSpPr>
          <p:cNvPr id="37" name="矩形 36">
            <a:extLst>
              <a:ext uri="{FF2B5EF4-FFF2-40B4-BE49-F238E27FC236}">
                <a16:creationId xmlns:a16="http://schemas.microsoft.com/office/drawing/2014/main" id="{66CD20D8-1429-4629-8CE5-53303437E6FC}"/>
              </a:ext>
            </a:extLst>
          </p:cNvPr>
          <p:cNvSpPr>
            <a:spLocks noGrp="1"/>
          </p:cNvSpPr>
          <p:nvPr/>
        </p:nvSpPr>
        <p:spPr>
          <a:xfrm>
            <a:off x="800100" y="5486400"/>
            <a:ext cx="100584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1600" b="0" dirty="0">
                <a:solidFill>
                  <a:srgbClr val="6E675D"/>
                </a:solidFill>
                <a:latin typeface="Aptos"/>
                <a:ea typeface="Aptos"/>
                <a:cs typeface="Aptos"/>
              </a:rPr>
              <a:t>by Niño-3 alone, AMJ/JJA 2023 already resembles a strong El Niño; however, CWP u and SOI-like metrics do not strengthen synchronously, and the low-level wind response even reverses sign</a:t>
            </a:r>
            <a:r>
              <a:rPr lang="en-US" sz="1600" dirty="0">
                <a:solidFill>
                  <a:srgbClr val="6E675D"/>
                </a:solidFill>
                <a:latin typeface="Aptos"/>
                <a:ea typeface="Aptos"/>
                <a:cs typeface="Aptos"/>
              </a:rPr>
              <a:t>.</a:t>
            </a:r>
            <a:endParaRPr sz="1600" b="0" dirty="0">
              <a:solidFill>
                <a:srgbClr val="6E675D"/>
              </a:solidFill>
              <a:latin typeface="Aptos"/>
              <a:ea typeface="Aptos"/>
              <a:cs typeface="Aptos"/>
            </a:endParaRPr>
          </a:p>
        </p:txBody>
      </p:sp>
      <p:sp>
        <p:nvSpPr>
          <p:cNvPr id="38" name="矩形 37">
            <a:extLst>
              <a:ext uri="{FF2B5EF4-FFF2-40B4-BE49-F238E27FC236}">
                <a16:creationId xmlns:a16="http://schemas.microsoft.com/office/drawing/2014/main" id="{57C91C13-8738-4D0D-B202-B0F1CEC1D382}"/>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Tables: asynchronous_coupling_efficiency.csv; seasonal_asynchrony_matrix.csv.</a:t>
            </a:r>
          </a:p>
        </p:txBody>
      </p:sp>
    </p:spTree>
    <p:extLst>
      <p:ext uri="{BB962C8B-B14F-4D97-AF65-F5344CB8AC3E}">
        <p14:creationId xmlns:p14="http://schemas.microsoft.com/office/powerpoint/2010/main" val="15971136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DE17E880-DC22-4329-A5C8-7C06989CE8DC}"/>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dirty="0"/>
          </a:p>
        </p:txBody>
      </p:sp>
      <p:sp>
        <p:nvSpPr>
          <p:cNvPr id="2" name="矩形 1">
            <a:extLst>
              <a:ext uri="{FF2B5EF4-FFF2-40B4-BE49-F238E27FC236}">
                <a16:creationId xmlns:a16="http://schemas.microsoft.com/office/drawing/2014/main" id="{FF307904-7D74-45B7-B184-DC4F89AB28FB}"/>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Finding 2</a:t>
            </a:r>
          </a:p>
        </p:txBody>
      </p:sp>
      <p:sp>
        <p:nvSpPr>
          <p:cNvPr id="3" name="矩形 2">
            <a:extLst>
              <a:ext uri="{FF2B5EF4-FFF2-40B4-BE49-F238E27FC236}">
                <a16:creationId xmlns:a16="http://schemas.microsoft.com/office/drawing/2014/main" id="{FF84EE16-C56E-4351-818A-110857A10EDD}"/>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Spatial maps: the 2023 AMJ/JJA tropical background was warmer, but Pacific rainfall did not strengthen synchronously</a:t>
            </a:r>
          </a:p>
        </p:txBody>
      </p:sp>
      <p:sp>
        <p:nvSpPr>
          <p:cNvPr id="4" name="矩形 3">
            <a:extLst>
              <a:ext uri="{FF2B5EF4-FFF2-40B4-BE49-F238E27FC236}">
                <a16:creationId xmlns:a16="http://schemas.microsoft.com/office/drawing/2014/main" id="{D85ECAF4-65BE-44A7-9C91-83F21E7AC4C3}"/>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2413451" y="1638300"/>
            <a:ext cx="6793598" cy="3619500"/>
          </a:xfrm>
          <a:prstGeom prst="rect">
            <a:avLst/>
          </a:prstGeom>
        </p:spPr>
      </p:pic>
      <p:sp>
        <p:nvSpPr>
          <p:cNvPr id="6" name="矩形 5">
            <a:extLst>
              <a:ext uri="{FF2B5EF4-FFF2-40B4-BE49-F238E27FC236}">
                <a16:creationId xmlns:a16="http://schemas.microsoft.com/office/drawing/2014/main" id="{B0B11523-4439-4BC5-AAD7-1B8BF4A47AF8}"/>
              </a:ext>
            </a:extLst>
          </p:cNvPr>
          <p:cNvSpPr>
            <a:spLocks noGrp="1"/>
          </p:cNvSpPr>
          <p:nvPr/>
        </p:nvSpPr>
        <p:spPr>
          <a:xfrm>
            <a:off x="666750" y="5410200"/>
            <a:ext cx="10287000" cy="838200"/>
          </a:xfrm>
          <a:prstGeom prst="rect">
            <a:avLst/>
          </a:prstGeom>
          <a:solidFill>
            <a:srgbClr val="FFFAF1"/>
          </a:solidFill>
          <a:ln w="7620">
            <a:solidFill>
              <a:srgbClr val="D8D1C4"/>
            </a:solidFill>
            <a:prstDash val="solid"/>
          </a:ln>
        </p:spPr>
        <p:txBody>
          <a:bodyPr/>
          <a:lstStyle/>
          <a:p>
            <a:endParaRPr lang="zh-CN" altLang="en-US"/>
          </a:p>
        </p:txBody>
      </p:sp>
      <p:sp>
        <p:nvSpPr>
          <p:cNvPr id="7" name="矩形 6">
            <a:extLst>
              <a:ext uri="{FF2B5EF4-FFF2-40B4-BE49-F238E27FC236}">
                <a16:creationId xmlns:a16="http://schemas.microsoft.com/office/drawing/2014/main" id="{1C1BA96F-6F4D-4879-B985-74543EC35D81}"/>
              </a:ext>
            </a:extLst>
          </p:cNvPr>
          <p:cNvSpPr>
            <a:spLocks noGrp="1"/>
          </p:cNvSpPr>
          <p:nvPr/>
        </p:nvSpPr>
        <p:spPr>
          <a:xfrm>
            <a:off x="781050" y="5486400"/>
            <a:ext cx="100584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dirty="0">
                <a:solidFill>
                  <a:srgbClr val="6E675D"/>
                </a:solidFill>
                <a:latin typeface="Aptos"/>
                <a:ea typeface="Aptos"/>
                <a:cs typeface="Aptos"/>
              </a:rPr>
              <a:t>Data note: How to read: SST maps show that 2023 spring-summer warming extended beyond the eastern Pacific into external basins and the warm pool; rainfall maps show that central/eastern Pacific convection did not intensify accordingly, motivating a threshold/background-state interpretation.</a:t>
            </a:r>
          </a:p>
        </p:txBody>
      </p:sp>
      <p:sp>
        <p:nvSpPr>
          <p:cNvPr id="8" name="矩形 7">
            <a:extLst>
              <a:ext uri="{FF2B5EF4-FFF2-40B4-BE49-F238E27FC236}">
                <a16:creationId xmlns:a16="http://schemas.microsoft.com/office/drawing/2014/main" id="{2C309BC6-8221-4836-81EC-970E44E5B5CE}"/>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D2 NOAA OISST; D3 GPCP. Summary table: stage_a_spatial_summary.csv.</a:t>
            </a:r>
          </a:p>
        </p:txBody>
      </p:sp>
      <p:sp>
        <p:nvSpPr>
          <p:cNvPr id="10" name="文本框 9">
            <a:extLst>
              <a:ext uri="{FF2B5EF4-FFF2-40B4-BE49-F238E27FC236}">
                <a16:creationId xmlns:a16="http://schemas.microsoft.com/office/drawing/2014/main" id="{7A11A2DA-57C2-DCFF-CC71-5CEC31FAD4C4}"/>
              </a:ext>
            </a:extLst>
          </p:cNvPr>
          <p:cNvSpPr txBox="1"/>
          <p:nvPr/>
        </p:nvSpPr>
        <p:spPr>
          <a:xfrm>
            <a:off x="304800" y="1638300"/>
            <a:ext cx="1995948" cy="3539430"/>
          </a:xfrm>
          <a:prstGeom prst="rect">
            <a:avLst/>
          </a:prstGeom>
          <a:noFill/>
        </p:spPr>
        <p:txBody>
          <a:bodyPr wrap="square" rtlCol="0">
            <a:spAutoFit/>
          </a:bodyPr>
          <a:lstStyle/>
          <a:p>
            <a:r>
              <a:rPr lang="en" altLang="zh-CN" sz="1400" b="0" dirty="0">
                <a:solidFill>
                  <a:srgbClr val="6E675D"/>
                </a:solidFill>
                <a:latin typeface="Aptos"/>
                <a:ea typeface="Aptos"/>
                <a:cs typeface="Aptos"/>
              </a:rPr>
              <a:t>OISST sea-surface temperature and GPCP precipitation; maps show 2023 AMJ/JJA minus the 1982/1997/2015 strong-event composite. TNA is Tropical North Atlantic, MC is Maritime Continent, and WPWP is western Pacific warm pool. These regions are warmer, while central/eastern Pacific rainfall is weaker.</a:t>
            </a:r>
            <a:endParaRPr kumimoji="1" lang="zh-CN" altLang="en-US" sz="1400" dirty="0"/>
          </a:p>
        </p:txBody>
      </p:sp>
    </p:spTree>
    <p:extLst>
      <p:ext uri="{BB962C8B-B14F-4D97-AF65-F5344CB8AC3E}">
        <p14:creationId xmlns:p14="http://schemas.microsoft.com/office/powerpoint/2010/main" val="913108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6C54144B-38F3-4AEA-AA60-845F302A9C28}"/>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05E6780E-2D4D-4255-96F8-D13884FBDBCA}"/>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Finding 3</a:t>
            </a:r>
          </a:p>
        </p:txBody>
      </p:sp>
      <p:sp>
        <p:nvSpPr>
          <p:cNvPr id="3" name="矩形 2">
            <a:extLst>
              <a:ext uri="{FF2B5EF4-FFF2-40B4-BE49-F238E27FC236}">
                <a16:creationId xmlns:a16="http://schemas.microsoft.com/office/drawing/2014/main" id="{59F85956-0CA3-4802-9908-76D93774D4AF}"/>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Spatial maps: low-level wind and sea-level pressure also show an atypical developing-season Walker response</a:t>
            </a:r>
          </a:p>
        </p:txBody>
      </p:sp>
      <p:sp>
        <p:nvSpPr>
          <p:cNvPr id="4" name="矩形 3">
            <a:extLst>
              <a:ext uri="{FF2B5EF4-FFF2-40B4-BE49-F238E27FC236}">
                <a16:creationId xmlns:a16="http://schemas.microsoft.com/office/drawing/2014/main" id="{6697B38C-6E09-4BD9-8A39-7A4EB2F4871C}"/>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2566405" y="1638300"/>
            <a:ext cx="6487691" cy="3619500"/>
          </a:xfrm>
          <a:prstGeom prst="rect">
            <a:avLst/>
          </a:prstGeom>
        </p:spPr>
      </p:pic>
      <p:sp>
        <p:nvSpPr>
          <p:cNvPr id="6" name="矩形 5">
            <a:extLst>
              <a:ext uri="{FF2B5EF4-FFF2-40B4-BE49-F238E27FC236}">
                <a16:creationId xmlns:a16="http://schemas.microsoft.com/office/drawing/2014/main" id="{FA3259D7-E0CE-47EC-8385-5D4E873EC71E}"/>
              </a:ext>
            </a:extLst>
          </p:cNvPr>
          <p:cNvSpPr>
            <a:spLocks noGrp="1"/>
          </p:cNvSpPr>
          <p:nvPr/>
        </p:nvSpPr>
        <p:spPr>
          <a:xfrm>
            <a:off x="666750" y="5410200"/>
            <a:ext cx="10287000" cy="838200"/>
          </a:xfrm>
          <a:prstGeom prst="rect">
            <a:avLst/>
          </a:prstGeom>
          <a:solidFill>
            <a:srgbClr val="FFFAF1"/>
          </a:solidFill>
          <a:ln w="7620">
            <a:solidFill>
              <a:srgbClr val="D8D1C4"/>
            </a:solidFill>
            <a:prstDash val="solid"/>
          </a:ln>
        </p:spPr>
        <p:txBody>
          <a:bodyPr/>
          <a:lstStyle/>
          <a:p>
            <a:endParaRPr lang="zh-CN" altLang="en-US"/>
          </a:p>
        </p:txBody>
      </p:sp>
      <p:sp>
        <p:nvSpPr>
          <p:cNvPr id="7" name="矩形 6">
            <a:extLst>
              <a:ext uri="{FF2B5EF4-FFF2-40B4-BE49-F238E27FC236}">
                <a16:creationId xmlns:a16="http://schemas.microsoft.com/office/drawing/2014/main" id="{47B73540-6C6C-4A8C-8C55-56AFB9FF1865}"/>
              </a:ext>
            </a:extLst>
          </p:cNvPr>
          <p:cNvSpPr>
            <a:spLocks noGrp="1"/>
          </p:cNvSpPr>
          <p:nvPr/>
        </p:nvSpPr>
        <p:spPr>
          <a:xfrm>
            <a:off x="781050" y="5486400"/>
            <a:ext cx="100584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a:solidFill>
                  <a:srgbClr val="6E675D"/>
                </a:solidFill>
                <a:latin typeface="Aptos"/>
                <a:ea typeface="Aptos"/>
                <a:cs typeface="Aptos"/>
              </a:rPr>
              <a:t>Data note: NCEP/NCAR R1 near-surface sigma995 wind and sea-level pressure SLP; maps show 2023 AMJ/JJA minus the 1982/1997/2015 composite. CWP means central-western Pacific. CWP low-level wind differences are -2.301 m/s in AMJ and -2.576 m/s in JJA; SOI-like SLP-gradient differences are positive. How to read: NCEP is still a fallback, but it already provides a clear clue: AMJ/JJA central-western Pacific low-level wind is weaker than in historical strong events, and the SLP gradient is not established in a canonical El Niño way.</a:t>
            </a:r>
          </a:p>
        </p:txBody>
      </p:sp>
      <p:sp>
        <p:nvSpPr>
          <p:cNvPr id="8" name="矩形 7">
            <a:extLst>
              <a:ext uri="{FF2B5EF4-FFF2-40B4-BE49-F238E27FC236}">
                <a16:creationId xmlns:a16="http://schemas.microsoft.com/office/drawing/2014/main" id="{CF6286B8-5160-47FD-9883-CBFE0E5891B2}"/>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D4 NCEP/NCAR R1 fallback diagnostic. Final manuscript stage should replace/check with ERA5.</a:t>
            </a:r>
          </a:p>
        </p:txBody>
      </p:sp>
    </p:spTree>
    <p:extLst>
      <p:ext uri="{BB962C8B-B14F-4D97-AF65-F5344CB8AC3E}">
        <p14:creationId xmlns:p14="http://schemas.microsoft.com/office/powerpoint/2010/main" val="880322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a:extLst>
              <a:ext uri="{FF2B5EF4-FFF2-40B4-BE49-F238E27FC236}">
                <a16:creationId xmlns:a16="http://schemas.microsoft.com/office/drawing/2014/main" id="{581B2070-1718-4DDA-BE52-50782F1D0F8A}"/>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E4D4FC6C-28F6-4BFE-A5A3-014C0E307F76}"/>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Finding 4</a:t>
            </a:r>
          </a:p>
        </p:txBody>
      </p:sp>
      <p:sp>
        <p:nvSpPr>
          <p:cNvPr id="3" name="矩形 2">
            <a:extLst>
              <a:ext uri="{FF2B5EF4-FFF2-40B4-BE49-F238E27FC236}">
                <a16:creationId xmlns:a16="http://schemas.microsoft.com/office/drawing/2014/main" id="{CA81DED4-E7A9-48D1-86F9-9AE9B7F856CE}"/>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External-basin warmth provides a background-state clue for developing-season asynchrony</a:t>
            </a:r>
          </a:p>
        </p:txBody>
      </p:sp>
      <p:sp>
        <p:nvSpPr>
          <p:cNvPr id="4" name="矩形 3">
            <a:extLst>
              <a:ext uri="{FF2B5EF4-FFF2-40B4-BE49-F238E27FC236}">
                <a16:creationId xmlns:a16="http://schemas.microsoft.com/office/drawing/2014/main" id="{6B535B31-CDCB-4A86-B299-BD1813819CAE}"/>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pic>
        <p:nvPicPr>
          <p:cNvPr id="5" name="图片 4"/>
          <p:cNvPicPr>
            <a:picLocks noChangeAspect="1"/>
          </p:cNvPicPr>
          <p:nvPr/>
        </p:nvPicPr>
        <p:blipFill>
          <a:blip r:embed="rId3"/>
          <a:stretch/>
        </p:blipFill>
        <p:spPr>
          <a:xfrm>
            <a:off x="666750" y="2159440"/>
            <a:ext cx="3733800" cy="1986671"/>
          </a:xfrm>
          <a:prstGeom prst="rect">
            <a:avLst/>
          </a:prstGeom>
        </p:spPr>
      </p:pic>
      <p:pic>
        <p:nvPicPr>
          <p:cNvPr id="6" name="图片 5"/>
          <p:cNvPicPr>
            <a:picLocks noChangeAspect="1"/>
          </p:cNvPicPr>
          <p:nvPr/>
        </p:nvPicPr>
        <p:blipFill>
          <a:blip r:embed="rId4"/>
          <a:stretch/>
        </p:blipFill>
        <p:spPr>
          <a:xfrm>
            <a:off x="4572000" y="2372310"/>
            <a:ext cx="3733800" cy="1560930"/>
          </a:xfrm>
          <a:prstGeom prst="rect">
            <a:avLst/>
          </a:prstGeom>
        </p:spPr>
      </p:pic>
      <p:sp>
        <p:nvSpPr>
          <p:cNvPr id="7" name="矩形 6">
            <a:extLst>
              <a:ext uri="{FF2B5EF4-FFF2-40B4-BE49-F238E27FC236}">
                <a16:creationId xmlns:a16="http://schemas.microsoft.com/office/drawing/2014/main" id="{348DC48D-D908-471F-9FAC-A8CBDBBE575D}"/>
              </a:ext>
            </a:extLst>
          </p:cNvPr>
          <p:cNvSpPr>
            <a:spLocks noGrp="1"/>
          </p:cNvSpPr>
          <p:nvPr/>
        </p:nvSpPr>
        <p:spPr>
          <a:xfrm>
            <a:off x="8382000" y="1943100"/>
            <a:ext cx="1562100" cy="400050"/>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33914921-DC09-43E0-B89E-1BE3E24453CC}"/>
              </a:ext>
            </a:extLst>
          </p:cNvPr>
          <p:cNvSpPr>
            <a:spLocks noGrp="1"/>
          </p:cNvSpPr>
          <p:nvPr/>
        </p:nvSpPr>
        <p:spPr>
          <a:xfrm>
            <a:off x="8458200" y="2009775"/>
            <a:ext cx="1409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Region / metric</a:t>
            </a:r>
          </a:p>
        </p:txBody>
      </p:sp>
      <p:sp>
        <p:nvSpPr>
          <p:cNvPr id="9" name="矩形 8">
            <a:extLst>
              <a:ext uri="{FF2B5EF4-FFF2-40B4-BE49-F238E27FC236}">
                <a16:creationId xmlns:a16="http://schemas.microsoft.com/office/drawing/2014/main" id="{262ED030-B8A6-4349-A184-AA0E82B9391A}"/>
              </a:ext>
            </a:extLst>
          </p:cNvPr>
          <p:cNvSpPr>
            <a:spLocks noGrp="1"/>
          </p:cNvSpPr>
          <p:nvPr/>
        </p:nvSpPr>
        <p:spPr>
          <a:xfrm>
            <a:off x="9944100" y="1943100"/>
            <a:ext cx="666750" cy="400050"/>
          </a:xfrm>
          <a:prstGeom prst="rect">
            <a:avLst/>
          </a:prstGeom>
          <a:solidFill>
            <a:srgbClr val="1D1B18"/>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37CBAD29-9000-4186-8BB3-75459B570416}"/>
              </a:ext>
            </a:extLst>
          </p:cNvPr>
          <p:cNvSpPr>
            <a:spLocks noGrp="1"/>
          </p:cNvSpPr>
          <p:nvPr/>
        </p:nvSpPr>
        <p:spPr>
          <a:xfrm>
            <a:off x="10020300" y="20097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AMJ</a:t>
            </a:r>
          </a:p>
        </p:txBody>
      </p:sp>
      <p:sp>
        <p:nvSpPr>
          <p:cNvPr id="11" name="矩形 10">
            <a:extLst>
              <a:ext uri="{FF2B5EF4-FFF2-40B4-BE49-F238E27FC236}">
                <a16:creationId xmlns:a16="http://schemas.microsoft.com/office/drawing/2014/main" id="{D9A41F33-EC81-4BD1-B90C-72A886450EA4}"/>
              </a:ext>
            </a:extLst>
          </p:cNvPr>
          <p:cNvSpPr>
            <a:spLocks noGrp="1"/>
          </p:cNvSpPr>
          <p:nvPr/>
        </p:nvSpPr>
        <p:spPr>
          <a:xfrm>
            <a:off x="10610850" y="1943100"/>
            <a:ext cx="666750" cy="400050"/>
          </a:xfrm>
          <a:prstGeom prst="rect">
            <a:avLst/>
          </a:prstGeom>
          <a:solidFill>
            <a:srgbClr val="1D1B18"/>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A46EE0CB-13AE-4801-8E38-D51DB93A6DC8}"/>
              </a:ext>
            </a:extLst>
          </p:cNvPr>
          <p:cNvSpPr>
            <a:spLocks noGrp="1"/>
          </p:cNvSpPr>
          <p:nvPr/>
        </p:nvSpPr>
        <p:spPr>
          <a:xfrm>
            <a:off x="10687050" y="20097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JJA</a:t>
            </a:r>
          </a:p>
        </p:txBody>
      </p:sp>
      <p:sp>
        <p:nvSpPr>
          <p:cNvPr id="13" name="矩形 12">
            <a:extLst>
              <a:ext uri="{FF2B5EF4-FFF2-40B4-BE49-F238E27FC236}">
                <a16:creationId xmlns:a16="http://schemas.microsoft.com/office/drawing/2014/main" id="{10893090-21AF-4D09-AC72-A26E2DFAD422}"/>
              </a:ext>
            </a:extLst>
          </p:cNvPr>
          <p:cNvSpPr>
            <a:spLocks noGrp="1"/>
          </p:cNvSpPr>
          <p:nvPr/>
        </p:nvSpPr>
        <p:spPr>
          <a:xfrm>
            <a:off x="8382000" y="2343150"/>
            <a:ext cx="1562100" cy="400050"/>
          </a:xfrm>
          <a:prstGeom prst="rect">
            <a:avLst/>
          </a:prstGeom>
          <a:solidFill>
            <a:srgbClr val="FBF8F1"/>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F03593A0-15E2-4FB5-9892-884898B2C839}"/>
              </a:ext>
            </a:extLst>
          </p:cNvPr>
          <p:cNvSpPr>
            <a:spLocks noGrp="1"/>
          </p:cNvSpPr>
          <p:nvPr/>
        </p:nvSpPr>
        <p:spPr>
          <a:xfrm>
            <a:off x="8458200" y="2409825"/>
            <a:ext cx="1409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Tropical N. Atlantic TNA</a:t>
            </a:r>
          </a:p>
        </p:txBody>
      </p:sp>
      <p:sp>
        <p:nvSpPr>
          <p:cNvPr id="15" name="矩形 14">
            <a:extLst>
              <a:ext uri="{FF2B5EF4-FFF2-40B4-BE49-F238E27FC236}">
                <a16:creationId xmlns:a16="http://schemas.microsoft.com/office/drawing/2014/main" id="{358775AB-14A2-44C7-8629-D7D216BC7D7A}"/>
              </a:ext>
            </a:extLst>
          </p:cNvPr>
          <p:cNvSpPr>
            <a:spLocks noGrp="1"/>
          </p:cNvSpPr>
          <p:nvPr/>
        </p:nvSpPr>
        <p:spPr>
          <a:xfrm>
            <a:off x="9944100" y="2343150"/>
            <a:ext cx="666750" cy="400050"/>
          </a:xfrm>
          <a:prstGeom prst="rect">
            <a:avLst/>
          </a:prstGeom>
          <a:solidFill>
            <a:srgbClr val="FBF8F1"/>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DF4899FC-8947-4F46-B91B-1DC359F873C7}"/>
              </a:ext>
            </a:extLst>
          </p:cNvPr>
          <p:cNvSpPr>
            <a:spLocks noGrp="1"/>
          </p:cNvSpPr>
          <p:nvPr/>
        </p:nvSpPr>
        <p:spPr>
          <a:xfrm>
            <a:off x="10020300" y="240982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+1.11</a:t>
            </a:r>
          </a:p>
        </p:txBody>
      </p:sp>
      <p:sp>
        <p:nvSpPr>
          <p:cNvPr id="17" name="矩形 16">
            <a:extLst>
              <a:ext uri="{FF2B5EF4-FFF2-40B4-BE49-F238E27FC236}">
                <a16:creationId xmlns:a16="http://schemas.microsoft.com/office/drawing/2014/main" id="{0BE0FC53-4E97-4AFB-B4B3-9B96CFF14D24}"/>
              </a:ext>
            </a:extLst>
          </p:cNvPr>
          <p:cNvSpPr>
            <a:spLocks noGrp="1"/>
          </p:cNvSpPr>
          <p:nvPr/>
        </p:nvSpPr>
        <p:spPr>
          <a:xfrm>
            <a:off x="10610850" y="2343150"/>
            <a:ext cx="666750" cy="400050"/>
          </a:xfrm>
          <a:prstGeom prst="rect">
            <a:avLst/>
          </a:prstGeom>
          <a:solidFill>
            <a:srgbClr val="FBF8F1"/>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875A188C-7BF5-4771-856C-1446C425B344}"/>
              </a:ext>
            </a:extLst>
          </p:cNvPr>
          <p:cNvSpPr>
            <a:spLocks noGrp="1"/>
          </p:cNvSpPr>
          <p:nvPr/>
        </p:nvSpPr>
        <p:spPr>
          <a:xfrm>
            <a:off x="10687050" y="240982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+1.35</a:t>
            </a:r>
          </a:p>
        </p:txBody>
      </p:sp>
      <p:sp>
        <p:nvSpPr>
          <p:cNvPr id="19" name="矩形 18">
            <a:extLst>
              <a:ext uri="{FF2B5EF4-FFF2-40B4-BE49-F238E27FC236}">
                <a16:creationId xmlns:a16="http://schemas.microsoft.com/office/drawing/2014/main" id="{EFF2824B-38E4-48F1-B1BE-A90C4888E9A6}"/>
              </a:ext>
            </a:extLst>
          </p:cNvPr>
          <p:cNvSpPr>
            <a:spLocks noGrp="1"/>
          </p:cNvSpPr>
          <p:nvPr/>
        </p:nvSpPr>
        <p:spPr>
          <a:xfrm>
            <a:off x="8382000" y="2743200"/>
            <a:ext cx="1562100" cy="400050"/>
          </a:xfrm>
          <a:prstGeom prst="rect">
            <a:avLst/>
          </a:prstGeom>
          <a:solidFill>
            <a:srgbClr val="F3EDE2"/>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F9257211-6C32-46DB-A7CF-0690CF63602D}"/>
              </a:ext>
            </a:extLst>
          </p:cNvPr>
          <p:cNvSpPr>
            <a:spLocks noGrp="1"/>
          </p:cNvSpPr>
          <p:nvPr/>
        </p:nvSpPr>
        <p:spPr>
          <a:xfrm>
            <a:off x="8458200" y="2809875"/>
            <a:ext cx="1409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W. Pacific warm pool WPWP</a:t>
            </a:r>
          </a:p>
        </p:txBody>
      </p:sp>
      <p:sp>
        <p:nvSpPr>
          <p:cNvPr id="21" name="矩形 20">
            <a:extLst>
              <a:ext uri="{FF2B5EF4-FFF2-40B4-BE49-F238E27FC236}">
                <a16:creationId xmlns:a16="http://schemas.microsoft.com/office/drawing/2014/main" id="{A7E60425-C7FD-4921-B46A-34912B5B55F0}"/>
              </a:ext>
            </a:extLst>
          </p:cNvPr>
          <p:cNvSpPr>
            <a:spLocks noGrp="1"/>
          </p:cNvSpPr>
          <p:nvPr/>
        </p:nvSpPr>
        <p:spPr>
          <a:xfrm>
            <a:off x="9944100" y="2743200"/>
            <a:ext cx="666750" cy="400050"/>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EAF96180-F387-4961-BB4C-0C9BE97991F8}"/>
              </a:ext>
            </a:extLst>
          </p:cNvPr>
          <p:cNvSpPr>
            <a:spLocks noGrp="1"/>
          </p:cNvSpPr>
          <p:nvPr/>
        </p:nvSpPr>
        <p:spPr>
          <a:xfrm>
            <a:off x="10020300" y="28098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+0.73</a:t>
            </a:r>
          </a:p>
        </p:txBody>
      </p:sp>
      <p:sp>
        <p:nvSpPr>
          <p:cNvPr id="23" name="矩形 22">
            <a:extLst>
              <a:ext uri="{FF2B5EF4-FFF2-40B4-BE49-F238E27FC236}">
                <a16:creationId xmlns:a16="http://schemas.microsoft.com/office/drawing/2014/main" id="{091F1ACE-E8CF-4190-9C22-8E3AB2AE7E4C}"/>
              </a:ext>
            </a:extLst>
          </p:cNvPr>
          <p:cNvSpPr>
            <a:spLocks noGrp="1"/>
          </p:cNvSpPr>
          <p:nvPr/>
        </p:nvSpPr>
        <p:spPr>
          <a:xfrm>
            <a:off x="10610850" y="2743200"/>
            <a:ext cx="666750" cy="400050"/>
          </a:xfrm>
          <a:prstGeom prst="rect">
            <a:avLst/>
          </a:prstGeom>
          <a:solidFill>
            <a:srgbClr val="F3EDE2"/>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95717378-11A5-47A6-B808-4CA2CDA8B710}"/>
              </a:ext>
            </a:extLst>
          </p:cNvPr>
          <p:cNvSpPr>
            <a:spLocks noGrp="1"/>
          </p:cNvSpPr>
          <p:nvPr/>
        </p:nvSpPr>
        <p:spPr>
          <a:xfrm>
            <a:off x="10687050" y="28098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+0.88</a:t>
            </a:r>
          </a:p>
        </p:txBody>
      </p:sp>
      <p:sp>
        <p:nvSpPr>
          <p:cNvPr id="25" name="矩形 24">
            <a:extLst>
              <a:ext uri="{FF2B5EF4-FFF2-40B4-BE49-F238E27FC236}">
                <a16:creationId xmlns:a16="http://schemas.microsoft.com/office/drawing/2014/main" id="{7690A2EE-266D-4FE3-9F28-4FB910051AE9}"/>
              </a:ext>
            </a:extLst>
          </p:cNvPr>
          <p:cNvSpPr>
            <a:spLocks noGrp="1"/>
          </p:cNvSpPr>
          <p:nvPr/>
        </p:nvSpPr>
        <p:spPr>
          <a:xfrm>
            <a:off x="8382000" y="3143250"/>
            <a:ext cx="1562100" cy="400050"/>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BECFB13A-3B7C-46AC-9870-6D9B44BB5708}"/>
              </a:ext>
            </a:extLst>
          </p:cNvPr>
          <p:cNvSpPr>
            <a:spLocks noGrp="1"/>
          </p:cNvSpPr>
          <p:nvPr/>
        </p:nvSpPr>
        <p:spPr>
          <a:xfrm>
            <a:off x="8458200" y="3209925"/>
            <a:ext cx="1409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Maritime Continent MC</a:t>
            </a:r>
          </a:p>
        </p:txBody>
      </p:sp>
      <p:sp>
        <p:nvSpPr>
          <p:cNvPr id="27" name="矩形 26">
            <a:extLst>
              <a:ext uri="{FF2B5EF4-FFF2-40B4-BE49-F238E27FC236}">
                <a16:creationId xmlns:a16="http://schemas.microsoft.com/office/drawing/2014/main" id="{141F6D9D-BE3A-40B2-8D16-9C2BFF5DC7C7}"/>
              </a:ext>
            </a:extLst>
          </p:cNvPr>
          <p:cNvSpPr>
            <a:spLocks noGrp="1"/>
          </p:cNvSpPr>
          <p:nvPr/>
        </p:nvSpPr>
        <p:spPr>
          <a:xfrm>
            <a:off x="9944100" y="3143250"/>
            <a:ext cx="666750" cy="400050"/>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E64B7E16-6C4A-4DF0-8CCC-9474AF5C4345}"/>
              </a:ext>
            </a:extLst>
          </p:cNvPr>
          <p:cNvSpPr>
            <a:spLocks noGrp="1"/>
          </p:cNvSpPr>
          <p:nvPr/>
        </p:nvSpPr>
        <p:spPr>
          <a:xfrm>
            <a:off x="10020300" y="320992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+0.55</a:t>
            </a:r>
          </a:p>
        </p:txBody>
      </p:sp>
      <p:sp>
        <p:nvSpPr>
          <p:cNvPr id="29" name="矩形 28">
            <a:extLst>
              <a:ext uri="{FF2B5EF4-FFF2-40B4-BE49-F238E27FC236}">
                <a16:creationId xmlns:a16="http://schemas.microsoft.com/office/drawing/2014/main" id="{4F1F3A5E-72ED-4DFB-A6CB-B5560EBAB81F}"/>
              </a:ext>
            </a:extLst>
          </p:cNvPr>
          <p:cNvSpPr>
            <a:spLocks noGrp="1"/>
          </p:cNvSpPr>
          <p:nvPr/>
        </p:nvSpPr>
        <p:spPr>
          <a:xfrm>
            <a:off x="10610850" y="3143250"/>
            <a:ext cx="666750" cy="400050"/>
          </a:xfrm>
          <a:prstGeom prst="rect">
            <a:avLst/>
          </a:prstGeom>
          <a:solidFill>
            <a:srgbClr val="FBF8F1"/>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73FC381B-C481-45A3-95D0-F5BE85902695}"/>
              </a:ext>
            </a:extLst>
          </p:cNvPr>
          <p:cNvSpPr>
            <a:spLocks noGrp="1"/>
          </p:cNvSpPr>
          <p:nvPr/>
        </p:nvSpPr>
        <p:spPr>
          <a:xfrm>
            <a:off x="10687050" y="320992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+0.68</a:t>
            </a:r>
          </a:p>
        </p:txBody>
      </p:sp>
      <p:sp>
        <p:nvSpPr>
          <p:cNvPr id="31" name="矩形 30">
            <a:extLst>
              <a:ext uri="{FF2B5EF4-FFF2-40B4-BE49-F238E27FC236}">
                <a16:creationId xmlns:a16="http://schemas.microsoft.com/office/drawing/2014/main" id="{79091ECA-D709-4018-98E0-459BEE7B9E65}"/>
              </a:ext>
            </a:extLst>
          </p:cNvPr>
          <p:cNvSpPr>
            <a:spLocks noGrp="1"/>
          </p:cNvSpPr>
          <p:nvPr/>
        </p:nvSpPr>
        <p:spPr>
          <a:xfrm>
            <a:off x="8382000" y="3543300"/>
            <a:ext cx="1562100" cy="400050"/>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C40BE304-A27C-4FE1-AE82-0168D3939EE6}"/>
              </a:ext>
            </a:extLst>
          </p:cNvPr>
          <p:cNvSpPr>
            <a:spLocks noGrp="1"/>
          </p:cNvSpPr>
          <p:nvPr/>
        </p:nvSpPr>
        <p:spPr>
          <a:xfrm>
            <a:off x="8458200" y="3609975"/>
            <a:ext cx="1409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Tropical Indian Ocean TIO</a:t>
            </a:r>
          </a:p>
        </p:txBody>
      </p:sp>
      <p:sp>
        <p:nvSpPr>
          <p:cNvPr id="33" name="矩形 32">
            <a:extLst>
              <a:ext uri="{FF2B5EF4-FFF2-40B4-BE49-F238E27FC236}">
                <a16:creationId xmlns:a16="http://schemas.microsoft.com/office/drawing/2014/main" id="{E684E88D-7BAE-4BA4-BDF6-55E2FD4B906E}"/>
              </a:ext>
            </a:extLst>
          </p:cNvPr>
          <p:cNvSpPr>
            <a:spLocks noGrp="1"/>
          </p:cNvSpPr>
          <p:nvPr/>
        </p:nvSpPr>
        <p:spPr>
          <a:xfrm>
            <a:off x="9944100" y="3543300"/>
            <a:ext cx="666750" cy="400050"/>
          </a:xfrm>
          <a:prstGeom prst="rect">
            <a:avLst/>
          </a:prstGeom>
          <a:solidFill>
            <a:srgbClr val="F3EDE2"/>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17936108-7DB8-423F-9C33-D8149C7CDA4A}"/>
              </a:ext>
            </a:extLst>
          </p:cNvPr>
          <p:cNvSpPr>
            <a:spLocks noGrp="1"/>
          </p:cNvSpPr>
          <p:nvPr/>
        </p:nvSpPr>
        <p:spPr>
          <a:xfrm>
            <a:off x="10020300" y="36099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+0.44</a:t>
            </a:r>
          </a:p>
        </p:txBody>
      </p:sp>
      <p:sp>
        <p:nvSpPr>
          <p:cNvPr id="35" name="矩形 34">
            <a:extLst>
              <a:ext uri="{FF2B5EF4-FFF2-40B4-BE49-F238E27FC236}">
                <a16:creationId xmlns:a16="http://schemas.microsoft.com/office/drawing/2014/main" id="{9A767C07-7362-4FF0-8160-7B84B99D764E}"/>
              </a:ext>
            </a:extLst>
          </p:cNvPr>
          <p:cNvSpPr>
            <a:spLocks noGrp="1"/>
          </p:cNvSpPr>
          <p:nvPr/>
        </p:nvSpPr>
        <p:spPr>
          <a:xfrm>
            <a:off x="10610850" y="3543300"/>
            <a:ext cx="666750" cy="400050"/>
          </a:xfrm>
          <a:prstGeom prst="rect">
            <a:avLst/>
          </a:prstGeom>
          <a:solidFill>
            <a:srgbClr val="F3EDE2"/>
          </a:solidFill>
          <a:ln w="6668">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F6E0E366-3685-4690-AF3A-338251B656F4}"/>
              </a:ext>
            </a:extLst>
          </p:cNvPr>
          <p:cNvSpPr>
            <a:spLocks noGrp="1"/>
          </p:cNvSpPr>
          <p:nvPr/>
        </p:nvSpPr>
        <p:spPr>
          <a:xfrm>
            <a:off x="10687050" y="3609975"/>
            <a:ext cx="514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1D1B18"/>
                </a:solidFill>
                <a:latin typeface="Aptos"/>
                <a:ea typeface="Aptos"/>
                <a:cs typeface="Aptos"/>
              </a:defRPr>
            </a:pPr>
            <a:r>
              <a:rPr sz="840" b="0">
                <a:solidFill>
                  <a:srgbClr val="1D1B18"/>
                </a:solidFill>
                <a:latin typeface="Aptos"/>
                <a:ea typeface="Aptos"/>
                <a:cs typeface="Aptos"/>
              </a:rPr>
              <a:t>+0.40</a:t>
            </a:r>
          </a:p>
        </p:txBody>
      </p:sp>
      <p:sp>
        <p:nvSpPr>
          <p:cNvPr id="37" name="矩形 36">
            <a:extLst>
              <a:ext uri="{FF2B5EF4-FFF2-40B4-BE49-F238E27FC236}">
                <a16:creationId xmlns:a16="http://schemas.microsoft.com/office/drawing/2014/main" id="{5D1E7440-2CF0-4902-9160-86258B311F10}"/>
              </a:ext>
            </a:extLst>
          </p:cNvPr>
          <p:cNvSpPr>
            <a:spLocks noGrp="1"/>
          </p:cNvSpPr>
          <p:nvPr/>
        </p:nvSpPr>
        <p:spPr>
          <a:xfrm>
            <a:off x="685800" y="5410200"/>
            <a:ext cx="10287000" cy="838200"/>
          </a:xfrm>
          <a:prstGeom prst="rect">
            <a:avLst/>
          </a:prstGeom>
          <a:solidFill>
            <a:srgbClr val="FFFAF1"/>
          </a:solidFill>
          <a:ln w="7620">
            <a:solidFill>
              <a:srgbClr val="D8D1C4"/>
            </a:solidFill>
            <a:prstDash val="solid"/>
          </a:ln>
        </p:spPr>
        <p:txBody>
          <a:bodyPr/>
          <a:lstStyle/>
          <a:p>
            <a:endParaRPr lang="zh-CN" altLang="en-US"/>
          </a:p>
        </p:txBody>
      </p:sp>
      <p:sp>
        <p:nvSpPr>
          <p:cNvPr id="38" name="矩形 37">
            <a:extLst>
              <a:ext uri="{FF2B5EF4-FFF2-40B4-BE49-F238E27FC236}">
                <a16:creationId xmlns:a16="http://schemas.microsoft.com/office/drawing/2014/main" id="{4AE2246B-0109-42CD-8452-50F85D219C22}"/>
              </a:ext>
            </a:extLst>
          </p:cNvPr>
          <p:cNvSpPr>
            <a:spLocks noGrp="1"/>
          </p:cNvSpPr>
          <p:nvPr/>
        </p:nvSpPr>
        <p:spPr>
          <a:xfrm>
            <a:off x="800100" y="5486400"/>
            <a:ext cx="1005840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a:solidFill>
                  <a:srgbClr val="6E675D"/>
                </a:solidFill>
                <a:latin typeface="Aptos"/>
                <a:ea typeface="Aptos"/>
                <a:cs typeface="Aptos"/>
              </a:rPr>
              <a:t>Data note: left chart uses OISST external-basin indices; right chart uses seasonal coupling efficiency. Both compare 2023 with the 1982/83, 1997/98, and 2015/16 strong-event composite. How to read: the left chart shows unusual spring-summer external-basin warmth, and the right chart shows low coupling efficiency. The next step is to test whether this is causal modulation or a shared background using ERA5/OLR/AGCM evidence.</a:t>
            </a:r>
          </a:p>
        </p:txBody>
      </p:sp>
      <p:sp>
        <p:nvSpPr>
          <p:cNvPr id="39" name="矩形 38">
            <a:extLst>
              <a:ext uri="{FF2B5EF4-FFF2-40B4-BE49-F238E27FC236}">
                <a16:creationId xmlns:a16="http://schemas.microsoft.com/office/drawing/2014/main" id="{0024B122-3FF9-4319-B5EB-E168CC796ECB}"/>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Tables: external_basin_seasonal_summary.csv; asynchronous_coupling_by_season.png.</a:t>
            </a:r>
          </a:p>
        </p:txBody>
      </p:sp>
    </p:spTree>
    <p:extLst>
      <p:ext uri="{BB962C8B-B14F-4D97-AF65-F5344CB8AC3E}">
        <p14:creationId xmlns:p14="http://schemas.microsoft.com/office/powerpoint/2010/main" val="1612526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矩形 43">
            <a:extLst>
              <a:ext uri="{FF2B5EF4-FFF2-40B4-BE49-F238E27FC236}">
                <a16:creationId xmlns:a16="http://schemas.microsoft.com/office/drawing/2014/main" id="{61D525C9-5B1A-4400-9404-C0A1B78C7E3B}"/>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F195FE23-D82F-410B-87E2-0E8E7795F297}"/>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Research Distinction</a:t>
            </a:r>
          </a:p>
        </p:txBody>
      </p:sp>
      <p:sp>
        <p:nvSpPr>
          <p:cNvPr id="3" name="矩形 2">
            <a:extLst>
              <a:ext uri="{FF2B5EF4-FFF2-40B4-BE49-F238E27FC236}">
                <a16:creationId xmlns:a16="http://schemas.microsoft.com/office/drawing/2014/main" id="{96BE06C9-5832-4181-941C-4AE97866669F}"/>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Related studies emphasize individual mechanisms or months; this project targets multi-variable seasonal coupling efficiency</a:t>
            </a:r>
          </a:p>
        </p:txBody>
      </p:sp>
      <p:sp>
        <p:nvSpPr>
          <p:cNvPr id="4" name="矩形 3">
            <a:extLst>
              <a:ext uri="{FF2B5EF4-FFF2-40B4-BE49-F238E27FC236}">
                <a16:creationId xmlns:a16="http://schemas.microsoft.com/office/drawing/2014/main" id="{F79DBBBA-91AA-4226-B681-244F997740F2}"/>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892B8E19-028C-48B6-9717-43739765EE3F}"/>
              </a:ext>
            </a:extLst>
          </p:cNvPr>
          <p:cNvSpPr>
            <a:spLocks noGrp="1"/>
          </p:cNvSpPr>
          <p:nvPr/>
        </p:nvSpPr>
        <p:spPr>
          <a:xfrm>
            <a:off x="685800" y="1809750"/>
            <a:ext cx="1809750" cy="514350"/>
          </a:xfrm>
          <a:prstGeom prst="rect">
            <a:avLst/>
          </a:prstGeom>
          <a:solidFill>
            <a:srgbClr val="1D1B18"/>
          </a:solidFill>
          <a:ln w="6668">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B4EBBC5D-859C-448A-8C55-2125EC0F14BE}"/>
              </a:ext>
            </a:extLst>
          </p:cNvPr>
          <p:cNvSpPr>
            <a:spLocks noGrp="1"/>
          </p:cNvSpPr>
          <p:nvPr/>
        </p:nvSpPr>
        <p:spPr>
          <a:xfrm>
            <a:off x="762000" y="18764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Study</a:t>
            </a:r>
          </a:p>
        </p:txBody>
      </p:sp>
      <p:sp>
        <p:nvSpPr>
          <p:cNvPr id="7" name="矩形 6">
            <a:extLst>
              <a:ext uri="{FF2B5EF4-FFF2-40B4-BE49-F238E27FC236}">
                <a16:creationId xmlns:a16="http://schemas.microsoft.com/office/drawing/2014/main" id="{9CC4AE40-E50D-48E2-91A8-EECC626B174E}"/>
              </a:ext>
            </a:extLst>
          </p:cNvPr>
          <p:cNvSpPr>
            <a:spLocks noGrp="1"/>
          </p:cNvSpPr>
          <p:nvPr/>
        </p:nvSpPr>
        <p:spPr>
          <a:xfrm>
            <a:off x="2495550" y="1809750"/>
            <a:ext cx="3857625" cy="514350"/>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5B974A56-202B-4CC4-B7EA-77B5F02C0F60}"/>
              </a:ext>
            </a:extLst>
          </p:cNvPr>
          <p:cNvSpPr>
            <a:spLocks noGrp="1"/>
          </p:cNvSpPr>
          <p:nvPr/>
        </p:nvSpPr>
        <p:spPr>
          <a:xfrm>
            <a:off x="2571750" y="18764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Existing focus</a:t>
            </a:r>
          </a:p>
        </p:txBody>
      </p:sp>
      <p:sp>
        <p:nvSpPr>
          <p:cNvPr id="9" name="矩形 8">
            <a:extLst>
              <a:ext uri="{FF2B5EF4-FFF2-40B4-BE49-F238E27FC236}">
                <a16:creationId xmlns:a16="http://schemas.microsoft.com/office/drawing/2014/main" id="{5CDA064B-DFE8-4301-8BAF-B713BBAA4AC0}"/>
              </a:ext>
            </a:extLst>
          </p:cNvPr>
          <p:cNvSpPr>
            <a:spLocks noGrp="1"/>
          </p:cNvSpPr>
          <p:nvPr/>
        </p:nvSpPr>
        <p:spPr>
          <a:xfrm>
            <a:off x="6353175" y="1809750"/>
            <a:ext cx="4695825" cy="514350"/>
          </a:xfrm>
          <a:prstGeom prst="rect">
            <a:avLst/>
          </a:prstGeom>
          <a:solidFill>
            <a:srgbClr val="1D1B18"/>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0A9762EB-2231-4325-97A1-C0141035912A}"/>
              </a:ext>
            </a:extLst>
          </p:cNvPr>
          <p:cNvSpPr>
            <a:spLocks noGrp="1"/>
          </p:cNvSpPr>
          <p:nvPr/>
        </p:nvSpPr>
        <p:spPr>
          <a:xfrm>
            <a:off x="6429375" y="18764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How this project differs</a:t>
            </a:r>
          </a:p>
        </p:txBody>
      </p:sp>
      <p:sp>
        <p:nvSpPr>
          <p:cNvPr id="11" name="矩形 10">
            <a:extLst>
              <a:ext uri="{FF2B5EF4-FFF2-40B4-BE49-F238E27FC236}">
                <a16:creationId xmlns:a16="http://schemas.microsoft.com/office/drawing/2014/main" id="{1E9476FD-6C6C-44F1-8B7E-27B7A285FC80}"/>
              </a:ext>
            </a:extLst>
          </p:cNvPr>
          <p:cNvSpPr>
            <a:spLocks noGrp="1"/>
          </p:cNvSpPr>
          <p:nvPr/>
        </p:nvSpPr>
        <p:spPr>
          <a:xfrm>
            <a:off x="685800" y="2324100"/>
            <a:ext cx="1809750" cy="514350"/>
          </a:xfrm>
          <a:prstGeom prst="rect">
            <a:avLst/>
          </a:prstGeom>
          <a:solidFill>
            <a:srgbClr val="FBF8F1"/>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1B97EFD0-AFD6-47F7-9034-0D3AEB97B302}"/>
              </a:ext>
            </a:extLst>
          </p:cNvPr>
          <p:cNvSpPr>
            <a:spLocks noGrp="1"/>
          </p:cNvSpPr>
          <p:nvPr/>
        </p:nvSpPr>
        <p:spPr>
          <a:xfrm>
            <a:off x="762000" y="239077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Peng et al. 2025</a:t>
            </a:r>
          </a:p>
        </p:txBody>
      </p:sp>
      <p:sp>
        <p:nvSpPr>
          <p:cNvPr id="13" name="矩形 12">
            <a:extLst>
              <a:ext uri="{FF2B5EF4-FFF2-40B4-BE49-F238E27FC236}">
                <a16:creationId xmlns:a16="http://schemas.microsoft.com/office/drawing/2014/main" id="{151A1667-B2C7-4B86-B882-7869857C956C}"/>
              </a:ext>
            </a:extLst>
          </p:cNvPr>
          <p:cNvSpPr>
            <a:spLocks noGrp="1"/>
          </p:cNvSpPr>
          <p:nvPr/>
        </p:nvSpPr>
        <p:spPr>
          <a:xfrm>
            <a:off x="2495550" y="2324100"/>
            <a:ext cx="3857625" cy="514350"/>
          </a:xfrm>
          <a:prstGeom prst="rect">
            <a:avLst/>
          </a:prstGeom>
          <a:solidFill>
            <a:srgbClr val="FBF8F1"/>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08D4C64C-F420-4A51-91FC-0456B17FAB9E}"/>
              </a:ext>
            </a:extLst>
          </p:cNvPr>
          <p:cNvSpPr>
            <a:spLocks noGrp="1"/>
          </p:cNvSpPr>
          <p:nvPr/>
        </p:nvSpPr>
        <p:spPr>
          <a:xfrm>
            <a:off x="2571750" y="239077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Ocean-dynamical generation of the strong El Niño</a:t>
            </a:r>
          </a:p>
        </p:txBody>
      </p:sp>
      <p:sp>
        <p:nvSpPr>
          <p:cNvPr id="15" name="矩形 14">
            <a:extLst>
              <a:ext uri="{FF2B5EF4-FFF2-40B4-BE49-F238E27FC236}">
                <a16:creationId xmlns:a16="http://schemas.microsoft.com/office/drawing/2014/main" id="{AD0365E6-1D79-4524-8DC5-F7D786F3563B}"/>
              </a:ext>
            </a:extLst>
          </p:cNvPr>
          <p:cNvSpPr>
            <a:spLocks noGrp="1"/>
          </p:cNvSpPr>
          <p:nvPr/>
        </p:nvSpPr>
        <p:spPr>
          <a:xfrm>
            <a:off x="6353175" y="2324100"/>
            <a:ext cx="4695825" cy="514350"/>
          </a:xfrm>
          <a:prstGeom prst="rect">
            <a:avLst/>
          </a:prstGeom>
          <a:solidFill>
            <a:srgbClr val="FBF8F1"/>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5C31855F-70C9-4991-9DB8-A3870F062A4C}"/>
              </a:ext>
            </a:extLst>
          </p:cNvPr>
          <p:cNvSpPr>
            <a:spLocks noGrp="1"/>
          </p:cNvSpPr>
          <p:nvPr/>
        </p:nvSpPr>
        <p:spPr>
          <a:xfrm>
            <a:off x="6429375" y="239077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Explains why and when the atmospheric response was weak</a:t>
            </a:r>
          </a:p>
        </p:txBody>
      </p:sp>
      <p:sp>
        <p:nvSpPr>
          <p:cNvPr id="17" name="矩形 16">
            <a:extLst>
              <a:ext uri="{FF2B5EF4-FFF2-40B4-BE49-F238E27FC236}">
                <a16:creationId xmlns:a16="http://schemas.microsoft.com/office/drawing/2014/main" id="{60C401E6-B447-4A99-9596-81FE2B962836}"/>
              </a:ext>
            </a:extLst>
          </p:cNvPr>
          <p:cNvSpPr>
            <a:spLocks noGrp="1"/>
          </p:cNvSpPr>
          <p:nvPr/>
        </p:nvSpPr>
        <p:spPr>
          <a:xfrm>
            <a:off x="685800" y="2838450"/>
            <a:ext cx="1809750" cy="514350"/>
          </a:xfrm>
          <a:prstGeom prst="rect">
            <a:avLst/>
          </a:prstGeom>
          <a:solidFill>
            <a:srgbClr val="F3EDE2"/>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5B5390DA-173F-43E7-B6FF-1B465ECEF0D7}"/>
              </a:ext>
            </a:extLst>
          </p:cNvPr>
          <p:cNvSpPr>
            <a:spLocks noGrp="1"/>
          </p:cNvSpPr>
          <p:nvPr/>
        </p:nvSpPr>
        <p:spPr>
          <a:xfrm>
            <a:off x="762000" y="29051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Zhang et al. 2025</a:t>
            </a:r>
          </a:p>
        </p:txBody>
      </p:sp>
      <p:sp>
        <p:nvSpPr>
          <p:cNvPr id="19" name="矩形 18">
            <a:extLst>
              <a:ext uri="{FF2B5EF4-FFF2-40B4-BE49-F238E27FC236}">
                <a16:creationId xmlns:a16="http://schemas.microsoft.com/office/drawing/2014/main" id="{D1F7510C-2F19-4401-8209-EB607FEF5754}"/>
              </a:ext>
            </a:extLst>
          </p:cNvPr>
          <p:cNvSpPr>
            <a:spLocks noGrp="1"/>
          </p:cNvSpPr>
          <p:nvPr/>
        </p:nvSpPr>
        <p:spPr>
          <a:xfrm>
            <a:off x="2495550" y="2838450"/>
            <a:ext cx="3857625" cy="514350"/>
          </a:xfrm>
          <a:prstGeom prst="rect">
            <a:avLst/>
          </a:prstGeom>
          <a:solidFill>
            <a:srgbClr val="F3EDE2"/>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D8706444-D334-477F-BA7C-F93E89F1DE7C}"/>
              </a:ext>
            </a:extLst>
          </p:cNvPr>
          <p:cNvSpPr>
            <a:spLocks noGrp="1"/>
          </p:cNvSpPr>
          <p:nvPr/>
        </p:nvSpPr>
        <p:spPr>
          <a:xfrm>
            <a:off x="2571750" y="29051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Weak rainfall/teleconnection response and external-basin heating</a:t>
            </a:r>
          </a:p>
        </p:txBody>
      </p:sp>
      <p:sp>
        <p:nvSpPr>
          <p:cNvPr id="21" name="矩形 20">
            <a:extLst>
              <a:ext uri="{FF2B5EF4-FFF2-40B4-BE49-F238E27FC236}">
                <a16:creationId xmlns:a16="http://schemas.microsoft.com/office/drawing/2014/main" id="{B62F0BEB-3293-46FB-8A6F-0166A194BC81}"/>
              </a:ext>
            </a:extLst>
          </p:cNvPr>
          <p:cNvSpPr>
            <a:spLocks noGrp="1"/>
          </p:cNvSpPr>
          <p:nvPr/>
        </p:nvSpPr>
        <p:spPr>
          <a:xfrm>
            <a:off x="6353175" y="2838450"/>
            <a:ext cx="4695825" cy="514350"/>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26B62B49-8B86-488C-87B0-22357F535CA3}"/>
              </a:ext>
            </a:extLst>
          </p:cNvPr>
          <p:cNvSpPr>
            <a:spLocks noGrp="1"/>
          </p:cNvSpPr>
          <p:nvPr/>
        </p:nvSpPr>
        <p:spPr>
          <a:xfrm>
            <a:off x="6429375" y="29051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Builds a seasonal matrix across wind, pressure, rainfall, and SST</a:t>
            </a:r>
          </a:p>
        </p:txBody>
      </p:sp>
      <p:sp>
        <p:nvSpPr>
          <p:cNvPr id="23" name="矩形 22">
            <a:extLst>
              <a:ext uri="{FF2B5EF4-FFF2-40B4-BE49-F238E27FC236}">
                <a16:creationId xmlns:a16="http://schemas.microsoft.com/office/drawing/2014/main" id="{410E0FF1-A585-4F76-88CE-80773272451B}"/>
              </a:ext>
            </a:extLst>
          </p:cNvPr>
          <p:cNvSpPr>
            <a:spLocks noGrp="1"/>
          </p:cNvSpPr>
          <p:nvPr/>
        </p:nvSpPr>
        <p:spPr>
          <a:xfrm>
            <a:off x="685800" y="3352800"/>
            <a:ext cx="1809750" cy="514350"/>
          </a:xfrm>
          <a:prstGeom prst="rect">
            <a:avLst/>
          </a:prstGeom>
          <a:solidFill>
            <a:srgbClr val="FBF8F1"/>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026766B7-63B4-4ED1-8C49-74F591CF3396}"/>
              </a:ext>
            </a:extLst>
          </p:cNvPr>
          <p:cNvSpPr>
            <a:spLocks noGrp="1"/>
          </p:cNvSpPr>
          <p:nvPr/>
        </p:nvSpPr>
        <p:spPr>
          <a:xfrm>
            <a:off x="762000" y="341947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Kim et al. 2025</a:t>
            </a:r>
          </a:p>
        </p:txBody>
      </p:sp>
      <p:sp>
        <p:nvSpPr>
          <p:cNvPr id="25" name="矩形 24">
            <a:extLst>
              <a:ext uri="{FF2B5EF4-FFF2-40B4-BE49-F238E27FC236}">
                <a16:creationId xmlns:a16="http://schemas.microsoft.com/office/drawing/2014/main" id="{A06D6861-C761-4CC5-B6DB-EABE7E446CB2}"/>
              </a:ext>
            </a:extLst>
          </p:cNvPr>
          <p:cNvSpPr>
            <a:spLocks noGrp="1"/>
          </p:cNvSpPr>
          <p:nvPr/>
        </p:nvSpPr>
        <p:spPr>
          <a:xfrm>
            <a:off x="2495550" y="3352800"/>
            <a:ext cx="3857625" cy="514350"/>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E54A6544-A367-42BB-8E03-9D5369FBE4FE}"/>
              </a:ext>
            </a:extLst>
          </p:cNvPr>
          <p:cNvSpPr>
            <a:spLocks noGrp="1"/>
          </p:cNvSpPr>
          <p:nvPr/>
        </p:nvSpPr>
        <p:spPr>
          <a:xfrm>
            <a:off x="2571750" y="341947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Developing-season wind anomalies and west-central Pacific gradients</a:t>
            </a:r>
          </a:p>
        </p:txBody>
      </p:sp>
      <p:sp>
        <p:nvSpPr>
          <p:cNvPr id="27" name="矩形 26">
            <a:extLst>
              <a:ext uri="{FF2B5EF4-FFF2-40B4-BE49-F238E27FC236}">
                <a16:creationId xmlns:a16="http://schemas.microsoft.com/office/drawing/2014/main" id="{07A2CE77-5326-419E-ADD4-1D6E70464849}"/>
              </a:ext>
            </a:extLst>
          </p:cNvPr>
          <p:cNvSpPr>
            <a:spLocks noGrp="1"/>
          </p:cNvSpPr>
          <p:nvPr/>
        </p:nvSpPr>
        <p:spPr>
          <a:xfrm>
            <a:off x="6353175" y="3352800"/>
            <a:ext cx="4695825" cy="514350"/>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22844D51-70BB-45F3-814F-B52E04C72B4D}"/>
              </a:ext>
            </a:extLst>
          </p:cNvPr>
          <p:cNvSpPr>
            <a:spLocks noGrp="1"/>
          </p:cNvSpPr>
          <p:nvPr/>
        </p:nvSpPr>
        <p:spPr>
          <a:xfrm>
            <a:off x="6429375" y="341947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Adds SOI-like pressure, GPCP rainfall, and external-basin historical comparison</a:t>
            </a:r>
          </a:p>
        </p:txBody>
      </p:sp>
      <p:sp>
        <p:nvSpPr>
          <p:cNvPr id="29" name="矩形 28">
            <a:extLst>
              <a:ext uri="{FF2B5EF4-FFF2-40B4-BE49-F238E27FC236}">
                <a16:creationId xmlns:a16="http://schemas.microsoft.com/office/drawing/2014/main" id="{3C1439A6-E635-4F21-8F5F-CD1C5653FF7E}"/>
              </a:ext>
            </a:extLst>
          </p:cNvPr>
          <p:cNvSpPr>
            <a:spLocks noGrp="1"/>
          </p:cNvSpPr>
          <p:nvPr/>
        </p:nvSpPr>
        <p:spPr>
          <a:xfrm>
            <a:off x="685800" y="3867150"/>
            <a:ext cx="1809750" cy="514350"/>
          </a:xfrm>
          <a:prstGeom prst="rect">
            <a:avLst/>
          </a:prstGeom>
          <a:solidFill>
            <a:srgbClr val="F3EDE2"/>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F0285BBB-E997-4399-A0EF-A45689CCF96F}"/>
              </a:ext>
            </a:extLst>
          </p:cNvPr>
          <p:cNvSpPr>
            <a:spLocks noGrp="1"/>
          </p:cNvSpPr>
          <p:nvPr/>
        </p:nvSpPr>
        <p:spPr>
          <a:xfrm>
            <a:off x="762000" y="393382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Zhao et al. 2025</a:t>
            </a:r>
          </a:p>
        </p:txBody>
      </p:sp>
      <p:sp>
        <p:nvSpPr>
          <p:cNvPr id="31" name="矩形 30">
            <a:extLst>
              <a:ext uri="{FF2B5EF4-FFF2-40B4-BE49-F238E27FC236}">
                <a16:creationId xmlns:a16="http://schemas.microsoft.com/office/drawing/2014/main" id="{C1C76CA8-0DFA-4113-9B78-1B7933E9BB65}"/>
              </a:ext>
            </a:extLst>
          </p:cNvPr>
          <p:cNvSpPr>
            <a:spLocks noGrp="1"/>
          </p:cNvSpPr>
          <p:nvPr/>
        </p:nvSpPr>
        <p:spPr>
          <a:xfrm>
            <a:off x="2495550" y="3867150"/>
            <a:ext cx="3857625" cy="514350"/>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3C7F9EBD-AEED-42AF-8662-64600A67E4FB}"/>
              </a:ext>
            </a:extLst>
          </p:cNvPr>
          <p:cNvSpPr>
            <a:spLocks noGrp="1"/>
          </p:cNvSpPr>
          <p:nvPr/>
        </p:nvSpPr>
        <p:spPr>
          <a:xfrm>
            <a:off x="2571750" y="393382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July 2023 Tropical North Atlantic plus Indian summer monsoon / Maritime Continent heating</a:t>
            </a:r>
          </a:p>
        </p:txBody>
      </p:sp>
      <p:sp>
        <p:nvSpPr>
          <p:cNvPr id="33" name="矩形 32">
            <a:extLst>
              <a:ext uri="{FF2B5EF4-FFF2-40B4-BE49-F238E27FC236}">
                <a16:creationId xmlns:a16="http://schemas.microsoft.com/office/drawing/2014/main" id="{E8CE431F-D009-4A60-AEA4-0318F0164EED}"/>
              </a:ext>
            </a:extLst>
          </p:cNvPr>
          <p:cNvSpPr>
            <a:spLocks noGrp="1"/>
          </p:cNvSpPr>
          <p:nvPr/>
        </p:nvSpPr>
        <p:spPr>
          <a:xfrm>
            <a:off x="6353175" y="3867150"/>
            <a:ext cx="4695825" cy="514350"/>
          </a:xfrm>
          <a:prstGeom prst="rect">
            <a:avLst/>
          </a:prstGeom>
          <a:solidFill>
            <a:srgbClr val="F3EDE2"/>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A6D5E306-31E5-4283-81A9-D073B2DF8437}"/>
              </a:ext>
            </a:extLst>
          </p:cNvPr>
          <p:cNvSpPr>
            <a:spLocks noGrp="1"/>
          </p:cNvSpPr>
          <p:nvPr/>
        </p:nvSpPr>
        <p:spPr>
          <a:xfrm>
            <a:off x="6429375" y="393382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Tracks a continuous AMJ/JJA to SON/DJF evolution</a:t>
            </a:r>
          </a:p>
        </p:txBody>
      </p:sp>
      <p:sp>
        <p:nvSpPr>
          <p:cNvPr id="35" name="矩形 34">
            <a:extLst>
              <a:ext uri="{FF2B5EF4-FFF2-40B4-BE49-F238E27FC236}">
                <a16:creationId xmlns:a16="http://schemas.microsoft.com/office/drawing/2014/main" id="{95E8B59F-E1DC-48E3-93B5-3A959DC9EB33}"/>
              </a:ext>
            </a:extLst>
          </p:cNvPr>
          <p:cNvSpPr>
            <a:spLocks noGrp="1"/>
          </p:cNvSpPr>
          <p:nvPr/>
        </p:nvSpPr>
        <p:spPr>
          <a:xfrm>
            <a:off x="685800" y="4381500"/>
            <a:ext cx="1809750" cy="514350"/>
          </a:xfrm>
          <a:prstGeom prst="rect">
            <a:avLst/>
          </a:prstGeom>
          <a:solidFill>
            <a:srgbClr val="FBF8F1"/>
          </a:solidFill>
          <a:ln w="6668">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E5FA18CB-68A1-4631-9967-42C446CF7259}"/>
              </a:ext>
            </a:extLst>
          </p:cNvPr>
          <p:cNvSpPr>
            <a:spLocks noGrp="1"/>
          </p:cNvSpPr>
          <p:nvPr/>
        </p:nvSpPr>
        <p:spPr>
          <a:xfrm>
            <a:off x="762000" y="4448175"/>
            <a:ext cx="16573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Yang &amp; Li 2025</a:t>
            </a:r>
          </a:p>
        </p:txBody>
      </p:sp>
      <p:sp>
        <p:nvSpPr>
          <p:cNvPr id="37" name="矩形 36">
            <a:extLst>
              <a:ext uri="{FF2B5EF4-FFF2-40B4-BE49-F238E27FC236}">
                <a16:creationId xmlns:a16="http://schemas.microsoft.com/office/drawing/2014/main" id="{E6455CD6-3F91-49A1-BD94-03F48CF5910A}"/>
              </a:ext>
            </a:extLst>
          </p:cNvPr>
          <p:cNvSpPr>
            <a:spLocks noGrp="1"/>
          </p:cNvSpPr>
          <p:nvPr/>
        </p:nvSpPr>
        <p:spPr>
          <a:xfrm>
            <a:off x="2495550" y="4381500"/>
            <a:ext cx="3857625" cy="514350"/>
          </a:xfrm>
          <a:prstGeom prst="rect">
            <a:avLst/>
          </a:prstGeom>
          <a:solidFill>
            <a:srgbClr val="FBF8F1"/>
          </a:solidFill>
          <a:ln w="6668">
            <a:solidFill>
              <a:srgbClr val="D8D1C4"/>
            </a:solidFill>
            <a:prstDash val="solid"/>
          </a:ln>
        </p:spPr>
        <p:txBody>
          <a:bodyPr/>
          <a:lstStyle/>
          <a:p>
            <a:endParaRPr lang="zh-CN" altLang="en-US"/>
          </a:p>
        </p:txBody>
      </p:sp>
      <p:sp>
        <p:nvSpPr>
          <p:cNvPr id="38" name="矩形 37">
            <a:extLst>
              <a:ext uri="{FF2B5EF4-FFF2-40B4-BE49-F238E27FC236}">
                <a16:creationId xmlns:a16="http://schemas.microsoft.com/office/drawing/2014/main" id="{60626D04-0A9C-456B-905C-786C309E57ED}"/>
              </a:ext>
            </a:extLst>
          </p:cNvPr>
          <p:cNvSpPr>
            <a:spLocks noGrp="1"/>
          </p:cNvSpPr>
          <p:nvPr/>
        </p:nvSpPr>
        <p:spPr>
          <a:xfrm>
            <a:off x="2571750" y="4448175"/>
            <a:ext cx="37052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January 2024 Madden-Julian Oscillation MJO / trend / ENSO decomposition</a:t>
            </a:r>
          </a:p>
        </p:txBody>
      </p:sp>
      <p:sp>
        <p:nvSpPr>
          <p:cNvPr id="39" name="矩形 38">
            <a:extLst>
              <a:ext uri="{FF2B5EF4-FFF2-40B4-BE49-F238E27FC236}">
                <a16:creationId xmlns:a16="http://schemas.microsoft.com/office/drawing/2014/main" id="{C466EF08-687A-4159-9D84-D0CC0DB6678B}"/>
              </a:ext>
            </a:extLst>
          </p:cNvPr>
          <p:cNvSpPr>
            <a:spLocks noGrp="1"/>
          </p:cNvSpPr>
          <p:nvPr/>
        </p:nvSpPr>
        <p:spPr>
          <a:xfrm>
            <a:off x="6353175" y="4381500"/>
            <a:ext cx="4695825" cy="514350"/>
          </a:xfrm>
          <a:prstGeom prst="rect">
            <a:avLst/>
          </a:prstGeom>
          <a:solidFill>
            <a:srgbClr val="FBF8F1"/>
          </a:solidFill>
          <a:ln w="6668">
            <a:solidFill>
              <a:srgbClr val="D8D1C4"/>
            </a:solidFill>
            <a:prstDash val="solid"/>
          </a:ln>
        </p:spPr>
        <p:txBody>
          <a:bodyPr/>
          <a:lstStyle/>
          <a:p>
            <a:endParaRPr lang="zh-CN" altLang="en-US"/>
          </a:p>
        </p:txBody>
      </p:sp>
      <p:sp>
        <p:nvSpPr>
          <p:cNvPr id="40" name="矩形 39">
            <a:extLst>
              <a:ext uri="{FF2B5EF4-FFF2-40B4-BE49-F238E27FC236}">
                <a16:creationId xmlns:a16="http://schemas.microsoft.com/office/drawing/2014/main" id="{9D23EB8F-F33E-4D7B-9269-FEDC8A5E4D49}"/>
              </a:ext>
            </a:extLst>
          </p:cNvPr>
          <p:cNvSpPr>
            <a:spLocks noGrp="1"/>
          </p:cNvSpPr>
          <p:nvPr/>
        </p:nvSpPr>
        <p:spPr>
          <a:xfrm>
            <a:off x="6429375" y="4448175"/>
            <a:ext cx="4543425"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1D1B18"/>
                </a:solidFill>
                <a:latin typeface="Aptos"/>
                <a:ea typeface="Aptos"/>
                <a:cs typeface="Aptos"/>
              </a:defRPr>
            </a:pPr>
            <a:r>
              <a:rPr sz="795" b="0">
                <a:solidFill>
                  <a:srgbClr val="1D1B18"/>
                </a:solidFill>
                <a:latin typeface="Aptos"/>
                <a:ea typeface="Aptos"/>
                <a:cs typeface="Aptos"/>
              </a:rPr>
              <a:t>Builds the developing-season background before adding MJO/OLR mechanism tests</a:t>
            </a:r>
          </a:p>
        </p:txBody>
      </p:sp>
      <p:sp>
        <p:nvSpPr>
          <p:cNvPr id="41" name="矩形 40">
            <a:extLst>
              <a:ext uri="{FF2B5EF4-FFF2-40B4-BE49-F238E27FC236}">
                <a16:creationId xmlns:a16="http://schemas.microsoft.com/office/drawing/2014/main" id="{EA2CDEC1-F159-49AD-AD8C-7E9D87EB6F59}"/>
              </a:ext>
            </a:extLst>
          </p:cNvPr>
          <p:cNvSpPr>
            <a:spLocks noGrp="1"/>
          </p:cNvSpPr>
          <p:nvPr/>
        </p:nvSpPr>
        <p:spPr>
          <a:xfrm>
            <a:off x="685800" y="5143500"/>
            <a:ext cx="10363200" cy="742950"/>
          </a:xfrm>
          <a:prstGeom prst="rect">
            <a:avLst/>
          </a:prstGeom>
          <a:solidFill>
            <a:srgbClr val="FFFAF1"/>
          </a:solidFill>
          <a:ln w="7620">
            <a:solidFill>
              <a:srgbClr val="D8D1C4"/>
            </a:solidFill>
            <a:prstDash val="solid"/>
          </a:ln>
        </p:spPr>
        <p:txBody>
          <a:bodyPr/>
          <a:lstStyle/>
          <a:p>
            <a:endParaRPr lang="zh-CN" altLang="en-US"/>
          </a:p>
        </p:txBody>
      </p:sp>
      <p:sp>
        <p:nvSpPr>
          <p:cNvPr id="42" name="矩形 41">
            <a:extLst>
              <a:ext uri="{FF2B5EF4-FFF2-40B4-BE49-F238E27FC236}">
                <a16:creationId xmlns:a16="http://schemas.microsoft.com/office/drawing/2014/main" id="{6DAE39C6-67C3-4A52-A6AE-DB76F0F778BD}"/>
              </a:ext>
            </a:extLst>
          </p:cNvPr>
          <p:cNvSpPr>
            <a:spLocks noGrp="1"/>
          </p:cNvSpPr>
          <p:nvPr/>
        </p:nvSpPr>
        <p:spPr>
          <a:xfrm>
            <a:off x="800100" y="5219700"/>
            <a:ext cx="101346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6E675D"/>
                </a:solidFill>
                <a:latin typeface="Aptos"/>
                <a:ea typeface="Aptos"/>
                <a:cs typeface="Aptos"/>
              </a:defRPr>
            </a:pPr>
            <a:r>
              <a:rPr sz="780" b="0">
                <a:solidFill>
                  <a:srgbClr val="6E675D"/>
                </a:solidFill>
                <a:latin typeface="Aptos"/>
                <a:ea typeface="Aptos"/>
                <a:cs typeface="Aptos"/>
              </a:rPr>
              <a:t>This slide answers the likely advisor question of whether the topic has already been done. Existing papers discuss weak rainfall, teleconnections, TNA, MJO, or individual key months. The distinction here is to systematize the problem as seasonal, multi-variable coupling efficiency against historical strong El Niño events.</a:t>
            </a:r>
          </a:p>
        </p:txBody>
      </p:sp>
      <p:sp>
        <p:nvSpPr>
          <p:cNvPr id="43" name="矩形 42">
            <a:extLst>
              <a:ext uri="{FF2B5EF4-FFF2-40B4-BE49-F238E27FC236}">
                <a16:creationId xmlns:a16="http://schemas.microsoft.com/office/drawing/2014/main" id="{8E647227-27F7-4E5E-B0CA-3C5C7E4D4634}"/>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Literature notes: docs/literature_method_notes.md; source IDs L2-L8 in docs/data_source_log.md.</a:t>
            </a:r>
          </a:p>
        </p:txBody>
      </p:sp>
    </p:spTree>
    <p:extLst>
      <p:ext uri="{BB962C8B-B14F-4D97-AF65-F5344CB8AC3E}">
        <p14:creationId xmlns:p14="http://schemas.microsoft.com/office/powerpoint/2010/main" val="18867034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a:extLst>
              <a:ext uri="{FF2B5EF4-FFF2-40B4-BE49-F238E27FC236}">
                <a16:creationId xmlns:a16="http://schemas.microsoft.com/office/drawing/2014/main" id="{E61EA1EB-ED30-44B0-BB51-A05F34A757EF}"/>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635F859B-809D-4DD6-BCC6-5C38EBF2D818}"/>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Working Topic</a:t>
            </a:r>
          </a:p>
        </p:txBody>
      </p:sp>
      <p:sp>
        <p:nvSpPr>
          <p:cNvPr id="3" name="矩形 2">
            <a:extLst>
              <a:ext uri="{FF2B5EF4-FFF2-40B4-BE49-F238E27FC236}">
                <a16:creationId xmlns:a16="http://schemas.microsoft.com/office/drawing/2014/main" id="{51003733-F57A-402C-8078-218DDD4BB18D}"/>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Proposed topic: developing-season atmosphere-ocean coupling failure during the 2023/24 strong El Niño and its external-basin modulation</a:t>
            </a:r>
          </a:p>
        </p:txBody>
      </p:sp>
      <p:sp>
        <p:nvSpPr>
          <p:cNvPr id="4" name="矩形 3">
            <a:extLst>
              <a:ext uri="{FF2B5EF4-FFF2-40B4-BE49-F238E27FC236}">
                <a16:creationId xmlns:a16="http://schemas.microsoft.com/office/drawing/2014/main" id="{7CD6C630-4DA6-413C-AB2B-D455223C1431}"/>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A829378E-58D6-4BDD-939C-85F5B32B95F4}"/>
              </a:ext>
            </a:extLst>
          </p:cNvPr>
          <p:cNvSpPr>
            <a:spLocks noGrp="1"/>
          </p:cNvSpPr>
          <p:nvPr/>
        </p:nvSpPr>
        <p:spPr>
          <a:xfrm>
            <a:off x="800100" y="1809750"/>
            <a:ext cx="9620250" cy="1295400"/>
          </a:xfrm>
          <a:prstGeom prst="rect">
            <a:avLst/>
          </a:prstGeom>
          <a:solidFill>
            <a:srgbClr val="F5E5DF"/>
          </a:solidFill>
          <a:ln w="9525">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E4AEC6BA-FADD-4E4E-AAD3-78BEA235F954}"/>
              </a:ext>
            </a:extLst>
          </p:cNvPr>
          <p:cNvSpPr>
            <a:spLocks noGrp="1"/>
          </p:cNvSpPr>
          <p:nvPr/>
        </p:nvSpPr>
        <p:spPr>
          <a:xfrm>
            <a:off x="1066800" y="2038350"/>
            <a:ext cx="908685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1D1B18"/>
                </a:solidFill>
                <a:latin typeface="Aptos"/>
                <a:ea typeface="Aptos"/>
                <a:cs typeface="Aptos"/>
              </a:defRPr>
            </a:pPr>
            <a:r>
              <a:rPr sz="1725" b="1">
                <a:solidFill>
                  <a:srgbClr val="1D1B18"/>
                </a:solidFill>
                <a:latin typeface="Aptos"/>
                <a:ea typeface="Aptos"/>
                <a:cs typeface="Aptos"/>
              </a:rPr>
              <a:t>Working hypothesis: spring-summer external-basin warmth and the tropical-mean warming background altered the Walker circulation and convective threshold, delaying or weakening the canonical wind-pressure-rainfall response to warm Pacific SST.</a:t>
            </a:r>
          </a:p>
        </p:txBody>
      </p:sp>
      <p:sp>
        <p:nvSpPr>
          <p:cNvPr id="7" name="椭圆 6">
            <a:extLst>
              <a:ext uri="{FF2B5EF4-FFF2-40B4-BE49-F238E27FC236}">
                <a16:creationId xmlns:a16="http://schemas.microsoft.com/office/drawing/2014/main" id="{A1935800-47F7-4091-901E-07601134A313}"/>
              </a:ext>
            </a:extLst>
          </p:cNvPr>
          <p:cNvSpPr>
            <a:spLocks noGrp="1"/>
          </p:cNvSpPr>
          <p:nvPr/>
        </p:nvSpPr>
        <p:spPr>
          <a:xfrm>
            <a:off x="990600" y="36004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8" name="矩形 7">
            <a:extLst>
              <a:ext uri="{FF2B5EF4-FFF2-40B4-BE49-F238E27FC236}">
                <a16:creationId xmlns:a16="http://schemas.microsoft.com/office/drawing/2014/main" id="{4F269DA4-012C-4971-94D7-36638F219032}"/>
              </a:ext>
            </a:extLst>
          </p:cNvPr>
          <p:cNvSpPr>
            <a:spLocks noGrp="1"/>
          </p:cNvSpPr>
          <p:nvPr/>
        </p:nvSpPr>
        <p:spPr>
          <a:xfrm>
            <a:off x="1181100" y="352425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Testable H1: AMJ/JJA external-basin warmth suppressed central-Pacific westerly response.</a:t>
            </a:r>
          </a:p>
        </p:txBody>
      </p:sp>
      <p:sp>
        <p:nvSpPr>
          <p:cNvPr id="9" name="椭圆 8">
            <a:extLst>
              <a:ext uri="{FF2B5EF4-FFF2-40B4-BE49-F238E27FC236}">
                <a16:creationId xmlns:a16="http://schemas.microsoft.com/office/drawing/2014/main" id="{1FD03324-5270-4078-A4A0-4A9D547873A9}"/>
              </a:ext>
            </a:extLst>
          </p:cNvPr>
          <p:cNvSpPr>
            <a:spLocks noGrp="1"/>
          </p:cNvSpPr>
          <p:nvPr/>
        </p:nvSpPr>
        <p:spPr>
          <a:xfrm>
            <a:off x="990600" y="42672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0" name="矩形 9">
            <a:extLst>
              <a:ext uri="{FF2B5EF4-FFF2-40B4-BE49-F238E27FC236}">
                <a16:creationId xmlns:a16="http://schemas.microsoft.com/office/drawing/2014/main" id="{D17F99EA-0358-42EC-8915-D6387FB5DE62}"/>
              </a:ext>
            </a:extLst>
          </p:cNvPr>
          <p:cNvSpPr>
            <a:spLocks noGrp="1"/>
          </p:cNvSpPr>
          <p:nvPr/>
        </p:nvSpPr>
        <p:spPr>
          <a:xfrm>
            <a:off x="1181100" y="419100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Testable H2: Maritime Continent / Indian Ocean heating maintained western-side convection and weakened eastward rainfall displacement.</a:t>
            </a:r>
          </a:p>
        </p:txBody>
      </p:sp>
      <p:sp>
        <p:nvSpPr>
          <p:cNvPr id="11" name="椭圆 10">
            <a:extLst>
              <a:ext uri="{FF2B5EF4-FFF2-40B4-BE49-F238E27FC236}">
                <a16:creationId xmlns:a16="http://schemas.microsoft.com/office/drawing/2014/main" id="{09F96D4D-7EC2-445E-8AF1-0AE75E962055}"/>
              </a:ext>
            </a:extLst>
          </p:cNvPr>
          <p:cNvSpPr>
            <a:spLocks noGrp="1"/>
          </p:cNvSpPr>
          <p:nvPr/>
        </p:nvSpPr>
        <p:spPr>
          <a:xfrm>
            <a:off x="990600" y="49339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2" name="矩形 11">
            <a:extLst>
              <a:ext uri="{FF2B5EF4-FFF2-40B4-BE49-F238E27FC236}">
                <a16:creationId xmlns:a16="http://schemas.microsoft.com/office/drawing/2014/main" id="{C557A025-79FA-4677-AF44-F7F748D32F99}"/>
              </a:ext>
            </a:extLst>
          </p:cNvPr>
          <p:cNvSpPr>
            <a:spLocks noGrp="1"/>
          </p:cNvSpPr>
          <p:nvPr/>
        </p:nvSpPr>
        <p:spPr>
          <a:xfrm>
            <a:off x="1181100" y="485775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Testable H3: TNA warmth or tropical-mean warming raised the threshold for ENSO atmospheric response.</a:t>
            </a:r>
          </a:p>
        </p:txBody>
      </p:sp>
      <p:sp>
        <p:nvSpPr>
          <p:cNvPr id="13" name="椭圆 12">
            <a:extLst>
              <a:ext uri="{FF2B5EF4-FFF2-40B4-BE49-F238E27FC236}">
                <a16:creationId xmlns:a16="http://schemas.microsoft.com/office/drawing/2014/main" id="{7E83FC60-ECA4-4D21-BEF0-93D458AC4C59}"/>
              </a:ext>
            </a:extLst>
          </p:cNvPr>
          <p:cNvSpPr>
            <a:spLocks noGrp="1"/>
          </p:cNvSpPr>
          <p:nvPr/>
        </p:nvSpPr>
        <p:spPr>
          <a:xfrm>
            <a:off x="990600" y="560070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14" name="矩形 13">
            <a:extLst>
              <a:ext uri="{FF2B5EF4-FFF2-40B4-BE49-F238E27FC236}">
                <a16:creationId xmlns:a16="http://schemas.microsoft.com/office/drawing/2014/main" id="{8A81BFD8-EA11-4D8F-B003-5E92FC1FB652}"/>
              </a:ext>
            </a:extLst>
          </p:cNvPr>
          <p:cNvSpPr>
            <a:spLocks noGrp="1"/>
          </p:cNvSpPr>
          <p:nvPr/>
        </p:nvSpPr>
        <p:spPr>
          <a:xfrm>
            <a:off x="1181100" y="5524500"/>
            <a:ext cx="8953500" cy="6191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Each hypothesis is testable: ERA5/OLR first establish the atmospheric structure, then regression residuals and AGCM experiments separate Pacific-internal and external-basin contributions.</a:t>
            </a:r>
          </a:p>
        </p:txBody>
      </p:sp>
      <p:sp>
        <p:nvSpPr>
          <p:cNvPr id="15" name="矩形 14">
            <a:extLst>
              <a:ext uri="{FF2B5EF4-FFF2-40B4-BE49-F238E27FC236}">
                <a16:creationId xmlns:a16="http://schemas.microsoft.com/office/drawing/2014/main" id="{68132948-BF30-4115-8992-BAA60BFC6559}"/>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Current diagnostics establish association; ERA5/OLR/MJO and AGCM experiments are needed for mechanism attribution.</a:t>
            </a:r>
          </a:p>
        </p:txBody>
      </p:sp>
    </p:spTree>
    <p:extLst>
      <p:ext uri="{BB962C8B-B14F-4D97-AF65-F5344CB8AC3E}">
        <p14:creationId xmlns:p14="http://schemas.microsoft.com/office/powerpoint/2010/main" val="1616907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矩形 24">
            <a:extLst>
              <a:ext uri="{FF2B5EF4-FFF2-40B4-BE49-F238E27FC236}">
                <a16:creationId xmlns:a16="http://schemas.microsoft.com/office/drawing/2014/main" id="{E607DE32-925A-4388-A807-A11FEA45FAE1}"/>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2E2356DA-C074-4232-838B-7725DCDB78BA}"/>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Next Step</a:t>
            </a:r>
          </a:p>
        </p:txBody>
      </p:sp>
      <p:sp>
        <p:nvSpPr>
          <p:cNvPr id="3" name="矩形 2">
            <a:extLst>
              <a:ext uri="{FF2B5EF4-FFF2-40B4-BE49-F238E27FC236}">
                <a16:creationId xmlns:a16="http://schemas.microsoft.com/office/drawing/2014/main" id="{C98D5DA1-60FB-4191-8164-FBEE499C17B4}"/>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Next stage: add ERA5 and OLR to move from phenomenon diagnosis to mechanism tests</a:t>
            </a:r>
          </a:p>
        </p:txBody>
      </p:sp>
      <p:sp>
        <p:nvSpPr>
          <p:cNvPr id="4" name="矩形 3">
            <a:extLst>
              <a:ext uri="{FF2B5EF4-FFF2-40B4-BE49-F238E27FC236}">
                <a16:creationId xmlns:a16="http://schemas.microsoft.com/office/drawing/2014/main" id="{F2A906A2-44A4-4F4B-BE72-3222DE22B98E}"/>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4A9B1116-0251-4CA0-A2BF-26D0FBE67061}"/>
              </a:ext>
            </a:extLst>
          </p:cNvPr>
          <p:cNvSpPr>
            <a:spLocks noGrp="1"/>
          </p:cNvSpPr>
          <p:nvPr/>
        </p:nvSpPr>
        <p:spPr>
          <a:xfrm>
            <a:off x="704850" y="2171700"/>
            <a:ext cx="2247900" cy="1524000"/>
          </a:xfrm>
          <a:prstGeom prst="rect">
            <a:avLst/>
          </a:prstGeom>
          <a:solidFill>
            <a:srgbClr val="F5E5DF"/>
          </a:solidFill>
          <a:ln w="9525">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BD4B8320-23FB-4360-9192-832F082ED1EB}"/>
              </a:ext>
            </a:extLst>
          </p:cNvPr>
          <p:cNvSpPr>
            <a:spLocks noGrp="1"/>
          </p:cNvSpPr>
          <p:nvPr/>
        </p:nvSpPr>
        <p:spPr>
          <a:xfrm>
            <a:off x="866775" y="23241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CC5A43"/>
                </a:solidFill>
                <a:latin typeface="Aptos"/>
                <a:ea typeface="Aptos"/>
                <a:cs typeface="Aptos"/>
              </a:defRPr>
            </a:pPr>
            <a:r>
              <a:rPr sz="1275" b="1">
                <a:solidFill>
                  <a:srgbClr val="CC5A43"/>
                </a:solidFill>
                <a:latin typeface="Aptos"/>
                <a:ea typeface="Aptos"/>
                <a:cs typeface="Aptos"/>
              </a:rPr>
              <a:t>01</a:t>
            </a:r>
          </a:p>
        </p:txBody>
      </p:sp>
      <p:sp>
        <p:nvSpPr>
          <p:cNvPr id="7" name="矩形 6">
            <a:extLst>
              <a:ext uri="{FF2B5EF4-FFF2-40B4-BE49-F238E27FC236}">
                <a16:creationId xmlns:a16="http://schemas.microsoft.com/office/drawing/2014/main" id="{4CB5694C-0B6A-4B12-9815-A78CB35176D8}"/>
              </a:ext>
            </a:extLst>
          </p:cNvPr>
          <p:cNvSpPr>
            <a:spLocks noGrp="1"/>
          </p:cNvSpPr>
          <p:nvPr/>
        </p:nvSpPr>
        <p:spPr>
          <a:xfrm>
            <a:off x="876300" y="2686050"/>
            <a:ext cx="188595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ERA5 u850/SLP/χ200</a:t>
            </a:r>
          </a:p>
          <a:p>
            <a:pPr algn="l">
              <a:defRPr sz="1215" b="1">
                <a:solidFill>
                  <a:srgbClr val="1D1B18"/>
                </a:solidFill>
                <a:latin typeface="Aptos"/>
                <a:ea typeface="Aptos"/>
                <a:cs typeface="Aptos"/>
              </a:defRPr>
            </a:pPr>
            <a:r>
              <a:rPr sz="1215" b="1">
                <a:solidFill>
                  <a:srgbClr val="1D1B18"/>
                </a:solidFill>
                <a:latin typeface="Aptos"/>
                <a:ea typeface="Aptos"/>
                <a:cs typeface="Aptos"/>
              </a:rPr>
              <a:t>replace NCEP fallback</a:t>
            </a:r>
          </a:p>
        </p:txBody>
      </p:sp>
      <p:sp>
        <p:nvSpPr>
          <p:cNvPr id="8" name="矩形 7">
            <a:extLst>
              <a:ext uri="{FF2B5EF4-FFF2-40B4-BE49-F238E27FC236}">
                <a16:creationId xmlns:a16="http://schemas.microsoft.com/office/drawing/2014/main" id="{F0C81029-B2C7-4AFA-9BAC-DD0AF2172FF8}"/>
              </a:ext>
            </a:extLst>
          </p:cNvPr>
          <p:cNvSpPr>
            <a:spLocks noGrp="1"/>
          </p:cNvSpPr>
          <p:nvPr/>
        </p:nvSpPr>
        <p:spPr>
          <a:xfrm>
            <a:off x="3067050" y="26289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9" name="矩形 8">
            <a:extLst>
              <a:ext uri="{FF2B5EF4-FFF2-40B4-BE49-F238E27FC236}">
                <a16:creationId xmlns:a16="http://schemas.microsoft.com/office/drawing/2014/main" id="{77C17B87-17EA-42A0-9CD3-E62DF8A0A1EC}"/>
              </a:ext>
            </a:extLst>
          </p:cNvPr>
          <p:cNvSpPr>
            <a:spLocks noGrp="1"/>
          </p:cNvSpPr>
          <p:nvPr/>
        </p:nvSpPr>
        <p:spPr>
          <a:xfrm>
            <a:off x="3448050" y="2171700"/>
            <a:ext cx="2247900" cy="1524000"/>
          </a:xfrm>
          <a:prstGeom prst="rect">
            <a:avLst/>
          </a:prstGeom>
          <a:solidFill>
            <a:srgbClr val="EDF3EF"/>
          </a:solidFill>
          <a:ln w="9525">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8E29B223-5042-4BEF-8811-620F8ACDB888}"/>
              </a:ext>
            </a:extLst>
          </p:cNvPr>
          <p:cNvSpPr>
            <a:spLocks noGrp="1"/>
          </p:cNvSpPr>
          <p:nvPr/>
        </p:nvSpPr>
        <p:spPr>
          <a:xfrm>
            <a:off x="3609975" y="23241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2F6F73"/>
                </a:solidFill>
                <a:latin typeface="Aptos"/>
                <a:ea typeface="Aptos"/>
                <a:cs typeface="Aptos"/>
              </a:defRPr>
            </a:pPr>
            <a:r>
              <a:rPr sz="1275" b="1">
                <a:solidFill>
                  <a:srgbClr val="2F6F73"/>
                </a:solidFill>
                <a:latin typeface="Aptos"/>
                <a:ea typeface="Aptos"/>
                <a:cs typeface="Aptos"/>
              </a:rPr>
              <a:t>02</a:t>
            </a:r>
          </a:p>
        </p:txBody>
      </p:sp>
      <p:sp>
        <p:nvSpPr>
          <p:cNvPr id="11" name="矩形 10">
            <a:extLst>
              <a:ext uri="{FF2B5EF4-FFF2-40B4-BE49-F238E27FC236}">
                <a16:creationId xmlns:a16="http://schemas.microsoft.com/office/drawing/2014/main" id="{D5D8985A-CBFA-4D28-BE7E-D532D0A12B84}"/>
              </a:ext>
            </a:extLst>
          </p:cNvPr>
          <p:cNvSpPr>
            <a:spLocks noGrp="1"/>
          </p:cNvSpPr>
          <p:nvPr/>
        </p:nvSpPr>
        <p:spPr>
          <a:xfrm>
            <a:off x="3619500" y="2686050"/>
            <a:ext cx="188595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NOAA OLR + GPCP</a:t>
            </a:r>
          </a:p>
          <a:p>
            <a:pPr algn="l">
              <a:defRPr sz="1215" b="1">
                <a:solidFill>
                  <a:srgbClr val="1D1B18"/>
                </a:solidFill>
                <a:latin typeface="Aptos"/>
                <a:ea typeface="Aptos"/>
                <a:cs typeface="Aptos"/>
              </a:defRPr>
            </a:pPr>
            <a:r>
              <a:rPr sz="1215" b="1">
                <a:solidFill>
                  <a:srgbClr val="1D1B18"/>
                </a:solidFill>
                <a:latin typeface="Aptos"/>
                <a:ea typeface="Aptos"/>
                <a:cs typeface="Aptos"/>
              </a:rPr>
              <a:t>validate convection centers</a:t>
            </a:r>
          </a:p>
        </p:txBody>
      </p:sp>
      <p:sp>
        <p:nvSpPr>
          <p:cNvPr id="12" name="矩形 11">
            <a:extLst>
              <a:ext uri="{FF2B5EF4-FFF2-40B4-BE49-F238E27FC236}">
                <a16:creationId xmlns:a16="http://schemas.microsoft.com/office/drawing/2014/main" id="{098A2E43-AE56-4461-A04D-B274D7B7950B}"/>
              </a:ext>
            </a:extLst>
          </p:cNvPr>
          <p:cNvSpPr>
            <a:spLocks noGrp="1"/>
          </p:cNvSpPr>
          <p:nvPr/>
        </p:nvSpPr>
        <p:spPr>
          <a:xfrm>
            <a:off x="5810250" y="26289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13" name="矩形 12">
            <a:extLst>
              <a:ext uri="{FF2B5EF4-FFF2-40B4-BE49-F238E27FC236}">
                <a16:creationId xmlns:a16="http://schemas.microsoft.com/office/drawing/2014/main" id="{D82CDAC7-5AE2-4B7C-AE72-1ADF02FE38C8}"/>
              </a:ext>
            </a:extLst>
          </p:cNvPr>
          <p:cNvSpPr>
            <a:spLocks noGrp="1"/>
          </p:cNvSpPr>
          <p:nvPr/>
        </p:nvSpPr>
        <p:spPr>
          <a:xfrm>
            <a:off x="6191250" y="2171700"/>
            <a:ext cx="2247900" cy="1524000"/>
          </a:xfrm>
          <a:prstGeom prst="rect">
            <a:avLst/>
          </a:prstGeom>
          <a:solidFill>
            <a:srgbClr val="F5E5DF"/>
          </a:solidFill>
          <a:ln w="9525">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FCC0D87E-B570-462A-85F5-3248AE4BCD0C}"/>
              </a:ext>
            </a:extLst>
          </p:cNvPr>
          <p:cNvSpPr>
            <a:spLocks noGrp="1"/>
          </p:cNvSpPr>
          <p:nvPr/>
        </p:nvSpPr>
        <p:spPr>
          <a:xfrm>
            <a:off x="6353175" y="23241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CC5A43"/>
                </a:solidFill>
                <a:latin typeface="Aptos"/>
                <a:ea typeface="Aptos"/>
                <a:cs typeface="Aptos"/>
              </a:defRPr>
            </a:pPr>
            <a:r>
              <a:rPr sz="1275" b="1">
                <a:solidFill>
                  <a:srgbClr val="CC5A43"/>
                </a:solidFill>
                <a:latin typeface="Aptos"/>
                <a:ea typeface="Aptos"/>
                <a:cs typeface="Aptos"/>
              </a:rPr>
              <a:t>03</a:t>
            </a:r>
          </a:p>
        </p:txBody>
      </p:sp>
      <p:sp>
        <p:nvSpPr>
          <p:cNvPr id="15" name="矩形 14">
            <a:extLst>
              <a:ext uri="{FF2B5EF4-FFF2-40B4-BE49-F238E27FC236}">
                <a16:creationId xmlns:a16="http://schemas.microsoft.com/office/drawing/2014/main" id="{86766E4A-A294-415C-8733-03E2FEEA2170}"/>
              </a:ext>
            </a:extLst>
          </p:cNvPr>
          <p:cNvSpPr>
            <a:spLocks noGrp="1"/>
          </p:cNvSpPr>
          <p:nvPr/>
        </p:nvSpPr>
        <p:spPr>
          <a:xfrm>
            <a:off x="6362700" y="2686050"/>
            <a:ext cx="188595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ERSSTv5 long record</a:t>
            </a:r>
          </a:p>
          <a:p>
            <a:pPr algn="l">
              <a:defRPr sz="1215" b="1">
                <a:solidFill>
                  <a:srgbClr val="1D1B18"/>
                </a:solidFill>
                <a:latin typeface="Aptos"/>
                <a:ea typeface="Aptos"/>
                <a:cs typeface="Aptos"/>
              </a:defRPr>
            </a:pPr>
            <a:r>
              <a:rPr sz="1215" b="1">
                <a:solidFill>
                  <a:srgbClr val="1D1B18"/>
                </a:solidFill>
                <a:latin typeface="Aptos"/>
                <a:ea typeface="Aptos"/>
                <a:cs typeface="Aptos"/>
              </a:rPr>
              <a:t>check historical robustness</a:t>
            </a:r>
          </a:p>
        </p:txBody>
      </p:sp>
      <p:sp>
        <p:nvSpPr>
          <p:cNvPr id="16" name="矩形 15">
            <a:extLst>
              <a:ext uri="{FF2B5EF4-FFF2-40B4-BE49-F238E27FC236}">
                <a16:creationId xmlns:a16="http://schemas.microsoft.com/office/drawing/2014/main" id="{EECFDD4E-C8FA-4097-88B2-182B92DF06CA}"/>
              </a:ext>
            </a:extLst>
          </p:cNvPr>
          <p:cNvSpPr>
            <a:spLocks noGrp="1"/>
          </p:cNvSpPr>
          <p:nvPr/>
        </p:nvSpPr>
        <p:spPr>
          <a:xfrm>
            <a:off x="8553450" y="2628900"/>
            <a:ext cx="2667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0">
                <a:solidFill>
                  <a:srgbClr val="6E675D"/>
                </a:solidFill>
                <a:latin typeface="Aptos"/>
                <a:ea typeface="Aptos"/>
                <a:cs typeface="Aptos"/>
              </a:defRPr>
            </a:pPr>
            <a:r>
              <a:rPr sz="1875" b="0">
                <a:solidFill>
                  <a:srgbClr val="6E675D"/>
                </a:solidFill>
                <a:latin typeface="Aptos"/>
                <a:ea typeface="Aptos"/>
                <a:cs typeface="Aptos"/>
              </a:rPr>
              <a:t>&gt;</a:t>
            </a:r>
          </a:p>
        </p:txBody>
      </p:sp>
      <p:sp>
        <p:nvSpPr>
          <p:cNvPr id="17" name="矩形 16">
            <a:extLst>
              <a:ext uri="{FF2B5EF4-FFF2-40B4-BE49-F238E27FC236}">
                <a16:creationId xmlns:a16="http://schemas.microsoft.com/office/drawing/2014/main" id="{5CF960AC-8D40-447E-B349-1015451D47F3}"/>
              </a:ext>
            </a:extLst>
          </p:cNvPr>
          <p:cNvSpPr>
            <a:spLocks noGrp="1"/>
          </p:cNvSpPr>
          <p:nvPr/>
        </p:nvSpPr>
        <p:spPr>
          <a:xfrm>
            <a:off x="8934450" y="2171700"/>
            <a:ext cx="2247900" cy="1524000"/>
          </a:xfrm>
          <a:prstGeom prst="rect">
            <a:avLst/>
          </a:prstGeom>
          <a:solidFill>
            <a:srgbClr val="EDF3EF"/>
          </a:solidFill>
          <a:ln w="9525">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075A937A-F8B2-4804-8AE8-0B6E3C229E11}"/>
              </a:ext>
            </a:extLst>
          </p:cNvPr>
          <p:cNvSpPr>
            <a:spLocks noGrp="1"/>
          </p:cNvSpPr>
          <p:nvPr/>
        </p:nvSpPr>
        <p:spPr>
          <a:xfrm>
            <a:off x="9096375" y="2324100"/>
            <a:ext cx="4572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2F6F73"/>
                </a:solidFill>
                <a:latin typeface="Aptos"/>
                <a:ea typeface="Aptos"/>
                <a:cs typeface="Aptos"/>
              </a:defRPr>
            </a:pPr>
            <a:r>
              <a:rPr sz="1275" b="1">
                <a:solidFill>
                  <a:srgbClr val="2F6F73"/>
                </a:solidFill>
                <a:latin typeface="Aptos"/>
                <a:ea typeface="Aptos"/>
                <a:cs typeface="Aptos"/>
              </a:rPr>
              <a:t>04</a:t>
            </a:r>
          </a:p>
        </p:txBody>
      </p:sp>
      <p:sp>
        <p:nvSpPr>
          <p:cNvPr id="19" name="矩形 18">
            <a:extLst>
              <a:ext uri="{FF2B5EF4-FFF2-40B4-BE49-F238E27FC236}">
                <a16:creationId xmlns:a16="http://schemas.microsoft.com/office/drawing/2014/main" id="{90FA5A6D-0F76-4429-9154-FFE7C6AF4F43}"/>
              </a:ext>
            </a:extLst>
          </p:cNvPr>
          <p:cNvSpPr>
            <a:spLocks noGrp="1"/>
          </p:cNvSpPr>
          <p:nvPr/>
        </p:nvSpPr>
        <p:spPr>
          <a:xfrm>
            <a:off x="9105900" y="2686050"/>
            <a:ext cx="188595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1">
                <a:solidFill>
                  <a:srgbClr val="1D1B18"/>
                </a:solidFill>
                <a:latin typeface="Aptos"/>
                <a:ea typeface="Aptos"/>
                <a:cs typeface="Aptos"/>
              </a:defRPr>
            </a:pPr>
            <a:r>
              <a:rPr sz="1215" b="1">
                <a:solidFill>
                  <a:srgbClr val="1D1B18"/>
                </a:solidFill>
                <a:latin typeface="Aptos"/>
                <a:ea typeface="Aptos"/>
                <a:cs typeface="Aptos"/>
              </a:rPr>
              <a:t>AGCM model plan</a:t>
            </a:r>
          </a:p>
          <a:p>
            <a:pPr algn="l">
              <a:defRPr sz="1215" b="1">
                <a:solidFill>
                  <a:srgbClr val="1D1B18"/>
                </a:solidFill>
                <a:latin typeface="Aptos"/>
                <a:ea typeface="Aptos"/>
                <a:cs typeface="Aptos"/>
              </a:defRPr>
            </a:pPr>
            <a:r>
              <a:rPr sz="1215" b="1">
                <a:solidFill>
                  <a:srgbClr val="1D1B18"/>
                </a:solidFill>
                <a:latin typeface="Aptos"/>
                <a:ea typeface="Aptos"/>
                <a:cs typeface="Aptos"/>
              </a:rPr>
              <a:t>Pacific-only / IO-ATL / detrended</a:t>
            </a:r>
          </a:p>
        </p:txBody>
      </p:sp>
      <p:sp>
        <p:nvSpPr>
          <p:cNvPr id="20" name="椭圆 19">
            <a:extLst>
              <a:ext uri="{FF2B5EF4-FFF2-40B4-BE49-F238E27FC236}">
                <a16:creationId xmlns:a16="http://schemas.microsoft.com/office/drawing/2014/main" id="{FBA7B859-D188-4621-8C4C-F9370DF9F581}"/>
              </a:ext>
            </a:extLst>
          </p:cNvPr>
          <p:cNvSpPr>
            <a:spLocks noGrp="1"/>
          </p:cNvSpPr>
          <p:nvPr/>
        </p:nvSpPr>
        <p:spPr>
          <a:xfrm>
            <a:off x="895350" y="45148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21" name="矩形 20">
            <a:extLst>
              <a:ext uri="{FF2B5EF4-FFF2-40B4-BE49-F238E27FC236}">
                <a16:creationId xmlns:a16="http://schemas.microsoft.com/office/drawing/2014/main" id="{D570A42C-F762-4EB9-874B-0583C5742CA9}"/>
              </a:ext>
            </a:extLst>
          </p:cNvPr>
          <p:cNvSpPr>
            <a:spLocks noGrp="1"/>
          </p:cNvSpPr>
          <p:nvPr/>
        </p:nvSpPr>
        <p:spPr>
          <a:xfrm>
            <a:off x="1085850" y="4438650"/>
            <a:ext cx="8953500" cy="4476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The research line can now start formally: diagnose developing-season coupling-efficiency loss, then strengthen mechanism evidence with ERA5/OLR.</a:t>
            </a:r>
          </a:p>
        </p:txBody>
      </p:sp>
      <p:sp>
        <p:nvSpPr>
          <p:cNvPr id="22" name="椭圆 21">
            <a:extLst>
              <a:ext uri="{FF2B5EF4-FFF2-40B4-BE49-F238E27FC236}">
                <a16:creationId xmlns:a16="http://schemas.microsoft.com/office/drawing/2014/main" id="{C7EC86B9-8DFF-4110-9601-E0D1F8420CD6}"/>
              </a:ext>
            </a:extLst>
          </p:cNvPr>
          <p:cNvSpPr>
            <a:spLocks noGrp="1"/>
          </p:cNvSpPr>
          <p:nvPr/>
        </p:nvSpPr>
        <p:spPr>
          <a:xfrm>
            <a:off x="895350" y="5010150"/>
            <a:ext cx="66675" cy="66675"/>
          </a:xfrm>
          <a:prstGeom prst="ellipse">
            <a:avLst/>
          </a:prstGeom>
          <a:solidFill>
            <a:srgbClr val="CC5A43"/>
          </a:solidFill>
          <a:ln w="0">
            <a:solidFill>
              <a:srgbClr val="000000">
                <a:alpha val="0"/>
              </a:srgbClr>
            </a:solidFill>
            <a:prstDash val="solid"/>
          </a:ln>
        </p:spPr>
        <p:txBody>
          <a:bodyPr/>
          <a:lstStyle/>
          <a:p>
            <a:endParaRPr lang="zh-CN" altLang="en-US"/>
          </a:p>
        </p:txBody>
      </p:sp>
      <p:sp>
        <p:nvSpPr>
          <p:cNvPr id="23" name="矩形 22">
            <a:extLst>
              <a:ext uri="{FF2B5EF4-FFF2-40B4-BE49-F238E27FC236}">
                <a16:creationId xmlns:a16="http://schemas.microsoft.com/office/drawing/2014/main" id="{906E1BB8-D17D-42B9-8750-161D99928873}"/>
              </a:ext>
            </a:extLst>
          </p:cNvPr>
          <p:cNvSpPr>
            <a:spLocks noGrp="1"/>
          </p:cNvSpPr>
          <p:nvPr/>
        </p:nvSpPr>
        <p:spPr>
          <a:xfrm>
            <a:off x="1085850" y="4933950"/>
            <a:ext cx="8953500" cy="4476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D1B18"/>
                </a:solidFill>
                <a:latin typeface="Aptos"/>
                <a:ea typeface="Aptos"/>
                <a:cs typeface="Aptos"/>
              </a:defRPr>
            </a:pPr>
            <a:r>
              <a:rPr sz="1350" b="0">
                <a:solidFill>
                  <a:srgbClr val="1D1B18"/>
                </a:solidFill>
                <a:latin typeface="Aptos"/>
                <a:ea typeface="Aptos"/>
                <a:cs typeface="Aptos"/>
              </a:rPr>
              <a:t>The short-term priority is not to run AGCM immediately, but to add ERA5 u850/SLP/χ200 and OLR so the wind-pressure-Walker-convection evidence becomes manuscript-grade.</a:t>
            </a:r>
          </a:p>
        </p:txBody>
      </p:sp>
      <p:sp>
        <p:nvSpPr>
          <p:cNvPr id="24" name="矩形 23">
            <a:extLst>
              <a:ext uri="{FF2B5EF4-FFF2-40B4-BE49-F238E27FC236}">
                <a16:creationId xmlns:a16="http://schemas.microsoft.com/office/drawing/2014/main" id="{A3276D19-B568-475D-8D29-5E8CA698C2F2}"/>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Data priorities from reports/当前数据分析阶段总结.md.</a:t>
            </a:r>
          </a:p>
        </p:txBody>
      </p:sp>
    </p:spTree>
    <p:extLst>
      <p:ext uri="{BB962C8B-B14F-4D97-AF65-F5344CB8AC3E}">
        <p14:creationId xmlns:p14="http://schemas.microsoft.com/office/powerpoint/2010/main" val="15347537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矩形 53">
            <a:extLst>
              <a:ext uri="{FF2B5EF4-FFF2-40B4-BE49-F238E27FC236}">
                <a16:creationId xmlns:a16="http://schemas.microsoft.com/office/drawing/2014/main" id="{764EC0D0-834C-47C5-83AC-1DAF398E3EB2}"/>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DBC7110F-EEC1-486F-BCD4-ED8433C88D70}"/>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Appendix A</a:t>
            </a:r>
          </a:p>
        </p:txBody>
      </p:sp>
      <p:sp>
        <p:nvSpPr>
          <p:cNvPr id="3" name="矩形 2">
            <a:extLst>
              <a:ext uri="{FF2B5EF4-FFF2-40B4-BE49-F238E27FC236}">
                <a16:creationId xmlns:a16="http://schemas.microsoft.com/office/drawing/2014/main" id="{5EDF00F1-8E91-4E0C-B278-982F5884D127}"/>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Slide-to-data table</a:t>
            </a:r>
          </a:p>
        </p:txBody>
      </p:sp>
      <p:sp>
        <p:nvSpPr>
          <p:cNvPr id="4" name="矩形 3">
            <a:extLst>
              <a:ext uri="{FF2B5EF4-FFF2-40B4-BE49-F238E27FC236}">
                <a16:creationId xmlns:a16="http://schemas.microsoft.com/office/drawing/2014/main" id="{A6AAAFAB-8407-4A04-B93E-6A0A880A1A65}"/>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7356983E-9669-482C-A619-23123ED155A2}"/>
              </a:ext>
            </a:extLst>
          </p:cNvPr>
          <p:cNvSpPr>
            <a:spLocks noGrp="1"/>
          </p:cNvSpPr>
          <p:nvPr/>
        </p:nvSpPr>
        <p:spPr>
          <a:xfrm>
            <a:off x="685800" y="1695450"/>
            <a:ext cx="914400" cy="533400"/>
          </a:xfrm>
          <a:prstGeom prst="rect">
            <a:avLst/>
          </a:prstGeom>
          <a:solidFill>
            <a:srgbClr val="1D1B18"/>
          </a:solidFill>
          <a:ln w="6668">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3543430A-A5EC-4C0B-BE7A-00612A66F6FD}"/>
              </a:ext>
            </a:extLst>
          </p:cNvPr>
          <p:cNvSpPr>
            <a:spLocks noGrp="1"/>
          </p:cNvSpPr>
          <p:nvPr/>
        </p:nvSpPr>
        <p:spPr>
          <a:xfrm>
            <a:off x="762000" y="17621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Slide</a:t>
            </a:r>
          </a:p>
        </p:txBody>
      </p:sp>
      <p:sp>
        <p:nvSpPr>
          <p:cNvPr id="7" name="矩形 6">
            <a:extLst>
              <a:ext uri="{FF2B5EF4-FFF2-40B4-BE49-F238E27FC236}">
                <a16:creationId xmlns:a16="http://schemas.microsoft.com/office/drawing/2014/main" id="{84A2B5DF-209B-401E-A9E9-D2621DBC35DC}"/>
              </a:ext>
            </a:extLst>
          </p:cNvPr>
          <p:cNvSpPr>
            <a:spLocks noGrp="1"/>
          </p:cNvSpPr>
          <p:nvPr/>
        </p:nvSpPr>
        <p:spPr>
          <a:xfrm>
            <a:off x="1600200" y="1695450"/>
            <a:ext cx="3733800" cy="533400"/>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FE815505-61E8-48F0-B74E-858099A3E835}"/>
              </a:ext>
            </a:extLst>
          </p:cNvPr>
          <p:cNvSpPr>
            <a:spLocks noGrp="1"/>
          </p:cNvSpPr>
          <p:nvPr/>
        </p:nvSpPr>
        <p:spPr>
          <a:xfrm>
            <a:off x="1676400" y="17621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Figure / claim</a:t>
            </a:r>
          </a:p>
        </p:txBody>
      </p:sp>
      <p:sp>
        <p:nvSpPr>
          <p:cNvPr id="9" name="矩形 8">
            <a:extLst>
              <a:ext uri="{FF2B5EF4-FFF2-40B4-BE49-F238E27FC236}">
                <a16:creationId xmlns:a16="http://schemas.microsoft.com/office/drawing/2014/main" id="{8214330B-98E9-4901-97AB-584FE08E210C}"/>
              </a:ext>
            </a:extLst>
          </p:cNvPr>
          <p:cNvSpPr>
            <a:spLocks noGrp="1"/>
          </p:cNvSpPr>
          <p:nvPr/>
        </p:nvSpPr>
        <p:spPr>
          <a:xfrm>
            <a:off x="5334000" y="1695450"/>
            <a:ext cx="5715000" cy="533400"/>
          </a:xfrm>
          <a:prstGeom prst="rect">
            <a:avLst/>
          </a:prstGeom>
          <a:solidFill>
            <a:srgbClr val="1D1B18"/>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13F0C6A7-95BF-403B-BC2A-884DB8C49FEF}"/>
              </a:ext>
            </a:extLst>
          </p:cNvPr>
          <p:cNvSpPr>
            <a:spLocks noGrp="1"/>
          </p:cNvSpPr>
          <p:nvPr/>
        </p:nvSpPr>
        <p:spPr>
          <a:xfrm>
            <a:off x="5410200" y="17621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Corresponding table</a:t>
            </a:r>
          </a:p>
        </p:txBody>
      </p:sp>
      <p:sp>
        <p:nvSpPr>
          <p:cNvPr id="11" name="矩形 10">
            <a:extLst>
              <a:ext uri="{FF2B5EF4-FFF2-40B4-BE49-F238E27FC236}">
                <a16:creationId xmlns:a16="http://schemas.microsoft.com/office/drawing/2014/main" id="{10B5DEB3-1912-4E7F-B618-449DBF7A357B}"/>
              </a:ext>
            </a:extLst>
          </p:cNvPr>
          <p:cNvSpPr>
            <a:spLocks noGrp="1"/>
          </p:cNvSpPr>
          <p:nvPr/>
        </p:nvSpPr>
        <p:spPr>
          <a:xfrm>
            <a:off x="685800" y="2228850"/>
            <a:ext cx="914400" cy="533400"/>
          </a:xfrm>
          <a:prstGeom prst="rect">
            <a:avLst/>
          </a:prstGeom>
          <a:solidFill>
            <a:srgbClr val="FBF8F1"/>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FDFD89ED-2256-410D-9239-A0BB1545D721}"/>
              </a:ext>
            </a:extLst>
          </p:cNvPr>
          <p:cNvSpPr>
            <a:spLocks noGrp="1"/>
          </p:cNvSpPr>
          <p:nvPr/>
        </p:nvSpPr>
        <p:spPr>
          <a:xfrm>
            <a:off x="762000" y="22955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5</a:t>
            </a:r>
          </a:p>
        </p:txBody>
      </p:sp>
      <p:sp>
        <p:nvSpPr>
          <p:cNvPr id="13" name="矩形 12">
            <a:extLst>
              <a:ext uri="{FF2B5EF4-FFF2-40B4-BE49-F238E27FC236}">
                <a16:creationId xmlns:a16="http://schemas.microsoft.com/office/drawing/2014/main" id="{FD6A2D96-1B29-4D53-8A2F-66A756E31A6C}"/>
              </a:ext>
            </a:extLst>
          </p:cNvPr>
          <p:cNvSpPr>
            <a:spLocks noGrp="1"/>
          </p:cNvSpPr>
          <p:nvPr/>
        </p:nvSpPr>
        <p:spPr>
          <a:xfrm>
            <a:off x="1600200" y="2228850"/>
            <a:ext cx="3733800" cy="533400"/>
          </a:xfrm>
          <a:prstGeom prst="rect">
            <a:avLst/>
          </a:prstGeom>
          <a:solidFill>
            <a:srgbClr val="FBF8F1"/>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FA744DE1-37A1-4FAE-9FF8-6C149E85A8AD}"/>
              </a:ext>
            </a:extLst>
          </p:cNvPr>
          <p:cNvSpPr>
            <a:spLocks noGrp="1"/>
          </p:cNvSpPr>
          <p:nvPr/>
        </p:nvSpPr>
        <p:spPr>
          <a:xfrm>
            <a:off x="1676400" y="22955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 1 event strength and coupling ratios</a:t>
            </a:r>
          </a:p>
        </p:txBody>
      </p:sp>
      <p:sp>
        <p:nvSpPr>
          <p:cNvPr id="15" name="矩形 14">
            <a:extLst>
              <a:ext uri="{FF2B5EF4-FFF2-40B4-BE49-F238E27FC236}">
                <a16:creationId xmlns:a16="http://schemas.microsoft.com/office/drawing/2014/main" id="{8518CE52-0F4A-4ED2-A596-2DDE4928D866}"/>
              </a:ext>
            </a:extLst>
          </p:cNvPr>
          <p:cNvSpPr>
            <a:spLocks noGrp="1"/>
          </p:cNvSpPr>
          <p:nvPr/>
        </p:nvSpPr>
        <p:spPr>
          <a:xfrm>
            <a:off x="5334000" y="2228850"/>
            <a:ext cx="5715000" cy="533400"/>
          </a:xfrm>
          <a:prstGeom prst="rect">
            <a:avLst/>
          </a:prstGeom>
          <a:solidFill>
            <a:srgbClr val="FBF8F1"/>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5995184F-2959-4349-AFE4-CEFA319CBBB4}"/>
              </a:ext>
            </a:extLst>
          </p:cNvPr>
          <p:cNvSpPr>
            <a:spLocks noGrp="1"/>
          </p:cNvSpPr>
          <p:nvPr/>
        </p:nvSpPr>
        <p:spPr>
          <a:xfrm>
            <a:off x="5410200" y="22955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fig1_event_coupling.csv</a:t>
            </a:r>
          </a:p>
        </p:txBody>
      </p:sp>
      <p:sp>
        <p:nvSpPr>
          <p:cNvPr id="17" name="矩形 16">
            <a:extLst>
              <a:ext uri="{FF2B5EF4-FFF2-40B4-BE49-F238E27FC236}">
                <a16:creationId xmlns:a16="http://schemas.microsoft.com/office/drawing/2014/main" id="{C34ABABF-BB9A-41CA-8F83-99E09A548AC3}"/>
              </a:ext>
            </a:extLst>
          </p:cNvPr>
          <p:cNvSpPr>
            <a:spLocks noGrp="1"/>
          </p:cNvSpPr>
          <p:nvPr/>
        </p:nvSpPr>
        <p:spPr>
          <a:xfrm>
            <a:off x="685800" y="2762250"/>
            <a:ext cx="914400" cy="533400"/>
          </a:xfrm>
          <a:prstGeom prst="rect">
            <a:avLst/>
          </a:prstGeom>
          <a:solidFill>
            <a:srgbClr val="F3EDE2"/>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332BAC56-1045-42E6-8B60-C0C8C1D2901A}"/>
              </a:ext>
            </a:extLst>
          </p:cNvPr>
          <p:cNvSpPr>
            <a:spLocks noGrp="1"/>
          </p:cNvSpPr>
          <p:nvPr/>
        </p:nvSpPr>
        <p:spPr>
          <a:xfrm>
            <a:off x="762000" y="28289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6</a:t>
            </a:r>
          </a:p>
        </p:txBody>
      </p:sp>
      <p:sp>
        <p:nvSpPr>
          <p:cNvPr id="19" name="矩形 18">
            <a:extLst>
              <a:ext uri="{FF2B5EF4-FFF2-40B4-BE49-F238E27FC236}">
                <a16:creationId xmlns:a16="http://schemas.microsoft.com/office/drawing/2014/main" id="{6FFD4069-2593-486F-972F-147CF2DF8B92}"/>
              </a:ext>
            </a:extLst>
          </p:cNvPr>
          <p:cNvSpPr>
            <a:spLocks noGrp="1"/>
          </p:cNvSpPr>
          <p:nvPr/>
        </p:nvSpPr>
        <p:spPr>
          <a:xfrm>
            <a:off x="1600200" y="2762250"/>
            <a:ext cx="3733800" cy="533400"/>
          </a:xfrm>
          <a:prstGeom prst="rect">
            <a:avLst/>
          </a:prstGeom>
          <a:solidFill>
            <a:srgbClr val="F3EDE2"/>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7155A79A-924C-4650-8AF0-03C0F9F7B191}"/>
              </a:ext>
            </a:extLst>
          </p:cNvPr>
          <p:cNvSpPr>
            <a:spLocks noGrp="1"/>
          </p:cNvSpPr>
          <p:nvPr/>
        </p:nvSpPr>
        <p:spPr>
          <a:xfrm>
            <a:off x="1676400" y="28289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 2 equatorial propagation diagnostics</a:t>
            </a:r>
          </a:p>
        </p:txBody>
      </p:sp>
      <p:sp>
        <p:nvSpPr>
          <p:cNvPr id="21" name="矩形 20">
            <a:extLst>
              <a:ext uri="{FF2B5EF4-FFF2-40B4-BE49-F238E27FC236}">
                <a16:creationId xmlns:a16="http://schemas.microsoft.com/office/drawing/2014/main" id="{5BD6577D-0317-46B6-AEB1-D86598EAF7C6}"/>
              </a:ext>
            </a:extLst>
          </p:cNvPr>
          <p:cNvSpPr>
            <a:spLocks noGrp="1"/>
          </p:cNvSpPr>
          <p:nvPr/>
        </p:nvSpPr>
        <p:spPr>
          <a:xfrm>
            <a:off x="5334000" y="2762250"/>
            <a:ext cx="5715000" cy="533400"/>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8A35258F-7F35-4E41-8F97-C42354C4152C}"/>
              </a:ext>
            </a:extLst>
          </p:cNvPr>
          <p:cNvSpPr>
            <a:spLocks noGrp="1"/>
          </p:cNvSpPr>
          <p:nvPr/>
        </p:nvSpPr>
        <p:spPr>
          <a:xfrm>
            <a:off x="5410200" y="28289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fig2_equatorial_summary.csv</a:t>
            </a:r>
          </a:p>
        </p:txBody>
      </p:sp>
      <p:sp>
        <p:nvSpPr>
          <p:cNvPr id="23" name="矩形 22">
            <a:extLst>
              <a:ext uri="{FF2B5EF4-FFF2-40B4-BE49-F238E27FC236}">
                <a16:creationId xmlns:a16="http://schemas.microsoft.com/office/drawing/2014/main" id="{2601B2DA-6677-421D-97D7-D828C02E2EB3}"/>
              </a:ext>
            </a:extLst>
          </p:cNvPr>
          <p:cNvSpPr>
            <a:spLocks noGrp="1"/>
          </p:cNvSpPr>
          <p:nvPr/>
        </p:nvSpPr>
        <p:spPr>
          <a:xfrm>
            <a:off x="685800" y="3295650"/>
            <a:ext cx="914400" cy="533400"/>
          </a:xfrm>
          <a:prstGeom prst="rect">
            <a:avLst/>
          </a:prstGeom>
          <a:solidFill>
            <a:srgbClr val="FBF8F1"/>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ED19A81A-DE22-4F4B-A6DB-6227A1BC2CDD}"/>
              </a:ext>
            </a:extLst>
          </p:cNvPr>
          <p:cNvSpPr>
            <a:spLocks noGrp="1"/>
          </p:cNvSpPr>
          <p:nvPr/>
        </p:nvSpPr>
        <p:spPr>
          <a:xfrm>
            <a:off x="762000" y="33623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7</a:t>
            </a:r>
          </a:p>
        </p:txBody>
      </p:sp>
      <p:sp>
        <p:nvSpPr>
          <p:cNvPr id="25" name="矩形 24">
            <a:extLst>
              <a:ext uri="{FF2B5EF4-FFF2-40B4-BE49-F238E27FC236}">
                <a16:creationId xmlns:a16="http://schemas.microsoft.com/office/drawing/2014/main" id="{1A1C5013-7795-4AA9-90DA-B978225DA9B5}"/>
              </a:ext>
            </a:extLst>
          </p:cNvPr>
          <p:cNvSpPr>
            <a:spLocks noGrp="1"/>
          </p:cNvSpPr>
          <p:nvPr/>
        </p:nvSpPr>
        <p:spPr>
          <a:xfrm>
            <a:off x="1600200" y="3295650"/>
            <a:ext cx="3733800" cy="533400"/>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11628876-088F-4FE8-9D36-DEEE030D46A7}"/>
              </a:ext>
            </a:extLst>
          </p:cNvPr>
          <p:cNvSpPr>
            <a:spLocks noGrp="1"/>
          </p:cNvSpPr>
          <p:nvPr/>
        </p:nvSpPr>
        <p:spPr>
          <a:xfrm>
            <a:off x="1676400" y="33623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 3-4 AGCM and wind-stress experiments</a:t>
            </a:r>
          </a:p>
        </p:txBody>
      </p:sp>
      <p:sp>
        <p:nvSpPr>
          <p:cNvPr id="27" name="矩形 26">
            <a:extLst>
              <a:ext uri="{FF2B5EF4-FFF2-40B4-BE49-F238E27FC236}">
                <a16:creationId xmlns:a16="http://schemas.microsoft.com/office/drawing/2014/main" id="{ECC3B1D6-6FDB-42F6-82FD-C319A475E271}"/>
              </a:ext>
            </a:extLst>
          </p:cNvPr>
          <p:cNvSpPr>
            <a:spLocks noGrp="1"/>
          </p:cNvSpPr>
          <p:nvPr/>
        </p:nvSpPr>
        <p:spPr>
          <a:xfrm>
            <a:off x="5334000" y="3295650"/>
            <a:ext cx="5715000" cy="533400"/>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8837B84F-357F-4771-9400-C46EB2E748A2}"/>
              </a:ext>
            </a:extLst>
          </p:cNvPr>
          <p:cNvSpPr>
            <a:spLocks noGrp="1"/>
          </p:cNvSpPr>
          <p:nvPr/>
        </p:nvSpPr>
        <p:spPr>
          <a:xfrm>
            <a:off x="5410200" y="33623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fig3_agcm_summary.csv; fig4_wind_experiment_summary.csv</a:t>
            </a:r>
          </a:p>
        </p:txBody>
      </p:sp>
      <p:sp>
        <p:nvSpPr>
          <p:cNvPr id="29" name="矩形 28">
            <a:extLst>
              <a:ext uri="{FF2B5EF4-FFF2-40B4-BE49-F238E27FC236}">
                <a16:creationId xmlns:a16="http://schemas.microsoft.com/office/drawing/2014/main" id="{90B9BB5E-8CD4-4231-BFCF-97CA4F0F5CEC}"/>
              </a:ext>
            </a:extLst>
          </p:cNvPr>
          <p:cNvSpPr>
            <a:spLocks noGrp="1"/>
          </p:cNvSpPr>
          <p:nvPr/>
        </p:nvSpPr>
        <p:spPr>
          <a:xfrm>
            <a:off x="685800" y="3829050"/>
            <a:ext cx="914400" cy="533400"/>
          </a:xfrm>
          <a:prstGeom prst="rect">
            <a:avLst/>
          </a:prstGeom>
          <a:solidFill>
            <a:srgbClr val="F3EDE2"/>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623DAAED-20C5-4AD5-84CA-62DD1E892334}"/>
              </a:ext>
            </a:extLst>
          </p:cNvPr>
          <p:cNvSpPr>
            <a:spLocks noGrp="1"/>
          </p:cNvSpPr>
          <p:nvPr/>
        </p:nvSpPr>
        <p:spPr>
          <a:xfrm>
            <a:off x="762000" y="38957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9</a:t>
            </a:r>
          </a:p>
        </p:txBody>
      </p:sp>
      <p:sp>
        <p:nvSpPr>
          <p:cNvPr id="31" name="矩形 30">
            <a:extLst>
              <a:ext uri="{FF2B5EF4-FFF2-40B4-BE49-F238E27FC236}">
                <a16:creationId xmlns:a16="http://schemas.microsoft.com/office/drawing/2014/main" id="{E9D0712A-3F91-4000-8B3E-218AA1D56348}"/>
              </a:ext>
            </a:extLst>
          </p:cNvPr>
          <p:cNvSpPr>
            <a:spLocks noGrp="1"/>
          </p:cNvSpPr>
          <p:nvPr/>
        </p:nvSpPr>
        <p:spPr>
          <a:xfrm>
            <a:off x="1600200" y="3829050"/>
            <a:ext cx="3733800" cy="533400"/>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3177FD1B-4AB9-4C6B-A356-68D9BCB50C0E}"/>
              </a:ext>
            </a:extLst>
          </p:cNvPr>
          <p:cNvSpPr>
            <a:spLocks noGrp="1"/>
          </p:cNvSpPr>
          <p:nvPr/>
        </p:nvSpPr>
        <p:spPr>
          <a:xfrm>
            <a:off x="1676400" y="38957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OISST/GPCP/NCEP independent validation</a:t>
            </a:r>
          </a:p>
        </p:txBody>
      </p:sp>
      <p:sp>
        <p:nvSpPr>
          <p:cNvPr id="33" name="矩形 32">
            <a:extLst>
              <a:ext uri="{FF2B5EF4-FFF2-40B4-BE49-F238E27FC236}">
                <a16:creationId xmlns:a16="http://schemas.microsoft.com/office/drawing/2014/main" id="{26AB0518-B11D-4C6C-9D9C-8C4A7702440F}"/>
              </a:ext>
            </a:extLst>
          </p:cNvPr>
          <p:cNvSpPr>
            <a:spLocks noGrp="1"/>
          </p:cNvSpPr>
          <p:nvPr/>
        </p:nvSpPr>
        <p:spPr>
          <a:xfrm>
            <a:off x="5334000" y="3829050"/>
            <a:ext cx="5715000" cy="533400"/>
          </a:xfrm>
          <a:prstGeom prst="rect">
            <a:avLst/>
          </a:prstGeom>
          <a:solidFill>
            <a:srgbClr val="F3EDE2"/>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CDA5BEBD-AF2D-4329-864D-D9B40DB5E920}"/>
              </a:ext>
            </a:extLst>
          </p:cNvPr>
          <p:cNvSpPr>
            <a:spLocks noGrp="1"/>
          </p:cNvSpPr>
          <p:nvPr/>
        </p:nvSpPr>
        <p:spPr>
          <a:xfrm>
            <a:off x="5410200" y="38957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oisst_vs_fig1_nino3.csv; gpcp_vs_fig2_precip.csv; ncep_vs_fig1_atmosphere.csv</a:t>
            </a:r>
          </a:p>
        </p:txBody>
      </p:sp>
      <p:sp>
        <p:nvSpPr>
          <p:cNvPr id="35" name="矩形 34">
            <a:extLst>
              <a:ext uri="{FF2B5EF4-FFF2-40B4-BE49-F238E27FC236}">
                <a16:creationId xmlns:a16="http://schemas.microsoft.com/office/drawing/2014/main" id="{E8A57F5D-AA53-42D7-9003-4CD6DC590867}"/>
              </a:ext>
            </a:extLst>
          </p:cNvPr>
          <p:cNvSpPr>
            <a:spLocks noGrp="1"/>
          </p:cNvSpPr>
          <p:nvPr/>
        </p:nvSpPr>
        <p:spPr>
          <a:xfrm>
            <a:off x="685800" y="4362450"/>
            <a:ext cx="914400" cy="533400"/>
          </a:xfrm>
          <a:prstGeom prst="rect">
            <a:avLst/>
          </a:prstGeom>
          <a:solidFill>
            <a:srgbClr val="FBF8F1"/>
          </a:solidFill>
          <a:ln w="6668">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73DF7FE0-C2DF-45D3-BC1E-E578AA85B625}"/>
              </a:ext>
            </a:extLst>
          </p:cNvPr>
          <p:cNvSpPr>
            <a:spLocks noGrp="1"/>
          </p:cNvSpPr>
          <p:nvPr/>
        </p:nvSpPr>
        <p:spPr>
          <a:xfrm>
            <a:off x="762000" y="44291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10</a:t>
            </a:r>
          </a:p>
        </p:txBody>
      </p:sp>
      <p:sp>
        <p:nvSpPr>
          <p:cNvPr id="37" name="矩形 36">
            <a:extLst>
              <a:ext uri="{FF2B5EF4-FFF2-40B4-BE49-F238E27FC236}">
                <a16:creationId xmlns:a16="http://schemas.microsoft.com/office/drawing/2014/main" id="{83EBCA8A-2CE4-415B-8DC8-365B34EA0D47}"/>
              </a:ext>
            </a:extLst>
          </p:cNvPr>
          <p:cNvSpPr>
            <a:spLocks noGrp="1"/>
          </p:cNvSpPr>
          <p:nvPr/>
        </p:nvSpPr>
        <p:spPr>
          <a:xfrm>
            <a:off x="1600200" y="4362450"/>
            <a:ext cx="3733800" cy="533400"/>
          </a:xfrm>
          <a:prstGeom prst="rect">
            <a:avLst/>
          </a:prstGeom>
          <a:solidFill>
            <a:srgbClr val="FBF8F1"/>
          </a:solidFill>
          <a:ln w="6668">
            <a:solidFill>
              <a:srgbClr val="D8D1C4"/>
            </a:solidFill>
            <a:prstDash val="solid"/>
          </a:ln>
        </p:spPr>
        <p:txBody>
          <a:bodyPr/>
          <a:lstStyle/>
          <a:p>
            <a:endParaRPr lang="zh-CN" altLang="en-US"/>
          </a:p>
        </p:txBody>
      </p:sp>
      <p:sp>
        <p:nvSpPr>
          <p:cNvPr id="38" name="矩形 37">
            <a:extLst>
              <a:ext uri="{FF2B5EF4-FFF2-40B4-BE49-F238E27FC236}">
                <a16:creationId xmlns:a16="http://schemas.microsoft.com/office/drawing/2014/main" id="{B7FE5A47-F00B-4708-AEF6-2D2522FFAFAF}"/>
              </a:ext>
            </a:extLst>
          </p:cNvPr>
          <p:cNvSpPr>
            <a:spLocks noGrp="1"/>
          </p:cNvSpPr>
          <p:nvPr/>
        </p:nvSpPr>
        <p:spPr>
          <a:xfrm>
            <a:off x="1676400" y="44291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AMJ/JJA historical coupling efficiency</a:t>
            </a:r>
          </a:p>
        </p:txBody>
      </p:sp>
      <p:sp>
        <p:nvSpPr>
          <p:cNvPr id="39" name="矩形 38">
            <a:extLst>
              <a:ext uri="{FF2B5EF4-FFF2-40B4-BE49-F238E27FC236}">
                <a16:creationId xmlns:a16="http://schemas.microsoft.com/office/drawing/2014/main" id="{256C66E1-0A02-4ABF-8C79-AB46D044F82C}"/>
              </a:ext>
            </a:extLst>
          </p:cNvPr>
          <p:cNvSpPr>
            <a:spLocks noGrp="1"/>
          </p:cNvSpPr>
          <p:nvPr/>
        </p:nvSpPr>
        <p:spPr>
          <a:xfrm>
            <a:off x="5334000" y="4362450"/>
            <a:ext cx="5715000" cy="533400"/>
          </a:xfrm>
          <a:prstGeom prst="rect">
            <a:avLst/>
          </a:prstGeom>
          <a:solidFill>
            <a:srgbClr val="FBF8F1"/>
          </a:solidFill>
          <a:ln w="6668">
            <a:solidFill>
              <a:srgbClr val="D8D1C4"/>
            </a:solidFill>
            <a:prstDash val="solid"/>
          </a:ln>
        </p:spPr>
        <p:txBody>
          <a:bodyPr/>
          <a:lstStyle/>
          <a:p>
            <a:endParaRPr lang="zh-CN" altLang="en-US"/>
          </a:p>
        </p:txBody>
      </p:sp>
      <p:sp>
        <p:nvSpPr>
          <p:cNvPr id="40" name="矩形 39">
            <a:extLst>
              <a:ext uri="{FF2B5EF4-FFF2-40B4-BE49-F238E27FC236}">
                <a16:creationId xmlns:a16="http://schemas.microsoft.com/office/drawing/2014/main" id="{AE5AC61B-85BE-42A5-A6BA-3C9C3CA513E7}"/>
              </a:ext>
            </a:extLst>
          </p:cNvPr>
          <p:cNvSpPr>
            <a:spLocks noGrp="1"/>
          </p:cNvSpPr>
          <p:nvPr/>
        </p:nvSpPr>
        <p:spPr>
          <a:xfrm>
            <a:off x="5410200" y="44291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asynchronous_coupling_efficiency.csv; seasonal_asynchrony_matrix.csv</a:t>
            </a:r>
          </a:p>
        </p:txBody>
      </p:sp>
      <p:sp>
        <p:nvSpPr>
          <p:cNvPr id="41" name="矩形 40">
            <a:extLst>
              <a:ext uri="{FF2B5EF4-FFF2-40B4-BE49-F238E27FC236}">
                <a16:creationId xmlns:a16="http://schemas.microsoft.com/office/drawing/2014/main" id="{6B28E91E-48B5-4F49-8102-B678DD365A67}"/>
              </a:ext>
            </a:extLst>
          </p:cNvPr>
          <p:cNvSpPr>
            <a:spLocks noGrp="1"/>
          </p:cNvSpPr>
          <p:nvPr/>
        </p:nvSpPr>
        <p:spPr>
          <a:xfrm>
            <a:off x="685800" y="4895850"/>
            <a:ext cx="914400" cy="533400"/>
          </a:xfrm>
          <a:prstGeom prst="rect">
            <a:avLst/>
          </a:prstGeom>
          <a:solidFill>
            <a:srgbClr val="F3EDE2"/>
          </a:solidFill>
          <a:ln w="6668">
            <a:solidFill>
              <a:srgbClr val="D8D1C4"/>
            </a:solidFill>
            <a:prstDash val="solid"/>
          </a:ln>
        </p:spPr>
        <p:txBody>
          <a:bodyPr/>
          <a:lstStyle/>
          <a:p>
            <a:endParaRPr lang="zh-CN" altLang="en-US"/>
          </a:p>
        </p:txBody>
      </p:sp>
      <p:sp>
        <p:nvSpPr>
          <p:cNvPr id="42" name="矩形 41">
            <a:extLst>
              <a:ext uri="{FF2B5EF4-FFF2-40B4-BE49-F238E27FC236}">
                <a16:creationId xmlns:a16="http://schemas.microsoft.com/office/drawing/2014/main" id="{9AE74BC0-CA25-489A-969E-560D2FE7BAD2}"/>
              </a:ext>
            </a:extLst>
          </p:cNvPr>
          <p:cNvSpPr>
            <a:spLocks noGrp="1"/>
          </p:cNvSpPr>
          <p:nvPr/>
        </p:nvSpPr>
        <p:spPr>
          <a:xfrm>
            <a:off x="762000" y="49625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11-12</a:t>
            </a:r>
          </a:p>
        </p:txBody>
      </p:sp>
      <p:sp>
        <p:nvSpPr>
          <p:cNvPr id="43" name="矩形 42">
            <a:extLst>
              <a:ext uri="{FF2B5EF4-FFF2-40B4-BE49-F238E27FC236}">
                <a16:creationId xmlns:a16="http://schemas.microsoft.com/office/drawing/2014/main" id="{A800AC26-B06C-4E26-8B36-A3A5A8A0387D}"/>
              </a:ext>
            </a:extLst>
          </p:cNvPr>
          <p:cNvSpPr>
            <a:spLocks noGrp="1"/>
          </p:cNvSpPr>
          <p:nvPr/>
        </p:nvSpPr>
        <p:spPr>
          <a:xfrm>
            <a:off x="1600200" y="4895850"/>
            <a:ext cx="3733800" cy="533400"/>
          </a:xfrm>
          <a:prstGeom prst="rect">
            <a:avLst/>
          </a:prstGeom>
          <a:solidFill>
            <a:srgbClr val="F3EDE2"/>
          </a:solidFill>
          <a:ln w="6668">
            <a:solidFill>
              <a:srgbClr val="D8D1C4"/>
            </a:solidFill>
            <a:prstDash val="solid"/>
          </a:ln>
        </p:spPr>
        <p:txBody>
          <a:bodyPr/>
          <a:lstStyle/>
          <a:p>
            <a:endParaRPr lang="zh-CN" altLang="en-US"/>
          </a:p>
        </p:txBody>
      </p:sp>
      <p:sp>
        <p:nvSpPr>
          <p:cNvPr id="44" name="矩形 43">
            <a:extLst>
              <a:ext uri="{FF2B5EF4-FFF2-40B4-BE49-F238E27FC236}">
                <a16:creationId xmlns:a16="http://schemas.microsoft.com/office/drawing/2014/main" id="{A3684163-733F-4E3F-8C1F-BDE1389E9133}"/>
              </a:ext>
            </a:extLst>
          </p:cNvPr>
          <p:cNvSpPr>
            <a:spLocks noGrp="1"/>
          </p:cNvSpPr>
          <p:nvPr/>
        </p:nvSpPr>
        <p:spPr>
          <a:xfrm>
            <a:off x="1676400" y="49625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AMJ/JJA spatial SST/rainfall/wind/pressure</a:t>
            </a:r>
          </a:p>
        </p:txBody>
      </p:sp>
      <p:sp>
        <p:nvSpPr>
          <p:cNvPr id="45" name="矩形 44">
            <a:extLst>
              <a:ext uri="{FF2B5EF4-FFF2-40B4-BE49-F238E27FC236}">
                <a16:creationId xmlns:a16="http://schemas.microsoft.com/office/drawing/2014/main" id="{222DA673-13CD-43E7-AFB8-2AC99F0EFF49}"/>
              </a:ext>
            </a:extLst>
          </p:cNvPr>
          <p:cNvSpPr>
            <a:spLocks noGrp="1"/>
          </p:cNvSpPr>
          <p:nvPr/>
        </p:nvSpPr>
        <p:spPr>
          <a:xfrm>
            <a:off x="5334000" y="4895850"/>
            <a:ext cx="5715000" cy="533400"/>
          </a:xfrm>
          <a:prstGeom prst="rect">
            <a:avLst/>
          </a:prstGeom>
          <a:solidFill>
            <a:srgbClr val="F3EDE2"/>
          </a:solidFill>
          <a:ln w="6668">
            <a:solidFill>
              <a:srgbClr val="D8D1C4"/>
            </a:solidFill>
            <a:prstDash val="solid"/>
          </a:ln>
        </p:spPr>
        <p:txBody>
          <a:bodyPr/>
          <a:lstStyle/>
          <a:p>
            <a:endParaRPr lang="zh-CN" altLang="en-US"/>
          </a:p>
        </p:txBody>
      </p:sp>
      <p:sp>
        <p:nvSpPr>
          <p:cNvPr id="46" name="矩形 45">
            <a:extLst>
              <a:ext uri="{FF2B5EF4-FFF2-40B4-BE49-F238E27FC236}">
                <a16:creationId xmlns:a16="http://schemas.microsoft.com/office/drawing/2014/main" id="{9CA3EEAF-BBF4-4DAB-A2F5-2B85C29F67AC}"/>
              </a:ext>
            </a:extLst>
          </p:cNvPr>
          <p:cNvSpPr>
            <a:spLocks noGrp="1"/>
          </p:cNvSpPr>
          <p:nvPr/>
        </p:nvSpPr>
        <p:spPr>
          <a:xfrm>
            <a:off x="5410200" y="49625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stage_a_spatial_summary.csv</a:t>
            </a:r>
          </a:p>
        </p:txBody>
      </p:sp>
      <p:sp>
        <p:nvSpPr>
          <p:cNvPr id="47" name="矩形 46">
            <a:extLst>
              <a:ext uri="{FF2B5EF4-FFF2-40B4-BE49-F238E27FC236}">
                <a16:creationId xmlns:a16="http://schemas.microsoft.com/office/drawing/2014/main" id="{8A3F99D7-6CC4-48FA-951B-C8544B317685}"/>
              </a:ext>
            </a:extLst>
          </p:cNvPr>
          <p:cNvSpPr>
            <a:spLocks noGrp="1"/>
          </p:cNvSpPr>
          <p:nvPr/>
        </p:nvSpPr>
        <p:spPr>
          <a:xfrm>
            <a:off x="685800" y="5429250"/>
            <a:ext cx="914400" cy="533400"/>
          </a:xfrm>
          <a:prstGeom prst="rect">
            <a:avLst/>
          </a:prstGeom>
          <a:solidFill>
            <a:srgbClr val="FBF8F1"/>
          </a:solidFill>
          <a:ln w="6668">
            <a:solidFill>
              <a:srgbClr val="D8D1C4"/>
            </a:solidFill>
            <a:prstDash val="solid"/>
          </a:ln>
        </p:spPr>
        <p:txBody>
          <a:bodyPr/>
          <a:lstStyle/>
          <a:p>
            <a:endParaRPr lang="zh-CN" altLang="en-US"/>
          </a:p>
        </p:txBody>
      </p:sp>
      <p:sp>
        <p:nvSpPr>
          <p:cNvPr id="48" name="矩形 47">
            <a:extLst>
              <a:ext uri="{FF2B5EF4-FFF2-40B4-BE49-F238E27FC236}">
                <a16:creationId xmlns:a16="http://schemas.microsoft.com/office/drawing/2014/main" id="{E05F7186-BEFB-44F3-8D0D-688E14301AC2}"/>
              </a:ext>
            </a:extLst>
          </p:cNvPr>
          <p:cNvSpPr>
            <a:spLocks noGrp="1"/>
          </p:cNvSpPr>
          <p:nvPr/>
        </p:nvSpPr>
        <p:spPr>
          <a:xfrm>
            <a:off x="762000" y="5495925"/>
            <a:ext cx="7620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13</a:t>
            </a:r>
          </a:p>
        </p:txBody>
      </p:sp>
      <p:sp>
        <p:nvSpPr>
          <p:cNvPr id="49" name="矩形 48">
            <a:extLst>
              <a:ext uri="{FF2B5EF4-FFF2-40B4-BE49-F238E27FC236}">
                <a16:creationId xmlns:a16="http://schemas.microsoft.com/office/drawing/2014/main" id="{C6F7F237-4624-4574-8D81-54AF5D7633F8}"/>
              </a:ext>
            </a:extLst>
          </p:cNvPr>
          <p:cNvSpPr>
            <a:spLocks noGrp="1"/>
          </p:cNvSpPr>
          <p:nvPr/>
        </p:nvSpPr>
        <p:spPr>
          <a:xfrm>
            <a:off x="1600200" y="5429250"/>
            <a:ext cx="3733800" cy="533400"/>
          </a:xfrm>
          <a:prstGeom prst="rect">
            <a:avLst/>
          </a:prstGeom>
          <a:solidFill>
            <a:srgbClr val="FBF8F1"/>
          </a:solidFill>
          <a:ln w="6668">
            <a:solidFill>
              <a:srgbClr val="D8D1C4"/>
            </a:solidFill>
            <a:prstDash val="solid"/>
          </a:ln>
        </p:spPr>
        <p:txBody>
          <a:bodyPr/>
          <a:lstStyle/>
          <a:p>
            <a:endParaRPr lang="zh-CN" altLang="en-US"/>
          </a:p>
        </p:txBody>
      </p:sp>
      <p:sp>
        <p:nvSpPr>
          <p:cNvPr id="50" name="矩形 49">
            <a:extLst>
              <a:ext uri="{FF2B5EF4-FFF2-40B4-BE49-F238E27FC236}">
                <a16:creationId xmlns:a16="http://schemas.microsoft.com/office/drawing/2014/main" id="{EBF8D6A5-C72D-4008-A888-3C57B94252F3}"/>
              </a:ext>
            </a:extLst>
          </p:cNvPr>
          <p:cNvSpPr>
            <a:spLocks noGrp="1"/>
          </p:cNvSpPr>
          <p:nvPr/>
        </p:nvSpPr>
        <p:spPr>
          <a:xfrm>
            <a:off x="1676400" y="5495925"/>
            <a:ext cx="35814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External-basin warmth and seasonal efficiency</a:t>
            </a:r>
          </a:p>
        </p:txBody>
      </p:sp>
      <p:sp>
        <p:nvSpPr>
          <p:cNvPr id="51" name="矩形 50">
            <a:extLst>
              <a:ext uri="{FF2B5EF4-FFF2-40B4-BE49-F238E27FC236}">
                <a16:creationId xmlns:a16="http://schemas.microsoft.com/office/drawing/2014/main" id="{3A505993-2DC8-47C3-9A0C-CC63F6FFCCB1}"/>
              </a:ext>
            </a:extLst>
          </p:cNvPr>
          <p:cNvSpPr>
            <a:spLocks noGrp="1"/>
          </p:cNvSpPr>
          <p:nvPr/>
        </p:nvSpPr>
        <p:spPr>
          <a:xfrm>
            <a:off x="5334000" y="5429250"/>
            <a:ext cx="5715000" cy="533400"/>
          </a:xfrm>
          <a:prstGeom prst="rect">
            <a:avLst/>
          </a:prstGeom>
          <a:solidFill>
            <a:srgbClr val="FBF8F1"/>
          </a:solidFill>
          <a:ln w="6668">
            <a:solidFill>
              <a:srgbClr val="D8D1C4"/>
            </a:solidFill>
            <a:prstDash val="solid"/>
          </a:ln>
        </p:spPr>
        <p:txBody>
          <a:bodyPr/>
          <a:lstStyle/>
          <a:p>
            <a:endParaRPr lang="zh-CN" altLang="en-US"/>
          </a:p>
        </p:txBody>
      </p:sp>
      <p:sp>
        <p:nvSpPr>
          <p:cNvPr id="52" name="矩形 51">
            <a:extLst>
              <a:ext uri="{FF2B5EF4-FFF2-40B4-BE49-F238E27FC236}">
                <a16:creationId xmlns:a16="http://schemas.microsoft.com/office/drawing/2014/main" id="{80DAFD0D-FC71-4DB6-8D9B-4ACFF09A8BEC}"/>
              </a:ext>
            </a:extLst>
          </p:cNvPr>
          <p:cNvSpPr>
            <a:spLocks noGrp="1"/>
          </p:cNvSpPr>
          <p:nvPr/>
        </p:nvSpPr>
        <p:spPr>
          <a:xfrm>
            <a:off x="5410200" y="5495925"/>
            <a:ext cx="55626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D1B18"/>
                </a:solidFill>
                <a:latin typeface="Aptos"/>
                <a:ea typeface="Aptos"/>
                <a:cs typeface="Aptos"/>
              </a:defRPr>
            </a:pPr>
            <a:r>
              <a:rPr sz="863" b="0">
                <a:solidFill>
                  <a:srgbClr val="1D1B18"/>
                </a:solidFill>
                <a:latin typeface="Aptos"/>
                <a:ea typeface="Aptos"/>
                <a:cs typeface="Aptos"/>
              </a:rPr>
              <a:t>external_basin_seasonal_summary.csv</a:t>
            </a:r>
          </a:p>
        </p:txBody>
      </p:sp>
      <p:sp>
        <p:nvSpPr>
          <p:cNvPr id="53" name="矩形 52">
            <a:extLst>
              <a:ext uri="{FF2B5EF4-FFF2-40B4-BE49-F238E27FC236}">
                <a16:creationId xmlns:a16="http://schemas.microsoft.com/office/drawing/2014/main" id="{8241D7E1-D468-415B-95DD-FA5247D42E6E}"/>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All paths are under /Users/daiyue/Documents/Maryland/data/derived.</a:t>
            </a:r>
          </a:p>
        </p:txBody>
      </p:sp>
    </p:spTree>
    <p:extLst>
      <p:ext uri="{BB962C8B-B14F-4D97-AF65-F5344CB8AC3E}">
        <p14:creationId xmlns:p14="http://schemas.microsoft.com/office/powerpoint/2010/main" val="1079728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矩形 45">
            <a:extLst>
              <a:ext uri="{FF2B5EF4-FFF2-40B4-BE49-F238E27FC236}">
                <a16:creationId xmlns:a16="http://schemas.microsoft.com/office/drawing/2014/main" id="{A7F1BA77-A6D2-4301-A5E8-8B12250B573C}"/>
              </a:ext>
            </a:extLst>
          </p:cNvPr>
          <p:cNvSpPr>
            <a:spLocks noGrp="1"/>
          </p:cNvSpPr>
          <p:nvPr/>
        </p:nvSpPr>
        <p:spPr>
          <a:xfrm>
            <a:off x="0" y="0"/>
            <a:ext cx="12192000" cy="6858000"/>
          </a:xfrm>
          <a:prstGeom prst="rect">
            <a:avLst/>
          </a:prstGeom>
          <a:solidFill>
            <a:srgbClr val="F7F3EA"/>
          </a:solidFill>
          <a:ln w="0">
            <a:solidFill>
              <a:srgbClr val="000000">
                <a:alpha val="0"/>
              </a:srgbClr>
            </a:solidFill>
            <a:prstDash val="solid"/>
          </a:ln>
        </p:spPr>
        <p:txBody>
          <a:bodyPr/>
          <a:lstStyle/>
          <a:p>
            <a:endParaRPr lang="zh-CN" altLang="en-US"/>
          </a:p>
        </p:txBody>
      </p:sp>
      <p:sp>
        <p:nvSpPr>
          <p:cNvPr id="2" name="矩形 1">
            <a:extLst>
              <a:ext uri="{FF2B5EF4-FFF2-40B4-BE49-F238E27FC236}">
                <a16:creationId xmlns:a16="http://schemas.microsoft.com/office/drawing/2014/main" id="{F5B117AE-6E64-4DF3-B02F-3393C5E34016}"/>
              </a:ext>
            </a:extLst>
          </p:cNvPr>
          <p:cNvSpPr>
            <a:spLocks noGrp="1"/>
          </p:cNvSpPr>
          <p:nvPr/>
        </p:nvSpPr>
        <p:spPr>
          <a:xfrm>
            <a:off x="609600" y="32385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C5A43"/>
                </a:solidFill>
                <a:latin typeface="Aptos"/>
                <a:ea typeface="Aptos"/>
                <a:cs typeface="Aptos"/>
              </a:defRPr>
            </a:pPr>
            <a:r>
              <a:rPr sz="975" b="1">
                <a:solidFill>
                  <a:srgbClr val="CC5A43"/>
                </a:solidFill>
                <a:latin typeface="Aptos"/>
                <a:ea typeface="Aptos"/>
                <a:cs typeface="Aptos"/>
              </a:rPr>
              <a:t>Appendix B</a:t>
            </a:r>
          </a:p>
        </p:txBody>
      </p:sp>
      <p:sp>
        <p:nvSpPr>
          <p:cNvPr id="3" name="矩形 2">
            <a:extLst>
              <a:ext uri="{FF2B5EF4-FFF2-40B4-BE49-F238E27FC236}">
                <a16:creationId xmlns:a16="http://schemas.microsoft.com/office/drawing/2014/main" id="{A27477CC-C501-45DB-8C14-5361FCAC8859}"/>
              </a:ext>
            </a:extLst>
          </p:cNvPr>
          <p:cNvSpPr>
            <a:spLocks noGrp="1"/>
          </p:cNvSpPr>
          <p:nvPr/>
        </p:nvSpPr>
        <p:spPr>
          <a:xfrm>
            <a:off x="609600" y="619125"/>
            <a:ext cx="103822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D1B18"/>
                </a:solidFill>
                <a:latin typeface="Aptos Display"/>
                <a:ea typeface="Aptos Display"/>
                <a:cs typeface="Aptos Display"/>
              </a:defRPr>
            </a:pPr>
            <a:r>
              <a:rPr sz="2325" b="1">
                <a:solidFill>
                  <a:srgbClr val="1D1B18"/>
                </a:solidFill>
                <a:latin typeface="Aptos Display"/>
                <a:ea typeface="Aptos Display"/>
                <a:cs typeface="Aptos Display"/>
              </a:rPr>
              <a:t>Data and literature links</a:t>
            </a:r>
          </a:p>
        </p:txBody>
      </p:sp>
      <p:sp>
        <p:nvSpPr>
          <p:cNvPr id="4" name="矩形 3">
            <a:extLst>
              <a:ext uri="{FF2B5EF4-FFF2-40B4-BE49-F238E27FC236}">
                <a16:creationId xmlns:a16="http://schemas.microsoft.com/office/drawing/2014/main" id="{B6675A6F-E61A-4FBA-891B-B6EC165CC2E2}"/>
              </a:ext>
            </a:extLst>
          </p:cNvPr>
          <p:cNvSpPr>
            <a:spLocks noGrp="1"/>
          </p:cNvSpPr>
          <p:nvPr/>
        </p:nvSpPr>
        <p:spPr>
          <a:xfrm>
            <a:off x="609600" y="1438275"/>
            <a:ext cx="10668000" cy="14288"/>
          </a:xfrm>
          <a:prstGeom prst="rect">
            <a:avLst/>
          </a:prstGeom>
          <a:solidFill>
            <a:srgbClr val="D8D1C4"/>
          </a:solidFill>
          <a:ln w="0">
            <a:solidFill>
              <a:srgbClr val="000000">
                <a:alpha val="0"/>
              </a:srgbClr>
            </a:solidFill>
            <a:prstDash val="solid"/>
          </a:ln>
        </p:spPr>
        <p:txBody>
          <a:bodyPr/>
          <a:lstStyle/>
          <a:p>
            <a:endParaRPr lang="zh-CN" altLang="en-US"/>
          </a:p>
        </p:txBody>
      </p:sp>
      <p:sp>
        <p:nvSpPr>
          <p:cNvPr id="5" name="矩形 4">
            <a:extLst>
              <a:ext uri="{FF2B5EF4-FFF2-40B4-BE49-F238E27FC236}">
                <a16:creationId xmlns:a16="http://schemas.microsoft.com/office/drawing/2014/main" id="{9BEC002A-F06F-4D15-9B03-98AEC8C63E73}"/>
              </a:ext>
            </a:extLst>
          </p:cNvPr>
          <p:cNvSpPr>
            <a:spLocks noGrp="1"/>
          </p:cNvSpPr>
          <p:nvPr/>
        </p:nvSpPr>
        <p:spPr>
          <a:xfrm>
            <a:off x="723900" y="1676400"/>
            <a:ext cx="2428875" cy="419100"/>
          </a:xfrm>
          <a:prstGeom prst="rect">
            <a:avLst/>
          </a:prstGeom>
          <a:solidFill>
            <a:srgbClr val="1D1B18"/>
          </a:solidFill>
          <a:ln w="6668">
            <a:solidFill>
              <a:srgbClr val="D8D1C4"/>
            </a:solidFill>
            <a:prstDash val="solid"/>
          </a:ln>
        </p:spPr>
        <p:txBody>
          <a:bodyPr/>
          <a:lstStyle/>
          <a:p>
            <a:endParaRPr lang="zh-CN" altLang="en-US"/>
          </a:p>
        </p:txBody>
      </p:sp>
      <p:sp>
        <p:nvSpPr>
          <p:cNvPr id="6" name="矩形 5">
            <a:extLst>
              <a:ext uri="{FF2B5EF4-FFF2-40B4-BE49-F238E27FC236}">
                <a16:creationId xmlns:a16="http://schemas.microsoft.com/office/drawing/2014/main" id="{EB222593-4AF3-439C-A8E0-6A5B05D65E4B}"/>
              </a:ext>
            </a:extLst>
          </p:cNvPr>
          <p:cNvSpPr>
            <a:spLocks noGrp="1"/>
          </p:cNvSpPr>
          <p:nvPr/>
        </p:nvSpPr>
        <p:spPr>
          <a:xfrm>
            <a:off x="800100" y="17430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Source</a:t>
            </a:r>
          </a:p>
        </p:txBody>
      </p:sp>
      <p:sp>
        <p:nvSpPr>
          <p:cNvPr id="7" name="矩形 6">
            <a:extLst>
              <a:ext uri="{FF2B5EF4-FFF2-40B4-BE49-F238E27FC236}">
                <a16:creationId xmlns:a16="http://schemas.microsoft.com/office/drawing/2014/main" id="{AEB05355-1390-4AE1-B648-6479399B201D}"/>
              </a:ext>
            </a:extLst>
          </p:cNvPr>
          <p:cNvSpPr>
            <a:spLocks noGrp="1"/>
          </p:cNvSpPr>
          <p:nvPr/>
        </p:nvSpPr>
        <p:spPr>
          <a:xfrm>
            <a:off x="3152775" y="1676400"/>
            <a:ext cx="7839075" cy="419100"/>
          </a:xfrm>
          <a:prstGeom prst="rect">
            <a:avLst/>
          </a:prstGeom>
          <a:solidFill>
            <a:srgbClr val="1D1B18"/>
          </a:solidFill>
          <a:ln w="6668">
            <a:solidFill>
              <a:srgbClr val="D8D1C4"/>
            </a:solidFill>
            <a:prstDash val="solid"/>
          </a:ln>
        </p:spPr>
        <p:txBody>
          <a:bodyPr/>
          <a:lstStyle/>
          <a:p>
            <a:endParaRPr lang="zh-CN" altLang="en-US"/>
          </a:p>
        </p:txBody>
      </p:sp>
      <p:sp>
        <p:nvSpPr>
          <p:cNvPr id="8" name="矩形 7">
            <a:extLst>
              <a:ext uri="{FF2B5EF4-FFF2-40B4-BE49-F238E27FC236}">
                <a16:creationId xmlns:a16="http://schemas.microsoft.com/office/drawing/2014/main" id="{1EEBD3D2-3E4A-4AD1-BBEA-54F58AAA6F7D}"/>
              </a:ext>
            </a:extLst>
          </p:cNvPr>
          <p:cNvSpPr>
            <a:spLocks noGrp="1"/>
          </p:cNvSpPr>
          <p:nvPr/>
        </p:nvSpPr>
        <p:spPr>
          <a:xfrm>
            <a:off x="3228975" y="17430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URL</a:t>
            </a:r>
          </a:p>
        </p:txBody>
      </p:sp>
      <p:sp>
        <p:nvSpPr>
          <p:cNvPr id="9" name="矩形 8">
            <a:extLst>
              <a:ext uri="{FF2B5EF4-FFF2-40B4-BE49-F238E27FC236}">
                <a16:creationId xmlns:a16="http://schemas.microsoft.com/office/drawing/2014/main" id="{06F9F913-49C7-4388-A9EB-09F15861C644}"/>
              </a:ext>
            </a:extLst>
          </p:cNvPr>
          <p:cNvSpPr>
            <a:spLocks noGrp="1"/>
          </p:cNvSpPr>
          <p:nvPr/>
        </p:nvSpPr>
        <p:spPr>
          <a:xfrm>
            <a:off x="723900" y="2095500"/>
            <a:ext cx="2428875" cy="419100"/>
          </a:xfrm>
          <a:prstGeom prst="rect">
            <a:avLst/>
          </a:prstGeom>
          <a:solidFill>
            <a:srgbClr val="FBF8F1"/>
          </a:solidFill>
          <a:ln w="6668">
            <a:solidFill>
              <a:srgbClr val="D8D1C4"/>
            </a:solidFill>
            <a:prstDash val="solid"/>
          </a:ln>
        </p:spPr>
        <p:txBody>
          <a:bodyPr/>
          <a:lstStyle/>
          <a:p>
            <a:endParaRPr lang="zh-CN" altLang="en-US"/>
          </a:p>
        </p:txBody>
      </p:sp>
      <p:sp>
        <p:nvSpPr>
          <p:cNvPr id="10" name="矩形 9">
            <a:extLst>
              <a:ext uri="{FF2B5EF4-FFF2-40B4-BE49-F238E27FC236}">
                <a16:creationId xmlns:a16="http://schemas.microsoft.com/office/drawing/2014/main" id="{43633F96-7DB7-4F59-B256-1DD8E8EEE93A}"/>
              </a:ext>
            </a:extLst>
          </p:cNvPr>
          <p:cNvSpPr>
            <a:spLocks noGrp="1"/>
          </p:cNvSpPr>
          <p:nvPr/>
        </p:nvSpPr>
        <p:spPr>
          <a:xfrm>
            <a:off x="800100" y="21621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Peng et al. 2025</a:t>
            </a:r>
          </a:p>
        </p:txBody>
      </p:sp>
      <p:sp>
        <p:nvSpPr>
          <p:cNvPr id="11" name="矩形 10">
            <a:extLst>
              <a:ext uri="{FF2B5EF4-FFF2-40B4-BE49-F238E27FC236}">
                <a16:creationId xmlns:a16="http://schemas.microsoft.com/office/drawing/2014/main" id="{9FBC260A-8C48-41EB-A4C0-353C248394FD}"/>
              </a:ext>
            </a:extLst>
          </p:cNvPr>
          <p:cNvSpPr>
            <a:spLocks noGrp="1"/>
          </p:cNvSpPr>
          <p:nvPr/>
        </p:nvSpPr>
        <p:spPr>
          <a:xfrm>
            <a:off x="3152775" y="2095500"/>
            <a:ext cx="7839075" cy="419100"/>
          </a:xfrm>
          <a:prstGeom prst="rect">
            <a:avLst/>
          </a:prstGeom>
          <a:solidFill>
            <a:srgbClr val="FBF8F1"/>
          </a:solidFill>
          <a:ln w="6668">
            <a:solidFill>
              <a:srgbClr val="D8D1C4"/>
            </a:solidFill>
            <a:prstDash val="solid"/>
          </a:ln>
        </p:spPr>
        <p:txBody>
          <a:bodyPr/>
          <a:lstStyle/>
          <a:p>
            <a:endParaRPr lang="zh-CN" altLang="en-US"/>
          </a:p>
        </p:txBody>
      </p:sp>
      <p:sp>
        <p:nvSpPr>
          <p:cNvPr id="12" name="矩形 11">
            <a:extLst>
              <a:ext uri="{FF2B5EF4-FFF2-40B4-BE49-F238E27FC236}">
                <a16:creationId xmlns:a16="http://schemas.microsoft.com/office/drawing/2014/main" id="{67933066-8A93-4015-934C-A5D3FBB8C8B1}"/>
              </a:ext>
            </a:extLst>
          </p:cNvPr>
          <p:cNvSpPr>
            <a:spLocks noGrp="1"/>
          </p:cNvSpPr>
          <p:nvPr/>
        </p:nvSpPr>
        <p:spPr>
          <a:xfrm>
            <a:off x="3228975" y="21621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https://www.nature.com/articles/s41561-025-01700-9</a:t>
            </a:r>
          </a:p>
        </p:txBody>
      </p:sp>
      <p:sp>
        <p:nvSpPr>
          <p:cNvPr id="13" name="矩形 12">
            <a:extLst>
              <a:ext uri="{FF2B5EF4-FFF2-40B4-BE49-F238E27FC236}">
                <a16:creationId xmlns:a16="http://schemas.microsoft.com/office/drawing/2014/main" id="{DA82866C-257F-462C-9FAD-D15AF34B6D97}"/>
              </a:ext>
            </a:extLst>
          </p:cNvPr>
          <p:cNvSpPr>
            <a:spLocks noGrp="1"/>
          </p:cNvSpPr>
          <p:nvPr/>
        </p:nvSpPr>
        <p:spPr>
          <a:xfrm>
            <a:off x="723900" y="2514600"/>
            <a:ext cx="2428875" cy="419100"/>
          </a:xfrm>
          <a:prstGeom prst="rect">
            <a:avLst/>
          </a:prstGeom>
          <a:solidFill>
            <a:srgbClr val="F3EDE2"/>
          </a:solidFill>
          <a:ln w="6668">
            <a:solidFill>
              <a:srgbClr val="D8D1C4"/>
            </a:solidFill>
            <a:prstDash val="solid"/>
          </a:ln>
        </p:spPr>
        <p:txBody>
          <a:bodyPr/>
          <a:lstStyle/>
          <a:p>
            <a:endParaRPr lang="zh-CN" altLang="en-US"/>
          </a:p>
        </p:txBody>
      </p:sp>
      <p:sp>
        <p:nvSpPr>
          <p:cNvPr id="14" name="矩形 13">
            <a:extLst>
              <a:ext uri="{FF2B5EF4-FFF2-40B4-BE49-F238E27FC236}">
                <a16:creationId xmlns:a16="http://schemas.microsoft.com/office/drawing/2014/main" id="{7BEF6C74-75B3-4AE9-BB27-E87CF95F44BC}"/>
              </a:ext>
            </a:extLst>
          </p:cNvPr>
          <p:cNvSpPr>
            <a:spLocks noGrp="1"/>
          </p:cNvSpPr>
          <p:nvPr/>
        </p:nvSpPr>
        <p:spPr>
          <a:xfrm>
            <a:off x="800100" y="25812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NOAA OISST v2.1</a:t>
            </a:r>
          </a:p>
        </p:txBody>
      </p:sp>
      <p:sp>
        <p:nvSpPr>
          <p:cNvPr id="15" name="矩形 14">
            <a:extLst>
              <a:ext uri="{FF2B5EF4-FFF2-40B4-BE49-F238E27FC236}">
                <a16:creationId xmlns:a16="http://schemas.microsoft.com/office/drawing/2014/main" id="{BEF01562-AFB7-4C68-9D3F-C211955876FA}"/>
              </a:ext>
            </a:extLst>
          </p:cNvPr>
          <p:cNvSpPr>
            <a:spLocks noGrp="1"/>
          </p:cNvSpPr>
          <p:nvPr/>
        </p:nvSpPr>
        <p:spPr>
          <a:xfrm>
            <a:off x="3152775" y="2514600"/>
            <a:ext cx="7839075" cy="419100"/>
          </a:xfrm>
          <a:prstGeom prst="rect">
            <a:avLst/>
          </a:prstGeom>
          <a:solidFill>
            <a:srgbClr val="F3EDE2"/>
          </a:solidFill>
          <a:ln w="6668">
            <a:solidFill>
              <a:srgbClr val="D8D1C4"/>
            </a:solidFill>
            <a:prstDash val="solid"/>
          </a:ln>
        </p:spPr>
        <p:txBody>
          <a:bodyPr/>
          <a:lstStyle/>
          <a:p>
            <a:endParaRPr lang="zh-CN" altLang="en-US"/>
          </a:p>
        </p:txBody>
      </p:sp>
      <p:sp>
        <p:nvSpPr>
          <p:cNvPr id="16" name="矩形 15">
            <a:extLst>
              <a:ext uri="{FF2B5EF4-FFF2-40B4-BE49-F238E27FC236}">
                <a16:creationId xmlns:a16="http://schemas.microsoft.com/office/drawing/2014/main" id="{1D0EFA80-A5ED-4D3B-B809-720DA6B09007}"/>
              </a:ext>
            </a:extLst>
          </p:cNvPr>
          <p:cNvSpPr>
            <a:spLocks noGrp="1"/>
          </p:cNvSpPr>
          <p:nvPr/>
        </p:nvSpPr>
        <p:spPr>
          <a:xfrm>
            <a:off x="3228975" y="25812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https://www.ncei.noaa.gov/products/optimum-interpolation-sst</a:t>
            </a:r>
          </a:p>
        </p:txBody>
      </p:sp>
      <p:sp>
        <p:nvSpPr>
          <p:cNvPr id="17" name="矩形 16">
            <a:extLst>
              <a:ext uri="{FF2B5EF4-FFF2-40B4-BE49-F238E27FC236}">
                <a16:creationId xmlns:a16="http://schemas.microsoft.com/office/drawing/2014/main" id="{AF3ECB0B-9BF9-4071-953C-803FC938AA38}"/>
              </a:ext>
            </a:extLst>
          </p:cNvPr>
          <p:cNvSpPr>
            <a:spLocks noGrp="1"/>
          </p:cNvSpPr>
          <p:nvPr/>
        </p:nvSpPr>
        <p:spPr>
          <a:xfrm>
            <a:off x="723900" y="2933700"/>
            <a:ext cx="2428875" cy="419100"/>
          </a:xfrm>
          <a:prstGeom prst="rect">
            <a:avLst/>
          </a:prstGeom>
          <a:solidFill>
            <a:srgbClr val="FBF8F1"/>
          </a:solidFill>
          <a:ln w="6668">
            <a:solidFill>
              <a:srgbClr val="D8D1C4"/>
            </a:solidFill>
            <a:prstDash val="solid"/>
          </a:ln>
        </p:spPr>
        <p:txBody>
          <a:bodyPr/>
          <a:lstStyle/>
          <a:p>
            <a:endParaRPr lang="zh-CN" altLang="en-US"/>
          </a:p>
        </p:txBody>
      </p:sp>
      <p:sp>
        <p:nvSpPr>
          <p:cNvPr id="18" name="矩形 17">
            <a:extLst>
              <a:ext uri="{FF2B5EF4-FFF2-40B4-BE49-F238E27FC236}">
                <a16:creationId xmlns:a16="http://schemas.microsoft.com/office/drawing/2014/main" id="{98308A19-5991-4A0D-8783-817DDBD353FD}"/>
              </a:ext>
            </a:extLst>
          </p:cNvPr>
          <p:cNvSpPr>
            <a:spLocks noGrp="1"/>
          </p:cNvSpPr>
          <p:nvPr/>
        </p:nvSpPr>
        <p:spPr>
          <a:xfrm>
            <a:off x="800100" y="30003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GPCP</a:t>
            </a:r>
          </a:p>
        </p:txBody>
      </p:sp>
      <p:sp>
        <p:nvSpPr>
          <p:cNvPr id="19" name="矩形 18">
            <a:extLst>
              <a:ext uri="{FF2B5EF4-FFF2-40B4-BE49-F238E27FC236}">
                <a16:creationId xmlns:a16="http://schemas.microsoft.com/office/drawing/2014/main" id="{886C3882-6694-48FC-9632-049EA7A6120E}"/>
              </a:ext>
            </a:extLst>
          </p:cNvPr>
          <p:cNvSpPr>
            <a:spLocks noGrp="1"/>
          </p:cNvSpPr>
          <p:nvPr/>
        </p:nvSpPr>
        <p:spPr>
          <a:xfrm>
            <a:off x="3152775" y="2933700"/>
            <a:ext cx="7839075" cy="419100"/>
          </a:xfrm>
          <a:prstGeom prst="rect">
            <a:avLst/>
          </a:prstGeom>
          <a:solidFill>
            <a:srgbClr val="FBF8F1"/>
          </a:solidFill>
          <a:ln w="6668">
            <a:solidFill>
              <a:srgbClr val="D8D1C4"/>
            </a:solidFill>
            <a:prstDash val="solid"/>
          </a:ln>
        </p:spPr>
        <p:txBody>
          <a:bodyPr/>
          <a:lstStyle/>
          <a:p>
            <a:endParaRPr lang="zh-CN" altLang="en-US"/>
          </a:p>
        </p:txBody>
      </p:sp>
      <p:sp>
        <p:nvSpPr>
          <p:cNvPr id="20" name="矩形 19">
            <a:extLst>
              <a:ext uri="{FF2B5EF4-FFF2-40B4-BE49-F238E27FC236}">
                <a16:creationId xmlns:a16="http://schemas.microsoft.com/office/drawing/2014/main" id="{248290C8-1464-4ABE-A354-0BC3E2E76A21}"/>
              </a:ext>
            </a:extLst>
          </p:cNvPr>
          <p:cNvSpPr>
            <a:spLocks noGrp="1"/>
          </p:cNvSpPr>
          <p:nvPr/>
        </p:nvSpPr>
        <p:spPr>
          <a:xfrm>
            <a:off x="3228975" y="30003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https://psl.noaa.gov/data/gridded/data.gpcp.html</a:t>
            </a:r>
          </a:p>
        </p:txBody>
      </p:sp>
      <p:sp>
        <p:nvSpPr>
          <p:cNvPr id="21" name="矩形 20">
            <a:extLst>
              <a:ext uri="{FF2B5EF4-FFF2-40B4-BE49-F238E27FC236}">
                <a16:creationId xmlns:a16="http://schemas.microsoft.com/office/drawing/2014/main" id="{C83D214E-CC38-4F1C-ACDD-BF1FFAEC72F7}"/>
              </a:ext>
            </a:extLst>
          </p:cNvPr>
          <p:cNvSpPr>
            <a:spLocks noGrp="1"/>
          </p:cNvSpPr>
          <p:nvPr/>
        </p:nvSpPr>
        <p:spPr>
          <a:xfrm>
            <a:off x="723900" y="3352800"/>
            <a:ext cx="2428875" cy="419100"/>
          </a:xfrm>
          <a:prstGeom prst="rect">
            <a:avLst/>
          </a:prstGeom>
          <a:solidFill>
            <a:srgbClr val="F3EDE2"/>
          </a:solidFill>
          <a:ln w="6668">
            <a:solidFill>
              <a:srgbClr val="D8D1C4"/>
            </a:solidFill>
            <a:prstDash val="solid"/>
          </a:ln>
        </p:spPr>
        <p:txBody>
          <a:bodyPr/>
          <a:lstStyle/>
          <a:p>
            <a:endParaRPr lang="zh-CN" altLang="en-US"/>
          </a:p>
        </p:txBody>
      </p:sp>
      <p:sp>
        <p:nvSpPr>
          <p:cNvPr id="22" name="矩形 21">
            <a:extLst>
              <a:ext uri="{FF2B5EF4-FFF2-40B4-BE49-F238E27FC236}">
                <a16:creationId xmlns:a16="http://schemas.microsoft.com/office/drawing/2014/main" id="{1F97F2DD-A927-4CF8-8F68-CBD4D541E00F}"/>
              </a:ext>
            </a:extLst>
          </p:cNvPr>
          <p:cNvSpPr>
            <a:spLocks noGrp="1"/>
          </p:cNvSpPr>
          <p:nvPr/>
        </p:nvSpPr>
        <p:spPr>
          <a:xfrm>
            <a:off x="800100" y="34194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NCEP/NCAR R1</a:t>
            </a:r>
          </a:p>
        </p:txBody>
      </p:sp>
      <p:sp>
        <p:nvSpPr>
          <p:cNvPr id="23" name="矩形 22">
            <a:extLst>
              <a:ext uri="{FF2B5EF4-FFF2-40B4-BE49-F238E27FC236}">
                <a16:creationId xmlns:a16="http://schemas.microsoft.com/office/drawing/2014/main" id="{A4DD3B8F-D3C1-45F3-8974-BEE8B7D4BFC6}"/>
              </a:ext>
            </a:extLst>
          </p:cNvPr>
          <p:cNvSpPr>
            <a:spLocks noGrp="1"/>
          </p:cNvSpPr>
          <p:nvPr/>
        </p:nvSpPr>
        <p:spPr>
          <a:xfrm>
            <a:off x="3152775" y="3352800"/>
            <a:ext cx="7839075" cy="419100"/>
          </a:xfrm>
          <a:prstGeom prst="rect">
            <a:avLst/>
          </a:prstGeom>
          <a:solidFill>
            <a:srgbClr val="F3EDE2"/>
          </a:solidFill>
          <a:ln w="6668">
            <a:solidFill>
              <a:srgbClr val="D8D1C4"/>
            </a:solidFill>
            <a:prstDash val="solid"/>
          </a:ln>
        </p:spPr>
        <p:txBody>
          <a:bodyPr/>
          <a:lstStyle/>
          <a:p>
            <a:endParaRPr lang="zh-CN" altLang="en-US"/>
          </a:p>
        </p:txBody>
      </p:sp>
      <p:sp>
        <p:nvSpPr>
          <p:cNvPr id="24" name="矩形 23">
            <a:extLst>
              <a:ext uri="{FF2B5EF4-FFF2-40B4-BE49-F238E27FC236}">
                <a16:creationId xmlns:a16="http://schemas.microsoft.com/office/drawing/2014/main" id="{E85FC033-1E46-4B0D-9C47-68F3CEED7282}"/>
              </a:ext>
            </a:extLst>
          </p:cNvPr>
          <p:cNvSpPr>
            <a:spLocks noGrp="1"/>
          </p:cNvSpPr>
          <p:nvPr/>
        </p:nvSpPr>
        <p:spPr>
          <a:xfrm>
            <a:off x="3228975" y="34194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https://www.psl.noaa.gov/data/reanalysis/</a:t>
            </a:r>
          </a:p>
        </p:txBody>
      </p:sp>
      <p:sp>
        <p:nvSpPr>
          <p:cNvPr id="25" name="矩形 24">
            <a:extLst>
              <a:ext uri="{FF2B5EF4-FFF2-40B4-BE49-F238E27FC236}">
                <a16:creationId xmlns:a16="http://schemas.microsoft.com/office/drawing/2014/main" id="{C65F2EB6-D6A4-4536-AAE5-F3980BD88AA6}"/>
              </a:ext>
            </a:extLst>
          </p:cNvPr>
          <p:cNvSpPr>
            <a:spLocks noGrp="1"/>
          </p:cNvSpPr>
          <p:nvPr/>
        </p:nvSpPr>
        <p:spPr>
          <a:xfrm>
            <a:off x="723900" y="3771900"/>
            <a:ext cx="2428875" cy="419100"/>
          </a:xfrm>
          <a:prstGeom prst="rect">
            <a:avLst/>
          </a:prstGeom>
          <a:solidFill>
            <a:srgbClr val="FBF8F1"/>
          </a:solidFill>
          <a:ln w="6668">
            <a:solidFill>
              <a:srgbClr val="D8D1C4"/>
            </a:solidFill>
            <a:prstDash val="solid"/>
          </a:ln>
        </p:spPr>
        <p:txBody>
          <a:bodyPr/>
          <a:lstStyle/>
          <a:p>
            <a:endParaRPr lang="zh-CN" altLang="en-US"/>
          </a:p>
        </p:txBody>
      </p:sp>
      <p:sp>
        <p:nvSpPr>
          <p:cNvPr id="26" name="矩形 25">
            <a:extLst>
              <a:ext uri="{FF2B5EF4-FFF2-40B4-BE49-F238E27FC236}">
                <a16:creationId xmlns:a16="http://schemas.microsoft.com/office/drawing/2014/main" id="{DC8262DC-EE2E-4E92-A833-D82E7AE2E508}"/>
              </a:ext>
            </a:extLst>
          </p:cNvPr>
          <p:cNvSpPr>
            <a:spLocks noGrp="1"/>
          </p:cNvSpPr>
          <p:nvPr/>
        </p:nvSpPr>
        <p:spPr>
          <a:xfrm>
            <a:off x="800100" y="38385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ERA5</a:t>
            </a:r>
          </a:p>
        </p:txBody>
      </p:sp>
      <p:sp>
        <p:nvSpPr>
          <p:cNvPr id="27" name="矩形 26">
            <a:extLst>
              <a:ext uri="{FF2B5EF4-FFF2-40B4-BE49-F238E27FC236}">
                <a16:creationId xmlns:a16="http://schemas.microsoft.com/office/drawing/2014/main" id="{4ECE5E60-F736-475A-A034-0CB556A3520C}"/>
              </a:ext>
            </a:extLst>
          </p:cNvPr>
          <p:cNvSpPr>
            <a:spLocks noGrp="1"/>
          </p:cNvSpPr>
          <p:nvPr/>
        </p:nvSpPr>
        <p:spPr>
          <a:xfrm>
            <a:off x="3152775" y="3771900"/>
            <a:ext cx="7839075" cy="419100"/>
          </a:xfrm>
          <a:prstGeom prst="rect">
            <a:avLst/>
          </a:prstGeom>
          <a:solidFill>
            <a:srgbClr val="FBF8F1"/>
          </a:solidFill>
          <a:ln w="6668">
            <a:solidFill>
              <a:srgbClr val="D8D1C4"/>
            </a:solidFill>
            <a:prstDash val="solid"/>
          </a:ln>
        </p:spPr>
        <p:txBody>
          <a:bodyPr/>
          <a:lstStyle/>
          <a:p>
            <a:endParaRPr lang="zh-CN" altLang="en-US"/>
          </a:p>
        </p:txBody>
      </p:sp>
      <p:sp>
        <p:nvSpPr>
          <p:cNvPr id="28" name="矩形 27">
            <a:extLst>
              <a:ext uri="{FF2B5EF4-FFF2-40B4-BE49-F238E27FC236}">
                <a16:creationId xmlns:a16="http://schemas.microsoft.com/office/drawing/2014/main" id="{04E7E167-FA50-44B1-A42E-8ABEF6798EF6}"/>
              </a:ext>
            </a:extLst>
          </p:cNvPr>
          <p:cNvSpPr>
            <a:spLocks noGrp="1"/>
          </p:cNvSpPr>
          <p:nvPr/>
        </p:nvSpPr>
        <p:spPr>
          <a:xfrm>
            <a:off x="3228975" y="38385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https://cds.climate.copernicus.eu/datasets/reanalysis-era5-single-levels</a:t>
            </a:r>
          </a:p>
        </p:txBody>
      </p:sp>
      <p:sp>
        <p:nvSpPr>
          <p:cNvPr id="29" name="矩形 28">
            <a:extLst>
              <a:ext uri="{FF2B5EF4-FFF2-40B4-BE49-F238E27FC236}">
                <a16:creationId xmlns:a16="http://schemas.microsoft.com/office/drawing/2014/main" id="{797F0729-8FDF-49E7-91D7-7ABFFAA60D15}"/>
              </a:ext>
            </a:extLst>
          </p:cNvPr>
          <p:cNvSpPr>
            <a:spLocks noGrp="1"/>
          </p:cNvSpPr>
          <p:nvPr/>
        </p:nvSpPr>
        <p:spPr>
          <a:xfrm>
            <a:off x="723900" y="4191000"/>
            <a:ext cx="2428875" cy="419100"/>
          </a:xfrm>
          <a:prstGeom prst="rect">
            <a:avLst/>
          </a:prstGeom>
          <a:solidFill>
            <a:srgbClr val="F3EDE2"/>
          </a:solidFill>
          <a:ln w="6668">
            <a:solidFill>
              <a:srgbClr val="D8D1C4"/>
            </a:solidFill>
            <a:prstDash val="solid"/>
          </a:ln>
        </p:spPr>
        <p:txBody>
          <a:bodyPr/>
          <a:lstStyle/>
          <a:p>
            <a:endParaRPr lang="zh-CN" altLang="en-US"/>
          </a:p>
        </p:txBody>
      </p:sp>
      <p:sp>
        <p:nvSpPr>
          <p:cNvPr id="30" name="矩形 29">
            <a:extLst>
              <a:ext uri="{FF2B5EF4-FFF2-40B4-BE49-F238E27FC236}">
                <a16:creationId xmlns:a16="http://schemas.microsoft.com/office/drawing/2014/main" id="{161BB79E-A6B4-430B-86EC-F4518C4D4C53}"/>
              </a:ext>
            </a:extLst>
          </p:cNvPr>
          <p:cNvSpPr>
            <a:spLocks noGrp="1"/>
          </p:cNvSpPr>
          <p:nvPr/>
        </p:nvSpPr>
        <p:spPr>
          <a:xfrm>
            <a:off x="800100" y="42576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NOAA OLR</a:t>
            </a:r>
          </a:p>
        </p:txBody>
      </p:sp>
      <p:sp>
        <p:nvSpPr>
          <p:cNvPr id="31" name="矩形 30">
            <a:extLst>
              <a:ext uri="{FF2B5EF4-FFF2-40B4-BE49-F238E27FC236}">
                <a16:creationId xmlns:a16="http://schemas.microsoft.com/office/drawing/2014/main" id="{7FFF0FCA-3976-43A6-AC49-2EFDF67094A1}"/>
              </a:ext>
            </a:extLst>
          </p:cNvPr>
          <p:cNvSpPr>
            <a:spLocks noGrp="1"/>
          </p:cNvSpPr>
          <p:nvPr/>
        </p:nvSpPr>
        <p:spPr>
          <a:xfrm>
            <a:off x="3152775" y="4191000"/>
            <a:ext cx="7839075" cy="419100"/>
          </a:xfrm>
          <a:prstGeom prst="rect">
            <a:avLst/>
          </a:prstGeom>
          <a:solidFill>
            <a:srgbClr val="F3EDE2"/>
          </a:solidFill>
          <a:ln w="6668">
            <a:solidFill>
              <a:srgbClr val="D8D1C4"/>
            </a:solidFill>
            <a:prstDash val="solid"/>
          </a:ln>
        </p:spPr>
        <p:txBody>
          <a:bodyPr/>
          <a:lstStyle/>
          <a:p>
            <a:endParaRPr lang="zh-CN" altLang="en-US"/>
          </a:p>
        </p:txBody>
      </p:sp>
      <p:sp>
        <p:nvSpPr>
          <p:cNvPr id="32" name="矩形 31">
            <a:extLst>
              <a:ext uri="{FF2B5EF4-FFF2-40B4-BE49-F238E27FC236}">
                <a16:creationId xmlns:a16="http://schemas.microsoft.com/office/drawing/2014/main" id="{871930F3-752F-4B00-968A-006064F85FBD}"/>
              </a:ext>
            </a:extLst>
          </p:cNvPr>
          <p:cNvSpPr>
            <a:spLocks noGrp="1"/>
          </p:cNvSpPr>
          <p:nvPr/>
        </p:nvSpPr>
        <p:spPr>
          <a:xfrm>
            <a:off x="3228975" y="42576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https://psl.noaa.gov/data/gridded/data.interp_OLR.html</a:t>
            </a:r>
          </a:p>
        </p:txBody>
      </p:sp>
      <p:sp>
        <p:nvSpPr>
          <p:cNvPr id="33" name="矩形 32">
            <a:extLst>
              <a:ext uri="{FF2B5EF4-FFF2-40B4-BE49-F238E27FC236}">
                <a16:creationId xmlns:a16="http://schemas.microsoft.com/office/drawing/2014/main" id="{7CF88FCE-E7F6-4FD9-A0FB-2D86D89E245B}"/>
              </a:ext>
            </a:extLst>
          </p:cNvPr>
          <p:cNvSpPr>
            <a:spLocks noGrp="1"/>
          </p:cNvSpPr>
          <p:nvPr/>
        </p:nvSpPr>
        <p:spPr>
          <a:xfrm>
            <a:off x="723900" y="4610100"/>
            <a:ext cx="2428875" cy="419100"/>
          </a:xfrm>
          <a:prstGeom prst="rect">
            <a:avLst/>
          </a:prstGeom>
          <a:solidFill>
            <a:srgbClr val="FBF8F1"/>
          </a:solidFill>
          <a:ln w="6668">
            <a:solidFill>
              <a:srgbClr val="D8D1C4"/>
            </a:solidFill>
            <a:prstDash val="solid"/>
          </a:ln>
        </p:spPr>
        <p:txBody>
          <a:bodyPr/>
          <a:lstStyle/>
          <a:p>
            <a:endParaRPr lang="zh-CN" altLang="en-US"/>
          </a:p>
        </p:txBody>
      </p:sp>
      <p:sp>
        <p:nvSpPr>
          <p:cNvPr id="34" name="矩形 33">
            <a:extLst>
              <a:ext uri="{FF2B5EF4-FFF2-40B4-BE49-F238E27FC236}">
                <a16:creationId xmlns:a16="http://schemas.microsoft.com/office/drawing/2014/main" id="{A9BD7E4F-6A84-4FDC-87D1-3DB60525B938}"/>
              </a:ext>
            </a:extLst>
          </p:cNvPr>
          <p:cNvSpPr>
            <a:spLocks noGrp="1"/>
          </p:cNvSpPr>
          <p:nvPr/>
        </p:nvSpPr>
        <p:spPr>
          <a:xfrm>
            <a:off x="800100" y="46767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ERSSTv5</a:t>
            </a:r>
          </a:p>
        </p:txBody>
      </p:sp>
      <p:sp>
        <p:nvSpPr>
          <p:cNvPr id="35" name="矩形 34">
            <a:extLst>
              <a:ext uri="{FF2B5EF4-FFF2-40B4-BE49-F238E27FC236}">
                <a16:creationId xmlns:a16="http://schemas.microsoft.com/office/drawing/2014/main" id="{AF65336C-CBFA-4FCA-9565-177BC1EA3825}"/>
              </a:ext>
            </a:extLst>
          </p:cNvPr>
          <p:cNvSpPr>
            <a:spLocks noGrp="1"/>
          </p:cNvSpPr>
          <p:nvPr/>
        </p:nvSpPr>
        <p:spPr>
          <a:xfrm>
            <a:off x="3152775" y="4610100"/>
            <a:ext cx="7839075" cy="419100"/>
          </a:xfrm>
          <a:prstGeom prst="rect">
            <a:avLst/>
          </a:prstGeom>
          <a:solidFill>
            <a:srgbClr val="FBF8F1"/>
          </a:solidFill>
          <a:ln w="6668">
            <a:solidFill>
              <a:srgbClr val="D8D1C4"/>
            </a:solidFill>
            <a:prstDash val="solid"/>
          </a:ln>
        </p:spPr>
        <p:txBody>
          <a:bodyPr/>
          <a:lstStyle/>
          <a:p>
            <a:endParaRPr lang="zh-CN" altLang="en-US"/>
          </a:p>
        </p:txBody>
      </p:sp>
      <p:sp>
        <p:nvSpPr>
          <p:cNvPr id="36" name="矩形 35">
            <a:extLst>
              <a:ext uri="{FF2B5EF4-FFF2-40B4-BE49-F238E27FC236}">
                <a16:creationId xmlns:a16="http://schemas.microsoft.com/office/drawing/2014/main" id="{AF467BD1-895C-40AE-A8ED-9615FC21E314}"/>
              </a:ext>
            </a:extLst>
          </p:cNvPr>
          <p:cNvSpPr>
            <a:spLocks noGrp="1"/>
          </p:cNvSpPr>
          <p:nvPr/>
        </p:nvSpPr>
        <p:spPr>
          <a:xfrm>
            <a:off x="3228975" y="46767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https://www.ncei.noaa.gov/products/extended-reconstructed-sst</a:t>
            </a:r>
          </a:p>
        </p:txBody>
      </p:sp>
      <p:sp>
        <p:nvSpPr>
          <p:cNvPr id="37" name="矩形 36">
            <a:extLst>
              <a:ext uri="{FF2B5EF4-FFF2-40B4-BE49-F238E27FC236}">
                <a16:creationId xmlns:a16="http://schemas.microsoft.com/office/drawing/2014/main" id="{6FD83CE8-9BA2-4D90-93CA-83269E6A6C2A}"/>
              </a:ext>
            </a:extLst>
          </p:cNvPr>
          <p:cNvSpPr>
            <a:spLocks noGrp="1"/>
          </p:cNvSpPr>
          <p:nvPr/>
        </p:nvSpPr>
        <p:spPr>
          <a:xfrm>
            <a:off x="723900" y="5029200"/>
            <a:ext cx="2428875" cy="419100"/>
          </a:xfrm>
          <a:prstGeom prst="rect">
            <a:avLst/>
          </a:prstGeom>
          <a:solidFill>
            <a:srgbClr val="F3EDE2"/>
          </a:solidFill>
          <a:ln w="6668">
            <a:solidFill>
              <a:srgbClr val="D8D1C4"/>
            </a:solidFill>
            <a:prstDash val="solid"/>
          </a:ln>
        </p:spPr>
        <p:txBody>
          <a:bodyPr/>
          <a:lstStyle/>
          <a:p>
            <a:endParaRPr lang="zh-CN" altLang="en-US"/>
          </a:p>
        </p:txBody>
      </p:sp>
      <p:sp>
        <p:nvSpPr>
          <p:cNvPr id="38" name="矩形 37">
            <a:extLst>
              <a:ext uri="{FF2B5EF4-FFF2-40B4-BE49-F238E27FC236}">
                <a16:creationId xmlns:a16="http://schemas.microsoft.com/office/drawing/2014/main" id="{50442839-CEE9-45AD-BA63-39E293412E4B}"/>
              </a:ext>
            </a:extLst>
          </p:cNvPr>
          <p:cNvSpPr>
            <a:spLocks noGrp="1"/>
          </p:cNvSpPr>
          <p:nvPr/>
        </p:nvSpPr>
        <p:spPr>
          <a:xfrm>
            <a:off x="800100" y="50958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ORAS5</a:t>
            </a:r>
          </a:p>
        </p:txBody>
      </p:sp>
      <p:sp>
        <p:nvSpPr>
          <p:cNvPr id="39" name="矩形 38">
            <a:extLst>
              <a:ext uri="{FF2B5EF4-FFF2-40B4-BE49-F238E27FC236}">
                <a16:creationId xmlns:a16="http://schemas.microsoft.com/office/drawing/2014/main" id="{7A5851E9-C8C1-4382-926D-407319BDF372}"/>
              </a:ext>
            </a:extLst>
          </p:cNvPr>
          <p:cNvSpPr>
            <a:spLocks noGrp="1"/>
          </p:cNvSpPr>
          <p:nvPr/>
        </p:nvSpPr>
        <p:spPr>
          <a:xfrm>
            <a:off x="3152775" y="5029200"/>
            <a:ext cx="7839075" cy="419100"/>
          </a:xfrm>
          <a:prstGeom prst="rect">
            <a:avLst/>
          </a:prstGeom>
          <a:solidFill>
            <a:srgbClr val="F3EDE2"/>
          </a:solidFill>
          <a:ln w="6668">
            <a:solidFill>
              <a:srgbClr val="D8D1C4"/>
            </a:solidFill>
            <a:prstDash val="solid"/>
          </a:ln>
        </p:spPr>
        <p:txBody>
          <a:bodyPr/>
          <a:lstStyle/>
          <a:p>
            <a:endParaRPr lang="zh-CN" altLang="en-US"/>
          </a:p>
        </p:txBody>
      </p:sp>
      <p:sp>
        <p:nvSpPr>
          <p:cNvPr id="40" name="矩形 39">
            <a:extLst>
              <a:ext uri="{FF2B5EF4-FFF2-40B4-BE49-F238E27FC236}">
                <a16:creationId xmlns:a16="http://schemas.microsoft.com/office/drawing/2014/main" id="{63FED155-1BBB-484E-9966-D2D24FF4BE6E}"/>
              </a:ext>
            </a:extLst>
          </p:cNvPr>
          <p:cNvSpPr>
            <a:spLocks noGrp="1"/>
          </p:cNvSpPr>
          <p:nvPr/>
        </p:nvSpPr>
        <p:spPr>
          <a:xfrm>
            <a:off x="3228975" y="50958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https://www.ecmwf.int/en/forecasts/dataset/ocean-reanalysis-system-5</a:t>
            </a:r>
          </a:p>
        </p:txBody>
      </p:sp>
      <p:sp>
        <p:nvSpPr>
          <p:cNvPr id="41" name="矩形 40">
            <a:extLst>
              <a:ext uri="{FF2B5EF4-FFF2-40B4-BE49-F238E27FC236}">
                <a16:creationId xmlns:a16="http://schemas.microsoft.com/office/drawing/2014/main" id="{0C7CE62B-541A-411E-9BDA-19477414301F}"/>
              </a:ext>
            </a:extLst>
          </p:cNvPr>
          <p:cNvSpPr>
            <a:spLocks noGrp="1"/>
          </p:cNvSpPr>
          <p:nvPr/>
        </p:nvSpPr>
        <p:spPr>
          <a:xfrm>
            <a:off x="723900" y="5448300"/>
            <a:ext cx="2428875" cy="419100"/>
          </a:xfrm>
          <a:prstGeom prst="rect">
            <a:avLst/>
          </a:prstGeom>
          <a:solidFill>
            <a:srgbClr val="FBF8F1"/>
          </a:solidFill>
          <a:ln w="6668">
            <a:solidFill>
              <a:srgbClr val="D8D1C4"/>
            </a:solidFill>
            <a:prstDash val="solid"/>
          </a:ln>
        </p:spPr>
        <p:txBody>
          <a:bodyPr/>
          <a:lstStyle/>
          <a:p>
            <a:endParaRPr lang="zh-CN" altLang="en-US"/>
          </a:p>
        </p:txBody>
      </p:sp>
      <p:sp>
        <p:nvSpPr>
          <p:cNvPr id="42" name="矩形 41">
            <a:extLst>
              <a:ext uri="{FF2B5EF4-FFF2-40B4-BE49-F238E27FC236}">
                <a16:creationId xmlns:a16="http://schemas.microsoft.com/office/drawing/2014/main" id="{F2BB9065-0432-47BC-B762-3EAC6731FBE1}"/>
              </a:ext>
            </a:extLst>
          </p:cNvPr>
          <p:cNvSpPr>
            <a:spLocks noGrp="1"/>
          </p:cNvSpPr>
          <p:nvPr/>
        </p:nvSpPr>
        <p:spPr>
          <a:xfrm>
            <a:off x="800100" y="5514975"/>
            <a:ext cx="22764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TAO/TRITON</a:t>
            </a:r>
          </a:p>
        </p:txBody>
      </p:sp>
      <p:sp>
        <p:nvSpPr>
          <p:cNvPr id="43" name="矩形 42">
            <a:extLst>
              <a:ext uri="{FF2B5EF4-FFF2-40B4-BE49-F238E27FC236}">
                <a16:creationId xmlns:a16="http://schemas.microsoft.com/office/drawing/2014/main" id="{9F583366-8E90-4528-A380-FCB1E21CFE53}"/>
              </a:ext>
            </a:extLst>
          </p:cNvPr>
          <p:cNvSpPr>
            <a:spLocks noGrp="1"/>
          </p:cNvSpPr>
          <p:nvPr/>
        </p:nvSpPr>
        <p:spPr>
          <a:xfrm>
            <a:off x="3152775" y="5448300"/>
            <a:ext cx="7839075" cy="419100"/>
          </a:xfrm>
          <a:prstGeom prst="rect">
            <a:avLst/>
          </a:prstGeom>
          <a:solidFill>
            <a:srgbClr val="FBF8F1"/>
          </a:solidFill>
          <a:ln w="6668">
            <a:solidFill>
              <a:srgbClr val="D8D1C4"/>
            </a:solidFill>
            <a:prstDash val="solid"/>
          </a:ln>
        </p:spPr>
        <p:txBody>
          <a:bodyPr/>
          <a:lstStyle/>
          <a:p>
            <a:endParaRPr lang="zh-CN" altLang="en-US"/>
          </a:p>
        </p:txBody>
      </p:sp>
      <p:sp>
        <p:nvSpPr>
          <p:cNvPr id="44" name="矩形 43">
            <a:extLst>
              <a:ext uri="{FF2B5EF4-FFF2-40B4-BE49-F238E27FC236}">
                <a16:creationId xmlns:a16="http://schemas.microsoft.com/office/drawing/2014/main" id="{62D79875-CEA6-445D-B223-29EB455E967F}"/>
              </a:ext>
            </a:extLst>
          </p:cNvPr>
          <p:cNvSpPr>
            <a:spLocks noGrp="1"/>
          </p:cNvSpPr>
          <p:nvPr/>
        </p:nvSpPr>
        <p:spPr>
          <a:xfrm>
            <a:off x="3228975" y="5514975"/>
            <a:ext cx="7686675"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0" b="0">
                <a:solidFill>
                  <a:srgbClr val="1D1B18"/>
                </a:solidFill>
                <a:latin typeface="Aptos"/>
                <a:ea typeface="Aptos"/>
                <a:cs typeface="Aptos"/>
              </a:defRPr>
            </a:pPr>
            <a:r>
              <a:rPr sz="780" b="0">
                <a:solidFill>
                  <a:srgbClr val="1D1B18"/>
                </a:solidFill>
                <a:latin typeface="Aptos"/>
                <a:ea typeface="Aptos"/>
                <a:cs typeface="Aptos"/>
              </a:rPr>
              <a:t>https://www.pmel.noaa.gov/gtmba/building-tao</a:t>
            </a:r>
          </a:p>
        </p:txBody>
      </p:sp>
      <p:sp>
        <p:nvSpPr>
          <p:cNvPr id="45" name="矩形 44">
            <a:extLst>
              <a:ext uri="{FF2B5EF4-FFF2-40B4-BE49-F238E27FC236}">
                <a16:creationId xmlns:a16="http://schemas.microsoft.com/office/drawing/2014/main" id="{5B08CA97-FC11-41BB-BC70-1E1B3C25974D}"/>
              </a:ext>
            </a:extLst>
          </p:cNvPr>
          <p:cNvSpPr>
            <a:spLocks noGrp="1"/>
          </p:cNvSpPr>
          <p:nvPr/>
        </p:nvSpPr>
        <p:spPr>
          <a:xfrm>
            <a:off x="609600" y="6515100"/>
            <a:ext cx="10477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45" b="0">
                <a:solidFill>
                  <a:srgbClr val="6E675D"/>
                </a:solidFill>
                <a:latin typeface="Aptos"/>
                <a:ea typeface="Aptos"/>
                <a:cs typeface="Aptos"/>
              </a:defRPr>
            </a:pPr>
            <a:r>
              <a:rPr sz="645" b="0">
                <a:solidFill>
                  <a:srgbClr val="6E675D"/>
                </a:solidFill>
                <a:latin typeface="Aptos"/>
                <a:ea typeface="Aptos"/>
                <a:cs typeface="Aptos"/>
              </a:rPr>
              <a:t>Full source log: docs/data_source_log.md.</a:t>
            </a:r>
          </a:p>
        </p:txBody>
      </p:sp>
    </p:spTree>
    <p:extLst>
      <p:ext uri="{BB962C8B-B14F-4D97-AF65-F5344CB8AC3E}">
        <p14:creationId xmlns:p14="http://schemas.microsoft.com/office/powerpoint/2010/main" val="130591146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2505</Words>
  <Application>Microsoft Macintosh PowerPoint</Application>
  <DocSecurity>0</DocSecurity>
  <PresentationFormat>宽屏</PresentationFormat>
  <Paragraphs>261</Paragraphs>
  <Slides>18</Slides>
  <Notes>18</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18</vt:i4>
      </vt:variant>
    </vt:vector>
  </HeadingPairs>
  <TitlesOfParts>
    <vt:vector size="22" baseType="lpstr">
      <vt:lpstr>Aptos</vt:lpstr>
      <vt:lpstr>Aptos Display</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越 戴</cp:lastModifiedBy>
  <cp:revision>1</cp:revision>
  <dcterms:created xsi:type="dcterms:W3CDTF">2026-05-23T08:57:45Z</dcterms:created>
  <dcterms:modified xsi:type="dcterms:W3CDTF">2026-05-24T02:23:59Z</dcterms:modified>
</cp:coreProperties>
</file>