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97a5ac25524e9d" /><Relationship Type="http://schemas.openxmlformats.org/officeDocument/2006/relationships/extended-properties" Target="/docProps/app.xml" Id="Rd721669299d447fc" /><Relationship Type="http://schemas.openxmlformats.org/officeDocument/2006/relationships/officeDocument" Target="/ppt/presentation.xml" Id="R9fbc4914f4504f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073905a6534c90"/>
  </p:sldMasterIdLst>
  <p:notesMasterIdLst>
    <p:notesMasterId xmlns:r="http://schemas.openxmlformats.org/officeDocument/2006/relationships" r:id="Rdbf0e979c80c4503"/>
  </p:notesMasterIdLst>
  <p:sldIdLst>
    <p:sldId xmlns:r="http://schemas.openxmlformats.org/officeDocument/2006/relationships" id="256" r:id="Ra2728530f7a946de"/>
    <p:sldId xmlns:r="http://schemas.openxmlformats.org/officeDocument/2006/relationships" id="257" r:id="R3b5ca8b4e9844791"/>
    <p:sldId xmlns:r="http://schemas.openxmlformats.org/officeDocument/2006/relationships" id="258" r:id="R2d68b912a6a1479b"/>
    <p:sldId xmlns:r="http://schemas.openxmlformats.org/officeDocument/2006/relationships" id="259" r:id="Rfbcd64832a9d4f43"/>
    <p:sldId xmlns:r="http://schemas.openxmlformats.org/officeDocument/2006/relationships" id="260" r:id="R66c40464370441c1"/>
    <p:sldId xmlns:r="http://schemas.openxmlformats.org/officeDocument/2006/relationships" id="261" r:id="R9b5091229274409e"/>
    <p:sldId xmlns:r="http://schemas.openxmlformats.org/officeDocument/2006/relationships" id="262" r:id="R9377eacc4be242af"/>
    <p:sldId xmlns:r="http://schemas.openxmlformats.org/officeDocument/2006/relationships" id="263" r:id="R3fcd48f949fc4e9f"/>
    <p:sldId xmlns:r="http://schemas.openxmlformats.org/officeDocument/2006/relationships" id="264" r:id="R9a742e0d2509449e"/>
    <p:sldId xmlns:r="http://schemas.openxmlformats.org/officeDocument/2006/relationships" id="265" r:id="R26f855a5d62449e3"/>
    <p:sldId xmlns:r="http://schemas.openxmlformats.org/officeDocument/2006/relationships" id="266" r:id="R0612c934dc164f1a"/>
    <p:sldId xmlns:r="http://schemas.openxmlformats.org/officeDocument/2006/relationships" id="267" r:id="Ra74b23edf6b04ea0"/>
    <p:sldId xmlns:r="http://schemas.openxmlformats.org/officeDocument/2006/relationships" id="268" r:id="Radb974467ed44a56"/>
    <p:sldId xmlns:r="http://schemas.openxmlformats.org/officeDocument/2006/relationships" id="269" r:id="R3ed17f43e1854ff0"/>
    <p:sldId xmlns:r="http://schemas.openxmlformats.org/officeDocument/2006/relationships" id="270" r:id="R765f7a7f7c5e45e7"/>
    <p:sldId xmlns:r="http://schemas.openxmlformats.org/officeDocument/2006/relationships" id="271" r:id="R2efa691f393345f1"/>
    <p:sldId xmlns:r="http://schemas.openxmlformats.org/officeDocument/2006/relationships" id="272" r:id="Re28e8ab5521c4844"/>
    <p:sldId xmlns:r="http://schemas.openxmlformats.org/officeDocument/2006/relationships" id="273" r:id="R753bd75a07aa42e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073905a6534c90" /><Relationship Type="http://schemas.openxmlformats.org/officeDocument/2006/relationships/theme" Target="/ppt/theme/theme1.xml" Id="Ra47fe4d253f548b3" /><Relationship Type="http://schemas.openxmlformats.org/officeDocument/2006/relationships/notesMaster" Target="/ppt/notesMasters/notesMaster1.xml" Id="Rdbf0e979c80c4503" /><Relationship Type="http://schemas.openxmlformats.org/officeDocument/2006/relationships/presProps" Target="/ppt/presProps.xml" Id="Rb4dea2f1e7744e24" /><Relationship Type="http://schemas.openxmlformats.org/officeDocument/2006/relationships/viewProps" Target="/ppt/viewProps.xml" Id="R4ee0730aba6e4f56" /><Relationship Type="http://schemas.openxmlformats.org/officeDocument/2006/relationships/tableStyles" Target="/ppt/tableStyles.xml" Id="R775f4d67c6f84630" /><Relationship Type="http://schemas.openxmlformats.org/officeDocument/2006/relationships/slide" Target="/ppt/slides/slide1.xml" Id="Ra2728530f7a946de" /><Relationship Type="http://schemas.openxmlformats.org/officeDocument/2006/relationships/slide" Target="/ppt/slides/slide2.xml" Id="R3b5ca8b4e9844791" /><Relationship Type="http://schemas.openxmlformats.org/officeDocument/2006/relationships/slide" Target="/ppt/slides/slide3.xml" Id="R2d68b912a6a1479b" /><Relationship Type="http://schemas.openxmlformats.org/officeDocument/2006/relationships/slide" Target="/ppt/slides/slide4.xml" Id="Rfbcd64832a9d4f43" /><Relationship Type="http://schemas.openxmlformats.org/officeDocument/2006/relationships/slide" Target="/ppt/slides/slide5.xml" Id="R66c40464370441c1" /><Relationship Type="http://schemas.openxmlformats.org/officeDocument/2006/relationships/slide" Target="/ppt/slides/slide6.xml" Id="R9b5091229274409e" /><Relationship Type="http://schemas.openxmlformats.org/officeDocument/2006/relationships/slide" Target="/ppt/slides/slide7.xml" Id="R9377eacc4be242af" /><Relationship Type="http://schemas.openxmlformats.org/officeDocument/2006/relationships/slide" Target="/ppt/slides/slide8.xml" Id="R3fcd48f949fc4e9f" /><Relationship Type="http://schemas.openxmlformats.org/officeDocument/2006/relationships/slide" Target="/ppt/slides/slide9.xml" Id="R9a742e0d2509449e" /><Relationship Type="http://schemas.openxmlformats.org/officeDocument/2006/relationships/slide" Target="/ppt/slides/slide10.xml" Id="R26f855a5d62449e3" /><Relationship Type="http://schemas.openxmlformats.org/officeDocument/2006/relationships/slide" Target="/ppt/slides/slide11.xml" Id="R0612c934dc164f1a" /><Relationship Type="http://schemas.openxmlformats.org/officeDocument/2006/relationships/slide" Target="/ppt/slides/slide12.xml" Id="Ra74b23edf6b04ea0" /><Relationship Type="http://schemas.openxmlformats.org/officeDocument/2006/relationships/slide" Target="/ppt/slides/slide13.xml" Id="Radb974467ed44a56" /><Relationship Type="http://schemas.openxmlformats.org/officeDocument/2006/relationships/slide" Target="/ppt/slides/slide14.xml" Id="R3ed17f43e1854ff0" /><Relationship Type="http://schemas.openxmlformats.org/officeDocument/2006/relationships/slide" Target="/ppt/slides/slide15.xml" Id="R765f7a7f7c5e45e7" /><Relationship Type="http://schemas.openxmlformats.org/officeDocument/2006/relationships/slide" Target="/ppt/slides/slide16.xml" Id="R2efa691f393345f1" /><Relationship Type="http://schemas.openxmlformats.org/officeDocument/2006/relationships/slide" Target="/ppt/slides/slide17.xml" Id="Re28e8ab5521c4844" /><Relationship Type="http://schemas.openxmlformats.org/officeDocument/2006/relationships/slide" Target="/ppt/slides/slide18.xml" Id="R753bd75a07aa42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163b8b4ec1d40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9ab39db53c4a27" /><Relationship Type="http://schemas.openxmlformats.org/officeDocument/2006/relationships/notesMaster" Target="/ppt/notesMasters/notesMaster1.xml" Id="R215fa0b2e9874f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1eeef4a8d14c13" /><Relationship Type="http://schemas.openxmlformats.org/officeDocument/2006/relationships/notesMaster" Target="/ppt/notesMasters/notesMaster1.xml" Id="Ra7309f9c664e46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2b9b29b4c74a48" /><Relationship Type="http://schemas.openxmlformats.org/officeDocument/2006/relationships/notesMaster" Target="/ppt/notesMasters/notesMaster1.xml" Id="R1bab6cf3059c44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e710ec28564192" /><Relationship Type="http://schemas.openxmlformats.org/officeDocument/2006/relationships/notesMaster" Target="/ppt/notesMasters/notesMaster1.xml" Id="Rca03dae2f2d445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ef415eefe74253" /><Relationship Type="http://schemas.openxmlformats.org/officeDocument/2006/relationships/notesMaster" Target="/ppt/notesMasters/notesMaster1.xml" Id="Rc5871fd8748240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2c198d6ab74403" /><Relationship Type="http://schemas.openxmlformats.org/officeDocument/2006/relationships/notesMaster" Target="/ppt/notesMasters/notesMaster1.xml" Id="R12300a364c1949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9064815d0e4959" /><Relationship Type="http://schemas.openxmlformats.org/officeDocument/2006/relationships/notesMaster" Target="/ppt/notesMasters/notesMaster1.xml" Id="R41d792b1216e4f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e8662f79b74aa6" /><Relationship Type="http://schemas.openxmlformats.org/officeDocument/2006/relationships/notesMaster" Target="/ppt/notesMasters/notesMaster1.xml" Id="R2e64b43688ed45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dad95dffca4181" /><Relationship Type="http://schemas.openxmlformats.org/officeDocument/2006/relationships/notesMaster" Target="/ppt/notesMasters/notesMaster1.xml" Id="Ra6d7d791554d41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766c91346240d6" /><Relationship Type="http://schemas.openxmlformats.org/officeDocument/2006/relationships/notesMaster" Target="/ppt/notesMasters/notesMaster1.xml" Id="R75f2ebd115a143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428a5e6198427e" /><Relationship Type="http://schemas.openxmlformats.org/officeDocument/2006/relationships/notesMaster" Target="/ppt/notesMasters/notesMaster1.xml" Id="R5a595fc55be74e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77faec6f524016" /><Relationship Type="http://schemas.openxmlformats.org/officeDocument/2006/relationships/notesMaster" Target="/ppt/notesMasters/notesMaster1.xml" Id="Rf18226b8ca1c46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1a8b1a15424066" /><Relationship Type="http://schemas.openxmlformats.org/officeDocument/2006/relationships/notesMaster" Target="/ppt/notesMasters/notesMaster1.xml" Id="Re2c611df0147434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f77c511e6e41f2" /><Relationship Type="http://schemas.openxmlformats.org/officeDocument/2006/relationships/notesMaster" Target="/ppt/notesMasters/notesMaster1.xml" Id="Rb4b849e5cc4743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869c4a403f41b5" /><Relationship Type="http://schemas.openxmlformats.org/officeDocument/2006/relationships/notesMaster" Target="/ppt/notesMasters/notesMaster1.xml" Id="R5bcecefc0ef04a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d844f291fb4f2a" /><Relationship Type="http://schemas.openxmlformats.org/officeDocument/2006/relationships/notesMaster" Target="/ppt/notesMasters/notesMaster1.xml" Id="R17b2d39c9e26446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fb6cf49f6834e14" /><Relationship Type="http://schemas.openxmlformats.org/officeDocument/2006/relationships/notesMaster" Target="/ppt/notesMasters/notesMaster1.xml" Id="R7f51f67e49e345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a5d206461b44552" /><Relationship Type="http://schemas.openxmlformats.org/officeDocument/2006/relationships/notesMaster" Target="/ppt/notesMasters/notesMaster1.xml" Id="R4941b7391efa40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678e1f77e4dd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639984b108a4211" /><Relationship Type="http://schemas.openxmlformats.org/officeDocument/2006/relationships/slideLayout" Target="/ppt/slideLayouts/slideLayout2.xml" Id="Raa4fcc33ac2640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4fcc33ac2640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6deaf58d04e2e" /><Relationship Type="http://schemas.openxmlformats.org/officeDocument/2006/relationships/notesSlide" Target="/ppt/notesSlides/notesSlide1.xml" Id="R77f8eb80b56242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d1948113454f13" /><Relationship Type="http://schemas.openxmlformats.org/officeDocument/2006/relationships/notesSlide" Target="/ppt/notesSlides/notesSlide2.xml" Id="Rf860bc6d562047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121b02298348da" /><Relationship Type="http://schemas.openxmlformats.org/officeDocument/2006/relationships/notesSlide" Target="/ppt/notesSlides/notesSlide3.xml" Id="R0ca5df50d11244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8db40ef3ed4223" /><Relationship Type="http://schemas.openxmlformats.org/officeDocument/2006/relationships/notesSlide" Target="/ppt/notesSlides/notesSlide4.xml" Id="Rac5c3eb355f347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5a84ecedac4a7b" /><Relationship Type="http://schemas.openxmlformats.org/officeDocument/2006/relationships/image" Target="/ppt/media/image.png" Id="R94c67c301e7e40b4" /><Relationship Type="http://schemas.openxmlformats.org/officeDocument/2006/relationships/image" Target="/ppt/media/image2.png" Id="R516f453403ae4557" /><Relationship Type="http://schemas.openxmlformats.org/officeDocument/2006/relationships/notesSlide" Target="/ppt/notesSlides/notesSlide5.xml" Id="Rb217fbc7fcd448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25631f55614632" /><Relationship Type="http://schemas.openxmlformats.org/officeDocument/2006/relationships/image" Target="/ppt/media/image3.png" Id="R48d658ef81ae4ca9" /><Relationship Type="http://schemas.openxmlformats.org/officeDocument/2006/relationships/notesSlide" Target="/ppt/notesSlides/notesSlide6.xml" Id="R183cd66d2f8248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aa3b962374243" /><Relationship Type="http://schemas.openxmlformats.org/officeDocument/2006/relationships/image" Target="/ppt/media/image4.png" Id="R57e9b0cd76544b41" /><Relationship Type="http://schemas.openxmlformats.org/officeDocument/2006/relationships/image" Target="/ppt/media/image5.png" Id="Rcbc1ad3e795743f5" /><Relationship Type="http://schemas.openxmlformats.org/officeDocument/2006/relationships/notesSlide" Target="/ppt/notesSlides/notesSlide7.xml" Id="R08700b8826ec4f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caa7e8ad7144e4" /><Relationship Type="http://schemas.openxmlformats.org/officeDocument/2006/relationships/notesSlide" Target="/ppt/notesSlides/notesSlide8.xml" Id="R6bc2fd8163054e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4b3db9fc114e45" /><Relationship Type="http://schemas.openxmlformats.org/officeDocument/2006/relationships/image" Target="/ppt/media/image6.png" Id="R4e1977a5549343de" /><Relationship Type="http://schemas.openxmlformats.org/officeDocument/2006/relationships/notesSlide" Target="/ppt/notesSlides/notesSlide9.xml" Id="R856b14d598e147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d6cde8bc1e4e1f" /><Relationship Type="http://schemas.openxmlformats.org/officeDocument/2006/relationships/image" Target="/ppt/media/image7.png" Id="R503ce776c3e14bce" /><Relationship Type="http://schemas.openxmlformats.org/officeDocument/2006/relationships/notesSlide" Target="/ppt/notesSlides/notesSlide10.xml" Id="R379106fd702842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08b9a6542f4d5c" /><Relationship Type="http://schemas.openxmlformats.org/officeDocument/2006/relationships/image" Target="/ppt/media/image8.png" Id="R3e8d4e7fc93542a4" /><Relationship Type="http://schemas.openxmlformats.org/officeDocument/2006/relationships/notesSlide" Target="/ppt/notesSlides/notesSlide11.xml" Id="Raa58620f84f942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fdece0098b474d" /><Relationship Type="http://schemas.openxmlformats.org/officeDocument/2006/relationships/image" Target="/ppt/media/image9.png" Id="Rf76e99b6afd7461e" /><Relationship Type="http://schemas.openxmlformats.org/officeDocument/2006/relationships/notesSlide" Target="/ppt/notesSlides/notesSlide12.xml" Id="R02622f9b1b964c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623d2184a24493" /><Relationship Type="http://schemas.openxmlformats.org/officeDocument/2006/relationships/image" Target="/ppt/media/image10.png" Id="R8c879a1610714487" /><Relationship Type="http://schemas.openxmlformats.org/officeDocument/2006/relationships/image" Target="/ppt/media/image11.png" Id="R365610d6155c4e11" /><Relationship Type="http://schemas.openxmlformats.org/officeDocument/2006/relationships/notesSlide" Target="/ppt/notesSlides/notesSlide13.xml" Id="R0f6cbfe9d7a94d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4f975e344244be" /><Relationship Type="http://schemas.openxmlformats.org/officeDocument/2006/relationships/notesSlide" Target="/ppt/notesSlides/notesSlide14.xml" Id="R8e4a6d921eea46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8e345763ea4f31" /><Relationship Type="http://schemas.openxmlformats.org/officeDocument/2006/relationships/notesSlide" Target="/ppt/notesSlides/notesSlide15.xml" Id="R35f6b5ebf87a4f1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67f25cb25c4ff7" /><Relationship Type="http://schemas.openxmlformats.org/officeDocument/2006/relationships/notesSlide" Target="/ppt/notesSlides/notesSlide16.xml" Id="R83126f7794d44b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d689c60de9450b" /><Relationship Type="http://schemas.openxmlformats.org/officeDocument/2006/relationships/notesSlide" Target="/ppt/notesSlides/notesSlide17.xml" Id="R957bdda4732647f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6437928e5240d3" /><Relationship Type="http://schemas.openxmlformats.org/officeDocument/2006/relationships/notesSlide" Target="/ppt/notesSlides/notesSlide18.xml" Id="R2fa2b2ffdd9e42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68ABD0-9170-475E-A69A-964052FB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0220A-DC83-4C96-811B-FF3112DF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导师阶段汇报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50ECF-4DDF-44F9-818F-018A01D6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84772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2023/24 强厄尔尼诺海气脱耦：从原文复现到发展季不同步响应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9555D-77C7-41F9-B874-BFFD2E42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895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主线：强海温事件为何没有激发同等强度的风压、降水和对流响应？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6B71A-222C-4410-BBC6-7156EBFD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7A6ED-A5C5-4F0C-BF26-765C5312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91000"/>
            <a:ext cx="8001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复现 Peng et al. 2025 的核心图和关键数值。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981179-5C43-471A-A6BA-6F8694D8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D3A5C-B1E7-49AC-B46A-5E8CCA6A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8001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在公开资料中验证“海温强、大气弱”。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143BA-FF03-4E9B-8A56-4F9319B4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92570-C2B0-41B1-B85F-B8B2633D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8001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把全年结论推进到 AMJ/JJA 发展前期的历史对比。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D6B898-7D99-4014-AA0B-40359033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123950"/>
            <a:ext cx="1409700" cy="140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033D3F-B0F2-415C-A41D-A05A63B8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9337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79584-316D-43ED-81EA-76A77549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333875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5F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818F1-5583-4DC3-98B3-7A1F9F1B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Peng et al. 2025; NOAA OISST v2.1; GPCP; NCEP/NCAR R1. 汇报日期：2026-05-23。</a:t>
            </a:r>
          </a:p>
        </p:txBody>
      </p:sp>
    </p:spTree>
    <p:extLst>
      <p:ext uri="{BB962C8B-B14F-4D97-AF65-F5344CB8AC3E}">
        <p14:creationId xmlns:p14="http://schemas.microsoft.com/office/powerpoint/2010/main" val="2768630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166B6C-8522-43E5-B09D-67BD4B4C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72538-C976-44BC-9FE6-39D0628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一句话结论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A883B-E5EA-4E06-8356-0080E72E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目前已经从复现进入新研究第一层诊断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229C-8D85-4425-BF2C-8EA6654B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B25F4-8ACA-429E-B985-4B97BAB0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62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82289F-BE2D-46FA-A85C-7DE8AB1D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908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年 AMJ/JJA 的 Niño-3 海温已达到历史强厄尔尼诺量级，但中西太平洋低层风、SOI-like 压力梯度和降水响应没有同步增强。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1C9B4B-C8E8-42F6-AC54-9817105A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D7851-9EA0-415F-9DF0-802A3E55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原文贡献：证明 2023/24 强厄尔尼诺主要由海洋动力维持，并指出大气反馈偏弱。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60801-5E65-462E-8BEA-16FD72ED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DCEC9-756F-4014-B802-137589D3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本课题问题：偏弱大气响应最早在哪个季节出现？哪些外海盆或背景态可能调制了耦合效率？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AA7DC-C03C-4C1E-B1F8-63E6EB6C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3BAB0-E162-415D-B3CE-A41B18C8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5775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阶段发现：AMJ/JJA 是关键窗口，TNA、印度洋、海陆洲和西太暖池同步偏暖。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14CC0D-0164-4343-BC4F-BD63FA56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8F229-5EF8-40E5-A9CE-8C0C0EDD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因此，当前不是简单重复原文，而是在原文“海洋动力生成强事件”的基础上追问：大气为什么没有按历史经验给出同等响应。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60D88-ECF8-410A-839D-2691E521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Current synthesis from reproduced paper figures and data/derived/research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3323075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013718-8042-4B50-B8BB-F24622A6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1747D-C960-453A-B73F-917DDBE1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逻辑链条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C6EAB-A871-4633-ACA1-01E3078D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汇报结构：复现文章结论，再提出发展季耦合失效问题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7E5C2-B5E7-4715-990E-9B4E05ED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E9D32-2478-4DF9-8296-D4AAB494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2247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DF280-8C9B-4585-A7B5-8888CA5B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003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FB35E-11A6-4299-A39C-F4011350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原文复现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 1-4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3C7B2-2AB0-47CD-B6C5-2809C028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F5DA5-1B12-491A-B28C-B7227293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47900"/>
            <a:ext cx="2247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29C24-7DC9-4AF2-841D-D3489C1B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003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6E604-B595-4B8C-94DB-62A6C114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62250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原始资料验证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OISST/GPCP/NCEP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39A40F-D28E-4D8D-A2E8-B2AC328A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908BBA-1BDE-42BC-B608-8AF92A3C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2247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E8057-3802-421A-AE52-E2268039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003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629159-22A7-4705-82BB-1B926DE5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62250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发展季历史对比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33387-CA73-4F90-8D75-4A09191D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051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57A2F-8255-49DC-A87B-DC87F1D4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47900"/>
            <a:ext cx="22479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BC33D-F688-4969-981F-29783E21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003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9A6F8-564A-4CA0-BC2B-0B585BB4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62250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研究差异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从成因到响应时序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A94AA-6908-438A-BFED-15B6256F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D9119A-06C4-4326-B57B-6A2B45A0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38650"/>
            <a:ext cx="89535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每个有图页面都在图下标注数据来源；附录给出数据表格与链接。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F82C1D-1472-4676-BCB1-75250906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698B06-5B0B-4CC4-9511-A3F15B1C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33950"/>
            <a:ext cx="89535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给导师阅读时，可以把这页看作全文路线图：前半部分证明基础事实可靠，后半部分说明你的新问题从哪里来。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49F987-0760-4A55-B2A6-B57C021B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Workflow recorded in reports/当前数据分析阶段总结.md and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7498813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1D5596-6FD1-4ED6-BD3A-819A0532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82F24-A346-4D95-B2EB-8F1003A9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术语先说明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FD9ED-4183-4639-BAE3-1A8E6310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本汇报常用缩写：先把气象量和数据集讲清楚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7D5A4-87BB-45CE-A583-D468E5B8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5D60D-2F43-4E6A-9DC8-F89A7C62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412F1-6324-4D22-BD51-20BC456C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缩写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2D633-94C5-474C-B883-D33C4A00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95450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04706-8413-4DF1-91C3-3AA6BEB3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762125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全称/中文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0C9B5-A88F-4B8A-BAFA-59A237AF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95450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0F1AF-2DDA-467B-ABC9-4B1B5F00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在本研究中的含义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7448F-66D0-4F6B-A159-DE0E6F8C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8AD242-9F76-4868-BCEC-E96BC144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3DC0C-A47F-4DFD-9070-0F763C8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24075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19C73-D5EB-4272-A5A5-DC2A54FA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90750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 Surface Temperature，海表温度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AEFE8-DF99-4557-A45D-B4370F05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24075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DA859-BD33-4A4E-BBC2-A3ECA1A6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90750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判断厄尔尼诺海洋增暖强度的核心变量。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E618D-361C-4049-ADAE-2FB52E1B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30457-F693-43F5-9351-A4FB7117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3A9B3B-9012-431C-97D6-2D689000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552700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73261-67D3-46FB-9557-BC893F95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19375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东赤道太平洋海温区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65C290-9FDA-462D-90BA-C47EFE0F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52700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575C6A-0DC3-4A3C-AA66-A7298486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19375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通常取 5°S-5°N、150°W-90°W；本研究用它代表东太平洋增暖。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A8464C-5688-4379-9D09-3047728A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3CDE98-E355-494D-9E1F-0F606326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u10 / u850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CD4797-9519-4A7C-B718-F275E74F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81325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48C86C-5254-4891-8C62-F6C9F2A1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48000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10 米 / 850 hPa 纬向风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A3D525-34FC-442C-AE88-70520B7D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81325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9616D2-E10A-4DFD-8A8F-F96DC612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东西向风；正值常代表西风异常，能推动暖水东传和海气耦合。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D4F3C0-9882-47F0-97A2-2DAA923D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9A75DC-4E03-4953-BB54-37ADE772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 / SLP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1C4BE-FCE9-457C-9C0B-C3921354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09950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FB8C56-B5E0-41A1-A7F4-1F98B77E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476625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南方涛动指数 / 海平面气压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293C6D-3EE1-43CC-B13D-FEF40C0A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409950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C18947-74A1-4B2F-81F6-22AB6574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76625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 反映东西太平洋气压跷跷板；SLP 用于构造类 SOI 压力梯度。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1E06C8-2C19-453C-98D3-F427CE64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385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53B2A2-4E49-4444-9B87-68AD0828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OLR / χ200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E9ECAB8-21AE-4EA2-A7F1-9B851EB3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838575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228E6-E611-45AA-98B5-643BDF49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05250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向外长波辐射 / 200 hPa 速度势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6D24D7-00F0-401F-8A03-4763F5D6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838575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9EF566-6E64-4B5F-ADC1-273777B3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05250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OLR 用于判断深对流强弱；χ200 用于诊断 Walker 环流上层辐散。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06CA5E-45A3-474B-8145-A6E741BF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2CA964-FFB3-420A-AA99-6E84A48C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AMJ/JJA/SON/DJF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4DB0C5-C76E-46C0-9DFA-936D5C26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67200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8DCC2C-81C6-472F-80B8-51E7019F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33875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4-6月 / 6-8月 / 9-11月 / 12-2月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B432F7-3321-4DCA-97EB-B5707F5D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267200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C8CF5E-10B8-49C4-B0CF-3B5A5C6C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33875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按季节拆解 2023/24 事件，重点看发展前期 AMJ 和 JJA。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AF0084-C9F7-4CB9-817C-9D66281B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B14642-887A-4C4D-BE4C-FFB213D3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OISST/GPCP/NCEP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59F1EC-C0D3-462C-B6A8-F05207E1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95825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0A3719-4399-43C9-98C4-498F3251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海温 / 全球降水 / NCEP 再分析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7154F90-C190-4431-85A8-A2FDD4A6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695825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57F3F7-43E4-4879-8C6B-C2EE54CA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62500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当前已使用的公开验证资料；ERA5 和 OLR 是下一步补充。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017EE3-AA18-4D37-B6CA-F87909D8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CAE48B-FA2D-465B-AF5E-C7C8569F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181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TNA/MC/WPWP/TIO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D2C957-A8A9-41F0-86BB-CB361530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124450"/>
            <a:ext cx="2857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8B7E223-1E61-44F8-BFE2-30771AC8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91125"/>
            <a:ext cx="2705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热带北大西洋 / 海陆洲 / 西太暖池 / 热带印度洋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6E93B9-BE0D-4FA0-84C6-CA6694C9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124450"/>
            <a:ext cx="61722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F305AD-8B02-4C90-B665-625F3200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91125"/>
            <a:ext cx="60198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1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用于描述外海盆和热带背景态异常。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D18F1D-4A2C-440E-A8C9-2CAB3078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D4BD1F-8240-4C79-8168-5E7C4EE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0134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阅读建议：后面每页会尽量先写中文全称，再写缩写。若只记一条主线，就是：海表温度很强，但风、气压、降水和对流没有同步给出历史强厄尔尼诺式响应。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E8ADD2-DBC0-48B4-BCED-FCE30FC2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Definitions follow standard climate diagnostics; variable usage follows docs/data_source_log.md and local analysis scripts.</a:t>
            </a:r>
          </a:p>
        </p:txBody>
      </p:sp>
    </p:spTree>
    <p:extLst>
      <p:ext uri="{BB962C8B-B14F-4D97-AF65-F5344CB8AC3E}">
        <p14:creationId xmlns:p14="http://schemas.microsoft.com/office/powerpoint/2010/main" val="19601671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C50EA2-D380-425C-9A4B-90F8F4A1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CAD3A8-5D8B-4796-AD75-CDEEE38C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BBF19-20CC-4DFF-82AC-52785FF7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Peng et al. Fig. 1：2023/24 海表温度强，但风压耦合响应偏弱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C2900-441E-411F-99BA-2F38D4E3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c67c301e7e40b4"/>
          <a:stretch xmlns:a="http://schemas.openxmlformats.org/drawingml/2006/main"/>
        </p:blipFill>
        <p:spPr>
          <a:xfrm xmlns:a="http://schemas.openxmlformats.org/drawingml/2006/main">
            <a:off x="934826" y="1695450"/>
            <a:ext cx="4416849" cy="367665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f453403ae4557"/>
          <a:stretch xmlns:a="http://schemas.openxmlformats.org/drawingml/2006/main"/>
        </p:blipFill>
        <p:spPr>
          <a:xfrm xmlns:a="http://schemas.openxmlformats.org/drawingml/2006/main">
            <a:off x="5905500" y="2091157"/>
            <a:ext cx="4095750" cy="174223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6779B-DC01-40D3-A9BE-02638812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C915F-8FB7-4278-9514-2AC539F8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00550"/>
            <a:ext cx="43815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复现结果确认：2023/24 是强海温事件。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973946-BCAA-4FE3-BFC8-8CCB0AA1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768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7279D-3631-4B25-875A-94D8AB76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00600"/>
            <a:ext cx="43815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相对于 1982/83、1997/98、2015/16，风压响应明显偏弱。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D3F95-7EA1-4E16-BDEB-881A58CB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363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8015D-7ED6-4F3B-AFFD-8AC2B4A2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10134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数据说明：Peng et al. 2025 source archive Fig. 1 数据；本地表 fig1_event_coupling.csv。Niño-3 指东赤道太平洋海温区；u10 是 10 米纬向风；SOI 是南方涛动指数。2023 Niño-3=1.929, u10=0.640, SOI=-0.433；u10 与 SOI 响应比仅为 0.27 和 0.31。 读图要点：左侧复现原文中 SST、MSLP/u10 和散点关系，右侧把数值压缩成响应比。它说明 2023/24 的海温并不弱，真正异常的是大气端没有按历史强事件斜率响应。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3BF87-A493-4B28-9E25-650C701E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L1 Peng et al. 2025; local reproduction: data/derived/peng2025_repro/figures/Fig1.png.</a:t>
            </a:r>
          </a:p>
        </p:txBody>
      </p:sp>
    </p:spTree>
    <p:extLst>
      <p:ext uri="{BB962C8B-B14F-4D97-AF65-F5344CB8AC3E}">
        <p14:creationId xmlns:p14="http://schemas.microsoft.com/office/powerpoint/2010/main" val="2443440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825446-FD30-44A6-9FD5-2E6688F2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2053E-4478-495F-8F36-6116954F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38D66-AF8A-43CE-ACD9-0B6B600E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Peng et al. Fig. 2：原文将强事件归因到赤道太平洋海洋动力过程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75931-54A6-48FC-93AB-0A741055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658ef81ae4ca9"/>
          <a:stretch xmlns:a="http://schemas.openxmlformats.org/drawingml/2006/main"/>
        </p:blipFill>
        <p:spPr>
          <a:xfrm xmlns:a="http://schemas.openxmlformats.org/drawingml/2006/main">
            <a:off x="4278628" y="1638300"/>
            <a:ext cx="3063243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71A10-87C0-4E97-87F6-4CB6C432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564C7-EB90-43AB-9AF1-EE6DAADE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数据说明：Peng et al. 2025 source archive Fig. 2 数据；本地表 fig2_equatorial_summary.csv。该图用于支撑原文的海洋动力解释，包括赤道传播、次表层热含量和风应力相关诊断。 读图要点：这页不是你的新机制，而是原文的基础归因。它告诉我们强海温可以由海洋动力解释，但并没有解释为什么春夏早期风压和降水没有同步放大。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27D85-9E5E-4385-9C9D-55DDAF47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L1 Peng et al. 2025; local reproduction: data/derived/peng2025_repro/figures/Fig2.png.</a:t>
            </a:r>
          </a:p>
        </p:txBody>
      </p:sp>
    </p:spTree>
    <p:extLst>
      <p:ext uri="{BB962C8B-B14F-4D97-AF65-F5344CB8AC3E}">
        <p14:creationId xmlns:p14="http://schemas.microsoft.com/office/powerpoint/2010/main" val="5205933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D49286-16E0-4209-A582-4B229710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F7464-551A-4093-8519-5C5FCE88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880BA-32AA-4659-8DE9-573B5B4C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Peng et al. Fig. 3-4：外海盆海表温度和 2023 年风场均削弱典型响应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53585-4A66-421A-AA4F-460DF56D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9b0cd76544b41"/>
          <a:stretch xmlns:a="http://schemas.openxmlformats.org/drawingml/2006/main"/>
        </p:blipFill>
        <p:spPr>
          <a:xfrm xmlns:a="http://schemas.openxmlformats.org/drawingml/2006/main">
            <a:off x="614340" y="1695450"/>
            <a:ext cx="3571920" cy="281940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1ad3e795743f5"/>
          <a:stretch xmlns:a="http://schemas.openxmlformats.org/drawingml/2006/main"/>
        </p:blipFill>
        <p:spPr>
          <a:xfrm xmlns:a="http://schemas.openxmlformats.org/drawingml/2006/main">
            <a:off x="5089741" y="1695450"/>
            <a:ext cx="2126819" cy="28194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5531E4-4517-459F-8E19-7C23FFDA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526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关键摘录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8D6D4-64D1-4E84-A0E1-B06FA7B9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336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A3B5D8-F7A4-49AA-B306-89C41621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002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指标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7B8B5-C924-4EBF-8FFF-45D8FEF8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1336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FDB54-C221-4F3C-8AF2-DCCA2B04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2002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37E06-1605-4FEB-B22E-84B6D365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3365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F1C04-D380-4015-B355-641FEEDB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0032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aPac 风应力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6BFEA-3043-436B-A038-9CB1AE6A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53365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9A61D-A82E-4E27-990A-6F969670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60032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0.0333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B68AFD-13BC-4903-9DF2-A20ED459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337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8310C0-E3CB-47DD-A4F2-E0DAEF57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003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aIndAtl 风应力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C50BF9-0AD5-478D-A633-DFBA59A6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337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0F41A-8F69-4D74-A2C7-26917CB0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0003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-0.0099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F78A65-3F98-4F2F-A19F-429CBBE3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5231A2-CA55-46B5-8DDD-D1DACFC4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0042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Dec Niño-3 CTRL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CBA5B5-1204-4AE4-8BD7-521003CB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3375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B73D37-8C81-4D75-85FB-8B823C05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40042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2.344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33AEA-AFBF-422C-9E2B-2DFEF40A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338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40CF-5A47-40F7-B2C0-637F87B1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004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Dec Niño-3 Wind2023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87D61C-2F7D-4A01-9A5F-2249F125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33800"/>
            <a:ext cx="1476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77FB63-8448-45CF-B6C6-830390C6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3800475"/>
            <a:ext cx="13239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0.681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B8573-6BB1-45DB-815E-A962B591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0200"/>
            <a:ext cx="10363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25CBF5-00D5-4A61-B9E2-44C084DA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86400"/>
            <a:ext cx="10134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数据说明：Peng et al. 2025 source archive Fig. 3-4 数据；本地表 fig3_agcm_summary.csv 与 fig4_wind_experiment_summary.csv。 读图要点：aPac 代表太平洋 SST 对大气风应力的典型驱动，aIndAtl 为印度洋和大西洋背景的外海盆影响。外海盆项为负，说明它可能抵消太平洋暖 SST 的大气响应。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8FAB5A-A46E-4E5A-AFEC-8AA0E1DC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L1 Peng et al. 2025; reproduction tables in data/derived/peng2025_repro/tables.</a:t>
            </a:r>
          </a:p>
        </p:txBody>
      </p:sp>
    </p:spTree>
    <p:extLst>
      <p:ext uri="{BB962C8B-B14F-4D97-AF65-F5344CB8AC3E}">
        <p14:creationId xmlns:p14="http://schemas.microsoft.com/office/powerpoint/2010/main" val="52852841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DC9C51-E17E-46F1-B7DC-1AD97214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51E70-E3AA-478C-92A5-3395230C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原文贡献与缺口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94D70-4863-4D77-A586-40F0A83D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原文回答了“强 El Niño 如何生成”，但留下“何时、为何脱耦”的问题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8D562-E81B-4049-A932-85965959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78599-B1E1-4AAC-B7EA-F5C82CE9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344E0-F212-4573-BEFB-F66A998C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76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维度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06C20-2203-4B7D-8F85-7234EB98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97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5BC32-7D76-467E-8062-08EC5769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764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Peng et al. 2025 的贡献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C19A4-0DC3-44A2-AAFB-217604B2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7540A-001D-4841-90D6-125403CE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764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本课题延伸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AED658-8EE7-449E-A832-BC3F427E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59FA1-AACE-4433-8C88-A217FBF1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主问题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F5E4F4-4C25-47DB-8673-2DB5D170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2410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CF6CE-C022-41C7-9E5B-D88BE458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9077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强 2023/24 El Niño 的海洋动力生成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517F2-B54E-4F51-9BE6-EAC56E27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2410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10862C-63FE-4577-8A77-A6D9339D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9077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发展季大气响应为何未同步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159C3-FB1F-480E-8362-A1CF101F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349CB8-7EB3-46BB-AC66-608FF2B7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主要证据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02CB4-5184-4C67-A16F-F51D075C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384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8AA60-3125-45A3-8D01-EA30D92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051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海洋热含量、赤道传播、风应力实验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58A718-D393-48F3-ACBA-AD96AA3E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8384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D149A2-0AE3-4F4C-9D84-67766525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051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海表温度-风压-降水-对流的季节耦合效率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6C283-0689-4DF8-B001-4FD3D342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4491A7-5C3C-483A-9809-77F389B5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时间尺度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0DA52F-C253-400A-82B2-0CB31826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5280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A8705-45CF-496F-8D83-DADD4A3A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1947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事件生成与成熟期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F3760C-0255-44E7-9876-8428AB68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5280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674D5-59B1-4E41-8D5B-2F8958AD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1947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AMJ/JJA/SON/DJF 不等时响应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A77AE0-9969-4D5E-BDAD-49B2BC59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5A68F7-0626-4AAA-89CB-0CC96CC8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33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机制候选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67E1E2-F35F-46E4-AA4C-79B89B39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671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A0E926-D151-4D10-AD72-DD7BF0DB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338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太平洋海洋动力与外海盆 SST 影响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6E5F1D-C46E-4FC3-BEDB-7B9BEAE3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8671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DB24F9-02C9-432F-9000-531CC7E9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338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TNA、印度洋、海陆洲、西太暖池背景态调制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5A5A4-218E-41C0-A150-4F48A444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363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F5857B-C81D-44BC-A15C-6811C826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10134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这页的作用是把原文贡献和你的研究空间分开：原文主要回答“强事件如何被海洋过程生成”，你的题目转向“强海温出现后，大气响应为什么不按历史同步发生”。因此后续分析必须分季节、分变量，而不能只看全年平均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468109-0341-4A42-99FE-52B209D5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Synthesis of L1 and current diagnostics; citations listed in final appendix.</a:t>
            </a:r>
          </a:p>
        </p:txBody>
      </p:sp>
    </p:spTree>
    <p:extLst>
      <p:ext uri="{BB962C8B-B14F-4D97-AF65-F5344CB8AC3E}">
        <p14:creationId xmlns:p14="http://schemas.microsoft.com/office/powerpoint/2010/main" val="60711712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9EE5F7-6824-4B7E-A8E8-B6A37B3D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67FCDC-2C0C-4733-A3AC-192706DD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独立资料验证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217C8C-CF64-496F-B713-626E95BB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公开资料重算表明：原文的核心事实不是单一数据集产物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AAF20-A741-4ABF-8E5B-C10AFC70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977a5549343de"/>
          <a:stretch xmlns:a="http://schemas.openxmlformats.org/drawingml/2006/main"/>
        </p:blipFill>
        <p:spPr>
          <a:xfrm xmlns:a="http://schemas.openxmlformats.org/drawingml/2006/main">
            <a:off x="742950" y="1755420"/>
            <a:ext cx="5219700" cy="340431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CF9E6-94EE-435E-94FE-AD84615B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14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A062E-D8A6-47D6-A244-E9A7253E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39052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最优插值海表温度 OISST 的 Niño-3 与复现 Fig. 1 相关 0.9999。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B3CAB-E6CF-4C7D-90AC-487ACEC4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03001-AE40-4E64-899D-55873973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81300"/>
            <a:ext cx="39052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全球降水气候计划 GPCP 显示 2023 中东太平洋降水弱于强事件 composite。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02524-2B38-45E0-85DE-EAA64B43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00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F7128-79FE-4844-A5A2-454A3B76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24250"/>
            <a:ext cx="39052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再分析风和类 SOI 压力梯度与原文大气指标高度一致。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5ACA2-E8A9-4D30-BBF0-245ECEA9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83B70-44BA-42DA-9AD0-2E7F9348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数据说明：OISST、GPCP、NCEP/NCAR R1 公开资料；对应表 oisst_vs_fig1_nino3.csv, gpcp_vs_fig2_precip.csv, ncep_vs_fig1_atmosphere.csv。 读图要点：OISST 验证海温，GPCP 验证降水，NCEP 作为风压 fallback。三类独立资料方向一致，说明“海温强、大气弱”不是原文源数据的偶然结果。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3DACF-EBBC-42CC-B35F-90B55866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D2 NOAA OISST; D3 GPCP; D4 NCEP/NCAR R1 via NOAA PSL OPeNDAP.</a:t>
            </a:r>
          </a:p>
        </p:txBody>
      </p:sp>
    </p:spTree>
    <p:extLst>
      <p:ext uri="{BB962C8B-B14F-4D97-AF65-F5344CB8AC3E}">
        <p14:creationId xmlns:p14="http://schemas.microsoft.com/office/powerpoint/2010/main" val="2737701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5B8FB0-1BA6-4C8D-9AEA-1AB72DD2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7D678-E96D-466B-98A7-6E004486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阶段性发现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A097E-4E50-4D6F-A9CB-3C21B852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历史对比显示：春季 AMJ / 夏季 JJA 的海温已强，但同步风压响应失效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2EB8D-0323-4520-AFDB-86FCF993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ce776c3e14bce"/>
          <a:stretch xmlns:a="http://schemas.openxmlformats.org/drawingml/2006/main"/>
        </p:blipFill>
        <p:spPr>
          <a:xfrm xmlns:a="http://schemas.openxmlformats.org/drawingml/2006/main">
            <a:off x="685800" y="2287191"/>
            <a:ext cx="6191250" cy="232171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F979E-DA6D-4DAE-B3D3-2E98993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BA795-47A0-47C4-A64B-82D04FC4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431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指标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90EA5-1BB3-4B89-837C-9259E3DA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0764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FAC22-358F-46C9-A5F0-239A3143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700" y="21431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2E21B3-97B1-4CD6-BF03-8D4A6190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20764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2B5BF-6C87-49F6-BE6E-BECAA257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1431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563FC9-C466-424E-8854-9F09A21B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955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054C18-85D0-4865-A7E2-27BA2DE1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622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SST 比值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4ACFAB-1474-4AD1-B38A-3124DAB1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4955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F86D4-8474-47BE-A8CB-A46EC13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700" y="25622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1.41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CE248D-E0BC-4CB9-9DB4-7EBF243B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24955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A34415-9CBD-48D3-A3EF-42E42DC2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5622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4FDACF-D608-4094-9EF7-770322E0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146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77FF2-3916-486F-902F-D24F3F5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813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中西太平洋 CWP 风比值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F7CB99-D274-4864-A678-CF5F2817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9146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BBC94-9AD4-477F-BAFF-F79C1C19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700" y="29813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-0.43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80FB74-D461-4FB3-ABA8-B3E27FED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29146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186186-988B-49EF-97A6-EA80A63F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29813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3D0237-3E55-4556-9A51-0A240D00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9E9D2B-9AC5-448C-8BBD-D3ABD19D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04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效率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7314AD-81AC-40CA-A227-F9BDEC35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3337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9B265F-EDB7-489F-982E-2C42B4CD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700" y="34004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02B2EA-ED4C-4103-A91E-F0D9C2A8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33337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433CD0-8468-4F53-B252-784D8CCD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4004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B8F749-EE9F-45E8-8A83-A85A3643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528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04622F-0012-4840-9D2D-AAB210A9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195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CP 降水比值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547BAF-9251-4D26-9AFC-7066A150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7528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7D84B1-FB55-4A7C-A426-81C28B17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1700" y="38195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0.43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E10A72-3C90-4F3A-9565-13E5BC2C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2000" y="3752850"/>
            <a:ext cx="120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E1B38C-87AB-41A9-91DE-84648340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200" y="3819525"/>
            <a:ext cx="105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1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0.38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E930E-666E-4B48-822C-45EA89DB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E4EF8E-5E61-45D5-8467-5EDCA099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数据说明：OISST Niño-3、NCEP CWP u proxy 与 SOI-like SLP gradient；相对 1982/83、1997/98、2015/16 strong-El Niño composite。 读图要点：如果只看 Niño-3，AMJ/JJA 2023 已经很像强 El Niño；但 CWP u 和 SOI-like 指标没有同步增强，甚至低层风响应反向。这就是目前最核心的新发现。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3A97A3-67F0-4AC6-829A-2F270154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Tables: asynchronous_coupling_efficiency.csv; seasonal_asynchrony_matrix.csv.</a:t>
            </a:r>
          </a:p>
        </p:txBody>
      </p:sp>
    </p:spTree>
    <p:extLst>
      <p:ext uri="{BB962C8B-B14F-4D97-AF65-F5344CB8AC3E}">
        <p14:creationId xmlns:p14="http://schemas.microsoft.com/office/powerpoint/2010/main" val="15835071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A424AF-35C5-4DB5-B960-B23351A1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DC549-34D1-4119-9FD2-18636C37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阶段性发现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5256B-C47F-4494-9E2F-67453C60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空间图：2023 春夏热带背景更暖，但太平洋降水中心未同步增强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0B4405-5494-4D0C-BDEE-AAC4D116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d4e7fc93542a4"/>
          <a:stretch xmlns:a="http://schemas.openxmlformats.org/drawingml/2006/main"/>
        </p:blipFill>
        <p:spPr>
          <a:xfrm xmlns:a="http://schemas.openxmlformats.org/drawingml/2006/main">
            <a:off x="2413451" y="1638300"/>
            <a:ext cx="6793598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6BB95-B783-484D-8E26-F1834A7B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77FEB-BC92-47DF-848F-E1262A1B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数据说明：OISST 海表温度与 GPCP 降水；图为 2023 AMJ/JJA 减去 1982/1997/2015 强事件 composite。TNA 指热带北大西洋，MC 指海陆洲，WPWP 指西太平洋暖池。TNA、海陆洲、西太暖池偏暖；中东太平洋降水偏弱。 读图要点：SST 图显示 2023 春夏不只是东太平洋暖，外海盆和西太暖池也更暖；降水图显示中东太平洋对流并没有跟随海温充分增强，支持“热背景改变对流阈值或 Walker 响应”的解释方向。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B07A2-7E76-426A-A4C0-96A5B973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D2 NOAA OISST; D3 GPCP. Summary table: stage_a_spatial_summary.csv.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11999621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B666D8-F801-4D58-8174-1F7226C2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952766-AB46-4DFA-9086-5EAE028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阶段性发现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C88AE-09FB-4B75-A46C-57A8CA89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空间图：低层风和海平面气压也显示发展季 Walker 环流响应不典型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C4CDD-8BBD-4036-87FE-529E50D8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e99b6afd7461e"/>
          <a:stretch xmlns:a="http://schemas.openxmlformats.org/drawingml/2006/main"/>
        </p:blipFill>
        <p:spPr>
          <a:xfrm xmlns:a="http://schemas.openxmlformats.org/drawingml/2006/main">
            <a:off x="2566405" y="1638300"/>
            <a:ext cx="6487691" cy="3619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2D543-3D5B-4CCE-999E-F3C5DA48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7999A-6CA2-4ECD-BFD7-F92AD4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数据说明：NCEP/NCAR R1 近地面 sigma995 风与海平面气压 SLP；图为 2023 AMJ/JJA 减去 1982/1997/2015 composite。CWP 指中西太平洋，CWP 低层风差值 AMJ=-2.301 m/s, JJA=-2.576 m/s；类 SOI 的 SLP 梯度差值为正。 读图要点：NCEP 结果目前是 fallback，但已经给出清楚线索：AMJ/JJA 中西太平洋低层风异常相对历史强事件偏弱，SLP 梯度也不像典型强 El Niño 那样充分建立。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74B83-1F69-489B-B510-A9C494E3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D4 NCEP/NCAR R1 fallback diagnostic. Final paper stage should replace/check with ERA5.</a:t>
            </a:r>
          </a:p>
        </p:txBody>
      </p:sp>
    </p:spTree>
    <p:extLst>
      <p:ext uri="{BB962C8B-B14F-4D97-AF65-F5344CB8AC3E}">
        <p14:creationId xmlns:p14="http://schemas.microsoft.com/office/powerpoint/2010/main" val="6172626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E8A129-879E-493E-9971-ED63EA31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CADDF-88BE-4BC0-AFF8-A9A25E6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阶段性发现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F3BA1-38AA-4726-921F-F04B5A00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外海盆暖异常为“发展季不同步响应”提供背景态线索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DB530-8652-45AB-BE5A-CA254A10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79a1610714487"/>
          <a:stretch xmlns:a="http://schemas.openxmlformats.org/drawingml/2006/main"/>
        </p:blipFill>
        <p:spPr>
          <a:xfrm xmlns:a="http://schemas.openxmlformats.org/drawingml/2006/main">
            <a:off x="666750" y="2159440"/>
            <a:ext cx="3733800" cy="1986671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610d6155c4e11"/>
          <a:stretch xmlns:a="http://schemas.openxmlformats.org/drawingml/2006/main"/>
        </p:blipFill>
        <p:spPr>
          <a:xfrm xmlns:a="http://schemas.openxmlformats.org/drawingml/2006/main">
            <a:off x="4572000" y="2372310"/>
            <a:ext cx="3733800" cy="156093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22311-8BC1-4FF7-AFBF-1F3C4002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562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6AD120-9075-4D59-8451-2F2A2B96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0977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区域/指标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87BC4-8234-4E41-A8FA-FC02903B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431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4D320-5273-4A74-880F-7FE2A1A8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097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C9CCE-F8A6-4D34-A2C0-1B660122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9431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4EFC3C-20B7-4E7B-8A7E-FED8D09C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0097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B152F-C4DE-414A-AD1D-BF80AD34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43150"/>
            <a:ext cx="1562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C3989E-850D-48D7-A8DB-66BF20BB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98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热带北大西洋 TNA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27929-5169-4A91-B054-2B094EC4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34315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8D51B-8B68-4377-A8FF-095404FD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40982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D2990-3B22-4E7E-8411-E3F265DD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4315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2B59F-F097-4250-8A71-303DAA13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40982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+1.35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A4D4F-84E8-4E21-A7FD-82408A17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43200"/>
            <a:ext cx="1562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C68939-1E78-428F-88C9-8B14843D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987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西太暖池 WPWP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864A8A-E71F-4F4E-94CF-B961FBEE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0EE887-9A1B-486E-8422-C6FA7C70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098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+0.73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C37E3-D86E-47FB-ABB6-0339DB92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7432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DF987-7463-471F-AA37-C532A359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8098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+0.88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B3346-0C8D-402F-B741-04AD7A27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1562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EC411-0D01-46E1-8A9F-34C7EAE3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099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海陆洲 MC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3877C8-C8F7-41C9-A752-F65E3F4C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14325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DA30B9-4675-4C4A-9BEF-096C42C2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0992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B4AB4F-A354-48B0-8A2D-80B55A98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14325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A4F533-4C08-43FB-AA24-1D2189C7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20992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+0.68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DBAA27-EC32-4F25-A3CA-A504B34A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43300"/>
            <a:ext cx="1562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AE7274-3071-494A-B7B8-61EAFFA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997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热带印度洋 TIO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BC2959-0DF9-4DF8-9F76-D0742AD9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5433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F49415-F865-4C5D-94F5-5BEF1A9F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099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F634B2-046E-4C55-8C22-EACF9C37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543300"/>
            <a:ext cx="66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AA464B-C77B-4636-A0AB-2F64BB78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609975"/>
            <a:ext cx="514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+0.40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A5BD4F-93D9-42D1-8A8E-23CD5781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28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7A7FD0-A848-4498-BCF1-CDF2B6E8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86400"/>
            <a:ext cx="10058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数据说明：左图为 OISST 外海盆指数，右图为季节耦合效率。均以 1982/83、1997/98、2015/16 为历史强事件参照。 读图要点：左图说明外海盆暖异常是 2023 春夏的显著背景，右图说明这种背景对应着大气耦合效率低。下一步需要用 ERA5/OLR/AGCM 判断它是因果调制还是共同背景。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1628F5-7D45-4625-80E5-A853C65C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Tables: external_basin_seasonal_summary.csv; asynchronous_coupling_by_season.png.</a:t>
            </a:r>
          </a:p>
        </p:txBody>
      </p:sp>
    </p:spTree>
    <p:extLst>
      <p:ext uri="{BB962C8B-B14F-4D97-AF65-F5344CB8AC3E}">
        <p14:creationId xmlns:p14="http://schemas.microsoft.com/office/powerpoint/2010/main" val="45768595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2A2FD4-2EE3-4650-ADB2-B61AAA83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03C6D-2C98-4F80-95AB-71B95846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与现有研究的区别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0FEA5-3235-41F3-BE8F-A82D0390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相关研究多解释某一机制或月份，本课题聚焦“多变量季节耦合效率”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C37EC-126C-4623-BEAD-6C2586A0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33F52-9FB9-4436-AC92-1B6A6A10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EDC86-7D1F-4839-B7DB-49B03DCB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76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文献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FE60A-7B9F-47B3-AD0E-A72929F1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097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04C46-C2C7-49E4-8A7D-B5E325A3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764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已有重点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31A9F-4378-4CBE-B582-4BDF60BD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21C76-F436-49D8-98B3-1DAA5066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764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与本课题区别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10CC2-D231-4C31-8818-F1DBFC3B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B84E4-D105-4566-99E0-9F8260A2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47D100-7263-481E-9089-C52BF2DE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2410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1E86EE-95EE-48DB-8B59-7796BF24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9077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海洋动力生成强 El Niño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ED3F00-9B0F-4015-91F6-5B59494C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2410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A4223-8AAD-4B0F-AFCE-C66B2CE9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9077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本课题解释大气响应为何弱、何时开始弱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8B5816-94A3-42E1-BBB4-69C91563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52C1E-29F3-4FD1-929B-DF3E2B8E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Zhang et al. 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90A20-F19D-4467-8FB6-C8CAD32C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384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FEED31-D417-47CB-84D1-B4FDD85E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051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弱降水/遥相关与外海盆加热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3D427-7412-4719-A4C1-8443D79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8384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EA4DB7-E0C0-4B87-B1DA-628E7265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051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本课题把风压、降水、SST 做季节同步性矩阵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6D705F-78F2-4656-8162-BCAE2F53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851DBE-C6BB-479D-BD95-BE11D64D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Kim et al. 2025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2E652D-261A-405E-AB46-422E04A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5280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C67FA9-0251-4D5F-8BB5-174FB9EA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1947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发展季风场异常与西中太梯度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4CC55C-471A-4A64-B892-1BDDD540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35280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1797D0-C763-4911-B537-2293FF7B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1947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本课题加入 SOI-like、GPCP 和外海盆历史对比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0A97AE-465F-42FE-8DA3-2C7CB559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49EEB3-E86B-460D-8D92-F98914DB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33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Zhao et al. 2025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C0AE03-4F56-466B-AF5C-08A8906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6715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921798-397E-4E70-AD4C-7D5DEF9A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3382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年 7 月热带北大西洋 + 印度夏季风/海陆洲 heating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5779A2-A0E7-4496-B8EC-33FA990A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86715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DEC030-7BF9-48E9-A00A-D2886534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3382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本课题从 AMJ/JJA 到 SON/DJF 连续追踪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5292A5-6992-4294-AB96-3445B38D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E20A25-51C2-4921-9538-7CA62038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Yang &amp; Li 2025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7B728B-1199-4DD0-AEC7-FC7AB8D5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385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CAC704-AD9A-450D-9281-0BBF4843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48175"/>
            <a:ext cx="37052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2024 年 1 月季节内振荡 MJO / 趋势 / ENSO 分解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34D01C-3E4C-45FE-B519-6F8FC555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81500"/>
            <a:ext cx="46958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1D500D-636B-467F-AFE0-2DEE857B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48175"/>
            <a:ext cx="45434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9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本课题先建立发展季背景，再接入 MJO/OLR 机制拆解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DBC66F-7294-4FDD-93FC-227EB29A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363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025C93-D0DA-4FA2-B62B-04BBFEEE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10134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这页用于回答导师可能会问的“已有文章是否已经做过”。现有研究确实讨论了弱降水、遥相关、TNA、MJO 或某个关键月份；你的差异是把问题系统化为 AMJ/JJA/SON/DJF 的多变量耦合效率，并且明确与历史强事件对比。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88162F-550B-4098-A366-BB5D5F2D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Literature notes: docs/literature_method_notes.md; source IDs L2-L8 in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90475400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BBE238-B7A6-4EAD-9BA3-9ACB1B45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F7193-A864-41E1-83A9-D8975404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拟定研究题目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02C7B-4C80-4463-B39F-F2C72B2A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建议题目：2023/24 强厄尔尼诺发展季海气耦合失效及其外海盆背景态调制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53146-1CDB-4163-A4FE-5AB188C5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44566-2C28-4550-918D-B4D11C32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62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DBC04-F2F4-4584-AA0F-10EF20C3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9086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工作假设：2023 春夏的热带外海盆暖异常和热带平均增暖背景，改变了 Walker 环流和对流阈值，使太平洋暖 SST 对低层风压与降水的典型响应滞后或减弱。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5F6B1D-988F-4125-88ED-C05E456C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9F11B-ED14-4747-82A0-70DD833C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可检验 H1：AMJ/JJA 外海盆暖异常抑制中太平洋西风响应。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300644-567F-4B3E-A099-11B420D4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0EC99-A669-4F42-A666-CEEBE40D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9100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可检验 H2：海陆洲/印度洋局地加热维持西侧对流，削弱降水中心东移。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9967B-9669-4B27-B698-D02622B3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94DB3-C0EF-4453-BD0D-308497E1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5775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可检验 H3：TNA 偏暖或热带平均增暖提高 ENSO 大气响应阈值。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6AA87-A640-4E9A-879C-DA510DDF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8AA28A-27C7-4953-A282-DAA78AF9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8953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这三个假设都可以被数据逐步验证：先用 ERA5/OLR 建立大气结构，再用回归残差和 AGCM 实验区分太平洋自身与外海盆贡献。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568B0-A353-4689-917F-FC7A78B3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Current diagnostics only establish association; ERA5/OLR/MJO and AGCM experiments are needed for mechanism attribution.</a:t>
            </a:r>
          </a:p>
        </p:txBody>
      </p:sp>
    </p:spTree>
    <p:extLst>
      <p:ext uri="{BB962C8B-B14F-4D97-AF65-F5344CB8AC3E}">
        <p14:creationId xmlns:p14="http://schemas.microsoft.com/office/powerpoint/2010/main" val="152823293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7F853C-6BD1-4773-8F14-830974B6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FE3EB-F5AF-4FBE-90EA-95F6DEE1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9E42F-971A-45B6-A007-CF0B6AC2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下一阶段优先补足 ERA5 与 OLR，把“现象”推进到“机制检验”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57711-6AAD-4C6A-B36A-D730F944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7DE36-D8F8-4789-90AB-754A124D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22479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F2E2F-073C-4ABA-9ED8-E3B1BD29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24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9EE93-5A78-40F4-8F17-74BFB2F3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885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 u850/SLP/χ200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替换 NCEP fallback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D49D5-9733-41B3-BD5B-84A818C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289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00F6A-80D4-4019-8BFD-79A7F5FA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71700"/>
            <a:ext cx="22479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38A37-F38D-4623-B5CE-12F7EF1D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324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8F979-4454-4B37-B780-5FB76BC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86050"/>
            <a:ext cx="1885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 + GPCP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独立验证对流中心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18A0FE-A9C2-4740-B6FD-A0C08ADA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289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86D47-7FC9-4D81-91B0-9D174CD0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1700"/>
            <a:ext cx="22479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E4C3E-DB42-4D83-9C37-BCCD0339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24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155BE2-D0DF-463D-9FA4-F3331582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1885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 长记录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检查历史样本稳健性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817BCC-0967-4C58-8BE5-79ACEA7B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28900"/>
            <a:ext cx="26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30C20B-4AE4-421F-8697-ACB982CA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71700"/>
            <a:ext cx="22479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4C284E-6B8B-4E98-8455-3027D52A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241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51320-6725-4CD4-9002-DA685119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1885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大气模式预案</a:t>
            </a:r>
          </a:p>
          <a:p xmlns:a="http://schemas.openxmlformats.org/drawingml/2006/main">
            <a:pPr algn="l">
              <a:defRPr sz="121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Pacific-only / IO-ATL / detrended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88CD87-1AD6-422B-BF3F-06D89BAF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625EDE-A185-45F5-BD90-F82CAD07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38650"/>
            <a:ext cx="89535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当前可以开始你的研究主线：先写作“发展季耦合效率丧失”的诊断论文框架，再用 ERA5/OLR 强化机制证据。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D07ED-45E6-483C-A378-15ADC255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DF844F-789A-4AFA-BD52-5C28FCC8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33950"/>
            <a:ext cx="89535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短期优先级不是马上跑模式，而是把 ERA5 u850/SLP/χ200 与 OLR 接入，使风压、Walker 环流和对流证据达到论文级可靠性。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8DEBC6-0BE7-4785-9B87-2BB83313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Data priorities from reports/当前数据分析阶段总结.md.</a:t>
            </a:r>
          </a:p>
        </p:txBody>
      </p:sp>
    </p:spTree>
    <p:extLst>
      <p:ext uri="{BB962C8B-B14F-4D97-AF65-F5344CB8AC3E}">
        <p14:creationId xmlns:p14="http://schemas.microsoft.com/office/powerpoint/2010/main" val="17660580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E3BEA6-4CEF-461A-9E7E-A9A33C1F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B0F8DE-747A-498F-8ADA-4373D4A2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附录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4AD72-897E-4E2C-AA4D-7B6D1594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图表与数据表对应关系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D4429-D886-4EE9-BD2C-F3D0154C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D26B9-889A-4549-ADE9-130EEC5F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4FCDF-71CB-47E1-9C58-5B01919C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页码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DA66B-3502-4EC6-B7AC-8F3F870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954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91A64-366B-4022-8849-04CBA91E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7621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图/结论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B3F79-F3CE-4CC6-8F9E-E73690AE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954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CBAC-F848-49C6-9329-F89A6136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621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对应数据表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26A95-F408-4876-A566-AAE85AC2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5AD62-E8F7-4052-BE5D-A32B7248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69094-1F0B-4290-AD6F-6F987D65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288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79E43-B1D9-4541-9CDC-272F0FF7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955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Fig.1 事件强度与耦合响应比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B2E9D-D163-41FD-B6CD-06FE28E0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288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F967E-247F-4306-B414-0BD31328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2955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fig1_event_coupling.csv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5920C-1629-4FCA-BAAA-9707E4DC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6023A-95E1-4778-9654-70D9A993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289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DE60D-44FA-4020-AA88-4FE968CC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7622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3274-C4CB-4C00-A49F-E7D4764E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289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Fig.2 赤道剖面/传播诊断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31BC3-0B79-41E7-A78B-08224258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622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75AEDA-A3C8-4074-AC99-C4E45E0D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8289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fig2_equatorial_summary.csv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349326-B31D-4773-A2EB-AF1696A3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740A59-561E-48D3-8E07-A208376A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8CD2E7-2377-469C-B294-D497038E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B2BCD-2997-490C-8024-A7A18772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623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Fig.3-4 AGCM 与风应力实验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CCCD1E-4482-40BC-83B6-36D1C146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956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1AC7A5-62C6-4C4F-9B49-EBEE26C7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3623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fig3_agcm_summary.csv; fig4_wind_experiment_summary.csv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89A54A-261C-4634-A795-5E4A9FAE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CB60AC-F58A-402F-AFA2-47D9BC02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957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3216BD-A6C7-4F99-89A0-C8EE83D9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81BAFA-3980-4FD6-B494-FD6E18F6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957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OISST/GPCP/NCEP 独立验证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DAAA83-B743-417F-A390-022A7267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290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290272-0440-4E9D-BE5D-7B9F471F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957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oisst_vs_fig1_nino3.csv; gpcp_vs_fig2_precip.csv; ncep_vs_fig1_atmosphere.csv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A36DA6-FEB3-4ED4-9F07-7EDE037C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F72551-09B3-43EC-96B7-25F935F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E70F8C-CE2C-4FD3-9E3E-152DA7E3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624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535FCD-5197-4AD2-9F42-2D22F5AF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291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历史耦合效率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992D97-AB80-4745-B26D-FCD104AA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624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36491C-87C2-497E-A0F8-BE74327A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4291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asynchronous_coupling_efficiency.csv; seasonal_asynchrony_matrix.csv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0E6EB5-6272-402B-ADA7-7848DD07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2F0D1A-D0BA-4409-8274-14B68326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11-12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A3AC06-1B36-48D5-9E51-FABEAFCD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958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7D1EEB-6A38-46C1-B3DA-CC66E6A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625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空间 SST/降水/风压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9B1A84-CA59-4250-B504-B7AF286D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958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9403E3-FA49-4D78-8340-B3245F93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9625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stage_a_spatial_summary.csv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1703B1-9557-4718-8334-BA7D132F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144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7EA128-24D3-42A9-81AE-5B30888A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95925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3A1E1C-C1C1-4E9C-BA15-E20BF35A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29250"/>
            <a:ext cx="3733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A86AB01-510C-4BE1-8478-FCEAC611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3581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外海盆暖异常与季节效率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177D4C-9D20-4964-A362-A0B669E6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29250"/>
            <a:ext cx="5715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A7D43E1-1CC4-407B-B2F4-EC35AEFC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495925"/>
            <a:ext cx="5562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external_basin_seasonal_summary.csv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1C1395-BD87-4C54-BE9B-DABBE14F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All paths are under /Users/daiyue/Documents/Maryland/data/derived.</a:t>
            </a:r>
          </a:p>
        </p:txBody>
      </p:sp>
    </p:spTree>
    <p:extLst>
      <p:ext uri="{BB962C8B-B14F-4D97-AF65-F5344CB8AC3E}">
        <p14:creationId xmlns:p14="http://schemas.microsoft.com/office/powerpoint/2010/main" val="6891758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892B70-7E78-4392-A9D3-DF25F952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0356D-63C5-443B-8C56-3E3382B2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附录 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FDEC5-AD19-4A15-8F10-2D1B156C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382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数据与文献链接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457B4-8E51-4839-8A22-6DF6B147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09EDF-BD50-4F38-BE2B-C9A2D82C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2FC05-E9CB-4988-84A8-1FAF171C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430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A7F55-EA43-4827-A770-CE67FA39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6764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E5D663-42F5-48A8-A9EC-77D9D706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17430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URL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FB7A4-C46A-4866-9F06-5562589C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74E886-C253-4F61-8969-BE23A794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621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5502F-D5E4-4D81-8296-237C2044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0955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6E14A-EB2E-4499-83E0-1DE2C34D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1621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https://www.nature.com/articles/s41561-025-01700-9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5F75D5-ABC7-47C5-8E01-01300282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F35782-7836-4042-B3BE-EA2DD627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812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 v2.1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5DF038-29FD-4490-835B-1243EB43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5146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0611B5-A353-4A73-9717-3EE79A48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5812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https://www.ncei.noaa.gov/products/optimum-interpolation-sst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422553-B498-4C1C-B1CD-3C8327EE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C7058-1222-4B59-BFEE-F87BA778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C1EC75-10BE-4785-A201-84A157EF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9337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9CAEE2-9159-4617-8BCB-65AADAD2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0003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https://psl.noaa.gov/data/gridded/data.gpcp.html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EC803-387C-46CE-B200-1E5C2CA8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E04F81-261E-40BE-AF00-F5013EF0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194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8BB0CD-6D47-4318-BBBC-A7B4A24F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3528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DB435C-E9A9-43A4-B201-8A96404C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4194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https://www.psl.noaa.gov/data/reanalysis/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9AACF0-51B3-4117-B7D4-3FE84F8F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5BEBAB-A69E-47A5-AA04-9F997C7B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385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A1B242-5ECF-46D1-9F2F-5160E59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719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F40D42-6270-4C16-ACC3-D3386D84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8385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https://cds.climate.copernicus.eu/datasets/reanalysis-era5-single-levels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FC886A-8E9F-49AD-8930-090F19C9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E16436-62CD-4B79-8F50-A2BAAB9F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576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0CA3D0-D874-479A-A7ED-37C82C96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1910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D867A-5205-46CF-817A-668B43D8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576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https://psl.noaa.gov/data/gridded/data.interp_OLR.html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431571-32A4-4199-B87B-AC1B5BA5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059797-1439-46B1-96EB-286601EC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767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C517E8-1A22-4200-ABFC-6B798171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6101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83F157-43BE-4ED9-9718-0C3ACE5A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6767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https://www.ncei.noaa.gov/products/extended-reconstructed-sst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1784ED-52FC-4777-B2EC-4651A571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F6FE46-0336-4BCA-8C9D-0EF41B4E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958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ORAS5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3FBD3D-1431-442C-B247-A092A9F7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0292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DE2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C5E158-0B35-4F82-8E4F-E15D52E1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0958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https://www.ecmwf.int/en/forecasts/dataset/ocean-reanalysis-system-5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DFFA5B-46A0-480B-B930-0BCD0F02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2428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65F2D7-D2EB-406F-BC43-D698D6D0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227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TAO/TRITON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6A11C0C-52F2-4781-B3CF-F31B4F8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448300"/>
            <a:ext cx="78390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731B9F-515B-4986-9E31-499ED4C3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514975"/>
            <a:ext cx="7686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78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https://www.pmel.noaa.gov/gtmba/building-tao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E0BD1C-435B-4ACE-AC94-BCEFCB3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6E675D"/>
                </a:solidFill>
                <a:latin typeface="Aptos"/>
                <a:ea typeface="Aptos"/>
                <a:cs typeface="Aptos"/>
              </a:defRPr>
            </a:pPr>
            <a:r>
              <a:rPr sz="645" b="0">
                <a:solidFill>
                  <a:srgbClr val="6E675D"/>
                </a:solidFill>
                <a:latin typeface="Aptos"/>
                <a:ea typeface="Aptos"/>
                <a:cs typeface="Aptos"/>
              </a:rPr>
              <a:t>Full source log: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398619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2026-05-23T08:57:45.4860000Z</dcterms:created>
  <dcterms:modified xsi:type="dcterms:W3CDTF">2026-05-23T08:57:45.4860000Z</dcterms:modified>
</coreProperties>
</file>