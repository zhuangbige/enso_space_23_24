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bf7515f898d4e84" /><Relationship Type="http://schemas.openxmlformats.org/officeDocument/2006/relationships/extended-properties" Target="/docProps/app.xml" Id="Reb7a3e4bcb7a41ad" /><Relationship Type="http://schemas.openxmlformats.org/officeDocument/2006/relationships/officeDocument" Target="/ppt/presentation.xml" Id="Rb314a6e844b3447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1ce3c250c84dbb"/>
  </p:sldMasterIdLst>
  <p:notesMasterIdLst>
    <p:notesMasterId xmlns:r="http://schemas.openxmlformats.org/officeDocument/2006/relationships" r:id="R4d77bc834a304e14"/>
  </p:notesMasterIdLst>
  <p:sldIdLst>
    <p:sldId xmlns:r="http://schemas.openxmlformats.org/officeDocument/2006/relationships" id="256" r:id="R94c1f6027f0a49ce"/>
    <p:sldId xmlns:r="http://schemas.openxmlformats.org/officeDocument/2006/relationships" id="257" r:id="Rfab41cebb3e84481"/>
    <p:sldId xmlns:r="http://schemas.openxmlformats.org/officeDocument/2006/relationships" id="258" r:id="Rbb1789e805494c7b"/>
    <p:sldId xmlns:r="http://schemas.openxmlformats.org/officeDocument/2006/relationships" id="259" r:id="R163cf82ba4b8453e"/>
    <p:sldId xmlns:r="http://schemas.openxmlformats.org/officeDocument/2006/relationships" id="260" r:id="R47367584319249ce"/>
    <p:sldId xmlns:r="http://schemas.openxmlformats.org/officeDocument/2006/relationships" id="261" r:id="R415cd458c69b442f"/>
    <p:sldId xmlns:r="http://schemas.openxmlformats.org/officeDocument/2006/relationships" id="262" r:id="R61c4690d064b454e"/>
    <p:sldId xmlns:r="http://schemas.openxmlformats.org/officeDocument/2006/relationships" id="263" r:id="R14490ce770794e44"/>
    <p:sldId xmlns:r="http://schemas.openxmlformats.org/officeDocument/2006/relationships" id="264" r:id="R6c796eb3bf6240fa"/>
    <p:sldId xmlns:r="http://schemas.openxmlformats.org/officeDocument/2006/relationships" id="265" r:id="Racd227f4fb00498c"/>
    <p:sldId xmlns:r="http://schemas.openxmlformats.org/officeDocument/2006/relationships" id="266" r:id="Rcbbcaba09a934f99"/>
    <p:sldId xmlns:r="http://schemas.openxmlformats.org/officeDocument/2006/relationships" id="267" r:id="Rd71bfd92ed814daa"/>
    <p:sldId xmlns:r="http://schemas.openxmlformats.org/officeDocument/2006/relationships" id="268" r:id="Re87a5b8d5ee744e9"/>
    <p:sldId xmlns:r="http://schemas.openxmlformats.org/officeDocument/2006/relationships" id="269" r:id="R0e9089bcc0e84c69"/>
    <p:sldId xmlns:r="http://schemas.openxmlformats.org/officeDocument/2006/relationships" id="270" r:id="R4de9ec988ae94469"/>
    <p:sldId xmlns:r="http://schemas.openxmlformats.org/officeDocument/2006/relationships" id="271" r:id="Red8c89256e7848b2"/>
    <p:sldId xmlns:r="http://schemas.openxmlformats.org/officeDocument/2006/relationships" id="272" r:id="R72f521a260b4444b"/>
    <p:sldId xmlns:r="http://schemas.openxmlformats.org/officeDocument/2006/relationships" id="273" r:id="R77475154b7504674"/>
    <p:sldId xmlns:r="http://schemas.openxmlformats.org/officeDocument/2006/relationships" id="274" r:id="R83cc9009b1ee48f4"/>
    <p:sldId xmlns:r="http://schemas.openxmlformats.org/officeDocument/2006/relationships" id="275" r:id="R79253ea64bff4206"/>
    <p:sldId xmlns:r="http://schemas.openxmlformats.org/officeDocument/2006/relationships" id="276" r:id="R2fdfc6e118a545b8"/>
    <p:sldId xmlns:r="http://schemas.openxmlformats.org/officeDocument/2006/relationships" id="277" r:id="Raf10fe5eeb59449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1ce3c250c84dbb" /><Relationship Type="http://schemas.openxmlformats.org/officeDocument/2006/relationships/theme" Target="/ppt/theme/theme1.xml" Id="R3829a72988c64002" /><Relationship Type="http://schemas.openxmlformats.org/officeDocument/2006/relationships/notesMaster" Target="/ppt/notesMasters/notesMaster1.xml" Id="R4d77bc834a304e14" /><Relationship Type="http://schemas.openxmlformats.org/officeDocument/2006/relationships/presProps" Target="/ppt/presProps.xml" Id="R75c0bc2355004327" /><Relationship Type="http://schemas.openxmlformats.org/officeDocument/2006/relationships/viewProps" Target="/ppt/viewProps.xml" Id="Ra76a25bfbf104c91" /><Relationship Type="http://schemas.openxmlformats.org/officeDocument/2006/relationships/tableStyles" Target="/ppt/tableStyles.xml" Id="Re47a45581f474bdf" /><Relationship Type="http://schemas.openxmlformats.org/officeDocument/2006/relationships/slide" Target="/ppt/slides/slide1.xml" Id="R94c1f6027f0a49ce" /><Relationship Type="http://schemas.openxmlformats.org/officeDocument/2006/relationships/slide" Target="/ppt/slides/slide2.xml" Id="Rfab41cebb3e84481" /><Relationship Type="http://schemas.openxmlformats.org/officeDocument/2006/relationships/slide" Target="/ppt/slides/slide3.xml" Id="Rbb1789e805494c7b" /><Relationship Type="http://schemas.openxmlformats.org/officeDocument/2006/relationships/slide" Target="/ppt/slides/slide4.xml" Id="R163cf82ba4b8453e" /><Relationship Type="http://schemas.openxmlformats.org/officeDocument/2006/relationships/slide" Target="/ppt/slides/slide5.xml" Id="R47367584319249ce" /><Relationship Type="http://schemas.openxmlformats.org/officeDocument/2006/relationships/slide" Target="/ppt/slides/slide6.xml" Id="R415cd458c69b442f" /><Relationship Type="http://schemas.openxmlformats.org/officeDocument/2006/relationships/slide" Target="/ppt/slides/slide7.xml" Id="R61c4690d064b454e" /><Relationship Type="http://schemas.openxmlformats.org/officeDocument/2006/relationships/slide" Target="/ppt/slides/slide8.xml" Id="R14490ce770794e44" /><Relationship Type="http://schemas.openxmlformats.org/officeDocument/2006/relationships/slide" Target="/ppt/slides/slide9.xml" Id="R6c796eb3bf6240fa" /><Relationship Type="http://schemas.openxmlformats.org/officeDocument/2006/relationships/slide" Target="/ppt/slides/slide10.xml" Id="Racd227f4fb00498c" /><Relationship Type="http://schemas.openxmlformats.org/officeDocument/2006/relationships/slide" Target="/ppt/slides/slide11.xml" Id="Rcbbcaba09a934f99" /><Relationship Type="http://schemas.openxmlformats.org/officeDocument/2006/relationships/slide" Target="/ppt/slides/slide12.xml" Id="Rd71bfd92ed814daa" /><Relationship Type="http://schemas.openxmlformats.org/officeDocument/2006/relationships/slide" Target="/ppt/slides/slide13.xml" Id="Re87a5b8d5ee744e9" /><Relationship Type="http://schemas.openxmlformats.org/officeDocument/2006/relationships/slide" Target="/ppt/slides/slide14.xml" Id="R0e9089bcc0e84c69" /><Relationship Type="http://schemas.openxmlformats.org/officeDocument/2006/relationships/slide" Target="/ppt/slides/slide15.xml" Id="R4de9ec988ae94469" /><Relationship Type="http://schemas.openxmlformats.org/officeDocument/2006/relationships/slide" Target="/ppt/slides/slide16.xml" Id="Red8c89256e7848b2" /><Relationship Type="http://schemas.openxmlformats.org/officeDocument/2006/relationships/slide" Target="/ppt/slides/slide17.xml" Id="R72f521a260b4444b" /><Relationship Type="http://schemas.openxmlformats.org/officeDocument/2006/relationships/slide" Target="/ppt/slides/slide18.xml" Id="R77475154b7504674" /><Relationship Type="http://schemas.openxmlformats.org/officeDocument/2006/relationships/slide" Target="/ppt/slides/slide19.xml" Id="R83cc9009b1ee48f4" /><Relationship Type="http://schemas.openxmlformats.org/officeDocument/2006/relationships/slide" Target="/ppt/slides/slide20.xml" Id="R79253ea64bff4206" /><Relationship Type="http://schemas.openxmlformats.org/officeDocument/2006/relationships/slide" Target="/ppt/slides/slide21.xml" Id="R2fdfc6e118a545b8" /><Relationship Type="http://schemas.openxmlformats.org/officeDocument/2006/relationships/slide" Target="/ppt/slides/slide22.xml" Id="Raf10fe5eeb59449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05121cb943040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2a33df80c384172" /><Relationship Type="http://schemas.openxmlformats.org/officeDocument/2006/relationships/notesMaster" Target="/ppt/notesMasters/notesMaster1.xml" Id="R2f29fcea0000457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9c02827466e4e7d" /><Relationship Type="http://schemas.openxmlformats.org/officeDocument/2006/relationships/notesMaster" Target="/ppt/notesMasters/notesMaster1.xml" Id="R8db5959e889941b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24cdb2d8b094496" /><Relationship Type="http://schemas.openxmlformats.org/officeDocument/2006/relationships/notesMaster" Target="/ppt/notesMasters/notesMaster1.xml" Id="R3da016b1653d4b8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99794d21dc4192" /><Relationship Type="http://schemas.openxmlformats.org/officeDocument/2006/relationships/notesMaster" Target="/ppt/notesMasters/notesMaster1.xml" Id="R8fbfcef29ee743b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5f31ef7bf304bf7" /><Relationship Type="http://schemas.openxmlformats.org/officeDocument/2006/relationships/notesMaster" Target="/ppt/notesMasters/notesMaster1.xml" Id="R820df30b4107417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cd59e4b16bb46c8" /><Relationship Type="http://schemas.openxmlformats.org/officeDocument/2006/relationships/notesMaster" Target="/ppt/notesMasters/notesMaster1.xml" Id="R7afc2b72fa58434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28ee686440f4377" /><Relationship Type="http://schemas.openxmlformats.org/officeDocument/2006/relationships/notesMaster" Target="/ppt/notesMasters/notesMaster1.xml" Id="R3a3d2f7b185f4fc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4d7a1d3fae94ee7" /><Relationship Type="http://schemas.openxmlformats.org/officeDocument/2006/relationships/notesMaster" Target="/ppt/notesMasters/notesMaster1.xml" Id="R5008c0a28dfc469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00f9a5f16f64fdc" /><Relationship Type="http://schemas.openxmlformats.org/officeDocument/2006/relationships/notesMaster" Target="/ppt/notesMasters/notesMaster1.xml" Id="Rf7c030c28d9c47d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77296178ba74b31" /><Relationship Type="http://schemas.openxmlformats.org/officeDocument/2006/relationships/notesMaster" Target="/ppt/notesMasters/notesMaster1.xml" Id="Rcc52c4ce01674f5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cf3d0021aee459b" /><Relationship Type="http://schemas.openxmlformats.org/officeDocument/2006/relationships/notesMaster" Target="/ppt/notesMasters/notesMaster1.xml" Id="R1e93c2a2734649c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4c0e0e3a7664b21" /><Relationship Type="http://schemas.openxmlformats.org/officeDocument/2006/relationships/notesMaster" Target="/ppt/notesMasters/notesMaster1.xml" Id="R33102e55b7f94e8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0fac5c2dbb24d6b" /><Relationship Type="http://schemas.openxmlformats.org/officeDocument/2006/relationships/notesMaster" Target="/ppt/notesMasters/notesMaster1.xml" Id="Rac9ffce5092d4bc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0484ce3b1c34cea" /><Relationship Type="http://schemas.openxmlformats.org/officeDocument/2006/relationships/notesMaster" Target="/ppt/notesMasters/notesMaster1.xml" Id="R8de145c2fbd9427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6826d75a7f14103" /><Relationship Type="http://schemas.openxmlformats.org/officeDocument/2006/relationships/notesMaster" Target="/ppt/notesMasters/notesMaster1.xml" Id="R2110ab54397449f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deeb9df21c2463a" /><Relationship Type="http://schemas.openxmlformats.org/officeDocument/2006/relationships/notesMaster" Target="/ppt/notesMasters/notesMaster1.xml" Id="R00c12711161d4f7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c4f664387454bee" /><Relationship Type="http://schemas.openxmlformats.org/officeDocument/2006/relationships/notesMaster" Target="/ppt/notesMasters/notesMaster1.xml" Id="R1da3cca0822543d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8ee2c58d6324cf0" /><Relationship Type="http://schemas.openxmlformats.org/officeDocument/2006/relationships/notesMaster" Target="/ppt/notesMasters/notesMaster1.xml" Id="R67c304524206480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83b5c3f3bca4213" /><Relationship Type="http://schemas.openxmlformats.org/officeDocument/2006/relationships/notesMaster" Target="/ppt/notesMasters/notesMaster1.xml" Id="R4d51e17b99df40a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d1e7ae31ba140e8" /><Relationship Type="http://schemas.openxmlformats.org/officeDocument/2006/relationships/notesMaster" Target="/ppt/notesMasters/notesMaster1.xml" Id="R5ea1bac8563c496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63b70ecc0594cfa" /><Relationship Type="http://schemas.openxmlformats.org/officeDocument/2006/relationships/notesMaster" Target="/ppt/notesMasters/notesMaster1.xml" Id="R7f0761cc2fea475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03c80e9af364edf" /><Relationship Type="http://schemas.openxmlformats.org/officeDocument/2006/relationships/notesMaster" Target="/ppt/notesMasters/notesMaster1.xml" Id="Rb48cc506041145d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c48e59b4694e5d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3dd19d40ff7f44f5" /><Relationship Type="http://schemas.openxmlformats.org/officeDocument/2006/relationships/slideLayout" Target="/ppt/slideLayouts/slideLayout2.xml" Id="R60264af502df4a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0264af502df4a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4190f4c1644f83" /><Relationship Type="http://schemas.openxmlformats.org/officeDocument/2006/relationships/notesSlide" Target="/ppt/notesSlides/notesSlide1.xml" Id="R2e3e906fb39042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66ee04811f4b3e" /><Relationship Type="http://schemas.openxmlformats.org/officeDocument/2006/relationships/notesSlide" Target="/ppt/notesSlides/notesSlide2.xml" Id="R29bfdf8939664df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115256acca448b" /><Relationship Type="http://schemas.openxmlformats.org/officeDocument/2006/relationships/notesSlide" Target="/ppt/notesSlides/notesSlide3.xml" Id="R72e53b829eb140c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78a2592cfc4104" /><Relationship Type="http://schemas.openxmlformats.org/officeDocument/2006/relationships/notesSlide" Target="/ppt/notesSlides/notesSlide4.xml" Id="R71faffb9eb3643f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f47be7f1004b48" /><Relationship Type="http://schemas.openxmlformats.org/officeDocument/2006/relationships/notesSlide" Target="/ppt/notesSlides/notesSlide5.xml" Id="R15d5db01600c470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d209fd161c4f48" /><Relationship Type="http://schemas.openxmlformats.org/officeDocument/2006/relationships/image" Target="/ppt/media/image.png" Id="R3ffc40a933b24265" /><Relationship Type="http://schemas.openxmlformats.org/officeDocument/2006/relationships/notesSlide" Target="/ppt/notesSlides/notesSlide6.xml" Id="R984138437a0e4f3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e278e64b144bbf" /><Relationship Type="http://schemas.openxmlformats.org/officeDocument/2006/relationships/image" Target="/ppt/media/image2.png" Id="Rdbb7609177204402" /><Relationship Type="http://schemas.openxmlformats.org/officeDocument/2006/relationships/notesSlide" Target="/ppt/notesSlides/notesSlide7.xml" Id="R8666b4e487b1414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09429fcf5946d4" /><Relationship Type="http://schemas.openxmlformats.org/officeDocument/2006/relationships/image" Target="/ppt/media/image3.png" Id="Rd7f69fc0f07b4782" /><Relationship Type="http://schemas.openxmlformats.org/officeDocument/2006/relationships/notesSlide" Target="/ppt/notesSlides/notesSlide8.xml" Id="R45503a54b8c6455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d7856e5a394d45" /><Relationship Type="http://schemas.openxmlformats.org/officeDocument/2006/relationships/image" Target="/ppt/media/image4.png" Id="Ra13472359c6e4ebd" /><Relationship Type="http://schemas.openxmlformats.org/officeDocument/2006/relationships/notesSlide" Target="/ppt/notesSlides/notesSlide9.xml" Id="R52b3bc1fd9de402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8c512a213d4192" /><Relationship Type="http://schemas.openxmlformats.org/officeDocument/2006/relationships/image" Target="/ppt/media/image5.png" Id="Rdc391f93888c4958" /><Relationship Type="http://schemas.openxmlformats.org/officeDocument/2006/relationships/notesSlide" Target="/ppt/notesSlides/notesSlide10.xml" Id="R13c3e1ef8405401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7ada01da194576" /><Relationship Type="http://schemas.openxmlformats.org/officeDocument/2006/relationships/notesSlide" Target="/ppt/notesSlides/notesSlide11.xml" Id="Rac94dfc4bb1d46e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062614cc5a4646" /><Relationship Type="http://schemas.openxmlformats.org/officeDocument/2006/relationships/image" Target="/ppt/media/image6.png" Id="Ra806ca55101641e6" /><Relationship Type="http://schemas.openxmlformats.org/officeDocument/2006/relationships/notesSlide" Target="/ppt/notesSlides/notesSlide12.xml" Id="Rc5de65cb81fd4b9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3b79eea6404465" /><Relationship Type="http://schemas.openxmlformats.org/officeDocument/2006/relationships/image" Target="/ppt/media/image7.png" Id="Rd3f3e6d23d044d1b" /><Relationship Type="http://schemas.openxmlformats.org/officeDocument/2006/relationships/notesSlide" Target="/ppt/notesSlides/notesSlide13.xml" Id="Raa8037ee3c1e47b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29e36ac70d43f3" /><Relationship Type="http://schemas.openxmlformats.org/officeDocument/2006/relationships/image" Target="/ppt/media/image8.png" Id="R5adb357981a3471b" /><Relationship Type="http://schemas.openxmlformats.org/officeDocument/2006/relationships/notesSlide" Target="/ppt/notesSlides/notesSlide14.xml" Id="R2f4f6640b8d3482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37e9ea124f47b9" /><Relationship Type="http://schemas.openxmlformats.org/officeDocument/2006/relationships/image" Target="/ppt/media/image9.png" Id="R804af7fc5ccb4dda" /><Relationship Type="http://schemas.openxmlformats.org/officeDocument/2006/relationships/notesSlide" Target="/ppt/notesSlides/notesSlide15.xml" Id="Rd386f91b705f44c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cc047875b2481a" /><Relationship Type="http://schemas.openxmlformats.org/officeDocument/2006/relationships/image" Target="/ppt/media/image10.png" Id="Reab860b3baf245aa" /><Relationship Type="http://schemas.openxmlformats.org/officeDocument/2006/relationships/image" Target="/ppt/media/image11.png" Id="R4d64e5cc77c3429a" /><Relationship Type="http://schemas.openxmlformats.org/officeDocument/2006/relationships/notesSlide" Target="/ppt/notesSlides/notesSlide16.xml" Id="R58f9d27c94134f5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f58a05efc94627" /><Relationship Type="http://schemas.openxmlformats.org/officeDocument/2006/relationships/notesSlide" Target="/ppt/notesSlides/notesSlide17.xml" Id="Rad7286d64cd3422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344dccce4043e4" /><Relationship Type="http://schemas.openxmlformats.org/officeDocument/2006/relationships/notesSlide" Target="/ppt/notesSlides/notesSlide18.xml" Id="R57945729338d412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d313a5f71543d4" /><Relationship Type="http://schemas.openxmlformats.org/officeDocument/2006/relationships/notesSlide" Target="/ppt/notesSlides/notesSlide19.xml" Id="R02e25fdfa08a4dd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885f07f5094a2d" /><Relationship Type="http://schemas.openxmlformats.org/officeDocument/2006/relationships/notesSlide" Target="/ppt/notesSlides/notesSlide20.xml" Id="Rd173f954a41d4e0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21c2f8bd954fd4" /><Relationship Type="http://schemas.openxmlformats.org/officeDocument/2006/relationships/notesSlide" Target="/ppt/notesSlides/notesSlide21.xml" Id="Ree6518a24b4f450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bc805dee0b405e" /><Relationship Type="http://schemas.openxmlformats.org/officeDocument/2006/relationships/notesSlide" Target="/ppt/notesSlides/notesSlide22.xml" Id="R5dd753e0b8d94de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47DD83-3CC3-488F-8D78-12E150545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065B29-CEFB-49D1-B234-982475FD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Advisor Reading Version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C190C0-39A0-4A2F-A0FA-253D7659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14400"/>
            <a:ext cx="8572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Atmosphere-ocean decoupling during the 2023/24 strong El Niño: reproduction, open question, and new diagnostics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7D9BF2-5115-43A8-BBF1-B7F75B9A1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9560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Goal: make every figure readable without oral explanation by stating the data name, physical meaning, link to the original paper, and new contribution.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BF66DD-82AF-4B3E-8433-4606D645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909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5D8C1-1E47-4905-87BF-7A2752AB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838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1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1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Explain variables and abbreviations before using them heavily.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97A3AC-03E9-4E99-A61F-2E69FD193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243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007000-17EE-4154-BC05-1F1B4FF3A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38650"/>
            <a:ext cx="838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1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1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For each figure, state: data name, what it shows, how it maps to Peng et al. 2025, and what is new here.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E4B840-AA84-409A-9045-61B8581C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577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1A459A-07C2-4B7E-8F2C-D52D2E53A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72050"/>
            <a:ext cx="838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1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1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Use larger explanatory text, accepting a slightly longer deck.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7E7643-C2F9-4A49-B8BF-31300CD0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200150"/>
            <a:ext cx="1219200" cy="121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CE3F9D-D875-42A0-A065-386B0821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857500"/>
            <a:ext cx="7810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0FD6DF-31BA-4277-8E49-640123DDB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Peng et al. 2025; NOAA OISST; GPCP; NCEP/NCAR R1; local diagnostics. 2026-05-24.</a:t>
            </a:r>
          </a:p>
        </p:txBody>
      </p:sp>
    </p:spTree>
    <p:extLst>
      <p:ext uri="{BB962C8B-B14F-4D97-AF65-F5344CB8AC3E}">
        <p14:creationId xmlns:p14="http://schemas.microsoft.com/office/powerpoint/2010/main" val="200484061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652ED5-5CED-45FE-8E6F-9D5C8983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640416-F20A-48AE-8361-C0582DF20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Bottom 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BA51C2-FDFA-4842-9D16-140DCDE42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The project has moved from reproducing the paper to diagnosing developing-season coupling loss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DADDA3-095D-4B37-9B04-3D79DA13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242C34-5F02-4B0D-9229-2F346824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95450"/>
            <a:ext cx="9906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9B9DBB-8FCA-418F-89AA-FEE48BC72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24050"/>
            <a:ext cx="9486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show that ocean dynamics generated the strong 2023/24 El Niño, but the event also exposes a key anomaly: SST was strong while wind, pressure, and rainfall responses were weak.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62D5F2-6DBD-495A-8A55-9572872D2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194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21EA3A-4C29-455B-91A9-D44FB536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33750"/>
            <a:ext cx="914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This project asks when the weak atmospheric response first emerged: only in the mature season, or already during AMJ/JJA development?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339FA-B382-4956-986E-F66DB58B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862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A0BEEB-1442-46C3-874D-B680E111C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0"/>
            <a:ext cx="914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Current diagnostics show that spring-summer 2023 Niño-3 SST was already historically strong, while central-west Pacific wind, SOI-like pressure gradient, and rainfall did not strengthen synchronously.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94CCF4-32AC-4447-A3A3-D53E6D8F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529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E7A797-E26A-412A-BDA1-8B45A808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67250"/>
            <a:ext cx="914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The new question is therefore not whether 2023/24 was a strong El Niño, but why strong Pacific SST failed to trigger the historical strong-El Niño atmospheric response.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19A7E6-28F1-43A5-9C22-9F670823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Synthesis from reproduced Peng et al. figures and data/derived/research seasonal diagnostics.</a:t>
            </a:r>
          </a:p>
        </p:txBody>
      </p:sp>
    </p:spTree>
    <p:extLst>
      <p:ext uri="{BB962C8B-B14F-4D97-AF65-F5344CB8AC3E}">
        <p14:creationId xmlns:p14="http://schemas.microsoft.com/office/powerpoint/2010/main" val="106764409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BED9A1-DCC8-4F6E-98BA-BDF93C24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8E6A4E-EB78-432C-AD75-7553279D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Terms First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4ED84B-5BD2-4F1B-8E52-48B5AD04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Common variables and abbreviations in this deck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D34612-B300-49ED-B995-B85FDE648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24D70A-4680-4E0A-B35A-ABC6EB562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D72EB0-E801-4601-AFCC-6DE8DFEF4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724025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Abbrev.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E75429-7175-4EA9-AE7E-EFE70E9BB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1657350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BA41D5-8B9B-45FF-8E9F-58D2E349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724025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Full name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C0A02D-FE11-4C09-AD45-4A986CE7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57350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D5E34F-2C57-4913-81C2-EB8B2DBB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1724025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Meaning in this project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0A630E-99DF-462E-B55B-6B9CFE88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85975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D1E024-20F3-4043-A05E-BE8DCC930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152650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923CE0-B429-4473-A9E4-34731A205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085975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D1A1E4-8D75-4096-83C2-C04F7D8F2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152650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Sea Surface Temperature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E77C39-4322-44F5-96B0-05DCB9B2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85975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49DE8B-2D34-47A2-B79D-A6D9D2794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2152650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Core ocean variable for El Niño warming strength.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A698C6-7D5E-4D1F-B91D-78A4EC3C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29A8B4-0462-4936-BC0A-806D5E4E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581275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Niño-3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10C195-0596-4CD7-88FE-D943FF72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514600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6AFA61-F586-4414-8546-5761B10A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581275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Eastern equatorial Pacific SST region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DEC9AA-26EB-4204-99D1-49D3745D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14600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84D677-D05A-4633-89DF-D83A39C50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2581275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Index region representing eastern-Pacific warming.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F96721-BDEA-474A-9436-D497DD42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43225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77829D-3D8A-4589-9A20-EB002886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009900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u10 / u850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F5DD0F-43A8-4A2C-8462-51E17655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943225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FA4654-6CA8-4AA8-8A2D-73F77DD7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009900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10-m / 850-hPa zonal wind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3978FE-A7D6-4722-8C0F-B02EAD8A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943225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264BF8-5EB8-42DF-AED6-910FFD0F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3009900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East-west wind; westerly anomalies support coupling.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64A266-3C12-4455-8F2C-91263F89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0D45D3-AC42-47D8-A951-550DEA43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438525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SOI / SLP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F4F27B8-1C5B-4E2D-B162-A69910D1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371850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7462EAD-B291-42A0-AAD5-B49C5E410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438525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Southern Oscillation Index / Sea-Level Pressure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46648B-1B14-4306-BE44-7F3AB393D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71850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00D7B5-6501-417E-878F-E6A4943E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3438525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Pressure seesaw and Walker-circulation response.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DB17D59-7FF3-436D-AED0-BB1DED4C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0475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192948A-D785-4624-98C2-510BAADB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867150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OLR / χ200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0B7DDC7-2EC7-4226-981F-CF4E853CB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800475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3C32D8F-ACCA-435A-B964-3D14DC51C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867150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Outgoing Longwave Radiation / 200-hPa velocity potential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46B23E-BC1A-4995-BA4D-15D69F25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800475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00A1156-88B4-40F3-B15B-BC5E9473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3867150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Deep convection and upper-level circulation diagnostics.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D273F5-4030-426A-9F39-FEC6F1BE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29100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268447A-EB1D-41D6-AFBC-8EE696FFB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295775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AMJ/JJA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50FB233-6B78-4705-9FE4-87289DAA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229100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0BF963E-7609-45E6-9FA2-29BE3329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95775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Apr-Jun / Jun-Aug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306E2FB-4F1A-480A-8121-5AC8CFA0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229100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B6EA65E-A478-4969-8709-9EBB5C885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4295775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Early developing seasons emphasized here.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81D5D9F-E11A-402B-8E4C-935115A2C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57725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E0D81AD-29A4-431D-BA45-7642E5912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724400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TNA/MC/WPWP/TIO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423A837-5C2E-48B2-8986-7D92DDA0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657725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2522F6B-F366-4439-B85A-5AB08B468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724400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Tropical North Atlantic / Maritime Continent / Western Pacific warm pool / Tropical Indian Ocean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54DCFBD-D93B-4794-90A0-EEB7C333E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57725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BEBE609-3595-4046-9CB3-6B558B85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4724400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External-basin and tropical-background regions.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5F8D612-84C5-45C9-B9D6-0797BAA3D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Standard climate diagnostics and docs/data_source_log.md.</a:t>
            </a:r>
          </a:p>
        </p:txBody>
      </p:sp>
    </p:spTree>
    <p:extLst>
      <p:ext uri="{BB962C8B-B14F-4D97-AF65-F5344CB8AC3E}">
        <p14:creationId xmlns:p14="http://schemas.microsoft.com/office/powerpoint/2010/main" val="192709592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F2D1A8-D21F-43C6-95D6-4B7567BA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1870FC-CF2E-496D-B1B0-73293BAC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Terms First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FC7CD8-3210-4E85-8F20-269746F69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Dataset, model-experiment, and region abbreviations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6DD137-D979-4834-8A04-B06BDBFC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51A9FB-1069-447E-A1BF-416DC1CB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39A384-0975-4C9E-B5CD-E86D34B16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724025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Abbrev.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E18071-0D4F-4878-8199-D6015C1B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1657350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B9CBE6-3A4F-4552-8832-68AFCB58B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724025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Full name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F20AF4-1F83-403B-A548-FA2A8736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57350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3566A6-B181-4068-81D4-EF6356E2E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1724025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Meaning in this project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6465F9-1782-40E5-ABC7-BB9B14483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85975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DB7845-4D02-4983-BA87-F3A942084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152650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NOAA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C09013-C610-4F12-8F7A-BB4A628B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085975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46BBAD-B930-4CA9-A54A-2FA140EC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152650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National Oceanic and Atmospheric Administration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F99EE9-E0E6-4D3F-A082-FC203DDE4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85975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A69A6B-C31A-429E-9A82-45E22E894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2152650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Main provider for OISST and OLR products.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A44410-AFD2-482D-931D-2DEEFB42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577D84-A145-4D77-B48A-61F0AEF7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581275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NCEP/NCAR R1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A40289-E522-4BF9-B1E4-86EFBAFC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514600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78B299-619C-4F45-BA2F-C868DEE96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581275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NCEP/NCAR Reanalysis 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C403C3-D4FD-4F9B-B17A-272E26E0B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14600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A03B57-8BB7-447D-8952-9F0283ED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2581275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Current fallback dataset for low-level wind and sea-level pressure.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98A975-2A94-499E-A865-4836B992C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43225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D4A6D0-F488-45DB-B42D-7C54BC195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009900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ERA5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BC975B-DF0E-4FF3-ADD5-CB316B55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943225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511F7D-E015-458B-B344-C76503D6C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009900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ECMWF Reanalysis version 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A07423-D8B4-42A5-B52C-1FD976AB5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943225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00D69A-8F52-4158-A401-94EF88BBF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3009900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Next manuscript-grade dataset for u850, SLP, and Walker circulation.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85C46A-90C4-4C0E-8630-6ECA97811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425B29-658C-431C-8E28-15348097D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438525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ERSSTv5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B48DB72-9A62-41CA-A735-D89CB2374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371850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A67C0B-82B2-43A0-A102-F4756D0ED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438525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Extended Reconstructed Sea Surface Temperature version 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4D7B37-44E4-4F2F-B7DB-41BD85E86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71850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201C25D-43B4-4B73-A268-5DA7B8F54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3438525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Long-record SST check for historical robustness.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5FB21D-36DB-4BFF-A4B4-06EE5CA40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0475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FFFF6F-7DE2-4439-BCA4-E05F25C83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867150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AGCM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7CED95F-87EF-48CC-BACA-294CEF583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800475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E94855A-EB30-4818-BC25-64F2169A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867150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Atmospheric General Circulation Model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BE84858-FA62-4131-9CD4-1C3E9466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800475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97B5B96-AF8D-43D3-BD75-062A9B9E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3867150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Atmospheric model forced by prescribed SST boundary conditions.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09784CD-B7B2-4B63-8E93-AE088A2B9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29100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236266-8BFD-441F-82EB-C29E9A73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295775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ENSO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0BD12F7-F737-4EBA-BF49-C8CC9785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229100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58C88DB-D8AD-41BB-958E-4F8021D71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95775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El Niño-Southern Oscillation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A335BD8-B21D-493A-8D79-542C373A2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229100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79BB042-3CAC-4B29-B5D4-88E587A4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4295775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The coupled tropical Pacific system containing El Niño and La Niña.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E9CD78A-32B7-4AFC-AAF1-3194C9B7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57725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0C4C33C-1EFE-4551-8C87-C195DC120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724400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CWP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2FEDB24-A02F-4836-9BB1-7422BDFB5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657725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6445985-7D6E-4B7D-B7CE-7A9F597E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724400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Central-western Pacific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968B66F-54C5-4A13-B962-250005267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57725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47E058A-6750-4C8B-9D29-7DC734E2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4724400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Key region for low-level wind response in this study.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FD37ED6-B224-4211-9046-845C7441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86350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7AA0F9D-DD88-4DAC-B847-924DD7B8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153025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MJO/RMM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A8381A5-CBE8-45A0-A1FE-35E126311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086350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4F46098-2F2B-4039-B764-652911BC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153025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Madden-Julian Oscillation / Real-time Multivariate MJO index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B5B868E-144A-4543-9C36-9113D5FC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086350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C56D005-C2E5-4743-9387-164503F65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5153025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Used later to separate intraseasonal variability from ENSO background.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8BD87E2-A2D2-476F-8542-CE3AA134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14975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9DEAB42-B307-408D-933D-52F11BC0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581650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CTRL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E225759-EB8C-4B3F-8590-9899114E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514975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A35E921-1FF8-43F4-9AA5-F58C898F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581650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Control experiment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40F3C6E-2051-4337-889E-7DBFA8ED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514975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6948512-4029-41D8-BE67-C70929EE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5581650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Baseline model experiment for comparison with sensitivity experiments.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1055B62-26DC-4696-96F2-19BEBE5FA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Acronyms checked against all detailed slide text.</a:t>
            </a:r>
          </a:p>
        </p:txBody>
      </p:sp>
    </p:spTree>
    <p:extLst>
      <p:ext uri="{BB962C8B-B14F-4D97-AF65-F5344CB8AC3E}">
        <p14:creationId xmlns:p14="http://schemas.microsoft.com/office/powerpoint/2010/main" val="32849529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E405F6-F41D-4B78-9FE2-9A990176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F95A4B-18EE-4617-BA6E-5DC49F67C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Paper Contribution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058973-BAEF-4155-9C13-2C0BA24B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Peng et al. 2025 mainly answers how the strong 2023/24 El Niño was generated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3A16FD-0DAB-4618-9DF6-CAB70D09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82E48C-22CC-4190-96A0-F2A33EEA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65EF6F-8D1B-4090-8B22-AE8E0326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78117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AEBE57-5929-4A92-A13D-7C7C9F0B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145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1BB3D6-CAB1-46D5-AF15-4B74EFBF7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78117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Paper conclusion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382A66-4320-434B-8CC9-610C163FB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B725BB-4708-4320-AD53-0F8362A3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78117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Role for this project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4DB91C-256C-45CC-B06F-2F05A5299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71BBB6-2C37-485D-86DE-2D72C246D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33362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Ocean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A463E1-83EF-458C-AE46-C653B674D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669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C4E745-4F80-40F8-B7EB-2C365690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33362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Equatorial Pacific ocean dynamics and heat content made the event strong.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4B0A86-5054-4501-87B3-463EA6253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695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B22F5E-52CB-4593-9510-EDBD02F50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33362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Provides the baseline explanation for strong SST.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C410DB-67B1-42D5-93E2-A2B7B947A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6630DB-2613-48C1-AB3E-AD6BD5871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8607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Atmosphere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169C4B-66F1-482A-9B23-073B0B6E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194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752551-E7C0-446A-BB67-0868679D7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88607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Wind-pressure feedback was weak relative to historical strong El Niño events.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DC05D8-85EC-4FC9-A31D-BAE95607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1940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163104-F336-48AE-8B13-57A2CE39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88607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Raises the weak-response question.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7870C1-6BF7-4725-A58B-79FE12FE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2EFCC1-55C6-4C39-8333-CA32A580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43852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External basins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958567-1988-4B32-A186-D81B5A08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718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CCE344-B7CA-4D90-A61D-7F2C6A6C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43852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Indian and Atlantic SST may offset part of the Pacific forcing.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1FF996-1B7F-4F9E-8C08-02616ACEF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ED56D2-8170-4F7B-840B-403D93969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43852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Suggests a mechanism pathway.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4FB22B-71F4-4793-922E-F5D956C44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5BC162-2C2C-4059-B56D-D75316F62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99097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Experiments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39196F-BAED-4E37-8EB9-CB985AD93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24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4F3251-D18F-4F72-B4F5-AB6C23B9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99097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AGCM and wind-stress experiments separate SST-boundary and wind-forcing effects.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A65547-606E-4129-8B2B-6B42FABE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2430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A00194A-7765-4272-BE18-4DBB4094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99097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Guides future Pacific-only and external-basin experiments.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605089C-7CBE-482B-8028-1C53A796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9906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B84A07-15E7-4ADE-83A1-63C6CC6CD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76850"/>
            <a:ext cx="9639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Reading note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FF401BF-FA9E-4E64-9006-B88652EA4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62600"/>
            <a:ext cx="9639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This project does not overturn the paper. It extends the logic from oceanic event generation to atmospheric coupling: why did strong SST not produce a synchronous atmospheric response?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A0A85A5-8174-4D82-829A-84165DB0C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L1: Peng et al. 2025 Nature Geoscience.</a:t>
            </a:r>
          </a:p>
        </p:txBody>
      </p:sp>
    </p:spTree>
    <p:extLst>
      <p:ext uri="{BB962C8B-B14F-4D97-AF65-F5344CB8AC3E}">
        <p14:creationId xmlns:p14="http://schemas.microsoft.com/office/powerpoint/2010/main" val="780307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4677D2-F622-48D5-A8D7-DDB0069CA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F37CBD-63F7-4B31-B506-08F1C0AE5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Reproduced Fig.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9A1603-B3F8-4AC1-B780-D53E8867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shown: SST, sea-level pressure / 10-m wind, and Niño-3 versus atmospheric-response scatterplots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67451D-7C04-4BCC-9B36-FAA373F6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fc40a933b24265"/>
          <a:stretch xmlns:a="http://schemas.openxmlformats.org/drawingml/2006/main"/>
        </p:blipFill>
        <p:spPr>
          <a:xfrm xmlns:a="http://schemas.openxmlformats.org/drawingml/2006/main">
            <a:off x="1335002" y="1733550"/>
            <a:ext cx="4187996" cy="34861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4970F2-1541-4271-9DEC-031064F5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002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BC269D-1033-4997-AA18-2376D829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145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Data name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214BE0-EF25-43FB-8592-CFE8A146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002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Fig. 1 source data. The top panels show SST, sea-level pressure, and 10-m wind anomalies; the bottom panels relate Niño-3 SST to u10 and SOI.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60D362-DB42-4B49-8E86-EC8763CCD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F0A626-EA79-40F0-A370-E8D3C157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9085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What it shows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466C88-A80F-4AF3-B87B-597F6B87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The 2023/24 Niño-3 SST was strong, but near-surface wind and pressure responses were weak relative to historical relationships.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266839-8E38-466E-A1F8-6836F2FB9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529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15A587-1570-4026-8DB3-74A7EDEC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672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Paper link and innovation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F0E50E-7CF4-49B3-BE51-E9788688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This reproduces the paper's core fact. The new contribution comes later: turning the event-level fact into seasonal AMJ/JJA coupling-efficiency diagnostics.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6DAD36-34ED-45FD-A19D-32647072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Data: Peng et al. source archive; local file Fig1.png; table fig1_event_coupling.csv.</a:t>
            </a:r>
          </a:p>
        </p:txBody>
      </p:sp>
    </p:spTree>
    <p:extLst>
      <p:ext uri="{BB962C8B-B14F-4D97-AF65-F5344CB8AC3E}">
        <p14:creationId xmlns:p14="http://schemas.microsoft.com/office/powerpoint/2010/main" val="65975767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15508E-E621-4C82-9FD8-4DFAFA2A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1B87D-3B73-41F7-BD43-6B5959235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Quantified Fig.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4C6C9A-E735-4B25-A81A-A85D26694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shown: u10 and SOI response ratios relative to historical strong El Niño behavior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ABE409-08EE-4228-B8A5-AFFDD8DC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b7609177204402"/>
          <a:stretch xmlns:a="http://schemas.openxmlformats.org/drawingml/2006/main"/>
        </p:blipFill>
        <p:spPr>
          <a:xfrm xmlns:a="http://schemas.openxmlformats.org/drawingml/2006/main">
            <a:off x="571500" y="2261112"/>
            <a:ext cx="5715000" cy="243102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C482E9-D313-4019-84C5-90EC1C2D2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002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47B371-84B8-4736-B6EF-AF001CEE6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145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Data name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FF236E-036A-4E85-A6A8-B13238694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002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Event metrics extracted from fig1_event_coupling.csv. Niño-3 is SST strength, u10 is 10-m zonal wind, and SOI is the Southern Oscillation Index.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A76E87-2E5A-47C5-AED0-0B6060ED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D84145-9CE7-492C-B786-1A9CBFB1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9085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What it shows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0CB3F8-3E33-4B2E-8BCD-7E672ECE3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The 2023 u10 response ratio is about 0.27 and the SOI response ratio is about 0.31, roughly one-third of the expected historical response.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08B26B-4119-4AF1-A468-F631F56B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529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847EEC-BD58-48F4-B064-9D11ADE56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672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Paper link and innovation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B4791A-35FD-43B2-83A3-A956A77E8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This corresponds to Peng et al. Fig. 1. The innovation is to generalize this response-ratio idea into a seasonal coupling matrix.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7C68E1-0E9A-4F8E-AE87-1BF70096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Derived table: data/derived/peng2025_repro/tables/fig1_event_coupling.csv.</a:t>
            </a:r>
          </a:p>
        </p:txBody>
      </p:sp>
    </p:spTree>
    <p:extLst>
      <p:ext uri="{BB962C8B-B14F-4D97-AF65-F5344CB8AC3E}">
        <p14:creationId xmlns:p14="http://schemas.microsoft.com/office/powerpoint/2010/main" val="65574169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CFB522-16DB-449A-8BF9-11A75C2D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7ECF93-1993-4D23-9C15-EFC89213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Reproduced Fig.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9417E1-4ADF-46C8-AA5E-040894274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shown: equatorial Pacific propagation, subsurface heat structure, and ocean-dynamical diagnostics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945321-F941-47B5-A468-5286F072B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f69fc0f07b4782"/>
          <a:stretch xmlns:a="http://schemas.openxmlformats.org/drawingml/2006/main"/>
        </p:blipFill>
        <p:spPr>
          <a:xfrm xmlns:a="http://schemas.openxmlformats.org/drawingml/2006/main">
            <a:off x="1953807" y="1733550"/>
            <a:ext cx="2950387" cy="34861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3198E6-A2DC-48DB-B852-086910AFA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002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DB616A-F272-4917-807A-D92CA9CDA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145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Data name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0EFF2-7CE2-4838-B9D1-98D60ADD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002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Fig. 2 equatorial sections and longitude-time diagnostics showing SST, subsurface heat anomalies, propagation, and wind-stress-related signals.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7D2427-D93F-421B-A7F6-3416C4102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9AA27D-AD9E-4040-8991-EAC11332A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9085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What it shows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7B42B0-B3AE-4EDE-994C-6BD6C09D6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The strong 2023/24 warming was supported by ocean dynamics, not merely by a surface-temperature fluctuation.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397424-2973-4D7C-823F-699D31C09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529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4DABEC-2735-4D09-9F0E-5A6822EBD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672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Paper link and innovation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0E8FE9-6034-43E3-8766-F377034C8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This reproduces the paper's ocean-dynamics attribution. The new project accepts this and asks why the atmosphere did not respond proportionally.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C11CB8-1294-405C-AB19-69881D273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Data: Peng et al. source archive; local Fig2.png; table fig2_equatorial_summary.csv.</a:t>
            </a:r>
          </a:p>
        </p:txBody>
      </p:sp>
    </p:spTree>
    <p:extLst>
      <p:ext uri="{BB962C8B-B14F-4D97-AF65-F5344CB8AC3E}">
        <p14:creationId xmlns:p14="http://schemas.microsoft.com/office/powerpoint/2010/main" val="23747638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AF3560-46CD-4428-A1E6-33385715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CE77C2-CB74-47DA-946E-705E12F8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Reproduced Fig.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971190-A049-4F47-B810-7FCD26C0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shown: wind-stress response in Atmospheric General Circulation Model experiments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B4C6C5-5AD9-4269-8E09-AED345E2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3472359c6e4ebd"/>
          <a:stretch xmlns:a="http://schemas.openxmlformats.org/drawingml/2006/main"/>
        </p:blipFill>
        <p:spPr>
          <a:xfrm xmlns:a="http://schemas.openxmlformats.org/drawingml/2006/main">
            <a:off x="1220684" y="1733550"/>
            <a:ext cx="4416631" cy="34861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B06076-664C-4872-A008-6F797A0C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002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D6FC0D-6C0B-4423-8203-1B2BAA3F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145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Data name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F1351A-695C-4C96-9A68-2E5B3F3CA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002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AGCM experiments separating global SST, Pacific SST, and Indian/Atlantic SST boundary conditions and comparing atmospheric wind-stress responses.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7F3D94-5B31-490E-806F-08CF0D16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966B89-4BB8-4118-B138-750CFDDF0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9085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What it shows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4AC59B-BE75-4216-8420-99072FEE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Pacific warm SST should drive a canonical atmospheric response, but Indian and Atlantic background SST can offset or damp that response.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DF4E0F-6AA1-4DE8-B84B-0FA093C5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529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AB1020-08DC-41E8-A036-F1E136D84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672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Paper link and innovation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2621BD-C952-4730-B3F7-BBA95562D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This follows the paper's external-basin modulation idea. The new step is to test the same idea first with observed seasonal diagnostics.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75159A-9BE0-4852-A7EA-F2E146055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Data: Peng et al. source archive; table fig3_agcm_summary.csv.</a:t>
            </a:r>
          </a:p>
        </p:txBody>
      </p:sp>
    </p:spTree>
    <p:extLst>
      <p:ext uri="{BB962C8B-B14F-4D97-AF65-F5344CB8AC3E}">
        <p14:creationId xmlns:p14="http://schemas.microsoft.com/office/powerpoint/2010/main" val="102108113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2847AC-37ED-4D18-94BF-BD9BD542A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C48295-6AB6-423F-B75C-1CFBDD3B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Reproduced Fig.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C5A300-89C2-4CAE-B2BA-68ABF0BC2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shown: wind-stress experiments and their effect on Niño-3 SST development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365146-1DC6-47DC-B616-ADEEC9D5F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391f93888c4958"/>
          <a:stretch xmlns:a="http://schemas.openxmlformats.org/drawingml/2006/main"/>
        </p:blipFill>
        <p:spPr>
          <a:xfrm xmlns:a="http://schemas.openxmlformats.org/drawingml/2006/main">
            <a:off x="2114109" y="1733550"/>
            <a:ext cx="2629783" cy="34861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9481F7-369A-4097-B3A4-DC05E5676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002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CE2105-27E8-4F9A-B576-CD3295CF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145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Data name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828D63-845F-4C38-B4A0-78979E39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002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Wind-stress experiments comparing Niño-3 SST evolution under different wind forcing settings. Key values include Dec Niño-3 CTRL=2.344 and Wind2023=0.681.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87160A-7B6C-42AB-8F1A-303682DD2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2431B3-1DC3-4557-93AD-4224BD53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9085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What it shows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66BAB6-EE1B-4E37-83E7-C2EBEB53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The actual 2023 wind field did not force ocean warming as strongly as a canonical strong El Niño wind pattern would.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B1C256-0977-494A-8B52-F0D1114F4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529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3C72DD-FEA3-4F7D-84FF-8AC754B6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672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Paper link and innovation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AC8F26-E4A5-4777-A4B3-78B33087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This supports the paper's weak-wind point. The new contribution is to locate weak wind-pressure coupling during AMJ/JJA and compare it with rainfall.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46938F-BB39-4C22-AD82-74B4863C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Data: Peng et al. source archive; table fig4_wind_experiment_summary.csv.</a:t>
            </a:r>
          </a:p>
        </p:txBody>
      </p:sp>
    </p:spTree>
    <p:extLst>
      <p:ext uri="{BB962C8B-B14F-4D97-AF65-F5344CB8AC3E}">
        <p14:creationId xmlns:p14="http://schemas.microsoft.com/office/powerpoint/2010/main" val="83227085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BF8177-0FDD-4CDA-B534-BC3AB12A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817EED-ABA9-4272-BBB3-3A9E0BAB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From Paper To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53273D-09A1-4D40-8352-21E4C6B01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Open gap: when did weak coupling appear, and was it linked to the external-basin background?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F1C533-2550-4374-924D-A715AF4B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45472F-A7E0-456F-99B6-317751CB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95450"/>
            <a:ext cx="9906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E84AC4-0CF1-4E3D-835D-AA125EEE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24050"/>
            <a:ext cx="9486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Saying that the 2023/24 atmospheric response was weak is not enough for a new paper. We need to know whether weak coupling emerged during development, maturity, or throughout the event.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DA8213-73DD-4DB5-BA91-590F2EDAE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194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6E6B81-E56E-40A9-BD5D-AF9095FCB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33750"/>
            <a:ext cx="914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focuses mainly on event generation and ocean dynamics; seasonal wind-pressure-rainfall-convection asynchrony remains less systematically developed.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6D6CD6-8AEE-4CD5-85CE-5F64C80D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862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CA602D-36CC-4E68-91E5-B90D3DDEB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0"/>
            <a:ext cx="914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This project separates SST, low-level wind, sea-level pressure, rainfall, OLR, and Walker circulation across AMJ/JJA/SON/DJF.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FF9C25-E2F6-4DE1-802A-ABDA0DD5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529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25FBF7-44BD-4970-8D54-4F85350CF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67250"/>
            <a:ext cx="914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That turns a broad weak-response statement into a testable seasonal coupling-efficiency problem.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B31F87-8AB0-41E0-A7D1-FADD8DF70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Research transition based on L1 and local seasonal diagnostics.</a:t>
            </a:r>
          </a:p>
        </p:txBody>
      </p:sp>
    </p:spTree>
    <p:extLst>
      <p:ext uri="{BB962C8B-B14F-4D97-AF65-F5344CB8AC3E}">
        <p14:creationId xmlns:p14="http://schemas.microsoft.com/office/powerpoint/2010/main" val="114785499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2A6B95-E56F-431F-8C21-FC3EE7DD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F89B2-08D4-468D-B8FD-8BFF15104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Raw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B38644-3803-4D79-900F-832408429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shown: OISST, GPCP, and NCEP/NCAR recalculations of paper-related metrics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30B358-02A7-4847-B35B-E6F71F42D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06ca55101641e6"/>
          <a:stretch xmlns:a="http://schemas.openxmlformats.org/drawingml/2006/main"/>
        </p:blipFill>
        <p:spPr>
          <a:xfrm xmlns:a="http://schemas.openxmlformats.org/drawingml/2006/main">
            <a:off x="756410" y="1733550"/>
            <a:ext cx="5345181" cy="34861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1D865C-790B-40DA-A0C3-CD6AB6217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002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5D0C0C-E5B3-47AE-B132-55BB2672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145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Data name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3AE970-1D1E-42CA-A70D-0633FAA0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002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OISST is NOAA SST, GPCP is global precipitation, and NCEP/NCAR R1 is reanalysis wind and pressure. The chart summarizes agreement with reproduced indices.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D90B91-FDD9-436B-A5B4-AE8C01725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66A733-D784-4B88-A9E1-231E6F50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9085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What it shows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8301DE-BBEB-4119-B523-345428B02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OISST Niño-3 correlates 0.9999 with the reproduced Fig. 1 index; NCEP wind and SOI-like pressure proxies are also highly consistent.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A7B298-8329-4183-868D-4348A62C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529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5ACA67-B0F4-4FF4-9590-BF4E1D89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672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Paper link and innovation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916BF2-2E97-469C-BC8C-0B63895EE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This validates the paper-level signal with public data. The innovation is building a traceable raw-data pipeline for original seasonal diagnostics.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DF17DC-2C84-4DA1-A87C-EA8E58704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Tables: oisst_vs_fig1_nino3.csv; gpcp_vs_fig2_precip.csv; ncep_vs_fig1_atmosphere.csv.</a:t>
            </a:r>
          </a:p>
        </p:txBody>
      </p:sp>
    </p:spTree>
    <p:extLst>
      <p:ext uri="{BB962C8B-B14F-4D97-AF65-F5344CB8AC3E}">
        <p14:creationId xmlns:p14="http://schemas.microsoft.com/office/powerpoint/2010/main" val="109353738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149A6C-196E-45CB-8DD8-B4427E0B3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C80410-EFA4-4126-826F-A1CBDB299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New Finding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971E32-E5CB-47F3-A4A0-1FB2E264B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shown: seasonal coupling-efficiency matrix for AMJ/JJA/SON/DJF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B9DACC-1041-4CAC-BD7E-D86147D7F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f3e6d23d044d1b"/>
          <a:stretch xmlns:a="http://schemas.openxmlformats.org/drawingml/2006/main"/>
        </p:blipFill>
        <p:spPr>
          <a:xfrm xmlns:a="http://schemas.openxmlformats.org/drawingml/2006/main">
            <a:off x="571500" y="2405063"/>
            <a:ext cx="5715000" cy="21431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B4811D-BAEF-46C1-B413-38F2B178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002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53BE43-9E25-4931-AE57-30FBB3487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145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Data name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F461DF-E037-4719-B4A1-CD91EC4F9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002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OISST Niño-3, NCEP central-west Pacific low-level wind, SOI-like SLP gradient, and GPCP rainfall compared with the 1982/83, 1997/98, and 2015/16 strong-event composite.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0FA96E-FA1F-4A75-91CE-34AC16027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EC2003-2248-4C52-9F4E-F2538DBC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9085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What it shows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266E2B-5C8D-45A5-91C0-293C599A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AMJ/JJA 2023 SST was already historically strong, but wind-pressure-rainfall response efficiency was low. AMJ CWP wind ratio is about -0.43, and JJA is about -0.14.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E442C8-FDAC-48FE-9DF3-774A2C6F8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529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234DEA-10DC-4337-9D28-098895CC4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672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Paper link and innovation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4D3A37-86CC-4416-BADA-95CD03F1E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identifies event-level weak coupling; the innovation here is locating it in the developing season and identifying which variables desynchronize first.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3CF9C6-A624-4DE4-A6D7-3767EC439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Tables: asynchronous_coupling_efficiency.csv; seasonal_asynchrony_matrix.csv.</a:t>
            </a:r>
          </a:p>
        </p:txBody>
      </p:sp>
    </p:spTree>
    <p:extLst>
      <p:ext uri="{BB962C8B-B14F-4D97-AF65-F5344CB8AC3E}">
        <p14:creationId xmlns:p14="http://schemas.microsoft.com/office/powerpoint/2010/main" val="211730328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454899-58C9-4E60-9503-08893FF1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3B84D4-7DC9-48A3-B7F1-1FA0FB4D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New Finding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FCBE65-4105-48B3-8908-5D8BB821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shown: AMJ/JJA SST and GPCP rainfall spatial anomalies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051BDA-2EF0-48BC-A11E-2DCC41EE1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db357981a3471b"/>
          <a:stretch xmlns:a="http://schemas.openxmlformats.org/drawingml/2006/main"/>
        </p:blipFill>
        <p:spPr>
          <a:xfrm xmlns:a="http://schemas.openxmlformats.org/drawingml/2006/main">
            <a:off x="571500" y="1954203"/>
            <a:ext cx="5715000" cy="3044843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F40ED2-3A7A-49F3-8257-A9670FB5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002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52976B-29DC-4BC3-8D6C-259111B45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145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Data name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D2327B-847D-4828-80DA-6E97F415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002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Top panels: OISST sea-surface temperature. Bottom panels: GPCP precipitation. Each map is 2023 AMJ/JJA minus the historical strong-El Niño composite.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C5DC4F-7FD9-4B38-92AF-026F7B21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9140A3-FABB-4E20-AFEF-83DA68D9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9085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What it shows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D3D24C-5E7E-4C76-A029-8ECCB400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Spring-summer 2023 warming extended beyond the eastern Pacific into TNA, the Maritime Continent, and the western Pacific warm pool, while central/eastern Pacific rainfall did not strengthen.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5F21B0-E1FB-43A9-9290-9CA4E71E4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529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3AC5BA-5084-45A0-9AAE-BF8E27806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672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Paper link and innovation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C68FCF-28C8-4EB4-9B0C-449C73F65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This corresponds to the paper's external-basin modulation hint. The innovation is developing-season spatial evidence tying warm background conditions to weak rainfall response.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DE4B18-1348-480C-8A52-86AFD017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Data: NOAA OISST v2.1 and GPCP; summary table stage_a_spatial_summary.csv.</a:t>
            </a:r>
          </a:p>
        </p:txBody>
      </p:sp>
    </p:spTree>
    <p:extLst>
      <p:ext uri="{BB962C8B-B14F-4D97-AF65-F5344CB8AC3E}">
        <p14:creationId xmlns:p14="http://schemas.microsoft.com/office/powerpoint/2010/main" val="53048710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DA17D8-C45C-4668-8E09-C3746DA4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CD3FE2-8988-4C45-962F-45CF1C91E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New Finding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285645-EB52-4A17-8135-1E5097907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shown: AMJ/JJA near-surface wind and sea-level-pressure spatial anomalies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9D7AFB-AC79-4234-B4F3-65F050E7F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4af7fc5ccb4dda"/>
          <a:stretch xmlns:a="http://schemas.openxmlformats.org/drawingml/2006/main"/>
        </p:blipFill>
        <p:spPr>
          <a:xfrm xmlns:a="http://schemas.openxmlformats.org/drawingml/2006/main">
            <a:off x="571500" y="1882418"/>
            <a:ext cx="5715000" cy="3188414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2D26E6-F068-41AD-96E3-1F3C5B5AE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002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FF537D-FABD-4081-811A-9465205A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145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Data name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B267B0-6693-4E84-BA55-582EF674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002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NCEP/NCAR R1 near-surface sigma995 wind and sea-level pressure, calculated as 2023 AMJ/JJA minus the historical strong-event composite.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192507-F091-4C93-83B2-03F571C5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24213A-36BC-4279-B26A-2A30D382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9085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What it shows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5F46A2-B69C-45EF-91F9-BFB777697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Central-west Pacific low-level wind is weaker than in historical strong events, and the pressure-gradient pattern is not a canonical strong-El Niño Walker response.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320F3E-7288-4A12-90B9-038C979F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529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7DC9F8-8112-496E-95E3-B3E59D84B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672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Paper link and innovation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00E7A9-7B72-4634-9708-0AFB6A09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This corresponds to the paper's weak-wind finding. The innovation is making it seasonal and spatial, showing that AMJ/JJA already contains atmospheric asynchrony.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135E7C-8595-4737-B451-F8BC8D8BA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Data: NCEP/NCAR R1 fallback; final manuscript stage should verify with ERA5.</a:t>
            </a:r>
          </a:p>
        </p:txBody>
      </p:sp>
    </p:spTree>
    <p:extLst>
      <p:ext uri="{BB962C8B-B14F-4D97-AF65-F5344CB8AC3E}">
        <p14:creationId xmlns:p14="http://schemas.microsoft.com/office/powerpoint/2010/main" val="467511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10C1FA-A984-4D74-A274-34F44FE8F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30152E-5442-4D97-8E70-2A3A6F769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New Finding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C0CECA-0B43-4E4D-B337-C0E79043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shown: external-basin warm anomalies and seasonal coupling efficiency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6A079B-1F07-46BF-8B6A-3F467254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b860b3baf245aa"/>
          <a:stretch xmlns:a="http://schemas.openxmlformats.org/drawingml/2006/main"/>
        </p:blipFill>
        <p:spPr>
          <a:xfrm xmlns:a="http://schemas.openxmlformats.org/drawingml/2006/main">
            <a:off x="571500" y="2199193"/>
            <a:ext cx="3333750" cy="1773813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64e5cc77c3429a"/>
          <a:stretch xmlns:a="http://schemas.openxmlformats.org/drawingml/2006/main"/>
        </p:blipFill>
        <p:spPr>
          <a:xfrm xmlns:a="http://schemas.openxmlformats.org/drawingml/2006/main">
            <a:off x="4095750" y="2389256"/>
            <a:ext cx="3333750" cy="1393688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A02C8A-6767-4E1E-BAC4-78C9A4A2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619250"/>
            <a:ext cx="36385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EB56B0-D759-43BB-B76C-23466BAB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733550"/>
            <a:ext cx="3371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Data name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A1628D-61B4-4FD7-AD08-D2BE1005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19300"/>
            <a:ext cx="33718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Left: OISST indices for TNA, western Pacific warm pool, Maritime Continent, and Tropical Indian Ocean. Right: seasonal coupling-efficiency diagnostics.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F98FE1-198E-4BAC-B4DD-482AADA51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971800"/>
            <a:ext cx="36385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DB9A7F-9ECF-43B3-93CF-9A21936B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86100"/>
            <a:ext cx="3371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What it shows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935A72-C66B-4859-84A8-0A361BE7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71850"/>
            <a:ext cx="33718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Unusual external-basin warmth and low Pacific atmospheric coupling efficiency occur together in spring-summer 2023.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F59477-0EF3-4BAE-9AF9-DBAA08287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324350"/>
            <a:ext cx="36385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854E3A-6366-4851-9147-074D1D80D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38650"/>
            <a:ext cx="3371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Paper link and innovation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316A85-9A47-4F4E-BB13-C29D4130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724400"/>
            <a:ext cx="33718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suggests external basins may damp Pacific response. The new step is observationally confirming that these warm anomalies were present during the coupling-loss season.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DBC42E-8A3D-4120-848B-0E4C4EE04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Tables: external_basin_seasonal_summary.csv; asynchronous_coupling_efficiency.csv.</a:t>
            </a:r>
          </a:p>
        </p:txBody>
      </p:sp>
    </p:spTree>
    <p:extLst>
      <p:ext uri="{BB962C8B-B14F-4D97-AF65-F5344CB8AC3E}">
        <p14:creationId xmlns:p14="http://schemas.microsoft.com/office/powerpoint/2010/main" val="156012024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6478CC-6297-4DC4-B249-0271A02C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18F706-8FE1-435B-B8BC-94EAEA89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Historical Summary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767790-A83F-48F4-BEAD-2EA41052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Key numbers: spring-summer 2023 was not SST-weak; it was atmosphere-response weak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5440DB-AB08-490B-A2D4-FD9949B6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15AF55-657C-4732-977D-C77CC499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328C4C-F445-43A4-BB5D-1F88A04F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78117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Metric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027AB8-BD8D-463B-8998-48244B444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145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38B7A8-42D3-403B-AF53-4564C13A3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78117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AMJ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500337-ABE7-4AE2-B9C3-752BF8C7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36AEB2-E518-42B0-9F3E-F4885E0F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78117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JJA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F93C50-FAE9-4A03-8BB0-00BBBF1B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38E54C-B454-45E7-8367-07C759B4F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33362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Niño-3 SST relative to strong-event composite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324A48-13A2-413B-8A32-CF2DDA65D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669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E11404-026E-4AE9-AFB3-1A242DAD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33362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1.41x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87CECC-5E0C-4F27-9404-92AA7CFB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695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F71F42-4789-40F0-99D3-41EFBC6C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33362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1.22x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18458D-4C60-4951-9239-53728AF22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B2FD2A-7BC5-4AD4-87EE-97331098F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8607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Central-west Pacific low-level wind ratio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01D823-60A8-4AFC-9D78-1B7625F7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194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E31CDD-B979-4604-BEB5-9BC859532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88607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-0.43x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ACBA4C-ED5F-47DA-9F06-CBB643FA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1940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ABEFA2-15BB-471F-A4BC-3BE138FDA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88607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-0.14x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7D904D-B34C-41AF-9507-4C698BF5C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2840CD-D32F-47C9-9171-953A0AE8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43852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SOI-like pressure-response efficiency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28137F-7341-490C-87D2-6A1311B0C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718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7E4D7E-7A23-468A-860C-2661AE85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43852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0.22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C62C08-81EF-419B-8263-1D5458D8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72849D-CF77-4D28-BC4C-4FA9C69C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43852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0.28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E93138A-2E6B-40DC-B374-C343F574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CB7D78-0AA4-4604-97B4-B8B09B79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99097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Central Pacific GPCP rainfall ratio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7DB720-A427-46DA-B9C4-075626F1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24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1243E4-5AB1-49DA-AF40-4624FE38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99097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0.43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B18219-5F76-4404-A063-DDDDC45B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2430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9596A4-F96A-4F97-AA5B-94BA9543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99097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0.38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33A737A-1CA3-47F7-B45E-2C8DC848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9906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AFCF17-D505-4F63-A944-0454900C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76850"/>
            <a:ext cx="9639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Reading note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B7EECB-45DC-4147-8B9F-1B741134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62600"/>
            <a:ext cx="9639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Together, these values show that the developing-season ocean state was already strong, but the atmospheric branch did not produce the usual westerly-wind, pressure-gradient, and rainfall-displacement responses.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45888D6-D913-47F6-A9EA-60F5C82F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Tables: asynchronous_coupling_efficiency.csv; gpcp_precip_seasonal_summary.csv.</a:t>
            </a:r>
          </a:p>
        </p:txBody>
      </p:sp>
    </p:spTree>
    <p:extLst>
      <p:ext uri="{BB962C8B-B14F-4D97-AF65-F5344CB8AC3E}">
        <p14:creationId xmlns:p14="http://schemas.microsoft.com/office/powerpoint/2010/main" val="115996610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5165E7-EA97-4B05-99FC-4D4E8DA89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5A59F5-EF73-489C-A263-BF3131A1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Difference From Literature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6AE60F-0E8B-4E7D-82B5-6C3FF917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Existing studies emphasize mechanisms or individual months; this project systematizes seasonal coupling efficiency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1C3CEC-B0A3-413F-8EC2-0AC6797D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75E3E3-E616-461E-BEAC-18C1521BA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BC6F47-AB59-459F-A3B4-2108B11F7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781175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Study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847595-2D9D-4A30-A070-F1F5545D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14500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8C9F59-8C18-4941-BC3B-FB861D687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781175"/>
            <a:ext cx="3924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Existing focus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496FDF-79BB-4993-A781-D14C1380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4457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99A3F7-D5F9-4CBF-A57B-1251E10E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781175"/>
            <a:ext cx="4286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New contribution here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6CABD1-64FA-4AFB-9E28-05F24DC8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717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B6A012-C9DE-4E26-B3A6-83C53ABF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238375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2025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A999AB-C342-43D1-A4AB-34211FE7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171700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ECBFA0-17C7-475C-8ED2-B0B7A79EB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238375"/>
            <a:ext cx="3924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Ocean-dynamical event generation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ACE59C-EE4B-4833-B848-64677EA3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71700"/>
            <a:ext cx="4457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3A3B08-596A-46C7-A29F-62F25FDCE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238375"/>
            <a:ext cx="4286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Why and when the atmospheric response weakened.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943004-EF2D-4E88-9881-4C0BCFF8E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755326-43ED-42D1-A1DF-9CB6EF29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95575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Zhang et al. 2025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282A37-7E02-455F-A07B-F1035722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628900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0FD806-4BFB-4A9D-9663-6CF8A153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695575"/>
            <a:ext cx="3924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Weak rainfall/teleconnections and external-basin heating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9BF5C0-6670-4BED-A60E-0217D4EC7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28900"/>
            <a:ext cx="4457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26FB89-78D0-49C8-8C0B-CEBB9E01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695575"/>
            <a:ext cx="4286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Seasonal matrix across wind, pressure, rainfall, and SST.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2E2F1E-B2E5-4C1F-836F-45869DC19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0CE88D-A94D-451B-B44C-1D160738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152775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Kim et al. 2025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0E471E-186B-433F-B263-E44477654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86100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66DA91-4D37-40DC-BF73-0875CBE7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152775"/>
            <a:ext cx="3924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Developing-season wind anomalies and west-central Pacific gradients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C78104-17AA-47FF-93EB-8B9EF69B3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86100"/>
            <a:ext cx="4457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123188-83CA-4401-B36B-737E94A44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152775"/>
            <a:ext cx="4286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Adds SOI-like pressure, GPCP rainfall, and external-basin historical comparison.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43CB3C-5FBB-42C5-8A0E-9A8C8027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1A2100-3855-42CE-92FC-978E0AF0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609975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Zhao et al. 2025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7D3898-1F2F-49D2-88E8-CF0B9ED1F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543300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09C368-9012-4146-BB34-77065E126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609975"/>
            <a:ext cx="3924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July 2023 TNA and monsoon/Maritime Continent heating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4C7FC8F-8C1D-418A-8583-B07C7F7F3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43300"/>
            <a:ext cx="4457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1903354-6BA0-446D-8AD2-4B4B6BBD6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609975"/>
            <a:ext cx="4286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Tracks AMJ/JJA through SON/DJF continuously.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1A9C867-1B28-4323-93A6-3810BBAE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7332C48-18B1-4781-AA29-460C7959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067175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Yang &amp; Li 2025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0F60CB-B33B-49F5-8125-C87B3D6D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00500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95DB12F-7240-4B61-94B1-FE4646C19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067175"/>
            <a:ext cx="3924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January 2024 MJO/trend/ENSO decomposition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08109E5-9546-4F90-94F3-918AC4A4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4457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3755433-5113-4EA3-812D-4030B31D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067175"/>
            <a:ext cx="4286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Builds developing-season background before adding MJO/OLR tests.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02F380F-0CC4-48C6-90CE-C581209F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9906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2F54EA-C0A0-41AF-908B-E925B074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76850"/>
            <a:ext cx="9639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Reading note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B053DE9-C998-4B3B-8606-73887846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62600"/>
            <a:ext cx="9639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The difference is not simply adding a dataset. It is turning weak response into a time-by-variable question: which season, which variable, and which external-basin background changed first?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31B67D-2A39-4B63-92E5-2A457D4F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Literature notes: docs/literature_method_notes.md; source IDs L2-L8.</a:t>
            </a:r>
          </a:p>
        </p:txBody>
      </p:sp>
    </p:spTree>
    <p:extLst>
      <p:ext uri="{BB962C8B-B14F-4D97-AF65-F5344CB8AC3E}">
        <p14:creationId xmlns:p14="http://schemas.microsoft.com/office/powerpoint/2010/main" val="159283239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726035-CABA-4F0C-87E4-5321F05D0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430463-3F79-4EE0-8BBC-EFA8305D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Working Topic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F4A882-5241-41E8-8A88-381B9100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Proposed topic: developing-season coupling failure during the 2023/24 strong El Niño and external-basin modulation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D73003-B414-453B-9B1A-3E31B7D0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5B5F56-648B-487E-84A4-E55B2AF90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95450"/>
            <a:ext cx="9906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12FCB-4342-4EBD-8DF2-7DAFFDED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24050"/>
            <a:ext cx="9486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Working hypothesis: spring-summer external-basin warmth and tropical-mean warming altered the Walker circulation and convective threshold, delaying or weakening the canonical wind-pressure-rainfall response to warm Pacific SST.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7A002-AEA9-44AA-B8B5-A8B624C36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194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8BBBF7-1950-4041-BEE2-C0B41A1E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33750"/>
            <a:ext cx="914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H1: Tropical North Atlantic, Indian Ocean, and Maritime Continent warmth suppressed the central-Pacific westerly response.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807BA6-5E4A-488E-8826-447B579E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862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62DE3A-7656-4472-9C5F-8532DCD1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0"/>
            <a:ext cx="914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H2: Maritime Continent / Indian Ocean convection maintained western-side convection and weakened the eastward rainfall shift.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586434-2CA8-4C34-8671-747C3E7C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529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F479D4-45C5-4042-A65B-C16A39A39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67250"/>
            <a:ext cx="914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H3: Tropical-mean warming raised the convective threshold, so the same Pacific SST anomaly produced weaker atmospheric feedback.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8436D4-0E0D-4321-8898-C28E71DE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Current diagnostics establish association; mechanism attribution requires ERA5, OLR, MJO/RMM and AGCM tests.</a:t>
            </a:r>
          </a:p>
        </p:txBody>
      </p:sp>
    </p:spTree>
    <p:extLst>
      <p:ext uri="{BB962C8B-B14F-4D97-AF65-F5344CB8AC3E}">
        <p14:creationId xmlns:p14="http://schemas.microsoft.com/office/powerpoint/2010/main" val="141313142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1D4A11-7D14-431F-A82F-B2110BE3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B0F3B1-2758-4CC3-88D7-E0B78C7A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Next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29B716-BD20-4B33-85D9-9E9ED502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needed for the next research version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C6C75A-0C9C-4ACF-928B-5E1F2946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557DD4-2B45-418C-8AB1-0E0005A91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51DB07-6727-4082-BE80-BC51617B6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78117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4E57C1-D909-499F-B7AB-99590435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145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958865-21EC-45B9-AE43-441558E1C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78117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E12504-7C1E-4ED6-B1E6-74C7D8350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BE1E40-C2C9-4238-B1BB-40590D4D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78117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Why needed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F3D2BD-D233-46F0-BFBC-CBA4104B5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83BBB7-81FD-4589-9683-4DE96CC4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33362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ERA5 u850 / SLP / χ200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C3FB7F-A149-4A15-A004-248FFC04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669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52C4F4-8031-486B-BEE5-9EA1B0B1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33362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Low-level wind, sea-level pressure, and Walker circulation.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2977AE-A8CF-4BC0-AD79-420E17DE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695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0A365C-C9DE-4CDA-9079-31034542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33362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Manuscript-grade wind-pressure-circulation evidence.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92A7D9-BD20-4D38-89F0-1C3787FF1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D57F83-E66C-4DFD-B011-5B6B5747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8607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NOAA OLR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A4302F-E506-4756-A32F-D2276CEC7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194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F23CAE-EAC5-4F51-ACA3-DE91D1557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88607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Independent deep-convection diagnosis.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AF083A-54C6-41FB-9D74-AE7AAB7D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1940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EBA667-C3B4-483E-A36B-197C6584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88607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Avoid relying only on rainfall to infer convection.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2B99AC-AFE2-429F-A3F1-5F0D113C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C0153E-B8B2-4347-B4C8-DBD1CF2A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43852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ERSSTv5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831D4B-2A54-4D52-A237-7F2935DE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718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835C47-31D2-4FF4-B8CB-DBD2FE79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43852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Long-record robustness since 1854.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270418-3093-4466-B3BE-35F05B57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907DDE-E1D6-436E-A6EC-BBE268F68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43852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Check whether the post-1981 OISST sample affects historical comparison.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0F9ABE-83C9-4D96-8309-9A8B47769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F7E242-92CC-4B33-A049-16EB55739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99097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MJO/RMM or daily data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D9D2AEA-60BB-49ED-B158-115E9D3F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24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E97374-164E-4FBD-9662-4B368A28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99097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Key-month decomposition, especially January 2024.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7ED2DB-8B84-42DA-8E15-68004C56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2430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BEC80A6-4E03-4C58-9C4D-2B8CC53D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99097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Separate ENSO background, MJO, and trend effects.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5DFC7A-3D37-44E5-9149-D82DB8782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9906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268BF2-09CD-464E-9B2E-2D58B9FB8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76850"/>
            <a:ext cx="9639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Reading note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4E0848-8832-44F9-AD2C-850B4D0EF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62600"/>
            <a:ext cx="9639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The near-term priority is ERA5 plus OLR. These will strengthen wind, pressure, Walker-circulation, and convection evidence before AGCM experiments.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774A9E3-559C-4B7F-BDC8-ED23DC18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Data priorities from reports/当前数据分析阶段总结.md.</a:t>
            </a:r>
          </a:p>
        </p:txBody>
      </p:sp>
    </p:spTree>
    <p:extLst>
      <p:ext uri="{BB962C8B-B14F-4D97-AF65-F5344CB8AC3E}">
        <p14:creationId xmlns:p14="http://schemas.microsoft.com/office/powerpoint/2010/main" val="1469944761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D392C0-9CFF-4474-81B6-E83A6322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9B7408-2ED6-4202-8751-DC14AE54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Appendix 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DBC657-D19A-4765-9C51-E440E83FB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Slide-to-data table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EA852E-18C9-4DA0-BF17-1C2A1C92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DE7DDF-E273-4877-A6DF-D3F72E55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9D5600-E4D4-41E9-8856-3B59460A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7430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Slides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CE0AC5-8F95-4240-A63C-282BBCDD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6764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C9C390-B8EB-43EF-BD7C-5C034EEEB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17430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Figure / content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EB3378-E55F-4377-A643-FC9D54CD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764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2D5117-384F-476E-A2CC-4DC64E44F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7430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 table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825572-DDB9-49E8-982A-BE637EC6E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336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1ED9BE-F665-4EA7-876D-880E88C73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2002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6-7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FA3904-3B9D-47DB-BEDC-5B2183DBF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36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176B83-972E-4E8A-A1FE-3CF245BD5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2002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Reproduced Fig. 1 and coupling ratios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6D9748-F8B5-4C28-B5F7-D15988D8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1336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CA7C6C-DDEA-4AC9-B2CA-E7615DB88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2002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fig1_event_coupling.csv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528AD6-4153-49CB-AD0F-30AEEDAF8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543D90-B63C-4255-AB87-865C5A66F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574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B6CE37-AC6D-4A40-9592-B846AA423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908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402E63-B93C-4032-8448-5C172717E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6574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Reproduced Fig. 2 ocean dynamics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744A4E-A35B-4B79-9C05-D8E7D6504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5908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A78CA9-1C9D-4150-8B9A-E358BE3A5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6574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fig2_equatorial_summary.csv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CABCC0-1C89-4183-9E02-88AB31924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91B72C-3A32-4D5E-8808-38E8A0A00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1146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9-10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28BB7E-A123-418A-AD99-C53CA237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480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B7D8CE-9E97-4015-B94E-44574D72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146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Reproduced Fig. 3-4 AGCM/wind-stress experiments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DE5309-ABF3-480E-B374-1BEA4349E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0480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1DCC6E-A67A-4E21-92CE-77AE37D7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1146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fig3_agcm_summary.csv; fig4_wind_experiment_summary.csv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0A00F3-D4F4-49E1-8A3A-B405E0B6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52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AAB47D-4308-424D-B024-F041EEB3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5718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E40F28-4F0C-4325-BB5B-71063A7A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052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28634F-E4F5-4467-9430-8A008F6BB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5718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Raw-product validation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56FCB78-01F4-445E-AF71-0DC5BAEC6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5052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5CA139-6BB4-49E4-8732-F1FC0DD8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5718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oisst_vs_fig1_nino3.csv; gpcp_vs_fig2_precip.csv; ncep_vs_fig1_atmosphere.csv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F539E2E-82D2-44DD-AB4F-C048B7BEB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50B90E6-FAE0-4FC4-B0CE-67AEF135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0290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F536F6-2DA8-4AA3-8106-8124AB5D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9624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186FF03-D9F3-4784-8637-65DBF9D83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40290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Seasonal coupling-efficiency matrix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305EFBF-1FF8-411F-AC06-349AA973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9624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0A3A5DB-97AA-434A-A33B-6245FE72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0290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asynchronous_coupling_efficiency.csv; seasonal_asynchrony_matrix.csv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90EAFA0-B66D-4329-A52D-33769EAF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96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BADB44-7329-4ECE-BC5A-1CAEFCAE0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4862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14-15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4EF20A5-A9BF-4F05-993E-7D011977A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4196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26F1C91-E1EF-43D0-9937-5251F0D6F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44862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AMJ/JJA spatial maps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FE4AB55-AD6D-4307-B7BB-B8276A6A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4196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27E6D9E-9D33-443D-AF01-D1F089B29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4862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stage_a_spatial_summary.csv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BF44EDB-F445-49AD-8864-50554D9EC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768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0244506-0450-412F-BEBA-A1B4109F1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9434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16-17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F098E72-BF5C-49E5-A2DF-8FDC99C8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768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EDA71B9-4B35-4879-BB2F-8BDE6C4B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49434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External basins and historical comparison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5649594-4B79-420C-B905-8A4CD556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8768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77BB23B-DBD4-4544-8A4B-71071933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9434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external_basin_seasonal_summary.csv; gpcp_precip_seasonal_summary.csv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1344B1E-CD22-4AD7-8201-A16AA42B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All local paths are under /Users/daiyue/Documents/Maryland/data/derived.</a:t>
            </a:r>
          </a:p>
        </p:txBody>
      </p:sp>
    </p:spTree>
    <p:extLst>
      <p:ext uri="{BB962C8B-B14F-4D97-AF65-F5344CB8AC3E}">
        <p14:creationId xmlns:p14="http://schemas.microsoft.com/office/powerpoint/2010/main" val="2017788662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39ED11-70AA-4AB7-97D1-2646EF33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E2A125-1066-4608-9689-2A368E75D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Appendix 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525A4D-3B60-4BCF-BCDE-CA920B37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and literature links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3363D1-3E8C-4897-A050-EF5AD61C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62DD0B-EF8D-4D98-A9B9-7E072E21D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10EC17-D521-434F-848D-FB8FC309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7430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8A7F5E-9580-4ED2-825C-E67FEC24C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6764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811FA3-CEFE-419E-B25E-4E95A23FB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17430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Link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2AFAF1-1EC2-4FB0-8365-576382607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764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700A85-5830-4B36-82B7-B315112F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7430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30ED0D-8BF0-4847-81D7-5738E87D5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336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1AD975-16D8-4C61-8A39-EFFBC8F8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2002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2025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7BE084-9761-4353-8BF7-59A1044A0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36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A9F968-D533-428C-9E72-45E7E8CC2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2002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nature.com/articles/s41561-025-01700-9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4C619B-ABE2-4736-8292-85AD15F2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1336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9403BC-3ABD-4E7C-8F2E-EEF30351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2002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Paper reproduction and question source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9E8534-9105-4F78-98F4-073076AB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0191E2-563D-4439-87DC-FAADE7CD9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574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NOAA OISST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F3A95D-2918-4FF9-9706-90F020E82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908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8D53EF-D812-4AF5-A03D-2AA8F097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6574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ncei.noaa.gov/products/optimum-interpolation-sst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F18B1F-3992-492B-A272-B54418A1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5908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D498F1-2E2C-4C86-BED2-4F4C9DEB7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6574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Sea-surface temperature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5D940E-5E51-40C8-99CA-0F5EAFD1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637739-A094-4190-BCC6-8661C948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1146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GPCP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EDCD00-2609-4BC9-BFCE-C05DE1C9D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480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DF03E6-89FE-4ECB-84EA-FB37AD43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146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psl.noaa.gov/data/gridded/data.gpcp.html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B8C68B-9EC8-48F1-9EB1-014F3175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0480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10C647-8866-4D77-8067-3FF87B4E3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1146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Precipitation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FC66D8-87B1-4884-849C-EB94FAD6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52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D7AA0C-8A60-4514-BFFE-D71E1A9E8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5718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NCEP/NCAR R1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5373F3-3064-42B6-AF12-17DB831E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052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42ED1B-71E3-44A2-B106-126C08A58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5718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psl.noaa.gov/data/reanalysis/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7714BA-A6AA-48D9-845B-12D496EE1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5052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E270CE9-2828-4EE2-8B4C-9A9E2A9A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5718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Wind-pressure fallback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5B6F779-451B-4D2E-8045-2BA890D0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4B494A-57CE-4DC3-83C5-83F11765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0290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ERA5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2698CC6-5FD1-43A6-AC7B-28F67BF4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9624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949903A-25EC-4EF0-BE65-38BAF6FF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40290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cds.climate.copernicus.eu/datasets/reanalysis-era5-single-levels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FF9A068-4343-455D-9D7E-351CEB94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9624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B7BD16E-9B56-4B56-9434-5CB7CC90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0290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Next wind/Walker diagnostics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B9482B-D0DA-482F-B361-45F396F8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96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A95803A-D8A1-4071-9698-0D38EE6A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4862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NOAA OLR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EAE4EE1-5B85-41BA-8E00-B2BD5772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4196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C7D284B-FD6B-42E9-8579-9E4E3809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44862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psl.noaa.gov/data/gridded/data.interp_OLR.html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10990D6-36DA-45FF-9460-3C4A13700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4196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80A196D-16EE-47F4-AC47-156C2614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4862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Next convection check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37B7C11-6D4B-4C69-97F2-AB383B1EA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768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FEC1E8A-083A-43EF-B35E-E792DFDE3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9434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ERSSTv5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071FE40-4578-44B2-9FE7-D2E221F05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768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AEBA94C-C8A8-47CE-B2C3-0D71CD7B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49434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ncei.noaa.gov/products/extended-reconstructed-sst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344006E-C227-46EF-BEDF-C9E0B3649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8768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95B9DA1-3765-4B57-A15E-B48692F83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9434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Long-record robustness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82CB042-9449-4335-8592-042AE5EF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Full source log: docs/data_source_log.md.</a:t>
            </a:r>
          </a:p>
        </p:txBody>
      </p:sp>
    </p:spTree>
    <p:extLst>
      <p:ext uri="{BB962C8B-B14F-4D97-AF65-F5344CB8AC3E}">
        <p14:creationId xmlns:p14="http://schemas.microsoft.com/office/powerpoint/2010/main" val="16090150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2026-05-24T02:35:39.6730000Z</dcterms:created>
  <dcterms:modified xsi:type="dcterms:W3CDTF">2026-05-24T02:35:39.6730000Z</dcterms:modified>
</coreProperties>
</file>