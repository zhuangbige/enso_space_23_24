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08"/>
    <p:restoredTop sz="94268"/>
  </p:normalViewPr>
  <p:slideViewPr>
    <p:cSldViewPr snapToGrid="0">
      <p:cViewPr>
        <p:scale>
          <a:sx n="108" d="100"/>
          <a:sy n="108" d="100"/>
        </p:scale>
        <p:origin x="-312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B47DD83-3CC3-488F-8D78-12E1505452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B065B29-CEFB-49D1-B234-982475FD7CEC}"/>
              </a:ext>
            </a:extLst>
          </p:cNvPr>
          <p:cNvSpPr>
            <a:spLocks noGrp="1"/>
          </p:cNvSpPr>
          <p:nvPr/>
        </p:nvSpPr>
        <p:spPr>
          <a:xfrm>
            <a:off x="552450" y="4572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endParaRPr sz="1050" b="1" dirty="0">
              <a:solidFill>
                <a:srgbClr val="CC5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8C190C0-39A0-4A2F-A0FA-253D7659B043}"/>
              </a:ext>
            </a:extLst>
          </p:cNvPr>
          <p:cNvSpPr>
            <a:spLocks noGrp="1"/>
          </p:cNvSpPr>
          <p:nvPr/>
        </p:nvSpPr>
        <p:spPr>
          <a:xfrm>
            <a:off x="552450" y="914400"/>
            <a:ext cx="85725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Atmosphere-ocean decoupling during the 2023/24 strong El Niño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7D9BF2-5115-43A8-BBF1-B7F75B9A1435}"/>
              </a:ext>
            </a:extLst>
          </p:cNvPr>
          <p:cNvSpPr>
            <a:spLocks noGrp="1"/>
          </p:cNvSpPr>
          <p:nvPr/>
        </p:nvSpPr>
        <p:spPr>
          <a:xfrm>
            <a:off x="571500" y="2895600"/>
            <a:ext cx="9144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endParaRPr sz="1500" b="0" dirty="0">
              <a:solidFill>
                <a:srgbClr val="5D574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C5D8C1-1E47-4905-87BF-7A2752AB6D79}"/>
              </a:ext>
            </a:extLst>
          </p:cNvPr>
          <p:cNvSpPr>
            <a:spLocks noGrp="1"/>
          </p:cNvSpPr>
          <p:nvPr/>
        </p:nvSpPr>
        <p:spPr>
          <a:xfrm>
            <a:off x="838200" y="3905250"/>
            <a:ext cx="8382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endParaRPr sz="1313" b="0" dirty="0">
              <a:solidFill>
                <a:srgbClr val="1D1B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C007000-17EE-4154-BC05-1F1B4FF3ABC1}"/>
              </a:ext>
            </a:extLst>
          </p:cNvPr>
          <p:cNvSpPr>
            <a:spLocks noGrp="1"/>
          </p:cNvSpPr>
          <p:nvPr/>
        </p:nvSpPr>
        <p:spPr>
          <a:xfrm>
            <a:off x="838200" y="4438650"/>
            <a:ext cx="8382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endParaRPr sz="1313" b="0" dirty="0">
              <a:solidFill>
                <a:srgbClr val="1D1B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1A459A-07C2-4B7E-8F2C-D52D2E53ADFA}"/>
              </a:ext>
            </a:extLst>
          </p:cNvPr>
          <p:cNvSpPr>
            <a:spLocks noGrp="1"/>
          </p:cNvSpPr>
          <p:nvPr/>
        </p:nvSpPr>
        <p:spPr>
          <a:xfrm>
            <a:off x="838200" y="4972050"/>
            <a:ext cx="8382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13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endParaRPr sz="1313" b="0" dirty="0">
              <a:solidFill>
                <a:srgbClr val="1D1B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D37E7643-C2F9-4A49-B8BF-31300CD0E74A}"/>
              </a:ext>
            </a:extLst>
          </p:cNvPr>
          <p:cNvSpPr>
            <a:spLocks noGrp="1"/>
          </p:cNvSpPr>
          <p:nvPr/>
        </p:nvSpPr>
        <p:spPr>
          <a:xfrm>
            <a:off x="9829800" y="1200150"/>
            <a:ext cx="1219200" cy="1219200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4CE3F9D-D875-42A0-A065-386B08210033}"/>
              </a:ext>
            </a:extLst>
          </p:cNvPr>
          <p:cNvSpPr>
            <a:spLocks noGrp="1"/>
          </p:cNvSpPr>
          <p:nvPr/>
        </p:nvSpPr>
        <p:spPr>
          <a:xfrm>
            <a:off x="10267950" y="2857500"/>
            <a:ext cx="781050" cy="781050"/>
          </a:xfrm>
          <a:prstGeom prst="ellipse">
            <a:avLst/>
          </a:prstGeom>
          <a:solidFill>
            <a:srgbClr val="2F6F7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10FD6DF-31BA-4277-8E49-640123DDB8E8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Peng et al. 2025; NOAA OISST; GPCP; NCEP/NCAR R1; local diagnostics. 2026-05-24.</a:t>
            </a:r>
          </a:p>
        </p:txBody>
      </p:sp>
    </p:spTree>
    <p:extLst>
      <p:ext uri="{BB962C8B-B14F-4D97-AF65-F5344CB8AC3E}">
        <p14:creationId xmlns:p14="http://schemas.microsoft.com/office/powerpoint/2010/main" val="2004840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3652ED5-5CED-45FE-8E6F-9D5C89838A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BA51C2-FDFA-4842-9D16-140DCDE42EF7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endParaRPr sz="2175" b="1" dirty="0">
              <a:solidFill>
                <a:srgbClr val="1D1B18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DADDA3-095D-4B37-9B04-3D79DA13A126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242C34-5F02-4B0D-9229-2F346824EACC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9906000" cy="1257300"/>
          </a:xfrm>
          <a:prstGeom prst="rect">
            <a:avLst/>
          </a:prstGeom>
          <a:solidFill>
            <a:srgbClr val="F5E5DF"/>
          </a:solidFill>
          <a:ln w="9525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9B9DBB-8FCA-418F-89AA-FEE48BC720BF}"/>
              </a:ext>
            </a:extLst>
          </p:cNvPr>
          <p:cNvSpPr>
            <a:spLocks noGrp="1"/>
          </p:cNvSpPr>
          <p:nvPr/>
        </p:nvSpPr>
        <p:spPr>
          <a:xfrm>
            <a:off x="933450" y="1924050"/>
            <a:ext cx="94869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show that ocean dynamics generated the strong 2023/24 El Niño, but the event also exposes a key anomaly: SST was strong while wind, pressure, and rainfall responses were weak.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21EA3A-4C29-455B-91A9-D44FB536F3DE}"/>
              </a:ext>
            </a:extLst>
          </p:cNvPr>
          <p:cNvSpPr>
            <a:spLocks noGrp="1"/>
          </p:cNvSpPr>
          <p:nvPr/>
        </p:nvSpPr>
        <p:spPr>
          <a:xfrm>
            <a:off x="1066800" y="33337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altLang="zh-CN" sz="200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</a:t>
            </a:r>
            <a:r>
              <a:rPr sz="200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 ask when the weak atmospheric response first emerged: only in the mature season, or already during AMJ/JJA development?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3E7A797-E26A-412A-BDA1-8B45A808DFB0}"/>
              </a:ext>
            </a:extLst>
          </p:cNvPr>
          <p:cNvSpPr>
            <a:spLocks noGrp="1"/>
          </p:cNvSpPr>
          <p:nvPr/>
        </p:nvSpPr>
        <p:spPr>
          <a:xfrm>
            <a:off x="1066800" y="46672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endParaRPr sz="1350" b="0" dirty="0">
              <a:solidFill>
                <a:srgbClr val="1D1B1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019A7E6-28F1-43A5-9C22-9F6708238EFA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Synthesis from reproduced Peng et al. figures and data/derived/research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1067644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79BED9A1-DCC8-4F6E-98BA-BDF93C2412E5}"/>
              </a:ext>
            </a:extLst>
          </p:cNvPr>
          <p:cNvSpPr>
            <a:spLocks noGrp="1"/>
          </p:cNvSpPr>
          <p:nvPr/>
        </p:nvSpPr>
        <p:spPr>
          <a:xfrm>
            <a:off x="0" y="-5715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4ED84B-5BD2-4F1B-8E52-48B5AD04E325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Common variables and abbreviations in this deck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D34612-B300-49ED-B995-B85FDE648B28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24D70A-4680-4E0A-B35A-ABC6EB5627C1}"/>
              </a:ext>
            </a:extLst>
          </p:cNvPr>
          <p:cNvSpPr>
            <a:spLocks noGrp="1"/>
          </p:cNvSpPr>
          <p:nvPr/>
        </p:nvSpPr>
        <p:spPr>
          <a:xfrm>
            <a:off x="666750" y="2097671"/>
            <a:ext cx="1381125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D72EB0-E801-4601-AFCC-6DE8DFEF4959}"/>
              </a:ext>
            </a:extLst>
          </p:cNvPr>
          <p:cNvSpPr>
            <a:spLocks noGrp="1"/>
          </p:cNvSpPr>
          <p:nvPr/>
        </p:nvSpPr>
        <p:spPr>
          <a:xfrm>
            <a:off x="752474" y="2235027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Abbrev.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E75429-7175-4EA9-AE7E-EFE70E9BB662}"/>
              </a:ext>
            </a:extLst>
          </p:cNvPr>
          <p:cNvSpPr>
            <a:spLocks noGrp="1"/>
          </p:cNvSpPr>
          <p:nvPr/>
        </p:nvSpPr>
        <p:spPr>
          <a:xfrm>
            <a:off x="2047875" y="2097670"/>
            <a:ext cx="3000375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BA41D5-8B9B-45FF-8E9F-58D2E349CF99}"/>
              </a:ext>
            </a:extLst>
          </p:cNvPr>
          <p:cNvSpPr>
            <a:spLocks noGrp="1"/>
          </p:cNvSpPr>
          <p:nvPr/>
        </p:nvSpPr>
        <p:spPr>
          <a:xfrm>
            <a:off x="2141618" y="2221314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Full name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6C0A02D-FE11-4C09-AD45-4A986CE7BAAA}"/>
              </a:ext>
            </a:extLst>
          </p:cNvPr>
          <p:cNvSpPr>
            <a:spLocks noGrp="1"/>
          </p:cNvSpPr>
          <p:nvPr/>
        </p:nvSpPr>
        <p:spPr>
          <a:xfrm>
            <a:off x="5048250" y="2097669"/>
            <a:ext cx="5981700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AA698C6-7D5E-4D1F-B91D-78A4EC3C915C}"/>
              </a:ext>
            </a:extLst>
          </p:cNvPr>
          <p:cNvSpPr>
            <a:spLocks noGrp="1"/>
          </p:cNvSpPr>
          <p:nvPr/>
        </p:nvSpPr>
        <p:spPr>
          <a:xfrm>
            <a:off x="666750" y="251460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D29A8B4-0462-4936-BC0A-806D5E4E0C18}"/>
              </a:ext>
            </a:extLst>
          </p:cNvPr>
          <p:cNvSpPr>
            <a:spLocks noGrp="1"/>
          </p:cNvSpPr>
          <p:nvPr/>
        </p:nvSpPr>
        <p:spPr>
          <a:xfrm>
            <a:off x="752474" y="2626518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10C195-0596-4CD7-88FE-D943FF72C0D3}"/>
              </a:ext>
            </a:extLst>
          </p:cNvPr>
          <p:cNvSpPr>
            <a:spLocks noGrp="1"/>
          </p:cNvSpPr>
          <p:nvPr/>
        </p:nvSpPr>
        <p:spPr>
          <a:xfrm>
            <a:off x="2047875" y="251460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06AFA61-F586-4414-8546-5761B10AFCF0}"/>
              </a:ext>
            </a:extLst>
          </p:cNvPr>
          <p:cNvSpPr>
            <a:spLocks noGrp="1"/>
          </p:cNvSpPr>
          <p:nvPr/>
        </p:nvSpPr>
        <p:spPr>
          <a:xfrm>
            <a:off x="2133600" y="258127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Eastern equatorial Pacific SST region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DEC9AA-26EB-4204-99D1-49D3745D07AA}"/>
              </a:ext>
            </a:extLst>
          </p:cNvPr>
          <p:cNvSpPr>
            <a:spLocks noGrp="1"/>
          </p:cNvSpPr>
          <p:nvPr/>
        </p:nvSpPr>
        <p:spPr>
          <a:xfrm>
            <a:off x="5048250" y="251460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84D677-D05A-4633-89DF-D83A39C50221}"/>
              </a:ext>
            </a:extLst>
          </p:cNvPr>
          <p:cNvSpPr>
            <a:spLocks noGrp="1"/>
          </p:cNvSpPr>
          <p:nvPr/>
        </p:nvSpPr>
        <p:spPr>
          <a:xfrm>
            <a:off x="5133975" y="258127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Index region representing eastern-Pacific warming.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9F96721-BDEA-474A-9436-D497DD42F8E8}"/>
              </a:ext>
            </a:extLst>
          </p:cNvPr>
          <p:cNvSpPr>
            <a:spLocks noGrp="1"/>
          </p:cNvSpPr>
          <p:nvPr/>
        </p:nvSpPr>
        <p:spPr>
          <a:xfrm>
            <a:off x="666750" y="294322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877829D-3D8A-4589-9A20-EB0028865412}"/>
              </a:ext>
            </a:extLst>
          </p:cNvPr>
          <p:cNvSpPr>
            <a:spLocks noGrp="1"/>
          </p:cNvSpPr>
          <p:nvPr/>
        </p:nvSpPr>
        <p:spPr>
          <a:xfrm>
            <a:off x="752475" y="300990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u10 / u850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1F5DD0F-43A8-4A2C-8462-51E176558C92}"/>
              </a:ext>
            </a:extLst>
          </p:cNvPr>
          <p:cNvSpPr>
            <a:spLocks noGrp="1"/>
          </p:cNvSpPr>
          <p:nvPr/>
        </p:nvSpPr>
        <p:spPr>
          <a:xfrm>
            <a:off x="2047875" y="294322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2FA4654-6CA8-4AA8-8A2D-73F77DD79A21}"/>
              </a:ext>
            </a:extLst>
          </p:cNvPr>
          <p:cNvSpPr>
            <a:spLocks noGrp="1"/>
          </p:cNvSpPr>
          <p:nvPr/>
        </p:nvSpPr>
        <p:spPr>
          <a:xfrm>
            <a:off x="2133600" y="300990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10-m / 850-hPa zonal wind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B3978FE-A7D6-4722-8C0F-B02EAD8A6CE3}"/>
              </a:ext>
            </a:extLst>
          </p:cNvPr>
          <p:cNvSpPr>
            <a:spLocks noGrp="1"/>
          </p:cNvSpPr>
          <p:nvPr/>
        </p:nvSpPr>
        <p:spPr>
          <a:xfrm>
            <a:off x="5048250" y="294322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0264BF8-5EB8-42DF-AED6-910FFD0F8D75}"/>
              </a:ext>
            </a:extLst>
          </p:cNvPr>
          <p:cNvSpPr>
            <a:spLocks noGrp="1"/>
          </p:cNvSpPr>
          <p:nvPr/>
        </p:nvSpPr>
        <p:spPr>
          <a:xfrm>
            <a:off x="5133975" y="300990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East-west wind; westerly anomalies support coupling.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264A266-3C12-4455-8F2C-91263F89BC1F}"/>
              </a:ext>
            </a:extLst>
          </p:cNvPr>
          <p:cNvSpPr>
            <a:spLocks noGrp="1"/>
          </p:cNvSpPr>
          <p:nvPr/>
        </p:nvSpPr>
        <p:spPr>
          <a:xfrm>
            <a:off x="666750" y="337185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50D45D3-AC42-47D8-A951-550DEA43EECA}"/>
              </a:ext>
            </a:extLst>
          </p:cNvPr>
          <p:cNvSpPr>
            <a:spLocks noGrp="1"/>
          </p:cNvSpPr>
          <p:nvPr/>
        </p:nvSpPr>
        <p:spPr>
          <a:xfrm>
            <a:off x="752475" y="343852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 / SLP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F4F27B8-1C5B-4E2D-B162-A69910D1F738}"/>
              </a:ext>
            </a:extLst>
          </p:cNvPr>
          <p:cNvSpPr>
            <a:spLocks noGrp="1"/>
          </p:cNvSpPr>
          <p:nvPr/>
        </p:nvSpPr>
        <p:spPr>
          <a:xfrm>
            <a:off x="2047875" y="337185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7462EAD-B291-42A0-AAD5-B49C5E410DC8}"/>
              </a:ext>
            </a:extLst>
          </p:cNvPr>
          <p:cNvSpPr>
            <a:spLocks noGrp="1"/>
          </p:cNvSpPr>
          <p:nvPr/>
        </p:nvSpPr>
        <p:spPr>
          <a:xfrm>
            <a:off x="2133600" y="343852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Southern Oscillation Index / Sea-Level Pressure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946648B-1B14-4306-BE44-7F3AB393D0CB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A00D7B5-6501-417E-878F-E6A4943E0E73}"/>
              </a:ext>
            </a:extLst>
          </p:cNvPr>
          <p:cNvSpPr>
            <a:spLocks noGrp="1"/>
          </p:cNvSpPr>
          <p:nvPr/>
        </p:nvSpPr>
        <p:spPr>
          <a:xfrm>
            <a:off x="5133975" y="343852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Pressure seesaw and Walker-circulation response.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DB17D59-7FF3-436D-AED0-BB1DED4CF40A}"/>
              </a:ext>
            </a:extLst>
          </p:cNvPr>
          <p:cNvSpPr>
            <a:spLocks noGrp="1"/>
          </p:cNvSpPr>
          <p:nvPr/>
        </p:nvSpPr>
        <p:spPr>
          <a:xfrm>
            <a:off x="666750" y="380047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192948A-D785-4624-98C2-510BAADBE5AC}"/>
              </a:ext>
            </a:extLst>
          </p:cNvPr>
          <p:cNvSpPr>
            <a:spLocks noGrp="1"/>
          </p:cNvSpPr>
          <p:nvPr/>
        </p:nvSpPr>
        <p:spPr>
          <a:xfrm>
            <a:off x="752475" y="386715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OLR / χ200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0B7DDC7-2EC7-4226-981F-CF4E853CB893}"/>
              </a:ext>
            </a:extLst>
          </p:cNvPr>
          <p:cNvSpPr>
            <a:spLocks noGrp="1"/>
          </p:cNvSpPr>
          <p:nvPr/>
        </p:nvSpPr>
        <p:spPr>
          <a:xfrm>
            <a:off x="2047875" y="380047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3C32D8F-ACCA-435A-B964-3D14DC51C1A7}"/>
              </a:ext>
            </a:extLst>
          </p:cNvPr>
          <p:cNvSpPr>
            <a:spLocks noGrp="1"/>
          </p:cNvSpPr>
          <p:nvPr/>
        </p:nvSpPr>
        <p:spPr>
          <a:xfrm>
            <a:off x="2133600" y="386715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Outgoing Longwave Radiation / 200-hPa velocity potential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546B23E-BC1A-4995-BA4D-15D69F253B59}"/>
              </a:ext>
            </a:extLst>
          </p:cNvPr>
          <p:cNvSpPr>
            <a:spLocks noGrp="1"/>
          </p:cNvSpPr>
          <p:nvPr/>
        </p:nvSpPr>
        <p:spPr>
          <a:xfrm>
            <a:off x="5048250" y="380047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00A1156-88B4-40F3-B15B-BC5E94739F26}"/>
              </a:ext>
            </a:extLst>
          </p:cNvPr>
          <p:cNvSpPr>
            <a:spLocks noGrp="1"/>
          </p:cNvSpPr>
          <p:nvPr/>
        </p:nvSpPr>
        <p:spPr>
          <a:xfrm>
            <a:off x="5133975" y="386715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Deep convection and upper-level circulation diagnostics.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0D273F5-4030-426A-9F39-FEC6F1BEE79F}"/>
              </a:ext>
            </a:extLst>
          </p:cNvPr>
          <p:cNvSpPr>
            <a:spLocks noGrp="1"/>
          </p:cNvSpPr>
          <p:nvPr/>
        </p:nvSpPr>
        <p:spPr>
          <a:xfrm>
            <a:off x="666750" y="422910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50FB233-6B78-4705-9FE4-87289DAA00E3}"/>
              </a:ext>
            </a:extLst>
          </p:cNvPr>
          <p:cNvSpPr>
            <a:spLocks noGrp="1"/>
          </p:cNvSpPr>
          <p:nvPr/>
        </p:nvSpPr>
        <p:spPr>
          <a:xfrm>
            <a:off x="2047875" y="422910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306E2FB-4F1A-480A-8121-5AC8CFA098ED}"/>
              </a:ext>
            </a:extLst>
          </p:cNvPr>
          <p:cNvSpPr>
            <a:spLocks noGrp="1"/>
          </p:cNvSpPr>
          <p:nvPr/>
        </p:nvSpPr>
        <p:spPr>
          <a:xfrm>
            <a:off x="5048250" y="422910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E0D81AD-29A4-431D-BA45-7642E5912BDE}"/>
              </a:ext>
            </a:extLst>
          </p:cNvPr>
          <p:cNvSpPr>
            <a:spLocks noGrp="1"/>
          </p:cNvSpPr>
          <p:nvPr/>
        </p:nvSpPr>
        <p:spPr>
          <a:xfrm>
            <a:off x="752474" y="4400429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TNA/MC/WPWP/TIO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2522F6B-F366-4439-B85A-5AB08B4689C6}"/>
              </a:ext>
            </a:extLst>
          </p:cNvPr>
          <p:cNvSpPr>
            <a:spLocks noGrp="1"/>
          </p:cNvSpPr>
          <p:nvPr/>
        </p:nvSpPr>
        <p:spPr>
          <a:xfrm>
            <a:off x="2124073" y="4330377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Tropical North Atlantic / Maritime Continent / Western Pacific warm pool / Tropical Indian Ocean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BEBE609-3595-4046-9CB3-6B558B851CFF}"/>
              </a:ext>
            </a:extLst>
          </p:cNvPr>
          <p:cNvSpPr>
            <a:spLocks noGrp="1"/>
          </p:cNvSpPr>
          <p:nvPr/>
        </p:nvSpPr>
        <p:spPr>
          <a:xfrm>
            <a:off x="5143502" y="4367212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External-basin and tropical-background regions.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5F8D612-84C5-45C9-B9D6-0797BAA3D052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Standard climate diagnostics and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927095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FEF2D1A8-D21F-43C6-95D6-4B7567BA20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FC7CD8-3210-4E85-8F20-269746F69CC0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Dataset, model-experiment, and region abbreviations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96DD137-D979-4834-8A04-B06BDBFCECA2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51A9FB-1069-447E-A1BF-416DC1CB6463}"/>
              </a:ext>
            </a:extLst>
          </p:cNvPr>
          <p:cNvSpPr>
            <a:spLocks noGrp="1"/>
          </p:cNvSpPr>
          <p:nvPr/>
        </p:nvSpPr>
        <p:spPr>
          <a:xfrm>
            <a:off x="666750" y="1657350"/>
            <a:ext cx="1381125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39A384-0975-4C9E-B5CD-E86D34B1623B}"/>
              </a:ext>
            </a:extLst>
          </p:cNvPr>
          <p:cNvSpPr>
            <a:spLocks noGrp="1"/>
          </p:cNvSpPr>
          <p:nvPr/>
        </p:nvSpPr>
        <p:spPr>
          <a:xfrm>
            <a:off x="752475" y="172402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Abbrev.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AE18071-0D4F-4878-8199-D6015C1B671B}"/>
              </a:ext>
            </a:extLst>
          </p:cNvPr>
          <p:cNvSpPr>
            <a:spLocks noGrp="1"/>
          </p:cNvSpPr>
          <p:nvPr/>
        </p:nvSpPr>
        <p:spPr>
          <a:xfrm>
            <a:off x="2047875" y="1657350"/>
            <a:ext cx="3000375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B9CBE6-3A4F-4552-8832-68AFCB58B415}"/>
              </a:ext>
            </a:extLst>
          </p:cNvPr>
          <p:cNvSpPr>
            <a:spLocks noGrp="1"/>
          </p:cNvSpPr>
          <p:nvPr/>
        </p:nvSpPr>
        <p:spPr>
          <a:xfrm>
            <a:off x="2133600" y="172402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Full name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F20AF4-1F83-403B-A548-FA2A8736C42E}"/>
              </a:ext>
            </a:extLst>
          </p:cNvPr>
          <p:cNvSpPr>
            <a:spLocks noGrp="1"/>
          </p:cNvSpPr>
          <p:nvPr/>
        </p:nvSpPr>
        <p:spPr>
          <a:xfrm>
            <a:off x="5048250" y="1657350"/>
            <a:ext cx="5981700" cy="428625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3566A6-B181-4068-81D4-EF6356E2E92B}"/>
              </a:ext>
            </a:extLst>
          </p:cNvPr>
          <p:cNvSpPr>
            <a:spLocks noGrp="1"/>
          </p:cNvSpPr>
          <p:nvPr/>
        </p:nvSpPr>
        <p:spPr>
          <a:xfrm>
            <a:off x="5133975" y="172402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endParaRPr sz="90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6465F9-1782-40E5-ABC7-BB9B14483539}"/>
              </a:ext>
            </a:extLst>
          </p:cNvPr>
          <p:cNvSpPr>
            <a:spLocks noGrp="1"/>
          </p:cNvSpPr>
          <p:nvPr/>
        </p:nvSpPr>
        <p:spPr>
          <a:xfrm>
            <a:off x="666750" y="208597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6DB7845-4D02-4983-BA87-F3A942084CD2}"/>
              </a:ext>
            </a:extLst>
          </p:cNvPr>
          <p:cNvSpPr>
            <a:spLocks noGrp="1"/>
          </p:cNvSpPr>
          <p:nvPr/>
        </p:nvSpPr>
        <p:spPr>
          <a:xfrm>
            <a:off x="752475" y="215265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C09013-C610-4F12-8F7A-BB4A628B4BEC}"/>
              </a:ext>
            </a:extLst>
          </p:cNvPr>
          <p:cNvSpPr>
            <a:spLocks noGrp="1"/>
          </p:cNvSpPr>
          <p:nvPr/>
        </p:nvSpPr>
        <p:spPr>
          <a:xfrm>
            <a:off x="2047875" y="208597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F46BBAD-B930-4CA9-A54A-2FA140ECDB42}"/>
              </a:ext>
            </a:extLst>
          </p:cNvPr>
          <p:cNvSpPr>
            <a:spLocks noGrp="1"/>
          </p:cNvSpPr>
          <p:nvPr/>
        </p:nvSpPr>
        <p:spPr>
          <a:xfrm>
            <a:off x="2133600" y="215265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National Oceanic and Atmospheric Administration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EF99EE9-E0E6-4D3F-A082-FC203DDE4017}"/>
              </a:ext>
            </a:extLst>
          </p:cNvPr>
          <p:cNvSpPr>
            <a:spLocks noGrp="1"/>
          </p:cNvSpPr>
          <p:nvPr/>
        </p:nvSpPr>
        <p:spPr>
          <a:xfrm>
            <a:off x="5048250" y="208597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CA69A6B-C31A-429E-9A82-45E22E89458B}"/>
              </a:ext>
            </a:extLst>
          </p:cNvPr>
          <p:cNvSpPr>
            <a:spLocks noGrp="1"/>
          </p:cNvSpPr>
          <p:nvPr/>
        </p:nvSpPr>
        <p:spPr>
          <a:xfrm>
            <a:off x="5133975" y="215265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Main provider for OISST and OLR products.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9A44410-AFD2-482D-931D-2DEEFB425E07}"/>
              </a:ext>
            </a:extLst>
          </p:cNvPr>
          <p:cNvSpPr>
            <a:spLocks noGrp="1"/>
          </p:cNvSpPr>
          <p:nvPr/>
        </p:nvSpPr>
        <p:spPr>
          <a:xfrm>
            <a:off x="666750" y="251460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577D84-A145-4D77-B48A-61F0AEF7B491}"/>
              </a:ext>
            </a:extLst>
          </p:cNvPr>
          <p:cNvSpPr>
            <a:spLocks noGrp="1"/>
          </p:cNvSpPr>
          <p:nvPr/>
        </p:nvSpPr>
        <p:spPr>
          <a:xfrm>
            <a:off x="752475" y="258127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BA40289-E522-4BF9-B1E4-86EFBAFCFC50}"/>
              </a:ext>
            </a:extLst>
          </p:cNvPr>
          <p:cNvSpPr>
            <a:spLocks noGrp="1"/>
          </p:cNvSpPr>
          <p:nvPr/>
        </p:nvSpPr>
        <p:spPr>
          <a:xfrm>
            <a:off x="2047875" y="251460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F78B299-619C-4F45-BA2F-C868DEE96BA4}"/>
              </a:ext>
            </a:extLst>
          </p:cNvPr>
          <p:cNvSpPr>
            <a:spLocks noGrp="1"/>
          </p:cNvSpPr>
          <p:nvPr/>
        </p:nvSpPr>
        <p:spPr>
          <a:xfrm>
            <a:off x="2133600" y="258127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Reanalysis 1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EC403C3-D4FD-4F9B-B17A-272E26E0BCFB}"/>
              </a:ext>
            </a:extLst>
          </p:cNvPr>
          <p:cNvSpPr>
            <a:spLocks noGrp="1"/>
          </p:cNvSpPr>
          <p:nvPr/>
        </p:nvSpPr>
        <p:spPr>
          <a:xfrm>
            <a:off x="5048250" y="251460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FA03B57-8BB7-447D-8952-9F0283ED5D21}"/>
              </a:ext>
            </a:extLst>
          </p:cNvPr>
          <p:cNvSpPr>
            <a:spLocks noGrp="1"/>
          </p:cNvSpPr>
          <p:nvPr/>
        </p:nvSpPr>
        <p:spPr>
          <a:xfrm>
            <a:off x="5133975" y="258127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Current fallback dataset for low-level wind and sea-level pressure.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E98A975-2A94-499E-A865-4836B992C08D}"/>
              </a:ext>
            </a:extLst>
          </p:cNvPr>
          <p:cNvSpPr>
            <a:spLocks noGrp="1"/>
          </p:cNvSpPr>
          <p:nvPr/>
        </p:nvSpPr>
        <p:spPr>
          <a:xfrm>
            <a:off x="666750" y="294322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9D4A6D0-F488-45DB-B42D-7C54BC1952FA}"/>
              </a:ext>
            </a:extLst>
          </p:cNvPr>
          <p:cNvSpPr>
            <a:spLocks noGrp="1"/>
          </p:cNvSpPr>
          <p:nvPr/>
        </p:nvSpPr>
        <p:spPr>
          <a:xfrm>
            <a:off x="752475" y="300990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2BC975B-DF0E-4FF3-ADD5-CB316B55958A}"/>
              </a:ext>
            </a:extLst>
          </p:cNvPr>
          <p:cNvSpPr>
            <a:spLocks noGrp="1"/>
          </p:cNvSpPr>
          <p:nvPr/>
        </p:nvSpPr>
        <p:spPr>
          <a:xfrm>
            <a:off x="2047875" y="294322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C511F7D-E015-458B-B344-C76503D6C14D}"/>
              </a:ext>
            </a:extLst>
          </p:cNvPr>
          <p:cNvSpPr>
            <a:spLocks noGrp="1"/>
          </p:cNvSpPr>
          <p:nvPr/>
        </p:nvSpPr>
        <p:spPr>
          <a:xfrm>
            <a:off x="2133600" y="300990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ECMWF Reanalysis version 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9A07423-D8B4-42A5-B52C-1FD976AB5863}"/>
              </a:ext>
            </a:extLst>
          </p:cNvPr>
          <p:cNvSpPr>
            <a:spLocks noGrp="1"/>
          </p:cNvSpPr>
          <p:nvPr/>
        </p:nvSpPr>
        <p:spPr>
          <a:xfrm>
            <a:off x="5048250" y="294322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800D69A-8F52-4158-A401-94EF88BBFBDD}"/>
              </a:ext>
            </a:extLst>
          </p:cNvPr>
          <p:cNvSpPr>
            <a:spLocks noGrp="1"/>
          </p:cNvSpPr>
          <p:nvPr/>
        </p:nvSpPr>
        <p:spPr>
          <a:xfrm>
            <a:off x="5133975" y="300990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manuscript-grade dataset for u850, SLP, and Walker circulation.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485C46A-90C4-4C0E-8630-6ECA9781146B}"/>
              </a:ext>
            </a:extLst>
          </p:cNvPr>
          <p:cNvSpPr>
            <a:spLocks noGrp="1"/>
          </p:cNvSpPr>
          <p:nvPr/>
        </p:nvSpPr>
        <p:spPr>
          <a:xfrm>
            <a:off x="666750" y="337185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B425B29-658C-431C-8E28-15348097D520}"/>
              </a:ext>
            </a:extLst>
          </p:cNvPr>
          <p:cNvSpPr>
            <a:spLocks noGrp="1"/>
          </p:cNvSpPr>
          <p:nvPr/>
        </p:nvSpPr>
        <p:spPr>
          <a:xfrm>
            <a:off x="752475" y="343852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B48DB72-9A62-41CA-A735-D89CB23741A9}"/>
              </a:ext>
            </a:extLst>
          </p:cNvPr>
          <p:cNvSpPr>
            <a:spLocks noGrp="1"/>
          </p:cNvSpPr>
          <p:nvPr/>
        </p:nvSpPr>
        <p:spPr>
          <a:xfrm>
            <a:off x="2047875" y="337185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BA67C0B-82B2-43A0-A102-F4756D0ED1AF}"/>
              </a:ext>
            </a:extLst>
          </p:cNvPr>
          <p:cNvSpPr>
            <a:spLocks noGrp="1"/>
          </p:cNvSpPr>
          <p:nvPr/>
        </p:nvSpPr>
        <p:spPr>
          <a:xfrm>
            <a:off x="2133600" y="343852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Extended Reconstructed Sea Surface Temperature version 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24D7B37-44E4-4F2F-B7DB-41BD85E865CC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201C25D-43B4-4B73-A268-5DA7B8F54F5F}"/>
              </a:ext>
            </a:extLst>
          </p:cNvPr>
          <p:cNvSpPr>
            <a:spLocks noGrp="1"/>
          </p:cNvSpPr>
          <p:nvPr/>
        </p:nvSpPr>
        <p:spPr>
          <a:xfrm>
            <a:off x="5133975" y="343852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Long-record SST check for historical robustness.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65FB21D-36DB-4BFF-A4B4-06EE5CA401A0}"/>
              </a:ext>
            </a:extLst>
          </p:cNvPr>
          <p:cNvSpPr>
            <a:spLocks noGrp="1"/>
          </p:cNvSpPr>
          <p:nvPr/>
        </p:nvSpPr>
        <p:spPr>
          <a:xfrm>
            <a:off x="666750" y="380047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1FFFF6F-7DE2-4439-BCA4-E05F25C83621}"/>
              </a:ext>
            </a:extLst>
          </p:cNvPr>
          <p:cNvSpPr>
            <a:spLocks noGrp="1"/>
          </p:cNvSpPr>
          <p:nvPr/>
        </p:nvSpPr>
        <p:spPr>
          <a:xfrm>
            <a:off x="752475" y="386715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7CED95F-87EF-48CC-BACA-294CEF58382A}"/>
              </a:ext>
            </a:extLst>
          </p:cNvPr>
          <p:cNvSpPr>
            <a:spLocks noGrp="1"/>
          </p:cNvSpPr>
          <p:nvPr/>
        </p:nvSpPr>
        <p:spPr>
          <a:xfrm>
            <a:off x="2047875" y="380047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E94855A-EB30-4818-BC25-64F2169AE160}"/>
              </a:ext>
            </a:extLst>
          </p:cNvPr>
          <p:cNvSpPr>
            <a:spLocks noGrp="1"/>
          </p:cNvSpPr>
          <p:nvPr/>
        </p:nvSpPr>
        <p:spPr>
          <a:xfrm>
            <a:off x="2133600" y="386715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Atmospheric General Circulation Model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BE84858-FA62-4131-9CD4-1C3E94669712}"/>
              </a:ext>
            </a:extLst>
          </p:cNvPr>
          <p:cNvSpPr>
            <a:spLocks noGrp="1"/>
          </p:cNvSpPr>
          <p:nvPr/>
        </p:nvSpPr>
        <p:spPr>
          <a:xfrm>
            <a:off x="5048250" y="380047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97B5B96-AF8D-43D3-BD75-062A9B9EB70A}"/>
              </a:ext>
            </a:extLst>
          </p:cNvPr>
          <p:cNvSpPr>
            <a:spLocks noGrp="1"/>
          </p:cNvSpPr>
          <p:nvPr/>
        </p:nvSpPr>
        <p:spPr>
          <a:xfrm>
            <a:off x="5133975" y="386715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Atmospheric model forced by prescribed SST boundary conditions.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09784CD-B7B2-4B63-8E93-AE088A2B98FD}"/>
              </a:ext>
            </a:extLst>
          </p:cNvPr>
          <p:cNvSpPr>
            <a:spLocks noGrp="1"/>
          </p:cNvSpPr>
          <p:nvPr/>
        </p:nvSpPr>
        <p:spPr>
          <a:xfrm>
            <a:off x="666750" y="422910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5236266-8BFD-441F-82EB-C29E9A730C5F}"/>
              </a:ext>
            </a:extLst>
          </p:cNvPr>
          <p:cNvSpPr>
            <a:spLocks noGrp="1"/>
          </p:cNvSpPr>
          <p:nvPr/>
        </p:nvSpPr>
        <p:spPr>
          <a:xfrm>
            <a:off x="752475" y="429577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ENSO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0BD12F7-F737-4EBA-BF49-C8CC97856713}"/>
              </a:ext>
            </a:extLst>
          </p:cNvPr>
          <p:cNvSpPr>
            <a:spLocks noGrp="1"/>
          </p:cNvSpPr>
          <p:nvPr/>
        </p:nvSpPr>
        <p:spPr>
          <a:xfrm>
            <a:off x="2047875" y="422910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58C88DB-D8AD-41BB-958E-4F8021D714F7}"/>
              </a:ext>
            </a:extLst>
          </p:cNvPr>
          <p:cNvSpPr>
            <a:spLocks noGrp="1"/>
          </p:cNvSpPr>
          <p:nvPr/>
        </p:nvSpPr>
        <p:spPr>
          <a:xfrm>
            <a:off x="2133600" y="429577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El Niño-Southern Oscillation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A335BD8-B21D-493A-8D79-542C373A2835}"/>
              </a:ext>
            </a:extLst>
          </p:cNvPr>
          <p:cNvSpPr>
            <a:spLocks noGrp="1"/>
          </p:cNvSpPr>
          <p:nvPr/>
        </p:nvSpPr>
        <p:spPr>
          <a:xfrm>
            <a:off x="5048250" y="422910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79BB042-3CAC-4B29-B5D4-88E587A45B68}"/>
              </a:ext>
            </a:extLst>
          </p:cNvPr>
          <p:cNvSpPr>
            <a:spLocks noGrp="1"/>
          </p:cNvSpPr>
          <p:nvPr/>
        </p:nvSpPr>
        <p:spPr>
          <a:xfrm>
            <a:off x="5133975" y="429577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coupled tropical Pacific system containing El Niño and La Niña.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E9CD78A-32B7-4AFC-AAF1-3194C9B76370}"/>
              </a:ext>
            </a:extLst>
          </p:cNvPr>
          <p:cNvSpPr>
            <a:spLocks noGrp="1"/>
          </p:cNvSpPr>
          <p:nvPr/>
        </p:nvSpPr>
        <p:spPr>
          <a:xfrm>
            <a:off x="666750" y="465772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0C4C33C-1EFE-4551-8C87-C195DC1202A8}"/>
              </a:ext>
            </a:extLst>
          </p:cNvPr>
          <p:cNvSpPr>
            <a:spLocks noGrp="1"/>
          </p:cNvSpPr>
          <p:nvPr/>
        </p:nvSpPr>
        <p:spPr>
          <a:xfrm>
            <a:off x="752475" y="472440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CWP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2FEDB24-A02F-4836-9BB1-7422BDFB5098}"/>
              </a:ext>
            </a:extLst>
          </p:cNvPr>
          <p:cNvSpPr>
            <a:spLocks noGrp="1"/>
          </p:cNvSpPr>
          <p:nvPr/>
        </p:nvSpPr>
        <p:spPr>
          <a:xfrm>
            <a:off x="2047875" y="465772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6445985-7D6E-4B7D-B7CE-7A9F597E3C81}"/>
              </a:ext>
            </a:extLst>
          </p:cNvPr>
          <p:cNvSpPr>
            <a:spLocks noGrp="1"/>
          </p:cNvSpPr>
          <p:nvPr/>
        </p:nvSpPr>
        <p:spPr>
          <a:xfrm>
            <a:off x="2133600" y="472440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Central-western Pacific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968B66F-54C5-4A13-B962-250005267431}"/>
              </a:ext>
            </a:extLst>
          </p:cNvPr>
          <p:cNvSpPr>
            <a:spLocks noGrp="1"/>
          </p:cNvSpPr>
          <p:nvPr/>
        </p:nvSpPr>
        <p:spPr>
          <a:xfrm>
            <a:off x="5048250" y="465772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47E058A-6750-4C8B-9D29-7DC734E247CB}"/>
              </a:ext>
            </a:extLst>
          </p:cNvPr>
          <p:cNvSpPr>
            <a:spLocks noGrp="1"/>
          </p:cNvSpPr>
          <p:nvPr/>
        </p:nvSpPr>
        <p:spPr>
          <a:xfrm>
            <a:off x="5133975" y="472440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Key region for low-level wind response in this study.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FD37ED6-B224-4211-9046-845C7441C9F7}"/>
              </a:ext>
            </a:extLst>
          </p:cNvPr>
          <p:cNvSpPr>
            <a:spLocks noGrp="1"/>
          </p:cNvSpPr>
          <p:nvPr/>
        </p:nvSpPr>
        <p:spPr>
          <a:xfrm>
            <a:off x="666750" y="5086350"/>
            <a:ext cx="138112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7AA0F9D-DD88-4DAC-B847-924DD7B85977}"/>
              </a:ext>
            </a:extLst>
          </p:cNvPr>
          <p:cNvSpPr>
            <a:spLocks noGrp="1"/>
          </p:cNvSpPr>
          <p:nvPr/>
        </p:nvSpPr>
        <p:spPr>
          <a:xfrm>
            <a:off x="752475" y="5153025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MJO/RMM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A8381A5-CBE8-45A0-A1FE-35E126311FEE}"/>
              </a:ext>
            </a:extLst>
          </p:cNvPr>
          <p:cNvSpPr>
            <a:spLocks noGrp="1"/>
          </p:cNvSpPr>
          <p:nvPr/>
        </p:nvSpPr>
        <p:spPr>
          <a:xfrm>
            <a:off x="2047875" y="5086350"/>
            <a:ext cx="3000375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4F46098-2F2B-4039-B764-652911BCE46B}"/>
              </a:ext>
            </a:extLst>
          </p:cNvPr>
          <p:cNvSpPr>
            <a:spLocks noGrp="1"/>
          </p:cNvSpPr>
          <p:nvPr/>
        </p:nvSpPr>
        <p:spPr>
          <a:xfrm>
            <a:off x="2133600" y="5153025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Madden-Julian Oscillation / Real-time Multivariate MJO index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B5B868E-144A-4543-9C36-9113D5FCC4FF}"/>
              </a:ext>
            </a:extLst>
          </p:cNvPr>
          <p:cNvSpPr>
            <a:spLocks noGrp="1"/>
          </p:cNvSpPr>
          <p:nvPr/>
        </p:nvSpPr>
        <p:spPr>
          <a:xfrm>
            <a:off x="5048250" y="5086350"/>
            <a:ext cx="5981700" cy="428625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C56D005-C2E5-4743-9387-164503F650BF}"/>
              </a:ext>
            </a:extLst>
          </p:cNvPr>
          <p:cNvSpPr>
            <a:spLocks noGrp="1"/>
          </p:cNvSpPr>
          <p:nvPr/>
        </p:nvSpPr>
        <p:spPr>
          <a:xfrm>
            <a:off x="5133975" y="5153025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Used later to separate intraseasonal variability from ENSO background.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8BD87E2-A2D2-476F-8542-CE3AA134D84D}"/>
              </a:ext>
            </a:extLst>
          </p:cNvPr>
          <p:cNvSpPr>
            <a:spLocks noGrp="1"/>
          </p:cNvSpPr>
          <p:nvPr/>
        </p:nvSpPr>
        <p:spPr>
          <a:xfrm>
            <a:off x="666750" y="5514975"/>
            <a:ext cx="138112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9DEAB42-B307-408D-933D-52F11BC08729}"/>
              </a:ext>
            </a:extLst>
          </p:cNvPr>
          <p:cNvSpPr>
            <a:spLocks noGrp="1"/>
          </p:cNvSpPr>
          <p:nvPr/>
        </p:nvSpPr>
        <p:spPr>
          <a:xfrm>
            <a:off x="752475" y="5581650"/>
            <a:ext cx="120967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CTRL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E225759-EB8C-4B3F-8590-9899114EDA1D}"/>
              </a:ext>
            </a:extLst>
          </p:cNvPr>
          <p:cNvSpPr>
            <a:spLocks noGrp="1"/>
          </p:cNvSpPr>
          <p:nvPr/>
        </p:nvSpPr>
        <p:spPr>
          <a:xfrm>
            <a:off x="2047875" y="5514975"/>
            <a:ext cx="3000375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A35E921-1FF8-43F4-9AA5-F58C898F5FC2}"/>
              </a:ext>
            </a:extLst>
          </p:cNvPr>
          <p:cNvSpPr>
            <a:spLocks noGrp="1"/>
          </p:cNvSpPr>
          <p:nvPr/>
        </p:nvSpPr>
        <p:spPr>
          <a:xfrm>
            <a:off x="2133600" y="5581650"/>
            <a:ext cx="2828925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Control experiment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540F3C6E-2051-4337-889E-7DBFA8EDEC08}"/>
              </a:ext>
            </a:extLst>
          </p:cNvPr>
          <p:cNvSpPr>
            <a:spLocks noGrp="1"/>
          </p:cNvSpPr>
          <p:nvPr/>
        </p:nvSpPr>
        <p:spPr>
          <a:xfrm>
            <a:off x="5048250" y="5514975"/>
            <a:ext cx="5981700" cy="428625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B6948512-4029-41D8-BE67-C70929EE27AE}"/>
              </a:ext>
            </a:extLst>
          </p:cNvPr>
          <p:cNvSpPr>
            <a:spLocks noGrp="1"/>
          </p:cNvSpPr>
          <p:nvPr/>
        </p:nvSpPr>
        <p:spPr>
          <a:xfrm>
            <a:off x="5133975" y="5581650"/>
            <a:ext cx="5810250" cy="333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3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Baseline model experiment for comparison with sensitivity experiments.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1055B62-26DC-4696-96F2-19BEBE5FAA82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Acronyms checked against all detailed slide text.</a:t>
            </a:r>
          </a:p>
        </p:txBody>
      </p:sp>
    </p:spTree>
    <p:extLst>
      <p:ext uri="{BB962C8B-B14F-4D97-AF65-F5344CB8AC3E}">
        <p14:creationId xmlns:p14="http://schemas.microsoft.com/office/powerpoint/2010/main" val="328495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E4677D2-F622-48D5-A8D7-DDB0069CAC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D9A1603-B3F8-4AC1-B780-D53E88672938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SST, sea-level pressure / 10-m wind, and Niño-3 versus atmospheric-response scatterplots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67451D-7C04-4BCC-9B36-FAA373F6ED3C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5002" y="1733550"/>
            <a:ext cx="4187996" cy="34861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44970F2-1541-4271-9DEC-031064F512EC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BC269D-1033-4997-AA18-2376D8291F76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7214BE0-EF25-43FB-8592-CFE8A1468728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1 source data. The top panels show SST, sea-level pressure, and 10-m wind anomalies; the bottom panels relate Niño-3 SST to u10 and SOI.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60D362-DB42-4B49-8E86-EC8763CCD767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DF0A626-EA79-40F0-A370-E8D3C157C3D2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1466C88-A80F-4AF3-B87B-597F6B874744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2023/24 Niño-3 SST was strong, but near-surface wind and pressure responses were weak relative to historical relationships.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E6DAD36-34ED-45FD-A19D-326470721B74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file Fig1.png; table fig1_event_coupling.csv.</a:t>
            </a:r>
          </a:p>
        </p:txBody>
      </p:sp>
    </p:spTree>
    <p:extLst>
      <p:ext uri="{BB962C8B-B14F-4D97-AF65-F5344CB8AC3E}">
        <p14:creationId xmlns:p14="http://schemas.microsoft.com/office/powerpoint/2010/main" val="659757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E15508E-E621-4C82-9FD8-4DFAFA2AB1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4C6C9A-E735-4B25-A81A-A85D2669405A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 dirty="0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u10 and SOI response ratios relative to historical strong El Niño behavior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ABE409-08EE-4228-B8A5-AFFDD8DC033E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61112"/>
            <a:ext cx="5715000" cy="2431027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CC482E9-D313-4019-84C5-90EC1C2D2452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E47B371-84B8-4736-B6EF-AF001CEE6812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6FF236E-036A-4E85-A6A8-B13238694BEB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is SST strength, u10 is 10-m zonal wind, and SOI is the Southern Oscillation Index.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A76E87-2E5A-47C5-AED0-0B6060EDDF9D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D84145-9CE7-492C-B786-1A9CBFB1C67B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0CB3F8-3E33-4B2E-8BCD-7E672ECE39C8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2023 u10 response ratio is about 0.27 and the SOI response ratio is about 0.31, roughly one-third of the expected historical response.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08B26B-4119-4AF1-A468-F631F56B3755}"/>
              </a:ext>
            </a:extLst>
          </p:cNvPr>
          <p:cNvSpPr>
            <a:spLocks noGrp="1"/>
          </p:cNvSpPr>
          <p:nvPr/>
        </p:nvSpPr>
        <p:spPr>
          <a:xfrm>
            <a:off x="6610350" y="41529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B4791A-35FD-43B2-83A3-A956A77E8923}"/>
              </a:ext>
            </a:extLst>
          </p:cNvPr>
          <p:cNvSpPr>
            <a:spLocks noGrp="1"/>
          </p:cNvSpPr>
          <p:nvPr/>
        </p:nvSpPr>
        <p:spPr>
          <a:xfrm>
            <a:off x="6743700" y="45529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"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corresponds to Peng et al. Fig. 1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7C68E1-0E9A-4F8E-AE87-1BF700967776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Derived table: data/derived/peng2025_repro/tables/fig1_event_coupling.csv.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F30A3BC6-AAFA-461D-FFC8-5D1CC144373D}"/>
                  </a:ext>
                </a:extLst>
              </p:cNvPr>
              <p:cNvSpPr txBox="1"/>
              <p:nvPr/>
            </p:nvSpPr>
            <p:spPr>
              <a:xfrm>
                <a:off x="1741261" y="1575753"/>
                <a:ext cx="4192814" cy="574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𝐴𝑡𝑚𝑜𝑠𝑝h𝑒𝑟𝑖𝑐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𝑎𝑛𝑜𝑚𝑎𝑙𝑖𝑒𝑠</m:t>
                          </m:r>
                        </m:num>
                        <m:den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𝑠𝑒𝑎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𝑡𝑒𝑚𝑝𝑒𝑟𝑎𝑡𝑢𝑟𝑒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𝑎𝑛𝑜𝑚𝑎𝑙𝑦</m:t>
                          </m:r>
                        </m:den>
                      </m:f>
                    </m:oMath>
                  </m:oMathPara>
                </a14:m>
                <a:endParaRPr kumimoji="1" lang="zh-CN" altLang="en-US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F30A3BC6-AAFA-461D-FFC8-5D1CC1443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1261" y="1575753"/>
                <a:ext cx="4192814" cy="574516"/>
              </a:xfrm>
              <a:prstGeom prst="rect">
                <a:avLst/>
              </a:prstGeom>
              <a:blipFill>
                <a:blip r:embed="rId4"/>
                <a:stretch>
                  <a:fillRect l="-906" t="-6383" r="-1208" b="-191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5689DE49-C9D0-066D-4A35-EA4BCE53E8E2}"/>
              </a:ext>
            </a:extLst>
          </p:cNvPr>
          <p:cNvSpPr txBox="1"/>
          <p:nvPr/>
        </p:nvSpPr>
        <p:spPr>
          <a:xfrm>
            <a:off x="2458616" y="2785583"/>
            <a:ext cx="4285084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kumimoji="1" lang="en-US" altLang="zh-CN" dirty="0"/>
              <a:t>Anomalies = actual value – multi year average</a:t>
            </a:r>
          </a:p>
          <a:p>
            <a:r>
              <a:rPr kumimoji="1" lang="en-US" altLang="zh-CN" dirty="0"/>
              <a:t> climate state of the same season 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55741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1DCFB522-16DB-449A-8BF9-11A75C2D03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9417E1-4ADF-46C8-AA5E-040894274527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equatorial Pacific propagation, subsurface heat structure, and ocean-dynamical diagnostics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945321-F941-47B5-A468-5286F072B82B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953807" y="1733550"/>
            <a:ext cx="2950387" cy="34861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373198E6-A2DC-48DB-B852-086910AFAE43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1DB616A-F272-4917-807A-D92CA9CDA2D6}"/>
              </a:ext>
            </a:extLst>
          </p:cNvPr>
          <p:cNvSpPr>
            <a:spLocks noGrp="1"/>
          </p:cNvSpPr>
          <p:nvPr/>
        </p:nvSpPr>
        <p:spPr>
          <a:xfrm>
            <a:off x="6755275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20EFF2-7CE2-4838-B9D1-98D60ADDA465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Fig. 2 equatorial sections and longitude-time diagnostics showing SST, subsurface heat anomalies, propagation, and wind-stress-related signals.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7D2427-D93F-421B-A7F6-3416C4102AB3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9AA27D-AD9E-4040-8991-EAC11332ADE6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07B42B0-B3AE-4EDE-994C-6BD6C09D6287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strong 2023/24 warming was supported by ocean dynamics, not merely by a surface-temperature fluctuation.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97424-2973-4D7C-823F-699D31C09372}"/>
              </a:ext>
            </a:extLst>
          </p:cNvPr>
          <p:cNvSpPr>
            <a:spLocks noGrp="1"/>
          </p:cNvSpPr>
          <p:nvPr/>
        </p:nvSpPr>
        <p:spPr>
          <a:xfrm>
            <a:off x="6610350" y="41529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0E8FE9-6034-43E3-8766-F377034C8A43}"/>
              </a:ext>
            </a:extLst>
          </p:cNvPr>
          <p:cNvSpPr>
            <a:spLocks noGrp="1"/>
          </p:cNvSpPr>
          <p:nvPr/>
        </p:nvSpPr>
        <p:spPr>
          <a:xfrm>
            <a:off x="6743700" y="45529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</a:t>
            </a: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hy the atmosphere did not respond proportionally.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C11CB8-1294-405C-AB19-69881D273A0E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local Fig2.png; table fig2_equatorial_summary.csv.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237476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EBAF3560-46CD-4428-A1E6-33385715F0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971190-A049-4F47-B810-7FCD26C0A7BA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wind-stress response in Atmospheric General Circulation Model experiments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B4C6C5-5AD9-4269-8E09-AED345E27EF8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220684" y="1733550"/>
            <a:ext cx="4416631" cy="34861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B06076-664C-4872-A008-6F797A0CDF84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D6FC0D-6C0B-4423-8203-1B2BAA3F3198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AF1351A-695C-4C96-9A68-2E5B3F3CA27A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AGCM experiments separating global SST, Pacific SST, and Indian/Atlantic SST boundary conditions and comparing atmospheric wind-stress responses.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7F3D94-5B31-490E-806F-08CF0D1618AB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966B89-4BB8-4118-B138-750CFDDF00E2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AC59B-BE75-4216-8420-99072FEE53C3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Pacific warm SST should drive a canonical atmospheric response, but Indian and Atlantic background SST can offset or damp that response.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75159A-9BE0-4852-A7EA-F2E146055CB8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fig3_agcm_summary.csv.</a:t>
            </a:r>
          </a:p>
        </p:txBody>
      </p:sp>
    </p:spTree>
    <p:extLst>
      <p:ext uri="{BB962C8B-B14F-4D97-AF65-F5344CB8AC3E}">
        <p14:creationId xmlns:p14="http://schemas.microsoft.com/office/powerpoint/2010/main" val="102108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AC2847AC-37ED-4D18-94BF-BD9BD542AD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C5A300-89C2-4CAE-B2BA-68ABF0BC2AAD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wind-stress experiments and their effect on Niño-3 SST development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6365146-1DC6-47DC-B616-ADEEC9D5FDD1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14109" y="1733550"/>
            <a:ext cx="2629783" cy="34861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6B9481F7-369A-4097-B3A4-DC05E5676542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CE2105-27E8-4F9A-B576-CD3295CF63C7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828D63-845F-4C38-B4A0-78979E3974D3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Wind-stress experiments comparing Niño-3 SST evolution under different wind forcing settings. Key values include Dec Niño-3 CTRL=2.344 and Wind2023=0.681.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487160A-7B6C-42AB-8F1A-303682DD2CF2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62431B3-1DC3-4557-93AD-4224BD538260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66BAB6-EE1B-4E37-83E7-C2EBEB535964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The actual 2023 wind field did not force ocean warming as strongly as a canonical strong El Niño wind pattern would.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B1C256-0977-494A-8B52-F0D1114F45CC}"/>
              </a:ext>
            </a:extLst>
          </p:cNvPr>
          <p:cNvSpPr>
            <a:spLocks noGrp="1"/>
          </p:cNvSpPr>
          <p:nvPr/>
        </p:nvSpPr>
        <p:spPr>
          <a:xfrm>
            <a:off x="6610350" y="41529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AC8F26-E4A5-4777-A4B3-78B33087CA94}"/>
              </a:ext>
            </a:extLst>
          </p:cNvPr>
          <p:cNvSpPr>
            <a:spLocks noGrp="1"/>
          </p:cNvSpPr>
          <p:nvPr/>
        </p:nvSpPr>
        <p:spPr>
          <a:xfrm>
            <a:off x="6743700" y="45529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This supports the paper's weak-wind point.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C46938F-BB39-4C22-AD82-74B4863CEFCE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Peng et al. source archive; table fig4_wind_experiment_summary.csv.</a:t>
            </a:r>
          </a:p>
        </p:txBody>
      </p:sp>
    </p:spTree>
    <p:extLst>
      <p:ext uri="{BB962C8B-B14F-4D97-AF65-F5344CB8AC3E}">
        <p14:creationId xmlns:p14="http://schemas.microsoft.com/office/powerpoint/2010/main" val="832270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7BF8177-0FDD-4CDA-B534-BC3AB12A16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53273D-09A1-4D40-8352-21E4C6B014ED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Open gap: when did weak coupling appear, and was it linked to the external-basin background?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F1C533-2550-4374-924D-A715AF4B9D54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645472F-A7E0-456F-99B6-317751CBA80B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9906000" cy="1257300"/>
          </a:xfrm>
          <a:prstGeom prst="rect">
            <a:avLst/>
          </a:prstGeom>
          <a:solidFill>
            <a:srgbClr val="F5E5DF"/>
          </a:solidFill>
          <a:ln w="9525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AE84AC4-0CF1-4E3D-835D-AA125EEE9FA4}"/>
              </a:ext>
            </a:extLst>
          </p:cNvPr>
          <p:cNvSpPr>
            <a:spLocks noGrp="1"/>
          </p:cNvSpPr>
          <p:nvPr/>
        </p:nvSpPr>
        <p:spPr>
          <a:xfrm>
            <a:off x="933450" y="1924050"/>
            <a:ext cx="94869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575" b="1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Whether weak coupling emerged during development, maturity, or throughout the event.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3DA8213-73DD-4DB5-BA91-590F2EDAEDBA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6E6B81-E56E-40A9-BD5D-AF9095FCB738}"/>
              </a:ext>
            </a:extLst>
          </p:cNvPr>
          <p:cNvSpPr>
            <a:spLocks noGrp="1"/>
          </p:cNvSpPr>
          <p:nvPr/>
        </p:nvSpPr>
        <p:spPr>
          <a:xfrm>
            <a:off x="1066800" y="33337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focuses mainly on event generation and ocean dynamics; seasonal wind-pressure-rainfall-convection asynchrony remains less systematically developed.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516D6CD6-8AEE-4CD5-85CE-5F64C80D5352}"/>
              </a:ext>
            </a:extLst>
          </p:cNvPr>
          <p:cNvSpPr>
            <a:spLocks noGrp="1"/>
          </p:cNvSpPr>
          <p:nvPr/>
        </p:nvSpPr>
        <p:spPr>
          <a:xfrm>
            <a:off x="876300" y="408622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9CA602D-36CC-4E68-91E5-B90D3DDEB9EA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sz="135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What I have done is that </a:t>
            </a:r>
            <a:r>
              <a:rPr sz="135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separat</a:t>
            </a:r>
            <a:r>
              <a:rPr lang="en-US" sz="135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ing</a:t>
            </a:r>
            <a:r>
              <a:rPr sz="1350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 SST, low-level wind, sea-level pressure, rainfall, OLR, and Walker circulation across AMJ/JJA/SON/DJF.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3FF9C25-E2F6-4DE1-802A-ABDA0DD5F723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C25FBF7-44BD-4970-8D54-4F85350CF8CB}"/>
              </a:ext>
            </a:extLst>
          </p:cNvPr>
          <p:cNvSpPr>
            <a:spLocks noGrp="1"/>
          </p:cNvSpPr>
          <p:nvPr/>
        </p:nvSpPr>
        <p:spPr>
          <a:xfrm>
            <a:off x="1066800" y="46672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That turns a broad weak-response statement into a testable seasonal coupling-efficiency problem.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DB31F87-8AB0-41E0-A7D1-FADD8DF70F1F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Research transition based on L1 and local seasonal diagnostics.</a:t>
            </a:r>
          </a:p>
        </p:txBody>
      </p:sp>
    </p:spTree>
    <p:extLst>
      <p:ext uri="{BB962C8B-B14F-4D97-AF65-F5344CB8AC3E}">
        <p14:creationId xmlns:p14="http://schemas.microsoft.com/office/powerpoint/2010/main" val="1147854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52A6B95-E56F-431F-8C21-FC3EE7DD25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B38644-3803-4D79-900F-83240842998A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OISST, GPCP, and NCEP/NCAR recalculations of paper-related metrics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930B358-02A7-4847-B35B-E6F71F42D287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6410" y="1733550"/>
            <a:ext cx="5345181" cy="348615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21D865C-790B-40DA-A0C3-CD6AB621709A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A5D0C0C-E5B3-47AE-B132-55BB26725D0D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3AE970-1D1E-42CA-A70D-0633FAA0E55E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is NOAA SST, GPCP is global precipitation, and NCEP/NCAR R1 is reanalysis wind and pressure. The chart summarizes agreement with reproduced indices.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D90B91-FDD9-436B-A5B4-AE8C01725BCA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66A733-D784-4B88-A9E1-231E6F50498C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58301DE-BBEB-4119-B523-345428B02DE1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 correlates 0.9999 with the reproduced Fig. 1 index; NCEP wind and SOI-like pressure proxies are also highly consistent.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9DF17DC-2C84-4DA1-A87C-EA8E58704132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oisst_vs_fig1_nino3.csv; gpcp_vs_fig2_precip.csv; ncep_vs_fig1_atmosphere.csv.</a:t>
            </a:r>
          </a:p>
        </p:txBody>
      </p:sp>
    </p:spTree>
    <p:extLst>
      <p:ext uri="{BB962C8B-B14F-4D97-AF65-F5344CB8AC3E}">
        <p14:creationId xmlns:p14="http://schemas.microsoft.com/office/powerpoint/2010/main" val="1093537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A149A6C-196E-45CB-8DD8-B4427E0B3C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971E32-E5CB-47F3-A4A0-1FB2E264BE42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seasonal coupling-efficiency matrix for AMJ/JJA/SON/DJF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B9DACC-1041-4CAC-BD7E-D86147D7F6E5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405063"/>
            <a:ext cx="5715000" cy="214312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AB4811D-BAEF-46C1-B413-38F2B1780A03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53BE43-9E25-4931-AE57-30FBB348737E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7F461DF-E037-4719-B4A1-CD91EC4F9C02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 Niño-3, NCEP central-west Pacific low-level wind, SOI-like SLP gradient, and GPCP rainfall compared with the 1982/83, 1997/98, and 2015/16 strong-event composite.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10FA96E-FA1F-4A75-91CE-34AC16027192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AEC2003-2248-4C52-9F4E-F2538DBCAA7F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7266E2B-5C8D-45A5-91C0-293C599A5E53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2023 SST was already historically strong, but wind-pressure-rainfall response efficiency was low. AMJ CWP wind ratio is about -0.43, and JJA is about -0.14.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DE442C8-FDAC-48FE-9DF3-774A2C6F80BC}"/>
              </a:ext>
            </a:extLst>
          </p:cNvPr>
          <p:cNvSpPr>
            <a:spLocks noGrp="1"/>
          </p:cNvSpPr>
          <p:nvPr/>
        </p:nvSpPr>
        <p:spPr>
          <a:xfrm>
            <a:off x="6610350" y="41529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4D3A37-86CC-4416-BADA-95CD03F1E4C7}"/>
              </a:ext>
            </a:extLst>
          </p:cNvPr>
          <p:cNvSpPr>
            <a:spLocks noGrp="1"/>
          </p:cNvSpPr>
          <p:nvPr/>
        </p:nvSpPr>
        <p:spPr>
          <a:xfrm>
            <a:off x="6743700" y="45529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sz="1088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I</a:t>
            </a: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dentifying which variables desynchronize first.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13CF9C6-A624-4DE4-A6D7-3767EC4396E1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seasonal_asynchrony_matrix.csv.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950DADE-C663-E5A6-4109-D9627CACDB58}"/>
                  </a:ext>
                </a:extLst>
              </p:cNvPr>
              <p:cNvSpPr txBox="1"/>
              <p:nvPr/>
            </p:nvSpPr>
            <p:spPr>
              <a:xfrm>
                <a:off x="1741261" y="1575753"/>
                <a:ext cx="4192814" cy="574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𝐴𝑡𝑚𝑜𝑠𝑝h𝑒𝑟𝑖𝑐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𝑎𝑛𝑜𝑚𝑎𝑙𝑖𝑒𝑠</m:t>
                          </m:r>
                        </m:num>
                        <m:den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𝑠𝑒𝑎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𝑠𝑢𝑟𝑓𝑎𝑐𝑒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𝑡𝑒𝑚𝑝𝑒𝑟𝑎𝑡𝑢𝑟𝑒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kumimoji="1" lang="en-US" altLang="zh-CN" i="1">
                              <a:latin typeface="Cambria Math" panose="02040503050406030204" pitchFamily="18" charset="0"/>
                            </a:rPr>
                            <m:t>𝑎𝑛𝑜𝑚𝑎𝑙𝑦</m:t>
                          </m:r>
                        </m:den>
                      </m:f>
                    </m:oMath>
                  </m:oMathPara>
                </a14:m>
                <a:endParaRPr kumimoji="1" lang="zh-CN" altLang="en-US" dirty="0"/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C950DADE-C663-E5A6-4109-D9627CACD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1261" y="1575753"/>
                <a:ext cx="4192814" cy="574516"/>
              </a:xfrm>
              <a:prstGeom prst="rect">
                <a:avLst/>
              </a:prstGeom>
              <a:blipFill>
                <a:blip r:embed="rId4"/>
                <a:stretch>
                  <a:fillRect l="-906" t="-6383" r="-1208" b="-191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303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2454899-58C9-4E60-9503-08893FF134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FCBE65-4105-48B3-8908-5D8BB82177CC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AMJ/JJA SST and GPCP rainfall spatial anomalies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051BDA-2EF0-48BC-A11E-2DCC41EE1FFD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954203"/>
            <a:ext cx="5715000" cy="304484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2F40ED2-3A7A-49F3-8257-A9670FB50346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52976B-29DC-4BC3-8D6C-259111B45FBD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ED2327B-847D-4828-80DA-6E97F4155CAF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Top panels: OISST sea-surface temperature. Bottom panels: GPCP precipitation. Each map is 2023 AMJ/JJA minus the historical strong-El Niño composite.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8C5DC4F-7FD9-4B38-92AF-026F7B212930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49140A3-FABB-4E20-AFEF-83DA68D959F2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D3D24C-5E7E-4C76-A029-8ECCB400C8A6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Spring-summer 2023 warming extended beyond the eastern Pacific into TNA, the Maritime Continent, and the western Pacific warm pool, while central/eastern Pacific rainfall did not strengthen.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93AC5BA-5084-45A0-9AAE-BF8E27806A35}"/>
              </a:ext>
            </a:extLst>
          </p:cNvPr>
          <p:cNvSpPr>
            <a:spLocks noGrp="1"/>
          </p:cNvSpPr>
          <p:nvPr/>
        </p:nvSpPr>
        <p:spPr>
          <a:xfrm>
            <a:off x="6743700" y="42672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endParaRPr sz="1050" b="1" dirty="0">
              <a:solidFill>
                <a:srgbClr val="2F6F7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FDE4B18-1348-480C-8A52-86AFD0171822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NOAA OISST v2.1 and GPCP; summary table stage_a_spatial_summary.csv.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530487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CDA17D8-C45C-4668-8E09-C3746DA413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285645-EB52-4A17-8135-1E5097907074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AMJ/JJA near-surface wind and sea-level-pressure spatial anomalies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9D7AFB-AC79-4234-B4F3-65F050E7FDE9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882418"/>
            <a:ext cx="5715000" cy="318841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72D26E6-F068-41AD-96E3-1F3C5B5AEC4E}"/>
              </a:ext>
            </a:extLst>
          </p:cNvPr>
          <p:cNvSpPr>
            <a:spLocks noGrp="1"/>
          </p:cNvSpPr>
          <p:nvPr/>
        </p:nvSpPr>
        <p:spPr>
          <a:xfrm>
            <a:off x="6610350" y="16002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3FF537D-FABD-4081-811A-9465205A3F0F}"/>
              </a:ext>
            </a:extLst>
          </p:cNvPr>
          <p:cNvSpPr>
            <a:spLocks noGrp="1"/>
          </p:cNvSpPr>
          <p:nvPr/>
        </p:nvSpPr>
        <p:spPr>
          <a:xfrm>
            <a:off x="6743700" y="171450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BB267B0-6693-4E84-BA55-582EF6748135}"/>
              </a:ext>
            </a:extLst>
          </p:cNvPr>
          <p:cNvSpPr>
            <a:spLocks noGrp="1"/>
          </p:cNvSpPr>
          <p:nvPr/>
        </p:nvSpPr>
        <p:spPr>
          <a:xfrm>
            <a:off x="6743700" y="20002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 near-surface sigma995 wind and sea-level pressure, calculated as 2023 AMJ/JJA minus the historical strong-event composite.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92507-F091-4C93-83B2-03F571C55D8B}"/>
              </a:ext>
            </a:extLst>
          </p:cNvPr>
          <p:cNvSpPr>
            <a:spLocks noGrp="1"/>
          </p:cNvSpPr>
          <p:nvPr/>
        </p:nvSpPr>
        <p:spPr>
          <a:xfrm>
            <a:off x="6610350" y="2876550"/>
            <a:ext cx="4305300" cy="11239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24213A-36BC-4279-B26A-2A30D382348A}"/>
              </a:ext>
            </a:extLst>
          </p:cNvPr>
          <p:cNvSpPr>
            <a:spLocks noGrp="1"/>
          </p:cNvSpPr>
          <p:nvPr/>
        </p:nvSpPr>
        <p:spPr>
          <a:xfrm>
            <a:off x="6743700" y="2990850"/>
            <a:ext cx="4038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5F46A2-B69C-45EF-91F9-BFB77769775A}"/>
              </a:ext>
            </a:extLst>
          </p:cNvPr>
          <p:cNvSpPr>
            <a:spLocks noGrp="1"/>
          </p:cNvSpPr>
          <p:nvPr/>
        </p:nvSpPr>
        <p:spPr>
          <a:xfrm>
            <a:off x="6743700" y="327660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 Pacific low-level wind is weaker than in historical strong events, and the pressure-gradient pattern is not a canonical strong-El Niño Walker response.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0320F3E-7288-4A12-90B9-038C979F1BD8}"/>
              </a:ext>
            </a:extLst>
          </p:cNvPr>
          <p:cNvSpPr>
            <a:spLocks noGrp="1"/>
          </p:cNvSpPr>
          <p:nvPr/>
        </p:nvSpPr>
        <p:spPr>
          <a:xfrm>
            <a:off x="6610350" y="4152900"/>
            <a:ext cx="4305300" cy="11239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400E7A9-7B72-4634-9708-0AFB6A09DAB7}"/>
              </a:ext>
            </a:extLst>
          </p:cNvPr>
          <p:cNvSpPr>
            <a:spLocks noGrp="1"/>
          </p:cNvSpPr>
          <p:nvPr/>
        </p:nvSpPr>
        <p:spPr>
          <a:xfrm>
            <a:off x="6743700" y="4400550"/>
            <a:ext cx="40386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M</a:t>
            </a:r>
            <a:r>
              <a:rPr sz="1088" b="0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aking it seasonal and spatial, showing that AMJ/JJA already contains atmospheric asynchrony.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135E7C-8595-4737-B451-F8BC8D8BA2E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Data: NCEP/NCAR R1 fallback; final manuscript stage should verify with ERA5.</a:t>
            </a:r>
          </a:p>
        </p:txBody>
      </p:sp>
    </p:spTree>
    <p:extLst>
      <p:ext uri="{BB962C8B-B14F-4D97-AF65-F5344CB8AC3E}">
        <p14:creationId xmlns:p14="http://schemas.microsoft.com/office/powerpoint/2010/main" val="46751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110C1FA-A984-4D74-A274-34F44FE8FC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AC0CECA-0B43-4E4D-B337-C0E790433BAE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shown: external-basin warm anomalies and seasonal coupling efficiency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66A079B-1F07-46BF-8B6A-3F467254EE41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199193"/>
            <a:ext cx="3333750" cy="1773813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095750" y="2389256"/>
            <a:ext cx="3333750" cy="139368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ABA02C8A-6767-4E1E-BAC4-78C9A4A20D04}"/>
              </a:ext>
            </a:extLst>
          </p:cNvPr>
          <p:cNvSpPr>
            <a:spLocks noGrp="1"/>
          </p:cNvSpPr>
          <p:nvPr/>
        </p:nvSpPr>
        <p:spPr>
          <a:xfrm>
            <a:off x="7753350" y="1619250"/>
            <a:ext cx="3638550" cy="12001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4EB56B0-D759-43BB-B76C-23466BAB575F}"/>
              </a:ext>
            </a:extLst>
          </p:cNvPr>
          <p:cNvSpPr>
            <a:spLocks noGrp="1"/>
          </p:cNvSpPr>
          <p:nvPr/>
        </p:nvSpPr>
        <p:spPr>
          <a:xfrm>
            <a:off x="7886700" y="1733550"/>
            <a:ext cx="3371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 dirty="0">
                <a:solidFill>
                  <a:srgbClr val="2F6F7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A1628D-61B4-4FD7-AD08-D2BE1005F96A}"/>
              </a:ext>
            </a:extLst>
          </p:cNvPr>
          <p:cNvSpPr>
            <a:spLocks noGrp="1"/>
          </p:cNvSpPr>
          <p:nvPr/>
        </p:nvSpPr>
        <p:spPr>
          <a:xfrm>
            <a:off x="7886700" y="2019300"/>
            <a:ext cx="33718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Left: OISST indices for TNA, western Pacific warm pool, Maritime Continent, and Tropical Indian Ocean. Right: seasonal coupling-efficiency diagnostics.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F98FE1-198E-4BAC-B4DD-482AADA51AF4}"/>
              </a:ext>
            </a:extLst>
          </p:cNvPr>
          <p:cNvSpPr>
            <a:spLocks noGrp="1"/>
          </p:cNvSpPr>
          <p:nvPr/>
        </p:nvSpPr>
        <p:spPr>
          <a:xfrm>
            <a:off x="7753350" y="2971800"/>
            <a:ext cx="3638550" cy="12001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DB9A7F-9ECF-43B3-93CF-9A21936BC6A2}"/>
              </a:ext>
            </a:extLst>
          </p:cNvPr>
          <p:cNvSpPr>
            <a:spLocks noGrp="1"/>
          </p:cNvSpPr>
          <p:nvPr/>
        </p:nvSpPr>
        <p:spPr>
          <a:xfrm>
            <a:off x="7886700" y="3086100"/>
            <a:ext cx="3371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What it shows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1935A72-C66B-4859-84A8-0A361BE7DBCC}"/>
              </a:ext>
            </a:extLst>
          </p:cNvPr>
          <p:cNvSpPr>
            <a:spLocks noGrp="1"/>
          </p:cNvSpPr>
          <p:nvPr/>
        </p:nvSpPr>
        <p:spPr>
          <a:xfrm>
            <a:off x="7886700" y="3371850"/>
            <a:ext cx="33718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Unusual external-basin warmth and low Pacific atmospheric coupling efficiency occur together in spring-summer 2023.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3F59477-0EF3-4BAE-9AF9-DBAA08287978}"/>
              </a:ext>
            </a:extLst>
          </p:cNvPr>
          <p:cNvSpPr>
            <a:spLocks noGrp="1"/>
          </p:cNvSpPr>
          <p:nvPr/>
        </p:nvSpPr>
        <p:spPr>
          <a:xfrm>
            <a:off x="7753350" y="4324350"/>
            <a:ext cx="3638550" cy="1200150"/>
          </a:xfrm>
          <a:prstGeom prst="rect">
            <a:avLst/>
          </a:prstGeom>
          <a:solidFill>
            <a:srgbClr val="F5E5D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0316A85-9A47-4F4E-BB13-C29D41304E4A}"/>
              </a:ext>
            </a:extLst>
          </p:cNvPr>
          <p:cNvSpPr>
            <a:spLocks noGrp="1"/>
          </p:cNvSpPr>
          <p:nvPr/>
        </p:nvSpPr>
        <p:spPr>
          <a:xfrm>
            <a:off x="7886700" y="4724400"/>
            <a:ext cx="33718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suggests external basins may damp Pacific response. The new step is observationally confirming that these warm anomalies were present during the coupling-loss season.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DBC42E-8A3D-4120-848B-0E4C4EE0429D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external_basin_seasonal_summary.csv; asynchronous_coupling_efficiency.csv.</a:t>
            </a:r>
          </a:p>
        </p:txBody>
      </p:sp>
    </p:spTree>
    <p:extLst>
      <p:ext uri="{BB962C8B-B14F-4D97-AF65-F5344CB8AC3E}">
        <p14:creationId xmlns:p14="http://schemas.microsoft.com/office/powerpoint/2010/main" val="1560120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406478CC-6297-4DC4-B249-0271A02CD9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767790-A83F-48F4-BEAD-2EA41052235F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Key numbers: spring-summer 2023 was not SST-weak; it was atmosphere-response weak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5440DB-AB08-490B-A2D4-FD9949B652BA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15AF55-657C-4732-977D-C77CC4990E18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809750" cy="55245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328C4C-F445-43A4-BB5D-1F88A04F7E67}"/>
              </a:ext>
            </a:extLst>
          </p:cNvPr>
          <p:cNvSpPr>
            <a:spLocks noGrp="1"/>
          </p:cNvSpPr>
          <p:nvPr/>
        </p:nvSpPr>
        <p:spPr>
          <a:xfrm>
            <a:off x="752475" y="1781175"/>
            <a:ext cx="1638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027AB8-BD8D-463B-8998-48244B444C2B}"/>
              </a:ext>
            </a:extLst>
          </p:cNvPr>
          <p:cNvSpPr>
            <a:spLocks noGrp="1"/>
          </p:cNvSpPr>
          <p:nvPr/>
        </p:nvSpPr>
        <p:spPr>
          <a:xfrm>
            <a:off x="2476500" y="1714500"/>
            <a:ext cx="4095750" cy="55245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38B7A8-42D3-403B-AF53-4564C13A3CAC}"/>
              </a:ext>
            </a:extLst>
          </p:cNvPr>
          <p:cNvSpPr>
            <a:spLocks noGrp="1"/>
          </p:cNvSpPr>
          <p:nvPr/>
        </p:nvSpPr>
        <p:spPr>
          <a:xfrm>
            <a:off x="2562225" y="1781175"/>
            <a:ext cx="3924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AMJ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9500337-ABE7-4AE2-B9C3-752BF8C71F58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4457700" cy="55245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136AEB2-E518-42B0-9F3E-F4885E0F88F8}"/>
              </a:ext>
            </a:extLst>
          </p:cNvPr>
          <p:cNvSpPr>
            <a:spLocks noGrp="1"/>
          </p:cNvSpPr>
          <p:nvPr/>
        </p:nvSpPr>
        <p:spPr>
          <a:xfrm>
            <a:off x="6657975" y="1781175"/>
            <a:ext cx="4286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JJA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F93C50-FAE9-4A03-8BB0-00BBBF1BD461}"/>
              </a:ext>
            </a:extLst>
          </p:cNvPr>
          <p:cNvSpPr>
            <a:spLocks noGrp="1"/>
          </p:cNvSpPr>
          <p:nvPr/>
        </p:nvSpPr>
        <p:spPr>
          <a:xfrm>
            <a:off x="666750" y="2266950"/>
            <a:ext cx="180975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738E54C-B454-45E7-8367-07C759B4F506}"/>
              </a:ext>
            </a:extLst>
          </p:cNvPr>
          <p:cNvSpPr>
            <a:spLocks noGrp="1"/>
          </p:cNvSpPr>
          <p:nvPr/>
        </p:nvSpPr>
        <p:spPr>
          <a:xfrm>
            <a:off x="752475" y="2333625"/>
            <a:ext cx="1638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Niño-3 SST relative to strong-event composite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324A48-13A2-413B-8A32-CF2DDA65DC41}"/>
              </a:ext>
            </a:extLst>
          </p:cNvPr>
          <p:cNvSpPr>
            <a:spLocks noGrp="1"/>
          </p:cNvSpPr>
          <p:nvPr/>
        </p:nvSpPr>
        <p:spPr>
          <a:xfrm>
            <a:off x="2476500" y="2266950"/>
            <a:ext cx="409575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0E11404-026E-4AE9-AFB3-1A242DAD7316}"/>
              </a:ext>
            </a:extLst>
          </p:cNvPr>
          <p:cNvSpPr>
            <a:spLocks noGrp="1"/>
          </p:cNvSpPr>
          <p:nvPr/>
        </p:nvSpPr>
        <p:spPr>
          <a:xfrm>
            <a:off x="2562225" y="2333625"/>
            <a:ext cx="3924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1.41x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787CECC-5E0C-4F27-9404-92AA7CFB0E10}"/>
              </a:ext>
            </a:extLst>
          </p:cNvPr>
          <p:cNvSpPr>
            <a:spLocks noGrp="1"/>
          </p:cNvSpPr>
          <p:nvPr/>
        </p:nvSpPr>
        <p:spPr>
          <a:xfrm>
            <a:off x="6572250" y="2266950"/>
            <a:ext cx="445770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F71F42-4789-40F0-99D3-41EFBC6C81A5}"/>
              </a:ext>
            </a:extLst>
          </p:cNvPr>
          <p:cNvSpPr>
            <a:spLocks noGrp="1"/>
          </p:cNvSpPr>
          <p:nvPr/>
        </p:nvSpPr>
        <p:spPr>
          <a:xfrm>
            <a:off x="6657975" y="2333625"/>
            <a:ext cx="4286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1.22x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818458D-4C60-4951-9239-53728AF2283D}"/>
              </a:ext>
            </a:extLst>
          </p:cNvPr>
          <p:cNvSpPr>
            <a:spLocks noGrp="1"/>
          </p:cNvSpPr>
          <p:nvPr/>
        </p:nvSpPr>
        <p:spPr>
          <a:xfrm>
            <a:off x="666750" y="2819400"/>
            <a:ext cx="180975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DB2FD2A-7BC5-4AD4-87EE-97331098F1BC}"/>
              </a:ext>
            </a:extLst>
          </p:cNvPr>
          <p:cNvSpPr>
            <a:spLocks noGrp="1"/>
          </p:cNvSpPr>
          <p:nvPr/>
        </p:nvSpPr>
        <p:spPr>
          <a:xfrm>
            <a:off x="752475" y="2886075"/>
            <a:ext cx="1638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Central-west Pacific low-level wind ratio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301D823-60A8-4AFC-9D78-1B7625F7C8DC}"/>
              </a:ext>
            </a:extLst>
          </p:cNvPr>
          <p:cNvSpPr>
            <a:spLocks noGrp="1"/>
          </p:cNvSpPr>
          <p:nvPr/>
        </p:nvSpPr>
        <p:spPr>
          <a:xfrm>
            <a:off x="2476500" y="2819400"/>
            <a:ext cx="409575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E31CDD-B979-4604-BEB5-9BC8595325B6}"/>
              </a:ext>
            </a:extLst>
          </p:cNvPr>
          <p:cNvSpPr>
            <a:spLocks noGrp="1"/>
          </p:cNvSpPr>
          <p:nvPr/>
        </p:nvSpPr>
        <p:spPr>
          <a:xfrm>
            <a:off x="2562225" y="2886075"/>
            <a:ext cx="3924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-0.43x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0ACBA4C-ED5F-47DA-9F06-CBB643FA56C2}"/>
              </a:ext>
            </a:extLst>
          </p:cNvPr>
          <p:cNvSpPr>
            <a:spLocks noGrp="1"/>
          </p:cNvSpPr>
          <p:nvPr/>
        </p:nvSpPr>
        <p:spPr>
          <a:xfrm>
            <a:off x="6572250" y="2819400"/>
            <a:ext cx="445770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8ABEFA2-15BB-471F-A4BC-3BE138FDA7CA}"/>
              </a:ext>
            </a:extLst>
          </p:cNvPr>
          <p:cNvSpPr>
            <a:spLocks noGrp="1"/>
          </p:cNvSpPr>
          <p:nvPr/>
        </p:nvSpPr>
        <p:spPr>
          <a:xfrm>
            <a:off x="6657975" y="2886075"/>
            <a:ext cx="4286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-0.14x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07D904D-B34C-41AF-9507-4C698BF5CC89}"/>
              </a:ext>
            </a:extLst>
          </p:cNvPr>
          <p:cNvSpPr>
            <a:spLocks noGrp="1"/>
          </p:cNvSpPr>
          <p:nvPr/>
        </p:nvSpPr>
        <p:spPr>
          <a:xfrm>
            <a:off x="666750" y="3371850"/>
            <a:ext cx="180975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32840CD-D32F-47C9-9171-953A0AE8F0FD}"/>
              </a:ext>
            </a:extLst>
          </p:cNvPr>
          <p:cNvSpPr>
            <a:spLocks noGrp="1"/>
          </p:cNvSpPr>
          <p:nvPr/>
        </p:nvSpPr>
        <p:spPr>
          <a:xfrm>
            <a:off x="752475" y="3438525"/>
            <a:ext cx="1638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SOI-like pressure-response efficiency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A28137F-7341-490C-87D2-6A1311B0C6C4}"/>
              </a:ext>
            </a:extLst>
          </p:cNvPr>
          <p:cNvSpPr>
            <a:spLocks noGrp="1"/>
          </p:cNvSpPr>
          <p:nvPr/>
        </p:nvSpPr>
        <p:spPr>
          <a:xfrm>
            <a:off x="2476500" y="3371850"/>
            <a:ext cx="409575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57E4D7E-7A23-468A-860C-2661AE85FB3F}"/>
              </a:ext>
            </a:extLst>
          </p:cNvPr>
          <p:cNvSpPr>
            <a:spLocks noGrp="1"/>
          </p:cNvSpPr>
          <p:nvPr/>
        </p:nvSpPr>
        <p:spPr>
          <a:xfrm>
            <a:off x="2562225" y="3438525"/>
            <a:ext cx="3924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0.22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FC62C08-81EF-419B-8263-1D5458D8B1D1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457700" cy="55245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172849D-CF77-4D28-BC4C-4FA9C69C14CD}"/>
              </a:ext>
            </a:extLst>
          </p:cNvPr>
          <p:cNvSpPr>
            <a:spLocks noGrp="1"/>
          </p:cNvSpPr>
          <p:nvPr/>
        </p:nvSpPr>
        <p:spPr>
          <a:xfrm>
            <a:off x="6657975" y="3438525"/>
            <a:ext cx="4286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0.28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E93138A-2E6B-40DC-B374-C343F57477D7}"/>
              </a:ext>
            </a:extLst>
          </p:cNvPr>
          <p:cNvSpPr>
            <a:spLocks noGrp="1"/>
          </p:cNvSpPr>
          <p:nvPr/>
        </p:nvSpPr>
        <p:spPr>
          <a:xfrm>
            <a:off x="666750" y="3924300"/>
            <a:ext cx="180975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ACB7D78-0AA4-4604-97B4-B8B09B79B677}"/>
              </a:ext>
            </a:extLst>
          </p:cNvPr>
          <p:cNvSpPr>
            <a:spLocks noGrp="1"/>
          </p:cNvSpPr>
          <p:nvPr/>
        </p:nvSpPr>
        <p:spPr>
          <a:xfrm>
            <a:off x="752475" y="3990975"/>
            <a:ext cx="1638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Central Pacific GPCP rainfall ratio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87DB720-A427-46DA-B9C4-075626F1236D}"/>
              </a:ext>
            </a:extLst>
          </p:cNvPr>
          <p:cNvSpPr>
            <a:spLocks noGrp="1"/>
          </p:cNvSpPr>
          <p:nvPr/>
        </p:nvSpPr>
        <p:spPr>
          <a:xfrm>
            <a:off x="2476500" y="3924300"/>
            <a:ext cx="409575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51243E4-5AB1-49DA-AF40-4624FE38132E}"/>
              </a:ext>
            </a:extLst>
          </p:cNvPr>
          <p:cNvSpPr>
            <a:spLocks noGrp="1"/>
          </p:cNvSpPr>
          <p:nvPr/>
        </p:nvSpPr>
        <p:spPr>
          <a:xfrm>
            <a:off x="2562225" y="3990975"/>
            <a:ext cx="39243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0.43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6B18219-5F76-4404-A063-DDDDC45B0C05}"/>
              </a:ext>
            </a:extLst>
          </p:cNvPr>
          <p:cNvSpPr>
            <a:spLocks noGrp="1"/>
          </p:cNvSpPr>
          <p:nvPr/>
        </p:nvSpPr>
        <p:spPr>
          <a:xfrm>
            <a:off x="6572250" y="3924300"/>
            <a:ext cx="4457700" cy="55245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B9596A4-F96A-4F97-AA5B-94BA95432212}"/>
              </a:ext>
            </a:extLst>
          </p:cNvPr>
          <p:cNvSpPr>
            <a:spLocks noGrp="1"/>
          </p:cNvSpPr>
          <p:nvPr/>
        </p:nvSpPr>
        <p:spPr>
          <a:xfrm>
            <a:off x="6657975" y="3990975"/>
            <a:ext cx="4286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0.38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33A737A-1CA3-47F7-B45E-2C8DC848FBAD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9906000" cy="1009650"/>
          </a:xfrm>
          <a:prstGeom prst="rect">
            <a:avLst/>
          </a:prstGeom>
          <a:solidFill>
            <a:srgbClr val="EDF3EF"/>
          </a:solidFill>
          <a:ln w="7620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EAFCF17-D505-4F63-A944-0454900CE126}"/>
              </a:ext>
            </a:extLst>
          </p:cNvPr>
          <p:cNvSpPr>
            <a:spLocks noGrp="1"/>
          </p:cNvSpPr>
          <p:nvPr/>
        </p:nvSpPr>
        <p:spPr>
          <a:xfrm>
            <a:off x="857250" y="5276850"/>
            <a:ext cx="96393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F6F7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6F73"/>
                </a:solidFill>
                <a:latin typeface="Aptos"/>
                <a:ea typeface="Aptos"/>
                <a:cs typeface="Aptos"/>
              </a:rPr>
              <a:t>Reading note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FB7EECB-45DC-4147-8B9F-1B74113449D9}"/>
              </a:ext>
            </a:extLst>
          </p:cNvPr>
          <p:cNvSpPr>
            <a:spLocks noGrp="1"/>
          </p:cNvSpPr>
          <p:nvPr/>
        </p:nvSpPr>
        <p:spPr>
          <a:xfrm>
            <a:off x="857250" y="5562600"/>
            <a:ext cx="96393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Together, these values show that the developing-season ocean state was already strong, but the atmospheric branch did not produce the usual westerly-wind, pressure-gradient, and rainfall-displacement responses.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45888D6-D913-47F6-A9EA-60F5C82F3F09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Tables: asynchronous_coupling_efficiency.csv; gpcp_precip_seasonal_summary.csv.</a:t>
            </a:r>
          </a:p>
        </p:txBody>
      </p:sp>
    </p:spTree>
    <p:extLst>
      <p:ext uri="{BB962C8B-B14F-4D97-AF65-F5344CB8AC3E}">
        <p14:creationId xmlns:p14="http://schemas.microsoft.com/office/powerpoint/2010/main" val="11599661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D45165E7-EA97-4B05-99FC-4D4E8DA893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6AE60F-0E8B-4E7D-82B5-6C3FF917E494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Existing studies emphasize mechanisms or individual months; this project systematizes seasonal coupling efficiency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1C3CEC-B0A3-413F-8EC2-0AC6797DD518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E75E3E3-E616-461E-BEAC-18C1521BA9EB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8097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BC6F47-AB59-459F-A3B4-2108B11F7B51}"/>
              </a:ext>
            </a:extLst>
          </p:cNvPr>
          <p:cNvSpPr>
            <a:spLocks noGrp="1"/>
          </p:cNvSpPr>
          <p:nvPr/>
        </p:nvSpPr>
        <p:spPr>
          <a:xfrm>
            <a:off x="752475" y="17811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847595-2D9D-4A30-A070-F1F5545D8DBB}"/>
              </a:ext>
            </a:extLst>
          </p:cNvPr>
          <p:cNvSpPr>
            <a:spLocks noGrp="1"/>
          </p:cNvSpPr>
          <p:nvPr/>
        </p:nvSpPr>
        <p:spPr>
          <a:xfrm>
            <a:off x="2476500" y="1714500"/>
            <a:ext cx="40957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8C9F59-8C18-4941-BC3B-FB861D687BAF}"/>
              </a:ext>
            </a:extLst>
          </p:cNvPr>
          <p:cNvSpPr>
            <a:spLocks noGrp="1"/>
          </p:cNvSpPr>
          <p:nvPr/>
        </p:nvSpPr>
        <p:spPr>
          <a:xfrm>
            <a:off x="2562225" y="17811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Existing focus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496FDF-79BB-4993-A781-D14C1380ABB0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445770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99A3F7-D5F9-4CBF-A57B-1251E10E87FC}"/>
              </a:ext>
            </a:extLst>
          </p:cNvPr>
          <p:cNvSpPr>
            <a:spLocks noGrp="1"/>
          </p:cNvSpPr>
          <p:nvPr/>
        </p:nvSpPr>
        <p:spPr>
          <a:xfrm>
            <a:off x="6657975" y="17811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New contribution here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16CABD1-64FA-4AFB-9E28-05F24DC8778C}"/>
              </a:ext>
            </a:extLst>
          </p:cNvPr>
          <p:cNvSpPr>
            <a:spLocks noGrp="1"/>
          </p:cNvSpPr>
          <p:nvPr/>
        </p:nvSpPr>
        <p:spPr>
          <a:xfrm>
            <a:off x="666750" y="2171700"/>
            <a:ext cx="1809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B6A012-C9DE-4E26-B3A6-83C53ABF2054}"/>
              </a:ext>
            </a:extLst>
          </p:cNvPr>
          <p:cNvSpPr>
            <a:spLocks noGrp="1"/>
          </p:cNvSpPr>
          <p:nvPr/>
        </p:nvSpPr>
        <p:spPr>
          <a:xfrm>
            <a:off x="752475" y="22383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8A999AB-C342-43D1-A4AB-34211FE73944}"/>
              </a:ext>
            </a:extLst>
          </p:cNvPr>
          <p:cNvSpPr>
            <a:spLocks noGrp="1"/>
          </p:cNvSpPr>
          <p:nvPr/>
        </p:nvSpPr>
        <p:spPr>
          <a:xfrm>
            <a:off x="2476500" y="2171700"/>
            <a:ext cx="4095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8ECBFA0-17C7-475C-8ED2-B0B7A79EB472}"/>
              </a:ext>
            </a:extLst>
          </p:cNvPr>
          <p:cNvSpPr>
            <a:spLocks noGrp="1"/>
          </p:cNvSpPr>
          <p:nvPr/>
        </p:nvSpPr>
        <p:spPr>
          <a:xfrm>
            <a:off x="2562225" y="22383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Ocean-dynamical event generation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3ACE59C-EE4B-4833-B848-64677EA352C3}"/>
              </a:ext>
            </a:extLst>
          </p:cNvPr>
          <p:cNvSpPr>
            <a:spLocks noGrp="1"/>
          </p:cNvSpPr>
          <p:nvPr/>
        </p:nvSpPr>
        <p:spPr>
          <a:xfrm>
            <a:off x="6572250" y="2171700"/>
            <a:ext cx="44577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A3B08-596A-46C7-A29F-62F25FDCE4B0}"/>
              </a:ext>
            </a:extLst>
          </p:cNvPr>
          <p:cNvSpPr>
            <a:spLocks noGrp="1"/>
          </p:cNvSpPr>
          <p:nvPr/>
        </p:nvSpPr>
        <p:spPr>
          <a:xfrm>
            <a:off x="6657975" y="22383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Why and when the atmospheric response weakened.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943004-EF2D-4E88-9881-4C0BCFF8EE90}"/>
              </a:ext>
            </a:extLst>
          </p:cNvPr>
          <p:cNvSpPr>
            <a:spLocks noGrp="1"/>
          </p:cNvSpPr>
          <p:nvPr/>
        </p:nvSpPr>
        <p:spPr>
          <a:xfrm>
            <a:off x="666750" y="2628900"/>
            <a:ext cx="1809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3755326-43ED-42D1-A1DF-9CB6EF297289}"/>
              </a:ext>
            </a:extLst>
          </p:cNvPr>
          <p:cNvSpPr>
            <a:spLocks noGrp="1"/>
          </p:cNvSpPr>
          <p:nvPr/>
        </p:nvSpPr>
        <p:spPr>
          <a:xfrm>
            <a:off x="752475" y="26955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Zhang et al. 2025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0282A37-7E02-455F-A07B-F1035722C968}"/>
              </a:ext>
            </a:extLst>
          </p:cNvPr>
          <p:cNvSpPr>
            <a:spLocks noGrp="1"/>
          </p:cNvSpPr>
          <p:nvPr/>
        </p:nvSpPr>
        <p:spPr>
          <a:xfrm>
            <a:off x="2476500" y="2628900"/>
            <a:ext cx="4095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E0FD806-4BFB-4A9D-9663-6CF8A153BD05}"/>
              </a:ext>
            </a:extLst>
          </p:cNvPr>
          <p:cNvSpPr>
            <a:spLocks noGrp="1"/>
          </p:cNvSpPr>
          <p:nvPr/>
        </p:nvSpPr>
        <p:spPr>
          <a:xfrm>
            <a:off x="2562225" y="26955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Weak rainfall/teleconnections and external-basin heating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9BF5C0-6670-4BED-A60E-0217D4EC7ED6}"/>
              </a:ext>
            </a:extLst>
          </p:cNvPr>
          <p:cNvSpPr>
            <a:spLocks noGrp="1"/>
          </p:cNvSpPr>
          <p:nvPr/>
        </p:nvSpPr>
        <p:spPr>
          <a:xfrm>
            <a:off x="6572250" y="2628900"/>
            <a:ext cx="44577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E26FB89-78D0-49C8-8C0B-CEBB9E0142E8}"/>
              </a:ext>
            </a:extLst>
          </p:cNvPr>
          <p:cNvSpPr>
            <a:spLocks noGrp="1"/>
          </p:cNvSpPr>
          <p:nvPr/>
        </p:nvSpPr>
        <p:spPr>
          <a:xfrm>
            <a:off x="6657975" y="26955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Seasonal matrix across wind, pressure, rainfall, and SST.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C2E2F1E-B2E5-4C1F-836F-45869DC19489}"/>
              </a:ext>
            </a:extLst>
          </p:cNvPr>
          <p:cNvSpPr>
            <a:spLocks noGrp="1"/>
          </p:cNvSpPr>
          <p:nvPr/>
        </p:nvSpPr>
        <p:spPr>
          <a:xfrm>
            <a:off x="666750" y="3086100"/>
            <a:ext cx="1809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40CE88D-A94D-451B-B44C-1D1607386139}"/>
              </a:ext>
            </a:extLst>
          </p:cNvPr>
          <p:cNvSpPr>
            <a:spLocks noGrp="1"/>
          </p:cNvSpPr>
          <p:nvPr/>
        </p:nvSpPr>
        <p:spPr>
          <a:xfrm>
            <a:off x="752475" y="31527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Kim et al. 2025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0E471E-186B-433F-B263-E4447765494A}"/>
              </a:ext>
            </a:extLst>
          </p:cNvPr>
          <p:cNvSpPr>
            <a:spLocks noGrp="1"/>
          </p:cNvSpPr>
          <p:nvPr/>
        </p:nvSpPr>
        <p:spPr>
          <a:xfrm>
            <a:off x="2476500" y="3086100"/>
            <a:ext cx="4095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C66DA91-4D37-40DC-BF73-0875CBE79D0E}"/>
              </a:ext>
            </a:extLst>
          </p:cNvPr>
          <p:cNvSpPr>
            <a:spLocks noGrp="1"/>
          </p:cNvSpPr>
          <p:nvPr/>
        </p:nvSpPr>
        <p:spPr>
          <a:xfrm>
            <a:off x="2562225" y="31527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Developing-season wind anomalies and west-central Pacific gradients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FC78104-17AA-47FF-93EB-8B9EF69B3390}"/>
              </a:ext>
            </a:extLst>
          </p:cNvPr>
          <p:cNvSpPr>
            <a:spLocks noGrp="1"/>
          </p:cNvSpPr>
          <p:nvPr/>
        </p:nvSpPr>
        <p:spPr>
          <a:xfrm>
            <a:off x="6572250" y="3086100"/>
            <a:ext cx="44577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3123188-83CA-4401-B36B-737E94A44EC1}"/>
              </a:ext>
            </a:extLst>
          </p:cNvPr>
          <p:cNvSpPr>
            <a:spLocks noGrp="1"/>
          </p:cNvSpPr>
          <p:nvPr/>
        </p:nvSpPr>
        <p:spPr>
          <a:xfrm>
            <a:off x="6657975" y="31527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Adds SOI-like pressure, GPCP rainfall, and external-basin historical comparison.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F43CB3C-5FBB-42C5-8A0E-9A8C8027833E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809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21A2100-3855-42CE-92FC-978E0AF0A3BE}"/>
              </a:ext>
            </a:extLst>
          </p:cNvPr>
          <p:cNvSpPr>
            <a:spLocks noGrp="1"/>
          </p:cNvSpPr>
          <p:nvPr/>
        </p:nvSpPr>
        <p:spPr>
          <a:xfrm>
            <a:off x="752475" y="36099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Zhao et al. 2025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67D3898-1F2F-49D2-88E8-CF0B9ED1FF25}"/>
              </a:ext>
            </a:extLst>
          </p:cNvPr>
          <p:cNvSpPr>
            <a:spLocks noGrp="1"/>
          </p:cNvSpPr>
          <p:nvPr/>
        </p:nvSpPr>
        <p:spPr>
          <a:xfrm>
            <a:off x="2476500" y="3543300"/>
            <a:ext cx="4095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709C368-9012-4146-BB34-77065E12682D}"/>
              </a:ext>
            </a:extLst>
          </p:cNvPr>
          <p:cNvSpPr>
            <a:spLocks noGrp="1"/>
          </p:cNvSpPr>
          <p:nvPr/>
        </p:nvSpPr>
        <p:spPr>
          <a:xfrm>
            <a:off x="2562225" y="36099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July 2023 TNA and monsoon/Maritime Continent heating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4C7FC8F-8C1D-418A-8583-B07C7F7F3945}"/>
              </a:ext>
            </a:extLst>
          </p:cNvPr>
          <p:cNvSpPr>
            <a:spLocks noGrp="1"/>
          </p:cNvSpPr>
          <p:nvPr/>
        </p:nvSpPr>
        <p:spPr>
          <a:xfrm>
            <a:off x="6572250" y="3543300"/>
            <a:ext cx="44577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1903354-6BA0-446D-8AD2-4B4B6BBD63A1}"/>
              </a:ext>
            </a:extLst>
          </p:cNvPr>
          <p:cNvSpPr>
            <a:spLocks noGrp="1"/>
          </p:cNvSpPr>
          <p:nvPr/>
        </p:nvSpPr>
        <p:spPr>
          <a:xfrm>
            <a:off x="6657975" y="36099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Tracks AMJ/JJA through SON/DJF continuously.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1A9C867-1B28-4323-93A6-3810BBAE04A8}"/>
              </a:ext>
            </a:extLst>
          </p:cNvPr>
          <p:cNvSpPr>
            <a:spLocks noGrp="1"/>
          </p:cNvSpPr>
          <p:nvPr/>
        </p:nvSpPr>
        <p:spPr>
          <a:xfrm>
            <a:off x="666750" y="4000500"/>
            <a:ext cx="1809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7332C48-18B1-4781-AA29-460C795942C9}"/>
              </a:ext>
            </a:extLst>
          </p:cNvPr>
          <p:cNvSpPr>
            <a:spLocks noGrp="1"/>
          </p:cNvSpPr>
          <p:nvPr/>
        </p:nvSpPr>
        <p:spPr>
          <a:xfrm>
            <a:off x="752475" y="4067175"/>
            <a:ext cx="1638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Yang &amp; Li 2025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60F60CB-B33B-49F5-8125-C87B3D6D1155}"/>
              </a:ext>
            </a:extLst>
          </p:cNvPr>
          <p:cNvSpPr>
            <a:spLocks noGrp="1"/>
          </p:cNvSpPr>
          <p:nvPr/>
        </p:nvSpPr>
        <p:spPr>
          <a:xfrm>
            <a:off x="2476500" y="4000500"/>
            <a:ext cx="4095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95DB12F-7240-4B61-94B1-FE4646C19B33}"/>
              </a:ext>
            </a:extLst>
          </p:cNvPr>
          <p:cNvSpPr>
            <a:spLocks noGrp="1"/>
          </p:cNvSpPr>
          <p:nvPr/>
        </p:nvSpPr>
        <p:spPr>
          <a:xfrm>
            <a:off x="2562225" y="4067175"/>
            <a:ext cx="3924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January 2024 MJO/trend/ENSO decomposition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08109E5-9546-4F90-94F3-918AC4A4C074}"/>
              </a:ext>
            </a:extLst>
          </p:cNvPr>
          <p:cNvSpPr>
            <a:spLocks noGrp="1"/>
          </p:cNvSpPr>
          <p:nvPr/>
        </p:nvSpPr>
        <p:spPr>
          <a:xfrm>
            <a:off x="6572250" y="4000500"/>
            <a:ext cx="44577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3755433-5113-4EA3-812D-4030B31DA576}"/>
              </a:ext>
            </a:extLst>
          </p:cNvPr>
          <p:cNvSpPr>
            <a:spLocks noGrp="1"/>
          </p:cNvSpPr>
          <p:nvPr/>
        </p:nvSpPr>
        <p:spPr>
          <a:xfrm>
            <a:off x="6657975" y="4067175"/>
            <a:ext cx="4286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45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45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Builds developing-season background before adding MJO/OLR tests.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531B67D-2A39-4B63-92E5-2A457D4FA721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Literature notes: docs/literature_method_notes.md; source IDs L2-L8.</a:t>
            </a:r>
          </a:p>
        </p:txBody>
      </p:sp>
    </p:spTree>
    <p:extLst>
      <p:ext uri="{BB962C8B-B14F-4D97-AF65-F5344CB8AC3E}">
        <p14:creationId xmlns:p14="http://schemas.microsoft.com/office/powerpoint/2010/main" val="1592832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5726035-CABA-4F0C-87E4-5321F05D09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F4A882-5241-41E8-8A88-381B910021ED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Proposed topic: developing-season coupling failure during the 2023/24 strong El Niño and external-basin modulation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3D73003-B414-453B-9B1A-3E31B7D0EDA5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5B5F56-648B-487E-84A4-E55B2AF9034F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9906000" cy="1257300"/>
          </a:xfrm>
          <a:prstGeom prst="rect">
            <a:avLst/>
          </a:prstGeom>
          <a:solidFill>
            <a:srgbClr val="F5E5DF"/>
          </a:solidFill>
          <a:ln w="9525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812FCB-4342-4EBD-8DF2-7DAFFDED000A}"/>
              </a:ext>
            </a:extLst>
          </p:cNvPr>
          <p:cNvSpPr>
            <a:spLocks noGrp="1"/>
          </p:cNvSpPr>
          <p:nvPr/>
        </p:nvSpPr>
        <p:spPr>
          <a:xfrm>
            <a:off x="933450" y="1924050"/>
            <a:ext cx="94869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lang="en-US" sz="1575" b="1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</a:t>
            </a:r>
            <a:r>
              <a:rPr sz="1575" b="1" dirty="0">
                <a:solidFill>
                  <a:srgbClr val="1D1B18"/>
                </a:solidFill>
                <a:latin typeface="Aptos"/>
                <a:ea typeface="Aptos"/>
                <a:cs typeface="Aptos"/>
              </a:rPr>
              <a:t>ypothesis: spring-summer external-basin warmth and tropical-mean warming altered the Walker circulation and convective threshold, delaying or weakening the canonical wind-pressure-rainfall response to warm Pacific SST.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6F7A002-AEA9-44AA-B8B5-A8B624C362E4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8BBBF7-1950-4041-BEE2-C0B41A1E0BC9}"/>
              </a:ext>
            </a:extLst>
          </p:cNvPr>
          <p:cNvSpPr>
            <a:spLocks noGrp="1"/>
          </p:cNvSpPr>
          <p:nvPr/>
        </p:nvSpPr>
        <p:spPr>
          <a:xfrm>
            <a:off x="1066800" y="33337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H1: Tropical North Atlantic, Indian Ocean, and Maritime Continent warmth suppressed the central-Pacific westerly response.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D807BA6-5E4A-488E-8826-447B579E3EB8}"/>
              </a:ext>
            </a:extLst>
          </p:cNvPr>
          <p:cNvSpPr>
            <a:spLocks noGrp="1"/>
          </p:cNvSpPr>
          <p:nvPr/>
        </p:nvSpPr>
        <p:spPr>
          <a:xfrm>
            <a:off x="876300" y="408622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E62DE3A-7656-4472-9C5F-8532DCD1A29E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H2: Maritime Continent / Indian Ocean convection maintained western-side convection and weakened the eastward rainfall shift.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00586434-2CA8-4C34-8671-747C3E7CF474}"/>
              </a:ext>
            </a:extLst>
          </p:cNvPr>
          <p:cNvSpPr>
            <a:spLocks noGrp="1"/>
          </p:cNvSpPr>
          <p:nvPr/>
        </p:nvSpPr>
        <p:spPr>
          <a:xfrm>
            <a:off x="876300" y="4752975"/>
            <a:ext cx="66675" cy="66675"/>
          </a:xfrm>
          <a:prstGeom prst="ellipse">
            <a:avLst/>
          </a:prstGeom>
          <a:solidFill>
            <a:srgbClr val="CC5A43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8F479D4-45C5-4042-A65B-C16A39A39497}"/>
              </a:ext>
            </a:extLst>
          </p:cNvPr>
          <p:cNvSpPr>
            <a:spLocks noGrp="1"/>
          </p:cNvSpPr>
          <p:nvPr/>
        </p:nvSpPr>
        <p:spPr>
          <a:xfrm>
            <a:off x="1066800" y="4667250"/>
            <a:ext cx="914400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H3: Tropical-mean warming raised the convective threshold, so the same Pacific SST anomaly produced weaker atmospheric feedback.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8436D4-0E0D-4321-8898-C28E71DE9036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Current diagnostics establish association; mechanism attribution requires ERA5, OLR, MJO/RMM and AGCM tests.</a:t>
            </a:r>
          </a:p>
        </p:txBody>
      </p:sp>
    </p:spTree>
    <p:extLst>
      <p:ext uri="{BB962C8B-B14F-4D97-AF65-F5344CB8AC3E}">
        <p14:creationId xmlns:p14="http://schemas.microsoft.com/office/powerpoint/2010/main" val="1413131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10D392C0-9CFF-4474-81B6-E83A6322B1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9B7408-2ED6-4202-8751-DC14AE5446A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34290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Appendix 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DBC657-D19A-4765-9C51-E440E83FBCAA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Slide-to-data table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8EA852E-18C9-4DA0-BF17-1C2A1C9283D8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DE7DDF-E273-4877-A6DF-D3F72E55206A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16192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49D5600-E4D4-41E9-8856-3B59460A1B02}"/>
              </a:ext>
            </a:extLst>
          </p:cNvPr>
          <p:cNvSpPr>
            <a:spLocks noGrp="1"/>
          </p:cNvSpPr>
          <p:nvPr/>
        </p:nvSpPr>
        <p:spPr>
          <a:xfrm>
            <a:off x="752475" y="17430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CE0AC5-8F95-4240-A63C-282BBCDD295A}"/>
              </a:ext>
            </a:extLst>
          </p:cNvPr>
          <p:cNvSpPr>
            <a:spLocks noGrp="1"/>
          </p:cNvSpPr>
          <p:nvPr/>
        </p:nvSpPr>
        <p:spPr>
          <a:xfrm>
            <a:off x="2286000" y="1676400"/>
            <a:ext cx="37147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C9C390-B8EB-43EF-BD7C-5C034EEEBA34}"/>
              </a:ext>
            </a:extLst>
          </p:cNvPr>
          <p:cNvSpPr>
            <a:spLocks noGrp="1"/>
          </p:cNvSpPr>
          <p:nvPr/>
        </p:nvSpPr>
        <p:spPr>
          <a:xfrm>
            <a:off x="2371725" y="17430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Figure / content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EB3378-E55F-4377-A643-FC9D54CD4B6B}"/>
              </a:ext>
            </a:extLst>
          </p:cNvPr>
          <p:cNvSpPr>
            <a:spLocks noGrp="1"/>
          </p:cNvSpPr>
          <p:nvPr/>
        </p:nvSpPr>
        <p:spPr>
          <a:xfrm>
            <a:off x="6000750" y="1676400"/>
            <a:ext cx="502920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2D5117-384F-476E-A2CC-4DC64E44FDF6}"/>
              </a:ext>
            </a:extLst>
          </p:cNvPr>
          <p:cNvSpPr>
            <a:spLocks noGrp="1"/>
          </p:cNvSpPr>
          <p:nvPr/>
        </p:nvSpPr>
        <p:spPr>
          <a:xfrm>
            <a:off x="6086475" y="17430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table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825572-DDB9-49E8-982A-BE637EC6E966}"/>
              </a:ext>
            </a:extLst>
          </p:cNvPr>
          <p:cNvSpPr>
            <a:spLocks noGrp="1"/>
          </p:cNvSpPr>
          <p:nvPr/>
        </p:nvSpPr>
        <p:spPr>
          <a:xfrm>
            <a:off x="666750" y="21336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F1ED9BE-F665-4EA7-876D-880E88C73C0F}"/>
              </a:ext>
            </a:extLst>
          </p:cNvPr>
          <p:cNvSpPr>
            <a:spLocks noGrp="1"/>
          </p:cNvSpPr>
          <p:nvPr/>
        </p:nvSpPr>
        <p:spPr>
          <a:xfrm>
            <a:off x="752475" y="22002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6-7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2FA3904-3B9D-47DB-BEDC-5B2183DBFF98}"/>
              </a:ext>
            </a:extLst>
          </p:cNvPr>
          <p:cNvSpPr>
            <a:spLocks noGrp="1"/>
          </p:cNvSpPr>
          <p:nvPr/>
        </p:nvSpPr>
        <p:spPr>
          <a:xfrm>
            <a:off x="2286000" y="21336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176B83-972E-4E8A-A1FE-3CF245BD5EA3}"/>
              </a:ext>
            </a:extLst>
          </p:cNvPr>
          <p:cNvSpPr>
            <a:spLocks noGrp="1"/>
          </p:cNvSpPr>
          <p:nvPr/>
        </p:nvSpPr>
        <p:spPr>
          <a:xfrm>
            <a:off x="2371725" y="22002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1 and coupling ratios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6D9748-F8B5-4C28-B5F7-D15988D819D6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4CA7C6C-DDEA-4AC9-B2CA-E7615DB88992}"/>
              </a:ext>
            </a:extLst>
          </p:cNvPr>
          <p:cNvSpPr>
            <a:spLocks noGrp="1"/>
          </p:cNvSpPr>
          <p:nvPr/>
        </p:nvSpPr>
        <p:spPr>
          <a:xfrm>
            <a:off x="6086475" y="22002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fig1_event_coupling.csv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9528AD6-4153-49CB-AD0F-30AEEDAF8D74}"/>
              </a:ext>
            </a:extLst>
          </p:cNvPr>
          <p:cNvSpPr>
            <a:spLocks noGrp="1"/>
          </p:cNvSpPr>
          <p:nvPr/>
        </p:nvSpPr>
        <p:spPr>
          <a:xfrm>
            <a:off x="666750" y="25908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543D90-B63C-4255-AB87-865C5A66F368}"/>
              </a:ext>
            </a:extLst>
          </p:cNvPr>
          <p:cNvSpPr>
            <a:spLocks noGrp="1"/>
          </p:cNvSpPr>
          <p:nvPr/>
        </p:nvSpPr>
        <p:spPr>
          <a:xfrm>
            <a:off x="752475" y="26574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DB6CE37-AC6D-4A40-9592-B846AA423750}"/>
              </a:ext>
            </a:extLst>
          </p:cNvPr>
          <p:cNvSpPr>
            <a:spLocks noGrp="1"/>
          </p:cNvSpPr>
          <p:nvPr/>
        </p:nvSpPr>
        <p:spPr>
          <a:xfrm>
            <a:off x="2286000" y="25908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1402E63-B93C-4032-8448-5C172717E209}"/>
              </a:ext>
            </a:extLst>
          </p:cNvPr>
          <p:cNvSpPr>
            <a:spLocks noGrp="1"/>
          </p:cNvSpPr>
          <p:nvPr/>
        </p:nvSpPr>
        <p:spPr>
          <a:xfrm>
            <a:off x="2371725" y="26574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2 ocean dynamics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744A4E-A35B-4B79-9C05-D8E7D65049AA}"/>
              </a:ext>
            </a:extLst>
          </p:cNvPr>
          <p:cNvSpPr>
            <a:spLocks noGrp="1"/>
          </p:cNvSpPr>
          <p:nvPr/>
        </p:nvSpPr>
        <p:spPr>
          <a:xfrm>
            <a:off x="6000750" y="25908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1A78CA9-1C9D-4150-8B9A-E358BE3A5E2C}"/>
              </a:ext>
            </a:extLst>
          </p:cNvPr>
          <p:cNvSpPr>
            <a:spLocks noGrp="1"/>
          </p:cNvSpPr>
          <p:nvPr/>
        </p:nvSpPr>
        <p:spPr>
          <a:xfrm>
            <a:off x="6086475" y="26574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fig2_equatorial_summary.csv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FCABCC0-1C89-4183-9E02-88AB31924769}"/>
              </a:ext>
            </a:extLst>
          </p:cNvPr>
          <p:cNvSpPr>
            <a:spLocks noGrp="1"/>
          </p:cNvSpPr>
          <p:nvPr/>
        </p:nvSpPr>
        <p:spPr>
          <a:xfrm>
            <a:off x="666750" y="30480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491B72C-3A32-4D5E-8808-38E8A0A007BC}"/>
              </a:ext>
            </a:extLst>
          </p:cNvPr>
          <p:cNvSpPr>
            <a:spLocks noGrp="1"/>
          </p:cNvSpPr>
          <p:nvPr/>
        </p:nvSpPr>
        <p:spPr>
          <a:xfrm>
            <a:off x="752475" y="31146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9-10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428BB7E-A123-418A-AD99-C53CA2373A63}"/>
              </a:ext>
            </a:extLst>
          </p:cNvPr>
          <p:cNvSpPr>
            <a:spLocks noGrp="1"/>
          </p:cNvSpPr>
          <p:nvPr/>
        </p:nvSpPr>
        <p:spPr>
          <a:xfrm>
            <a:off x="2286000" y="30480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BB7D8CE-9E97-4015-B94E-44574D72DE72}"/>
              </a:ext>
            </a:extLst>
          </p:cNvPr>
          <p:cNvSpPr>
            <a:spLocks noGrp="1"/>
          </p:cNvSpPr>
          <p:nvPr/>
        </p:nvSpPr>
        <p:spPr>
          <a:xfrm>
            <a:off x="2371725" y="31146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Reproduced Fig. 3-4 AGCM/wind-stress experiments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FDE5309-ABF3-480E-B374-1BEA4349E84E}"/>
              </a:ext>
            </a:extLst>
          </p:cNvPr>
          <p:cNvSpPr>
            <a:spLocks noGrp="1"/>
          </p:cNvSpPr>
          <p:nvPr/>
        </p:nvSpPr>
        <p:spPr>
          <a:xfrm>
            <a:off x="6000750" y="30480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1DCC6E-A67A-4E21-92CE-77AE37D7914D}"/>
              </a:ext>
            </a:extLst>
          </p:cNvPr>
          <p:cNvSpPr>
            <a:spLocks noGrp="1"/>
          </p:cNvSpPr>
          <p:nvPr/>
        </p:nvSpPr>
        <p:spPr>
          <a:xfrm>
            <a:off x="6086475" y="31146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fig3_agcm_summary.csv; fig4_wind_experiment_summary.csv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B0A00F3-D4F4-49E1-8A3A-B405E0B6FCC5}"/>
              </a:ext>
            </a:extLst>
          </p:cNvPr>
          <p:cNvSpPr>
            <a:spLocks noGrp="1"/>
          </p:cNvSpPr>
          <p:nvPr/>
        </p:nvSpPr>
        <p:spPr>
          <a:xfrm>
            <a:off x="666750" y="35052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8AAB47D-4308-424D-B024-F041EEB3A453}"/>
              </a:ext>
            </a:extLst>
          </p:cNvPr>
          <p:cNvSpPr>
            <a:spLocks noGrp="1"/>
          </p:cNvSpPr>
          <p:nvPr/>
        </p:nvSpPr>
        <p:spPr>
          <a:xfrm>
            <a:off x="752475" y="35718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CE40F28-4F0C-4325-BB5B-71063A7AE173}"/>
              </a:ext>
            </a:extLst>
          </p:cNvPr>
          <p:cNvSpPr>
            <a:spLocks noGrp="1"/>
          </p:cNvSpPr>
          <p:nvPr/>
        </p:nvSpPr>
        <p:spPr>
          <a:xfrm>
            <a:off x="2286000" y="35052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D28634F-E4F5-4467-9430-8A008F6BBDF2}"/>
              </a:ext>
            </a:extLst>
          </p:cNvPr>
          <p:cNvSpPr>
            <a:spLocks noGrp="1"/>
          </p:cNvSpPr>
          <p:nvPr/>
        </p:nvSpPr>
        <p:spPr>
          <a:xfrm>
            <a:off x="2371725" y="35718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Raw-product validation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56FCB78-01F4-445E-AF71-0DC5BAEC63EE}"/>
              </a:ext>
            </a:extLst>
          </p:cNvPr>
          <p:cNvSpPr>
            <a:spLocks noGrp="1"/>
          </p:cNvSpPr>
          <p:nvPr/>
        </p:nvSpPr>
        <p:spPr>
          <a:xfrm>
            <a:off x="6000750" y="35052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05CA139-6BB4-49E4-8732-F1FC0DD8E634}"/>
              </a:ext>
            </a:extLst>
          </p:cNvPr>
          <p:cNvSpPr>
            <a:spLocks noGrp="1"/>
          </p:cNvSpPr>
          <p:nvPr/>
        </p:nvSpPr>
        <p:spPr>
          <a:xfrm>
            <a:off x="6086475" y="35718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oisst_vs_fig1_nino3.csv; gpcp_vs_fig2_precip.csv; ncep_vs_fig1_atmosphere.csv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539E2E-82D2-44DD-AB4F-C048B7BEB45E}"/>
              </a:ext>
            </a:extLst>
          </p:cNvPr>
          <p:cNvSpPr>
            <a:spLocks noGrp="1"/>
          </p:cNvSpPr>
          <p:nvPr/>
        </p:nvSpPr>
        <p:spPr>
          <a:xfrm>
            <a:off x="666750" y="39624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50B90E6-FAE0-4FC4-B0CE-67AEF13505FD}"/>
              </a:ext>
            </a:extLst>
          </p:cNvPr>
          <p:cNvSpPr>
            <a:spLocks noGrp="1"/>
          </p:cNvSpPr>
          <p:nvPr/>
        </p:nvSpPr>
        <p:spPr>
          <a:xfrm>
            <a:off x="752475" y="40290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2F536F6-2DA8-4AA3-8106-8124AB5DBA5B}"/>
              </a:ext>
            </a:extLst>
          </p:cNvPr>
          <p:cNvSpPr>
            <a:spLocks noGrp="1"/>
          </p:cNvSpPr>
          <p:nvPr/>
        </p:nvSpPr>
        <p:spPr>
          <a:xfrm>
            <a:off x="2286000" y="39624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186FF03-D9F3-4784-8637-65DBF9D83D5E}"/>
              </a:ext>
            </a:extLst>
          </p:cNvPr>
          <p:cNvSpPr>
            <a:spLocks noGrp="1"/>
          </p:cNvSpPr>
          <p:nvPr/>
        </p:nvSpPr>
        <p:spPr>
          <a:xfrm>
            <a:off x="2371725" y="40290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Seasonal coupling-efficiency matrix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305EFBF-1FF8-411F-AC06-349AA973E475}"/>
              </a:ext>
            </a:extLst>
          </p:cNvPr>
          <p:cNvSpPr>
            <a:spLocks noGrp="1"/>
          </p:cNvSpPr>
          <p:nvPr/>
        </p:nvSpPr>
        <p:spPr>
          <a:xfrm>
            <a:off x="6000750" y="39624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0A3A5DB-97AA-434A-A33B-6245FE72A4DC}"/>
              </a:ext>
            </a:extLst>
          </p:cNvPr>
          <p:cNvSpPr>
            <a:spLocks noGrp="1"/>
          </p:cNvSpPr>
          <p:nvPr/>
        </p:nvSpPr>
        <p:spPr>
          <a:xfrm>
            <a:off x="6086475" y="40290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asynchronous_coupling_efficiency.csv; seasonal_asynchrony_matrix.csv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90EAFA0-B66D-4329-A52D-33769EAF464D}"/>
              </a:ext>
            </a:extLst>
          </p:cNvPr>
          <p:cNvSpPr>
            <a:spLocks noGrp="1"/>
          </p:cNvSpPr>
          <p:nvPr/>
        </p:nvSpPr>
        <p:spPr>
          <a:xfrm>
            <a:off x="666750" y="44196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7BADB44-7329-4ECE-BC5A-1CAEFCAE0365}"/>
              </a:ext>
            </a:extLst>
          </p:cNvPr>
          <p:cNvSpPr>
            <a:spLocks noGrp="1"/>
          </p:cNvSpPr>
          <p:nvPr/>
        </p:nvSpPr>
        <p:spPr>
          <a:xfrm>
            <a:off x="752475" y="44862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14-15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4EF20A5-A9BF-4F05-993E-7D011977AD6A}"/>
              </a:ext>
            </a:extLst>
          </p:cNvPr>
          <p:cNvSpPr>
            <a:spLocks noGrp="1"/>
          </p:cNvSpPr>
          <p:nvPr/>
        </p:nvSpPr>
        <p:spPr>
          <a:xfrm>
            <a:off x="2286000" y="44196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26F1C91-E1EF-43D0-9937-5251F0D6F61C}"/>
              </a:ext>
            </a:extLst>
          </p:cNvPr>
          <p:cNvSpPr>
            <a:spLocks noGrp="1"/>
          </p:cNvSpPr>
          <p:nvPr/>
        </p:nvSpPr>
        <p:spPr>
          <a:xfrm>
            <a:off x="2371725" y="44862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AMJ/JJA spatial maps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FE4AB55-AD6D-4307-B7BB-B8276A6AE4FC}"/>
              </a:ext>
            </a:extLst>
          </p:cNvPr>
          <p:cNvSpPr>
            <a:spLocks noGrp="1"/>
          </p:cNvSpPr>
          <p:nvPr/>
        </p:nvSpPr>
        <p:spPr>
          <a:xfrm>
            <a:off x="6000750" y="44196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27E6D9E-9D33-443D-AF01-D1F089B29270}"/>
              </a:ext>
            </a:extLst>
          </p:cNvPr>
          <p:cNvSpPr>
            <a:spLocks noGrp="1"/>
          </p:cNvSpPr>
          <p:nvPr/>
        </p:nvSpPr>
        <p:spPr>
          <a:xfrm>
            <a:off x="6086475" y="44862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stage_a_spatial_summary.csv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EBF44EDB-F445-49AD-8864-50554D9ECCD6}"/>
              </a:ext>
            </a:extLst>
          </p:cNvPr>
          <p:cNvSpPr>
            <a:spLocks noGrp="1"/>
          </p:cNvSpPr>
          <p:nvPr/>
        </p:nvSpPr>
        <p:spPr>
          <a:xfrm>
            <a:off x="666750" y="48768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0244506-0450-412F-BEBA-A1B4109F18D1}"/>
              </a:ext>
            </a:extLst>
          </p:cNvPr>
          <p:cNvSpPr>
            <a:spLocks noGrp="1"/>
          </p:cNvSpPr>
          <p:nvPr/>
        </p:nvSpPr>
        <p:spPr>
          <a:xfrm>
            <a:off x="752475" y="49434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16-17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F098E72-BF5C-49E5-A2DF-8FDC99C8BCC7}"/>
              </a:ext>
            </a:extLst>
          </p:cNvPr>
          <p:cNvSpPr>
            <a:spLocks noGrp="1"/>
          </p:cNvSpPr>
          <p:nvPr/>
        </p:nvSpPr>
        <p:spPr>
          <a:xfrm>
            <a:off x="2286000" y="48768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EDA71B9-4B35-4879-BB2F-8BDE6C4B1640}"/>
              </a:ext>
            </a:extLst>
          </p:cNvPr>
          <p:cNvSpPr>
            <a:spLocks noGrp="1"/>
          </p:cNvSpPr>
          <p:nvPr/>
        </p:nvSpPr>
        <p:spPr>
          <a:xfrm>
            <a:off x="2371725" y="49434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 basins and historical comparison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75649594-4B79-420C-B905-8A4CD55680AE}"/>
              </a:ext>
            </a:extLst>
          </p:cNvPr>
          <p:cNvSpPr>
            <a:spLocks noGrp="1"/>
          </p:cNvSpPr>
          <p:nvPr/>
        </p:nvSpPr>
        <p:spPr>
          <a:xfrm>
            <a:off x="6000750" y="48768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77BB23B-DBD4-4544-8A4B-710719330C02}"/>
              </a:ext>
            </a:extLst>
          </p:cNvPr>
          <p:cNvSpPr>
            <a:spLocks noGrp="1"/>
          </p:cNvSpPr>
          <p:nvPr/>
        </p:nvSpPr>
        <p:spPr>
          <a:xfrm>
            <a:off x="6086475" y="49434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external_basin_seasonal_summary.csv; gpcp_precip_seasonal_summary.csv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1344B1E-CD22-4AD7-8201-A16AA42B8CFC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All local paths are under /Users/daiyue/Documents/Maryland/data/derived.</a:t>
            </a:r>
          </a:p>
        </p:txBody>
      </p:sp>
    </p:spTree>
    <p:extLst>
      <p:ext uri="{BB962C8B-B14F-4D97-AF65-F5344CB8AC3E}">
        <p14:creationId xmlns:p14="http://schemas.microsoft.com/office/powerpoint/2010/main" val="2017788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矩形 53">
            <a:extLst>
              <a:ext uri="{FF2B5EF4-FFF2-40B4-BE49-F238E27FC236}">
                <a16:creationId xmlns:a16="http://schemas.microsoft.com/office/drawing/2014/main" id="{A139ED11-70AA-4AB7-97D1-2646EF3309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E2A125-1066-4608-9689-2A368E75D56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34290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C5A4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C5A43"/>
                </a:solidFill>
                <a:latin typeface="Aptos"/>
                <a:ea typeface="Aptos"/>
                <a:cs typeface="Aptos"/>
              </a:rPr>
              <a:t>Appendix B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525A4D-3B60-4BCF-BCDE-CA920B373E5D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4775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D1B18"/>
                </a:solidFill>
                <a:latin typeface="Aptos Display"/>
                <a:ea typeface="Aptos Display"/>
                <a:cs typeface="Aptos Display"/>
              </a:rPr>
              <a:t>Data and literature links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3363D1-3E8C-4897-A050-EF5AD61C3F3D}"/>
              </a:ext>
            </a:extLst>
          </p:cNvPr>
          <p:cNvSpPr>
            <a:spLocks noGrp="1"/>
          </p:cNvSpPr>
          <p:nvPr/>
        </p:nvSpPr>
        <p:spPr>
          <a:xfrm>
            <a:off x="552450" y="1409700"/>
            <a:ext cx="10763250" cy="14288"/>
          </a:xfrm>
          <a:prstGeom prst="rect">
            <a:avLst/>
          </a:prstGeom>
          <a:solidFill>
            <a:srgbClr val="D8D1C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62DD0B-EF8D-4D98-A9B9-7E072E21D80A}"/>
              </a:ext>
            </a:extLst>
          </p:cNvPr>
          <p:cNvSpPr>
            <a:spLocks noGrp="1"/>
          </p:cNvSpPr>
          <p:nvPr/>
        </p:nvSpPr>
        <p:spPr>
          <a:xfrm>
            <a:off x="666750" y="1676400"/>
            <a:ext cx="16192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510EC17-D521-434F-848D-FB8FC30913C4}"/>
              </a:ext>
            </a:extLst>
          </p:cNvPr>
          <p:cNvSpPr>
            <a:spLocks noGrp="1"/>
          </p:cNvSpPr>
          <p:nvPr/>
        </p:nvSpPr>
        <p:spPr>
          <a:xfrm>
            <a:off x="752475" y="17430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D8A7F5E-9580-4ED2-825C-E67FEC24CDC6}"/>
              </a:ext>
            </a:extLst>
          </p:cNvPr>
          <p:cNvSpPr>
            <a:spLocks noGrp="1"/>
          </p:cNvSpPr>
          <p:nvPr/>
        </p:nvSpPr>
        <p:spPr>
          <a:xfrm>
            <a:off x="2286000" y="1676400"/>
            <a:ext cx="371475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811FA3-CEFE-419E-B25E-4E95A23FB8CA}"/>
              </a:ext>
            </a:extLst>
          </p:cNvPr>
          <p:cNvSpPr>
            <a:spLocks noGrp="1"/>
          </p:cNvSpPr>
          <p:nvPr/>
        </p:nvSpPr>
        <p:spPr>
          <a:xfrm>
            <a:off x="2371725" y="17430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2AFAF1-1EC2-4FB0-8365-576382607BE8}"/>
              </a:ext>
            </a:extLst>
          </p:cNvPr>
          <p:cNvSpPr>
            <a:spLocks noGrp="1"/>
          </p:cNvSpPr>
          <p:nvPr/>
        </p:nvSpPr>
        <p:spPr>
          <a:xfrm>
            <a:off x="6000750" y="1676400"/>
            <a:ext cx="5029200" cy="457200"/>
          </a:xfrm>
          <a:prstGeom prst="rect">
            <a:avLst/>
          </a:prstGeom>
          <a:solidFill>
            <a:srgbClr val="1D1B18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4700A85-5830-4B36-82B7-B315112F3FA4}"/>
              </a:ext>
            </a:extLst>
          </p:cNvPr>
          <p:cNvSpPr>
            <a:spLocks noGrp="1"/>
          </p:cNvSpPr>
          <p:nvPr/>
        </p:nvSpPr>
        <p:spPr>
          <a:xfrm>
            <a:off x="6086475" y="17430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A30ED0D-8BF0-4847-81D7-5738E87D528F}"/>
              </a:ext>
            </a:extLst>
          </p:cNvPr>
          <p:cNvSpPr>
            <a:spLocks noGrp="1"/>
          </p:cNvSpPr>
          <p:nvPr/>
        </p:nvSpPr>
        <p:spPr>
          <a:xfrm>
            <a:off x="666750" y="21336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1AD975-16D8-4C61-8A39-EFFBC8F85D9F}"/>
              </a:ext>
            </a:extLst>
          </p:cNvPr>
          <p:cNvSpPr>
            <a:spLocks noGrp="1"/>
          </p:cNvSpPr>
          <p:nvPr/>
        </p:nvSpPr>
        <p:spPr>
          <a:xfrm>
            <a:off x="752475" y="22002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Peng et al. 2025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7BE084-9761-4353-8BF7-59A1044A0C14}"/>
              </a:ext>
            </a:extLst>
          </p:cNvPr>
          <p:cNvSpPr>
            <a:spLocks noGrp="1"/>
          </p:cNvSpPr>
          <p:nvPr/>
        </p:nvSpPr>
        <p:spPr>
          <a:xfrm>
            <a:off x="2286000" y="21336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A9F968-D533-428C-9E72-45E7E8CC2AC1}"/>
              </a:ext>
            </a:extLst>
          </p:cNvPr>
          <p:cNvSpPr>
            <a:spLocks noGrp="1"/>
          </p:cNvSpPr>
          <p:nvPr/>
        </p:nvSpPr>
        <p:spPr>
          <a:xfrm>
            <a:off x="2371725" y="22002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nature.com/articles/s41561-025-01700-9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4C619B-ABE2-4736-8292-85AD15F2D947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79403BC-3ABD-4E7C-8F2E-EEF30351983E}"/>
              </a:ext>
            </a:extLst>
          </p:cNvPr>
          <p:cNvSpPr>
            <a:spLocks noGrp="1"/>
          </p:cNvSpPr>
          <p:nvPr/>
        </p:nvSpPr>
        <p:spPr>
          <a:xfrm>
            <a:off x="6086475" y="22002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Paper reproduction and question source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F9E8534-9105-4F78-98F4-073076ABEB31}"/>
              </a:ext>
            </a:extLst>
          </p:cNvPr>
          <p:cNvSpPr>
            <a:spLocks noGrp="1"/>
          </p:cNvSpPr>
          <p:nvPr/>
        </p:nvSpPr>
        <p:spPr>
          <a:xfrm>
            <a:off x="666750" y="25908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40191E2-563D-4439-87DC-FAADE7CD9ACF}"/>
              </a:ext>
            </a:extLst>
          </p:cNvPr>
          <p:cNvSpPr>
            <a:spLocks noGrp="1"/>
          </p:cNvSpPr>
          <p:nvPr/>
        </p:nvSpPr>
        <p:spPr>
          <a:xfrm>
            <a:off x="752475" y="26574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OISST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DF3A95D-2918-4FF9-9706-90F020E82C24}"/>
              </a:ext>
            </a:extLst>
          </p:cNvPr>
          <p:cNvSpPr>
            <a:spLocks noGrp="1"/>
          </p:cNvSpPr>
          <p:nvPr/>
        </p:nvSpPr>
        <p:spPr>
          <a:xfrm>
            <a:off x="2286000" y="25908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8D53EF-D812-4AF5-A03D-2AA8F097ADF2}"/>
              </a:ext>
            </a:extLst>
          </p:cNvPr>
          <p:cNvSpPr>
            <a:spLocks noGrp="1"/>
          </p:cNvSpPr>
          <p:nvPr/>
        </p:nvSpPr>
        <p:spPr>
          <a:xfrm>
            <a:off x="2371725" y="26574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ncei.noaa.gov/products/optimum-interpolation-sst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3F18B1F-3992-492B-A272-B54418A1872D}"/>
              </a:ext>
            </a:extLst>
          </p:cNvPr>
          <p:cNvSpPr>
            <a:spLocks noGrp="1"/>
          </p:cNvSpPr>
          <p:nvPr/>
        </p:nvSpPr>
        <p:spPr>
          <a:xfrm>
            <a:off x="6000750" y="25908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BD498F1-2E2C-4C86-BED2-4F4C9DEB76DC}"/>
              </a:ext>
            </a:extLst>
          </p:cNvPr>
          <p:cNvSpPr>
            <a:spLocks noGrp="1"/>
          </p:cNvSpPr>
          <p:nvPr/>
        </p:nvSpPr>
        <p:spPr>
          <a:xfrm>
            <a:off x="6086475" y="26574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Sea-surface temperature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D5D940E-5E51-40C8-99CA-0F5EAFD1A2F3}"/>
              </a:ext>
            </a:extLst>
          </p:cNvPr>
          <p:cNvSpPr>
            <a:spLocks noGrp="1"/>
          </p:cNvSpPr>
          <p:nvPr/>
        </p:nvSpPr>
        <p:spPr>
          <a:xfrm>
            <a:off x="666750" y="30480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C637739-A094-4190-BCC6-8661C9481495}"/>
              </a:ext>
            </a:extLst>
          </p:cNvPr>
          <p:cNvSpPr>
            <a:spLocks noGrp="1"/>
          </p:cNvSpPr>
          <p:nvPr/>
        </p:nvSpPr>
        <p:spPr>
          <a:xfrm>
            <a:off x="752475" y="31146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GPCP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8EDCD00-2609-4BC9-BFCE-C05DE1C9DFD8}"/>
              </a:ext>
            </a:extLst>
          </p:cNvPr>
          <p:cNvSpPr>
            <a:spLocks noGrp="1"/>
          </p:cNvSpPr>
          <p:nvPr/>
        </p:nvSpPr>
        <p:spPr>
          <a:xfrm>
            <a:off x="2286000" y="30480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3DF03E6-89FE-4ECB-84EA-FB37AD43FFDA}"/>
              </a:ext>
            </a:extLst>
          </p:cNvPr>
          <p:cNvSpPr>
            <a:spLocks noGrp="1"/>
          </p:cNvSpPr>
          <p:nvPr/>
        </p:nvSpPr>
        <p:spPr>
          <a:xfrm>
            <a:off x="2371725" y="31146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psl.noaa.gov/data/gridded/data.gpcp.html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B8C68B-9EC8-48F1-9EB1-014F3175F23F}"/>
              </a:ext>
            </a:extLst>
          </p:cNvPr>
          <p:cNvSpPr>
            <a:spLocks noGrp="1"/>
          </p:cNvSpPr>
          <p:nvPr/>
        </p:nvSpPr>
        <p:spPr>
          <a:xfrm>
            <a:off x="6000750" y="30480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C10C647-8866-4D77-8067-3FF87B4E30BA}"/>
              </a:ext>
            </a:extLst>
          </p:cNvPr>
          <p:cNvSpPr>
            <a:spLocks noGrp="1"/>
          </p:cNvSpPr>
          <p:nvPr/>
        </p:nvSpPr>
        <p:spPr>
          <a:xfrm>
            <a:off x="6086475" y="31146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Precipitation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9FC66D8-87B1-4884-849C-EB94FAD6D9C4}"/>
              </a:ext>
            </a:extLst>
          </p:cNvPr>
          <p:cNvSpPr>
            <a:spLocks noGrp="1"/>
          </p:cNvSpPr>
          <p:nvPr/>
        </p:nvSpPr>
        <p:spPr>
          <a:xfrm>
            <a:off x="666750" y="35052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D7AA0C-8A60-4514-BFFE-D71E1A9E8DB0}"/>
              </a:ext>
            </a:extLst>
          </p:cNvPr>
          <p:cNvSpPr>
            <a:spLocks noGrp="1"/>
          </p:cNvSpPr>
          <p:nvPr/>
        </p:nvSpPr>
        <p:spPr>
          <a:xfrm>
            <a:off x="752475" y="35718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NCEP/NCAR R1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C5373F3-3064-42B6-AF12-17DB831EA1EB}"/>
              </a:ext>
            </a:extLst>
          </p:cNvPr>
          <p:cNvSpPr>
            <a:spLocks noGrp="1"/>
          </p:cNvSpPr>
          <p:nvPr/>
        </p:nvSpPr>
        <p:spPr>
          <a:xfrm>
            <a:off x="2286000" y="35052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A42ED1B-71E3-44A2-B106-126C08A58556}"/>
              </a:ext>
            </a:extLst>
          </p:cNvPr>
          <p:cNvSpPr>
            <a:spLocks noGrp="1"/>
          </p:cNvSpPr>
          <p:nvPr/>
        </p:nvSpPr>
        <p:spPr>
          <a:xfrm>
            <a:off x="2371725" y="35718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psl.noaa.gov/data/reanalysis/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87714BA-A6AA-48D9-845B-12D496EE16AC}"/>
              </a:ext>
            </a:extLst>
          </p:cNvPr>
          <p:cNvSpPr>
            <a:spLocks noGrp="1"/>
          </p:cNvSpPr>
          <p:nvPr/>
        </p:nvSpPr>
        <p:spPr>
          <a:xfrm>
            <a:off x="6000750" y="35052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E270CE9-2828-4EE2-8B4C-9A9E2A9A9465}"/>
              </a:ext>
            </a:extLst>
          </p:cNvPr>
          <p:cNvSpPr>
            <a:spLocks noGrp="1"/>
          </p:cNvSpPr>
          <p:nvPr/>
        </p:nvSpPr>
        <p:spPr>
          <a:xfrm>
            <a:off x="6086475" y="35718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Wind-pressure fallback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5B6F779-451B-4D2E-8045-2BA890D05A92}"/>
              </a:ext>
            </a:extLst>
          </p:cNvPr>
          <p:cNvSpPr>
            <a:spLocks noGrp="1"/>
          </p:cNvSpPr>
          <p:nvPr/>
        </p:nvSpPr>
        <p:spPr>
          <a:xfrm>
            <a:off x="666750" y="39624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44B494A-57CE-4DC3-83C5-83F117653BFE}"/>
              </a:ext>
            </a:extLst>
          </p:cNvPr>
          <p:cNvSpPr>
            <a:spLocks noGrp="1"/>
          </p:cNvSpPr>
          <p:nvPr/>
        </p:nvSpPr>
        <p:spPr>
          <a:xfrm>
            <a:off x="752475" y="40290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ERA5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2698CC6-5FD1-43A6-AC7B-28F67BF4626D}"/>
              </a:ext>
            </a:extLst>
          </p:cNvPr>
          <p:cNvSpPr>
            <a:spLocks noGrp="1"/>
          </p:cNvSpPr>
          <p:nvPr/>
        </p:nvSpPr>
        <p:spPr>
          <a:xfrm>
            <a:off x="2286000" y="39624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949903A-25EC-4EF0-BE65-38BAF6FF2380}"/>
              </a:ext>
            </a:extLst>
          </p:cNvPr>
          <p:cNvSpPr>
            <a:spLocks noGrp="1"/>
          </p:cNvSpPr>
          <p:nvPr/>
        </p:nvSpPr>
        <p:spPr>
          <a:xfrm>
            <a:off x="2371725" y="40290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cds.climate.copernicus.eu/datasets/reanalysis-era5-single-levels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FF9A068-4343-455D-9D7E-351CEB947CD5}"/>
              </a:ext>
            </a:extLst>
          </p:cNvPr>
          <p:cNvSpPr>
            <a:spLocks noGrp="1"/>
          </p:cNvSpPr>
          <p:nvPr/>
        </p:nvSpPr>
        <p:spPr>
          <a:xfrm>
            <a:off x="6000750" y="39624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B7BD16E-9B56-4B56-9434-5CB7CC900554}"/>
              </a:ext>
            </a:extLst>
          </p:cNvPr>
          <p:cNvSpPr>
            <a:spLocks noGrp="1"/>
          </p:cNvSpPr>
          <p:nvPr/>
        </p:nvSpPr>
        <p:spPr>
          <a:xfrm>
            <a:off x="6086475" y="40290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wind/Walker diagnostics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3B9482B-D0DA-482F-B361-45F396F8B4C4}"/>
              </a:ext>
            </a:extLst>
          </p:cNvPr>
          <p:cNvSpPr>
            <a:spLocks noGrp="1"/>
          </p:cNvSpPr>
          <p:nvPr/>
        </p:nvSpPr>
        <p:spPr>
          <a:xfrm>
            <a:off x="666750" y="4419600"/>
            <a:ext cx="16192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A95803A-D8A1-4071-9698-0D38EE6A9D68}"/>
              </a:ext>
            </a:extLst>
          </p:cNvPr>
          <p:cNvSpPr>
            <a:spLocks noGrp="1"/>
          </p:cNvSpPr>
          <p:nvPr/>
        </p:nvSpPr>
        <p:spPr>
          <a:xfrm>
            <a:off x="752475" y="44862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NOAA OLR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EAE4EE1-5B85-41BA-8E00-B2BD5772E7EF}"/>
              </a:ext>
            </a:extLst>
          </p:cNvPr>
          <p:cNvSpPr>
            <a:spLocks noGrp="1"/>
          </p:cNvSpPr>
          <p:nvPr/>
        </p:nvSpPr>
        <p:spPr>
          <a:xfrm>
            <a:off x="2286000" y="4419600"/>
            <a:ext cx="371475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C7D284B-FD6B-42E9-8579-9E4E38094859}"/>
              </a:ext>
            </a:extLst>
          </p:cNvPr>
          <p:cNvSpPr>
            <a:spLocks noGrp="1"/>
          </p:cNvSpPr>
          <p:nvPr/>
        </p:nvSpPr>
        <p:spPr>
          <a:xfrm>
            <a:off x="2371725" y="44862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psl.noaa.gov/data/gridded/data.interp_OLR.html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10990D6-36DA-45FF-9460-3C4A13700B1E}"/>
              </a:ext>
            </a:extLst>
          </p:cNvPr>
          <p:cNvSpPr>
            <a:spLocks noGrp="1"/>
          </p:cNvSpPr>
          <p:nvPr/>
        </p:nvSpPr>
        <p:spPr>
          <a:xfrm>
            <a:off x="6000750" y="4419600"/>
            <a:ext cx="5029200" cy="457200"/>
          </a:xfrm>
          <a:prstGeom prst="rect">
            <a:avLst/>
          </a:prstGeom>
          <a:solidFill>
            <a:srgbClr val="F2ECDF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80A196D-16EE-47F4-AC47-156C2614F50B}"/>
              </a:ext>
            </a:extLst>
          </p:cNvPr>
          <p:cNvSpPr>
            <a:spLocks noGrp="1"/>
          </p:cNvSpPr>
          <p:nvPr/>
        </p:nvSpPr>
        <p:spPr>
          <a:xfrm>
            <a:off x="6086475" y="44862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Next convection check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37B7C11-6D4B-4C69-97F2-AB383B1EAD78}"/>
              </a:ext>
            </a:extLst>
          </p:cNvPr>
          <p:cNvSpPr>
            <a:spLocks noGrp="1"/>
          </p:cNvSpPr>
          <p:nvPr/>
        </p:nvSpPr>
        <p:spPr>
          <a:xfrm>
            <a:off x="666750" y="4876800"/>
            <a:ext cx="16192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FEC1E8A-083A-43EF-B35E-E792DFDE314A}"/>
              </a:ext>
            </a:extLst>
          </p:cNvPr>
          <p:cNvSpPr>
            <a:spLocks noGrp="1"/>
          </p:cNvSpPr>
          <p:nvPr/>
        </p:nvSpPr>
        <p:spPr>
          <a:xfrm>
            <a:off x="752475" y="4943475"/>
            <a:ext cx="14478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ERSSTv5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071FE40-4578-44B2-9FE7-D2E221F05CE1}"/>
              </a:ext>
            </a:extLst>
          </p:cNvPr>
          <p:cNvSpPr>
            <a:spLocks noGrp="1"/>
          </p:cNvSpPr>
          <p:nvPr/>
        </p:nvSpPr>
        <p:spPr>
          <a:xfrm>
            <a:off x="2286000" y="4876800"/>
            <a:ext cx="371475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AEBA94C-C8A8-47CE-B2C3-0D71CD7B88E6}"/>
              </a:ext>
            </a:extLst>
          </p:cNvPr>
          <p:cNvSpPr>
            <a:spLocks noGrp="1"/>
          </p:cNvSpPr>
          <p:nvPr/>
        </p:nvSpPr>
        <p:spPr>
          <a:xfrm>
            <a:off x="2371725" y="4943475"/>
            <a:ext cx="35433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ncei.noaa.gov/products/extended-reconstructed-sst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6344006E-C227-46EF-BEDF-C9E0B3649746}"/>
              </a:ext>
            </a:extLst>
          </p:cNvPr>
          <p:cNvSpPr>
            <a:spLocks noGrp="1"/>
          </p:cNvSpPr>
          <p:nvPr/>
        </p:nvSpPr>
        <p:spPr>
          <a:xfrm>
            <a:off x="6000750" y="4876800"/>
            <a:ext cx="5029200" cy="457200"/>
          </a:xfrm>
          <a:prstGeom prst="rect">
            <a:avLst/>
          </a:prstGeom>
          <a:solidFill>
            <a:srgbClr val="FFFAF1"/>
          </a:solidFill>
          <a:ln w="6668">
            <a:solidFill>
              <a:srgbClr val="D8D1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95B9DA1-3765-4B57-A15E-B48692F83036}"/>
              </a:ext>
            </a:extLst>
          </p:cNvPr>
          <p:cNvSpPr>
            <a:spLocks noGrp="1"/>
          </p:cNvSpPr>
          <p:nvPr/>
        </p:nvSpPr>
        <p:spPr>
          <a:xfrm>
            <a:off x="6086475" y="4943475"/>
            <a:ext cx="485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1D1B1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D1B18"/>
                </a:solidFill>
                <a:latin typeface="Aptos"/>
                <a:ea typeface="Aptos"/>
                <a:cs typeface="Aptos"/>
              </a:rPr>
              <a:t>Long-record robustness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82CB042-9449-4335-8592-042AE5EFEC3A}"/>
              </a:ext>
            </a:extLst>
          </p:cNvPr>
          <p:cNvSpPr>
            <a:spLocks noGrp="1"/>
          </p:cNvSpPr>
          <p:nvPr/>
        </p:nvSpPr>
        <p:spPr>
          <a:xfrm>
            <a:off x="552450" y="6477000"/>
            <a:ext cx="10668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5D574F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D574F"/>
                </a:solidFill>
                <a:latin typeface="Aptos"/>
                <a:ea typeface="Aptos"/>
                <a:cs typeface="Aptos"/>
              </a:rPr>
              <a:t>Full source log: docs/data_source_log.md.</a:t>
            </a:r>
          </a:p>
        </p:txBody>
      </p:sp>
    </p:spTree>
    <p:extLst>
      <p:ext uri="{BB962C8B-B14F-4D97-AF65-F5344CB8AC3E}">
        <p14:creationId xmlns:p14="http://schemas.microsoft.com/office/powerpoint/2010/main" val="16090150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2013</TotalTime>
  <Words>2138</Words>
  <Application>Microsoft Macintosh PowerPoint</Application>
  <DocSecurity>0</DocSecurity>
  <PresentationFormat>宽屏</PresentationFormat>
  <Paragraphs>230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Calibri</vt:lpstr>
      <vt:lpstr>Cambria Math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越 戴</cp:lastModifiedBy>
  <cp:revision>2</cp:revision>
  <dcterms:created xsi:type="dcterms:W3CDTF">2026-05-24T02:35:39Z</dcterms:created>
  <dcterms:modified xsi:type="dcterms:W3CDTF">2026-05-25T13:19:13Z</dcterms:modified>
</cp:coreProperties>
</file>