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c7ca76c2754180" /><Relationship Type="http://schemas.openxmlformats.org/officeDocument/2006/relationships/extended-properties" Target="/docProps/app.xml" Id="Raafa43c8847f40f9" /><Relationship Type="http://schemas.openxmlformats.org/officeDocument/2006/relationships/officeDocument" Target="/ppt/presentation.xml" Id="R7b0b37e224d647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084b0e2f5e45c0"/>
  </p:sldMasterIdLst>
  <p:notesMasterIdLst>
    <p:notesMasterId xmlns:r="http://schemas.openxmlformats.org/officeDocument/2006/relationships" r:id="R3f6195c53fd941e7"/>
  </p:notesMasterIdLst>
  <p:sldIdLst>
    <p:sldId xmlns:r="http://schemas.openxmlformats.org/officeDocument/2006/relationships" id="256" r:id="R215436d1e56f41be"/>
    <p:sldId xmlns:r="http://schemas.openxmlformats.org/officeDocument/2006/relationships" id="257" r:id="R180385b12c56462f"/>
    <p:sldId xmlns:r="http://schemas.openxmlformats.org/officeDocument/2006/relationships" id="258" r:id="R4ce18b8bbb184a41"/>
    <p:sldId xmlns:r="http://schemas.openxmlformats.org/officeDocument/2006/relationships" id="259" r:id="R39e171dbcdd24fa1"/>
    <p:sldId xmlns:r="http://schemas.openxmlformats.org/officeDocument/2006/relationships" id="260" r:id="R602968ad47394e72"/>
    <p:sldId xmlns:r="http://schemas.openxmlformats.org/officeDocument/2006/relationships" id="261" r:id="R420b5ad81dc84469"/>
    <p:sldId xmlns:r="http://schemas.openxmlformats.org/officeDocument/2006/relationships" id="262" r:id="R293acdea0fc44a24"/>
    <p:sldId xmlns:r="http://schemas.openxmlformats.org/officeDocument/2006/relationships" id="263" r:id="R92beb85438be4cdc"/>
    <p:sldId xmlns:r="http://schemas.openxmlformats.org/officeDocument/2006/relationships" id="264" r:id="R65483c073c7a4020"/>
    <p:sldId xmlns:r="http://schemas.openxmlformats.org/officeDocument/2006/relationships" id="265" r:id="R2291d765684940e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084b0e2f5e45c0" /><Relationship Type="http://schemas.openxmlformats.org/officeDocument/2006/relationships/theme" Target="/ppt/theme/theme1.xml" Id="Rdc2f95a6eb3d4cfe" /><Relationship Type="http://schemas.openxmlformats.org/officeDocument/2006/relationships/notesMaster" Target="/ppt/notesMasters/notesMaster1.xml" Id="R3f6195c53fd941e7" /><Relationship Type="http://schemas.openxmlformats.org/officeDocument/2006/relationships/presProps" Target="/ppt/presProps.xml" Id="R912fc7f5a59d4c0a" /><Relationship Type="http://schemas.openxmlformats.org/officeDocument/2006/relationships/viewProps" Target="/ppt/viewProps.xml" Id="R26fa3579f433441b" /><Relationship Type="http://schemas.openxmlformats.org/officeDocument/2006/relationships/tableStyles" Target="/ppt/tableStyles.xml" Id="Rd86d7bc755c1472f" /><Relationship Type="http://schemas.openxmlformats.org/officeDocument/2006/relationships/slide" Target="/ppt/slides/slide1.xml" Id="R215436d1e56f41be" /><Relationship Type="http://schemas.openxmlformats.org/officeDocument/2006/relationships/slide" Target="/ppt/slides/slide2.xml" Id="R180385b12c56462f" /><Relationship Type="http://schemas.openxmlformats.org/officeDocument/2006/relationships/slide" Target="/ppt/slides/slide3.xml" Id="R4ce18b8bbb184a41" /><Relationship Type="http://schemas.openxmlformats.org/officeDocument/2006/relationships/slide" Target="/ppt/slides/slide4.xml" Id="R39e171dbcdd24fa1" /><Relationship Type="http://schemas.openxmlformats.org/officeDocument/2006/relationships/slide" Target="/ppt/slides/slide5.xml" Id="R602968ad47394e72" /><Relationship Type="http://schemas.openxmlformats.org/officeDocument/2006/relationships/slide" Target="/ppt/slides/slide6.xml" Id="R420b5ad81dc84469" /><Relationship Type="http://schemas.openxmlformats.org/officeDocument/2006/relationships/slide" Target="/ppt/slides/slide7.xml" Id="R293acdea0fc44a24" /><Relationship Type="http://schemas.openxmlformats.org/officeDocument/2006/relationships/slide" Target="/ppt/slides/slide8.xml" Id="R92beb85438be4cdc" /><Relationship Type="http://schemas.openxmlformats.org/officeDocument/2006/relationships/slide" Target="/ppt/slides/slide9.xml" Id="R65483c073c7a4020" /><Relationship Type="http://schemas.openxmlformats.org/officeDocument/2006/relationships/slide" Target="/ppt/slides/slide10.xml" Id="R2291d765684940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1cd0f04877f4c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fed13dfac64413" /><Relationship Type="http://schemas.openxmlformats.org/officeDocument/2006/relationships/notesMaster" Target="/ppt/notesMasters/notesMaster1.xml" Id="Rafa821d8e5bf4c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0c07756e464eab" /><Relationship Type="http://schemas.openxmlformats.org/officeDocument/2006/relationships/notesMaster" Target="/ppt/notesMasters/notesMaster1.xml" Id="R49abff463af44a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d5df1b7489468d" /><Relationship Type="http://schemas.openxmlformats.org/officeDocument/2006/relationships/notesMaster" Target="/ppt/notesMasters/notesMaster1.xml" Id="R302aef71570146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61136df4974dc8" /><Relationship Type="http://schemas.openxmlformats.org/officeDocument/2006/relationships/notesMaster" Target="/ppt/notesMasters/notesMaster1.xml" Id="Rb7a62720e1ed49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3bdf55f1fa42e5" /><Relationship Type="http://schemas.openxmlformats.org/officeDocument/2006/relationships/notesMaster" Target="/ppt/notesMasters/notesMaster1.xml" Id="Rbdb85d8f12664b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b560a9af074624" /><Relationship Type="http://schemas.openxmlformats.org/officeDocument/2006/relationships/notesMaster" Target="/ppt/notesMasters/notesMaster1.xml" Id="R10a2f4eb32d749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f0fc8779e14f12" /><Relationship Type="http://schemas.openxmlformats.org/officeDocument/2006/relationships/notesMaster" Target="/ppt/notesMasters/notesMaster1.xml" Id="R70005229feeb4f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1b3ecb2f3a45ed" /><Relationship Type="http://schemas.openxmlformats.org/officeDocument/2006/relationships/notesMaster" Target="/ppt/notesMasters/notesMaster1.xml" Id="Rd67f3c570fc146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ef64c9f62d48ab" /><Relationship Type="http://schemas.openxmlformats.org/officeDocument/2006/relationships/notesMaster" Target="/ppt/notesMasters/notesMaster1.xml" Id="Re93b22af816440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0fae5786164e23" /><Relationship Type="http://schemas.openxmlformats.org/officeDocument/2006/relationships/notesMaster" Target="/ppt/notesMasters/notesMaster1.xml" Id="Re54f4b24501f4b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b1df505bbb41d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fc70955dfe34b76" /><Relationship Type="http://schemas.openxmlformats.org/officeDocument/2006/relationships/slideLayout" Target="/ppt/slideLayouts/slideLayout2.xml" Id="R052664e3242f44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2664e3242f44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a5a438f54400a" /><Relationship Type="http://schemas.openxmlformats.org/officeDocument/2006/relationships/notesSlide" Target="/ppt/notesSlides/notesSlide1.xml" Id="Rb41c8c8e76304d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c7cb03112444d3" /><Relationship Type="http://schemas.openxmlformats.org/officeDocument/2006/relationships/notesSlide" Target="/ppt/notesSlides/notesSlide2.xml" Id="R94a817cc980145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4f91a2d1244345" /><Relationship Type="http://schemas.openxmlformats.org/officeDocument/2006/relationships/image" Target="/ppt/media/image.png" Id="R2b1b51457103483b" /><Relationship Type="http://schemas.openxmlformats.org/officeDocument/2006/relationships/image" Target="/ppt/media/image2.png" Id="R965420ce78374b85" /><Relationship Type="http://schemas.openxmlformats.org/officeDocument/2006/relationships/notesSlide" Target="/ppt/notesSlides/notesSlide3.xml" Id="R090f9ae687cb48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b6ac86bca84f91" /><Relationship Type="http://schemas.openxmlformats.org/officeDocument/2006/relationships/image" Target="/ppt/media/image3.png" Id="R05c85a53759e47ff" /><Relationship Type="http://schemas.openxmlformats.org/officeDocument/2006/relationships/image" Target="/ppt/media/image4.png" Id="R2cd3d521d26f4464" /><Relationship Type="http://schemas.openxmlformats.org/officeDocument/2006/relationships/notesSlide" Target="/ppt/notesSlides/notesSlide4.xml" Id="R8474dd5a216241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b37a79eba4ec9" /><Relationship Type="http://schemas.openxmlformats.org/officeDocument/2006/relationships/image" Target="/ppt/media/image5.png" Id="Rb01997f270384c4b" /><Relationship Type="http://schemas.openxmlformats.org/officeDocument/2006/relationships/notesSlide" Target="/ppt/notesSlides/notesSlide5.xml" Id="Re2b93f9cad3e46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07ff0359b34b58" /><Relationship Type="http://schemas.openxmlformats.org/officeDocument/2006/relationships/image" Target="/ppt/media/image6.png" Id="R046aa4c248e34e3a" /><Relationship Type="http://schemas.openxmlformats.org/officeDocument/2006/relationships/notesSlide" Target="/ppt/notesSlides/notesSlide6.xml" Id="R6720b34f255041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11a26879584912" /><Relationship Type="http://schemas.openxmlformats.org/officeDocument/2006/relationships/image" Target="/ppt/media/image7.png" Id="Rd1ea11debb2b4e82" /><Relationship Type="http://schemas.openxmlformats.org/officeDocument/2006/relationships/notesSlide" Target="/ppt/notesSlides/notesSlide7.xml" Id="R930776c65f364b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3d6a17f0b846fe" /><Relationship Type="http://schemas.openxmlformats.org/officeDocument/2006/relationships/notesSlide" Target="/ppt/notesSlides/notesSlide8.xml" Id="Rd05f84cd74a244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6d3b4e09d9416a" /><Relationship Type="http://schemas.openxmlformats.org/officeDocument/2006/relationships/notesSlide" Target="/ppt/notesSlides/notesSlide9.xml" Id="Rac2d4b9f1a5d4c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fc845ceb884a2e" /><Relationship Type="http://schemas.openxmlformats.org/officeDocument/2006/relationships/notesSlide" Target="/ppt/notesSlides/notesSlide10.xml" Id="R5cce5da872e24c9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3631FA-F175-40A6-B95C-BB792926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E22E93-0649-49CD-9CD2-2DFE7603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开题方向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4F157-46A6-4E5D-85E7-68393881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8096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33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2023/24 强厄尔尼诺为何呈现海洋强、空气弱的脱耦响应？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8976B-79A8-4EA8-A388-D91DD55F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7050"/>
            <a:ext cx="876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从 Peng et al. 2025 复现出发，转向外海盆背景态对太平洋大气响应的调制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05F7-D37D-4497-B7B9-D27B3D01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84B0FC-702C-40F3-802C-6639D3BC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91000"/>
            <a:ext cx="771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主问题：哪些海盆/背景态因素削弱了太平洋暖 SST 对风场、SOI、降水和 Walker 环流的典型响应？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76B13-8356-4F58-8521-0CBAE30A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BC511-FE65-4BE4-8B92-F52D56B0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771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阶段定位：复现完成，独立验证完成一部分，已形成新研究切口。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0B49F-DC8F-4B67-AE86-2E8ADC10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12395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F1C257-6664-4823-971F-719D01DC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952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B55B4A-86C5-41A4-A2E8-F6982903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Source: Peng et al. 2025 Nature Geoscience; NOAA OISST, GPCP, NCEP/NCAR reanalysis.</a:t>
            </a:r>
          </a:p>
        </p:txBody>
      </p:sp>
    </p:spTree>
    <p:extLst>
      <p:ext uri="{BB962C8B-B14F-4D97-AF65-F5344CB8AC3E}">
        <p14:creationId xmlns:p14="http://schemas.microsoft.com/office/powerpoint/2010/main" val="18519481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F01FE3-F2EB-4045-8E68-9902D2AF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69081-BDD2-4CB1-B0ED-44BD68A3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逻辑链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42284-DB81-48C8-A7DB-63EC6453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先复现核心事实，再把“全年脱耦”拆成春夏的机制问题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38A74-0543-42F8-9511-7EF93B3B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E3C7A-DD30-4ED7-9826-EF4FEA15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9A292-90E8-405E-9F70-271E9AB0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F69A2-845C-450E-8371-B58429CC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原文复现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Fig.1-4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EA550-EEAC-48A2-94A0-7B5E647E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FD2FB5-EF36-425B-89D5-B1EB9859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81013-C88E-4027-8930-0C766A46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5A73FE-1B51-458D-91D2-FD773D74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原始数据验证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/ GPCP / NCEP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55105-36D6-454B-8B3B-36371603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D5F2F-2628-4501-B5F0-387C62C4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259A2-52FF-497D-ADCD-116982D5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31592C-E9B1-4FDC-BE71-4B2ABE1D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季节分解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AMJ-JJA 提前脱耦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DF4EEE-E43B-46CD-A7BF-783A0BC6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AA4D6-4E40-4AA9-BB47-84B42C5B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667DE-1148-41C4-8B77-8F0A13AA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38BED-674F-4E63-AB47-AFB251FE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新研究问题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外海盆暖背景是否抑制耦合？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1F1248-8248-4321-A092-DD8B9719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4A079B-D217-430F-94C4-A1EE6DDE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复现不是终点，而是把论文的定性判断变成可检验指标。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FA19B-2DAD-4D4D-9B45-7DB866AB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95160-F1D6-4A43-A33C-1327E041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9110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博士课题切口：春夏阶段，太平洋已变暖，但大气反馈没有跟上。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E900DF-AEA4-4721-873A-51F67794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Derived workflow in /reports/阶段性中文报告.md.</a:t>
            </a:r>
          </a:p>
        </p:txBody>
      </p:sp>
    </p:spTree>
    <p:extLst>
      <p:ext uri="{BB962C8B-B14F-4D97-AF65-F5344CB8AC3E}">
        <p14:creationId xmlns:p14="http://schemas.microsoft.com/office/powerpoint/2010/main" val="9396730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A6446F-D643-4C1C-84B1-B2460E22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15334-4061-46F2-8FDC-2A854B7A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复现结果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50806-FFD4-4081-8EFF-1F0BBA48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原文 Fig.1 的核心事实可以复现：2023/24 SST 强，但风压响应偏弱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14183-8907-4C4B-A0E3-278CCB97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b51457103483b"/>
          <a:stretch xmlns:a="http://schemas.openxmlformats.org/drawingml/2006/main"/>
        </p:blipFill>
        <p:spPr>
          <a:xfrm xmlns:a="http://schemas.openxmlformats.org/drawingml/2006/main">
            <a:off x="885031" y="1695450"/>
            <a:ext cx="4897438" cy="40767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420ce78374b85"/>
          <a:stretch xmlns:a="http://schemas.openxmlformats.org/drawingml/2006/main"/>
        </p:blipFill>
        <p:spPr>
          <a:xfrm xmlns:a="http://schemas.openxmlformats.org/drawingml/2006/main">
            <a:off x="6248400" y="2520847"/>
            <a:ext cx="4762500" cy="202585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C5764-5A8D-4AA9-8CCB-5E8D72C8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4864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2023 ratios: u10 = 0.27; SOI = 0.31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81145D-F3A4-4954-A0C9-1B0B358D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Paper reproduction: data/raw/peng2025_zenodo; table: 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83791355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7242E1-90AE-4263-92AB-78FE6209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F38BB-F612-4158-8E41-925649A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原文归因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F8C56-C35A-4290-AE56-F6D44370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原文的 AGCM 和风应力实验提示：海洋动力强，但大气端响应不足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74201-7526-4BEF-8D89-89755C71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85a53759e47ff"/>
          <a:stretch xmlns:a="http://schemas.openxmlformats.org/drawingml/2006/main"/>
        </p:blipFill>
        <p:spPr>
          <a:xfrm xmlns:a="http://schemas.openxmlformats.org/drawingml/2006/main">
            <a:off x="609600" y="1790972"/>
            <a:ext cx="3619500" cy="2856956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3d521d26f4464"/>
          <a:stretch xmlns:a="http://schemas.openxmlformats.org/drawingml/2006/main"/>
        </p:blipFill>
        <p:spPr>
          <a:xfrm xmlns:a="http://schemas.openxmlformats.org/drawingml/2006/main">
            <a:off x="5060668" y="1695450"/>
            <a:ext cx="2299264" cy="3048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5255B-1125-49FE-BC55-9B09FBF0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原文表格化摘录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11433-98DE-4050-A1A9-55E0BE3D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336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7E60D-3D03-4289-A30A-7ED92DA4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2098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指标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83560-741F-4147-99C7-DBC962EF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7685D-48EE-4973-AA1E-BD9FE71D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098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数值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33C41-B7F7-46D8-9468-80CB3F87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336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2F9B3-3366-44F4-AE6F-9EEC5D48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6098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Fig.3 aPac taux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57554-F5EE-4710-A887-9D6E103E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6A93B-3F14-4616-94A2-5C27ED55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098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0.0333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B670A-40F9-4AAC-9286-0C6E6E35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337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12641-14C5-488F-AF09-2DCC0D3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0099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Fig.3 aIndAtl taux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75F93-7EDB-4272-9C79-2BFDAE34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337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309CE-C45C-4367-9E50-1CFA7578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99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-0.0099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AB571-0C05-4027-AC8E-16211C69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A96E11-1CCF-47B1-A9DE-E046B398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4099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Fig.4 Dec Niño-3 CTRL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F4CD80-D87D-446F-B3BC-586609F9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3337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6921B-9FB7-4CA7-A8A9-CC75D8D5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4099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2.344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13768F-A5D5-4757-9F98-DCDD6373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338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AF92E-E4C8-4085-B3BA-73366964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100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Fig.4 Dec Niño-3 Wind2023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CBBFB2-5122-4EC0-BD37-E6C1043E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338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6ED90-9D51-47EE-96A3-9AEBD401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8100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0.681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721FE2-CE09-46C6-9FC6-BCA76A8A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Paper reproduction tables: fig3_agcm_summary.csv; fig4_wind_experiment_summary.csv.</a:t>
            </a:r>
          </a:p>
        </p:txBody>
      </p:sp>
    </p:spTree>
    <p:extLst>
      <p:ext uri="{BB962C8B-B14F-4D97-AF65-F5344CB8AC3E}">
        <p14:creationId xmlns:p14="http://schemas.microsoft.com/office/powerpoint/2010/main" val="21052784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1FBE69-9740-44C3-AC36-58238A15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CBA72-0E10-46C2-8E6D-3449DF7D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独立验证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C7200-976B-4ABE-83AF-53806AF9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用公开原始资料重算后，论文级信号仍然成立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7ED45-30EF-40FC-A082-6CB16E61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997f270384c4b"/>
          <a:stretch xmlns:a="http://schemas.openxmlformats.org/drawingml/2006/main"/>
        </p:blipFill>
        <p:spPr>
          <a:xfrm xmlns:a="http://schemas.openxmlformats.org/drawingml/2006/main">
            <a:off x="762000" y="1909066"/>
            <a:ext cx="4953000" cy="323036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875C1-4B1B-4CE9-9A3C-0A6FE1FD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14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87716-EAE9-412D-8AD3-A7E13BD3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重新计算 Niño-3，与原文 Fig.1 相关 0.9999。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B87B8C-9DB6-4A58-9861-7F9190F2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CE4D2-4D8B-463F-9109-4D710555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 显示 2023/24 中东太平洋降水低于强厄尔尼诺 composite。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2EAE1-72D5-43A3-80B2-05473ECB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BB050-D03C-48F9-A099-61D1ADDF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4325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 风和 SOI-like proxy 与原文大气指标高度一致。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19AFF-4A73-4161-9EA4-0CC77AE3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Raw validation: NOAA PSL OPeNDAP OISST/GPCP/NCEP outputs in data/derived/raw_validation.</a:t>
            </a:r>
          </a:p>
        </p:txBody>
      </p:sp>
    </p:spTree>
    <p:extLst>
      <p:ext uri="{BB962C8B-B14F-4D97-AF65-F5344CB8AC3E}">
        <p14:creationId xmlns:p14="http://schemas.microsoft.com/office/powerpoint/2010/main" val="8053470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D72DD4-7CCA-478B-BA9B-9847CCAC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8A924-7CC9-401C-A019-A9C4BD0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季节分解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9A957-F9AA-4DA7-92CB-95F736CC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关键新切口：2023 年 AMJ/JJA Niño-3 不弱，但大气响应已经显著偏弱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23535-6FE3-488A-99CF-78E7C24C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aa4c248e34e3a"/>
          <a:stretch xmlns:a="http://schemas.openxmlformats.org/drawingml/2006/main"/>
        </p:blipFill>
        <p:spPr>
          <a:xfrm xmlns:a="http://schemas.openxmlformats.org/drawingml/2006/main">
            <a:off x="666750" y="2281043"/>
            <a:ext cx="6191250" cy="269596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E98F7-961C-400F-990F-36453C2A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6B29E-5104-41A9-BC41-056AB9B8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指标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073C9-68F9-4901-BE0A-5AABF02F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FD9A7-B94D-4970-AF5B-AFE3A1E7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 差值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7B642-9107-4B8B-9669-4238EFF7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433EC-036D-4EBD-8B9D-B21FD484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 差值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78A26-D2D9-4351-83CB-CA4A71FD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94187-BC35-463F-86CC-BE5ED592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SST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58539-1140-4476-B89C-7487B934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6B2DCC-760A-47E9-A29D-4C4E96EF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+0.282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64F884-51DA-49D5-A11A-EB459D81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5BD2A-A7D7-40C4-8239-FB98AB58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+0.309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FE2A4-C6B3-42F8-8304-1F435CAC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105980-C73C-4E26-A0BD-9484CEE4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CWP u proxy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8A89FA-C237-4E53-898E-57A81A35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F114A-814C-4B93-BCB6-B55DD717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-2.301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CE9875-7E77-4636-BB29-D97041B8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ACFA73-08E5-49D6-B72E-5562B04A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-2.576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6B2249-0EC4-481C-A9F3-55DC32AA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DC472D-C813-4107-8CB1-42188E2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A722B1-6DC8-49D8-B326-48330DB5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0FCDBE-239A-4BC1-A792-EBCA682D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+1.133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D1CD4A-7A18-4AF7-A1DA-A673D95C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93ED6A-4194-4F11-B3BE-2E57DE1D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+1.551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A59EC2-C250-4CB2-A897-7CF0526D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Seasonal table: data/derived/research/seasonal_decoupling_first_pass.csv.</a:t>
            </a:r>
          </a:p>
        </p:txBody>
      </p:sp>
    </p:spTree>
    <p:extLst>
      <p:ext uri="{BB962C8B-B14F-4D97-AF65-F5344CB8AC3E}">
        <p14:creationId xmlns:p14="http://schemas.microsoft.com/office/powerpoint/2010/main" val="18151849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1AF5A9-0EB3-46C6-87FB-D8F34139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B32E6-686D-45EE-8D4C-B0CF54E4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新研究内容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B31A7-81BE-4E6B-8E0D-0C3503AB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外海盆 OISST 指数显示：2023 春夏热带背景态异常偏暖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41ECC-129A-4056-8C83-BD8FD713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a11debb2b4e82"/>
          <a:stretch xmlns:a="http://schemas.openxmlformats.org/drawingml/2006/main"/>
        </p:blipFill>
        <p:spPr>
          <a:xfrm xmlns:a="http://schemas.openxmlformats.org/drawingml/2006/main">
            <a:off x="666750" y="1981913"/>
            <a:ext cx="6191250" cy="329422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B1C1E-137A-4138-B53C-EC4F06B5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A706E-1B69-4CC8-AA70-D9FB4173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区域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87ADF-8BF0-4FB8-B0BB-64A5F31A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36A17-90C1-47E1-A034-D23BF31F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4BCA1-F9B0-47E3-9D09-95A3CBA0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CE7A5C-B3DC-44A8-B43C-94EA280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3B931-55D9-453D-B6DC-B7DD67FE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6F104-3720-4D04-B6DA-9B3480E3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N. Atlantic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7F45AF-7DAD-4949-A4A8-1766C509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A458C-7A1C-4A9D-8166-C7B60D8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+1.110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0D2A93-EE91-4328-90B4-39F300B5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21B4E-FD75-4550-9485-E0EBC9BC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+1.350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7E9E3A-84BB-4BF6-9592-75560DB8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29B693-EDB3-420E-8FD5-20EFD82F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W. Pacific warm pool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6BCC0-8022-472F-BFAB-F5976151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534980-0BFB-4783-899A-15ADEDFB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+0.726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A3D375-D2F4-4B9F-8144-46654AE7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EF842C-FEB9-4929-A2F5-E7B8946A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+0.881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2432BB-170F-434D-8A09-C1D94CA6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FF7D84-A844-47C5-A5FB-5D36DF70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Maritime Continent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B7344A-C311-4267-A09D-5AF5DB17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D9BEE7-8EAD-4A81-A408-F9A5D59A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+0.547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F5103-E19F-40B4-A787-758FD98C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E6E271-696A-4F8D-A861-F2828C9B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+0.677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EEB36D-8E83-4AE5-BBBA-36B0F1DC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F3C25C-0DA4-40E9-A4A7-3BFFAB4A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Indian Ocean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83544-1886-4187-82AF-2EDEE31B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2465C2-E0B9-4D9F-9478-3202483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66E50E-7934-4929-B1FA-2751E7BA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5D1837-EF30-442B-84A0-C6357348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2779F4-22AA-4A1A-8B48-8FF9819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New diagnostic: OISST external-basin indices, 2023 minus 1982/1997/2015 composite.</a:t>
            </a:r>
          </a:p>
        </p:txBody>
      </p:sp>
    </p:spTree>
    <p:extLst>
      <p:ext uri="{BB962C8B-B14F-4D97-AF65-F5344CB8AC3E}">
        <p14:creationId xmlns:p14="http://schemas.microsoft.com/office/powerpoint/2010/main" val="14390571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FD7BA3-C7D7-458F-BC95-EBE89441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DD3FE-E1F3-4425-A35D-39AD2C9F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拟定题目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337EA-F48F-45AA-AB1C-7DFFE907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可开题为：外海盆暖异常对 2023/24 强厄尔尼诺海气脱耦的调制作用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414D7-11DD-4C55-8DFD-74BE6A9E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D7EC5-546E-481B-AE0A-B6A662BE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主问题：在太平洋 SST 已足够暖的条件下，外海盆和背景增暖如何改变大气耦合效率？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FD9E6-8FDF-4F0D-A2BB-2CC08FC6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E82FE6-2763-4610-9B7A-D008B04A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H1：春夏外海盆暖异常改变 Walker 环流背景，削弱中太平洋西风响应。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AD94E-5B2C-4D13-9563-88144C40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576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3115A-A186-4223-91F6-5114973D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H2：海陆洲/印度洋暖异常维持局地对流，抑制典型 ENSO 降水中心东移。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23554-ED6D-47C9-A257-9B40CCD4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F6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9A1F5-92E3-4BC7-9874-99014726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H3：Tropical North Atlantic 异常偏暖通过遥相关或热带平均增暖背景提高大气响应阈值。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7CF09-3D14-4E48-8F5B-BF223D8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Interpretation based on reproduction + raw validation + external-basin diagnostics.</a:t>
            </a:r>
          </a:p>
        </p:txBody>
      </p:sp>
    </p:spTree>
    <p:extLst>
      <p:ext uri="{BB962C8B-B14F-4D97-AF65-F5344CB8AC3E}">
        <p14:creationId xmlns:p14="http://schemas.microsoft.com/office/powerpoint/2010/main" val="18787723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64E2A1-4C41-4FFF-AD06-D4147EE4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F2035-1B07-4145-8361-AF6F3565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数据来源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1C655-5697-41B0-960C-D11F4F8E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数据链条已经覆盖复现、独立验证和新机制诊断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F0681-23F6-4293-AEA3-D6D1DA6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8FA96-0B74-4057-B04B-DB393C29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812E4-47B1-4F78-932C-D676B60F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用途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E6617-6C50-4A9C-9EF9-0A7B278E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0AFA3-524B-4B73-A4EB-98F983C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1220F-7C93-4247-9686-C6084A31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056EC-F5AA-4002-BAD0-5B3B5371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时间/变量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724C3-F86F-4F8A-98CD-0C643131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A6F9C-E4CE-499E-AD16-0F129D2F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118B3-E288-42DB-816D-137975A6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CEC0A2-1DA2-47EA-9A48-78BE18A7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Zenodo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2DEAF-96CF-4137-9E0A-DC4D1685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7B2B37-D4ED-41B9-AF47-1FCC6160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Fig.1-4 source data/code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ABED2-CD54-47AA-BC7C-1C5DA75F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53309-0B52-4CFB-A4A3-F2855BA3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2733D-FD1E-49CA-AF9B-A5B823D4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EA35E-20C5-40F5-A9B2-832DA6DB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 v2.1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34B27A-3A4D-46A9-98C0-250B0A21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4FC69-5D69-41ED-B60D-B058ECC3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1982-2024 monthly SST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941D6-2542-4862-9B0C-B24B15E7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73821-FACE-4F08-AE02-1E76824D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降水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F75B52-CE97-4BCE-B564-E7587872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1383DB-C0AD-4EEC-82DD-A6D53916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1504F1-BF1B-4F0D-A015-E16321D3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800C33-058F-4468-A886-C58AA2CB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Equatorial Pacific precipitation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0F36D6-4BB5-437D-95B3-985B1130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6D5DEC-778C-4279-963C-14A11440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风压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E0143-71EB-467D-BBB1-71325BA8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9CE15A-846A-4172-B2E9-72853E10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DF3DC9-433D-42BB-881D-FBE5BD04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EA85C3-2323-4229-A309-15ED50F1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 wind, SLP proxy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14AA47-6698-450A-B091-8DA05E52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152E47-9386-41DE-8570-63CFFC2F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后续高阶验证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88DF96-85FE-456B-860E-77049DD9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7BF2F-4157-4944-A029-237DDBA7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 / OLR / ORAS5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7F9706-7322-48D5-A32E-C94F53D7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F17C48-A260-449D-8530-B81222D7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Walker circulation, convection, OHC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32848A-2CD7-42E5-A2DE-CEE35668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Catalog: docs/data_catalog.md; source inventory: docs/source_paper_data_inventory.md.</a:t>
            </a:r>
          </a:p>
        </p:txBody>
      </p:sp>
    </p:spTree>
    <p:extLst>
      <p:ext uri="{BB962C8B-B14F-4D97-AF65-F5344CB8AC3E}">
        <p14:creationId xmlns:p14="http://schemas.microsoft.com/office/powerpoint/2010/main" val="12364359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77CF47-D488-4102-AB64-DFB31EFD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46DC2-D859-4C33-BD62-FA967B35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1C4B1-8278-44E5-973C-B05D2913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下一阶段从指数走向空间图和归因：先诊断，再设计 AGCM 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54A95-DE02-4E77-858D-1A656A96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891107-3119-44EB-A15F-4D0B3614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BF205-343C-4E43-A932-13B369CC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A6FE1F-E5FF-40F3-B0AF-0421290B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SST 异常图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确认外海盆空间结构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1E569-7833-4F05-A81B-7444D55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1BA36-731F-48CA-B4A1-673D6EF9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A4D86-B39A-4A38-8182-9CC13875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AE5A5-8151-470D-BE26-7CDE2F65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降水/风/SLP 图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定位对流与 Walker 响应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EE227-E13B-4AE1-B639-00C33EB5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CD8D8-CACB-4939-BC2C-817AC94D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FE68B-93B3-400A-B2C5-ACCAB4BA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C5F92-89DD-44D3-B779-0613F793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散点与回归残差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量化耦合效率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A12EF3-CD5E-4700-80F6-9E87AFDA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C152BB-AAE5-44DD-B139-555BFE34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383D6-C6B6-4E10-93BD-EE1E47CE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8B48B7-5F41-488E-8F84-7BC3F1F1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预案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Pacific-only / external-basin / detrended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D0640-663F-4F8B-8C7F-4CDCA7F5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Planned workflow: docs/research_stage_workflow.md; docs/agcm_experiment_matrix.md.</a:t>
            </a:r>
          </a:p>
        </p:txBody>
      </p:sp>
    </p:spTree>
    <p:extLst>
      <p:ext uri="{BB962C8B-B14F-4D97-AF65-F5344CB8AC3E}">
        <p14:creationId xmlns:p14="http://schemas.microsoft.com/office/powerpoint/2010/main" val="9600085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2026-05-23T05:00:23.6250000Z</dcterms:created>
  <dcterms:modified xsi:type="dcterms:W3CDTF">2026-05-23T05:00:23.6260000Z</dcterms:modified>
</coreProperties>
</file>