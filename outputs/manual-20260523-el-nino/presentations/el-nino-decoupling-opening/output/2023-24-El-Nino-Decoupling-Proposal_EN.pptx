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1b3b1e19fd4bfe" /><Relationship Type="http://schemas.openxmlformats.org/officeDocument/2006/relationships/extended-properties" Target="/docProps/app.xml" Id="Rc12d97b51fae4bff" /><Relationship Type="http://schemas.openxmlformats.org/officeDocument/2006/relationships/officeDocument" Target="/ppt/presentation.xml" Id="Rae28573f204e43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ca407ba5bf4fbc"/>
  </p:sldMasterIdLst>
  <p:notesMasterIdLst>
    <p:notesMasterId xmlns:r="http://schemas.openxmlformats.org/officeDocument/2006/relationships" r:id="R03bb00d490a94ba9"/>
  </p:notesMasterIdLst>
  <p:sldIdLst>
    <p:sldId xmlns:r="http://schemas.openxmlformats.org/officeDocument/2006/relationships" id="256" r:id="R7a3846b31fe04e3a"/>
    <p:sldId xmlns:r="http://schemas.openxmlformats.org/officeDocument/2006/relationships" id="257" r:id="R85dc13e1c6524c5b"/>
    <p:sldId xmlns:r="http://schemas.openxmlformats.org/officeDocument/2006/relationships" id="258" r:id="R6498d88fbf344bf0"/>
    <p:sldId xmlns:r="http://schemas.openxmlformats.org/officeDocument/2006/relationships" id="259" r:id="Rf0f50d3a0f444124"/>
    <p:sldId xmlns:r="http://schemas.openxmlformats.org/officeDocument/2006/relationships" id="260" r:id="Rfe5206dd5e4749b1"/>
    <p:sldId xmlns:r="http://schemas.openxmlformats.org/officeDocument/2006/relationships" id="261" r:id="R48c7c024929d41fb"/>
    <p:sldId xmlns:r="http://schemas.openxmlformats.org/officeDocument/2006/relationships" id="262" r:id="Re58f8509e7f743be"/>
    <p:sldId xmlns:r="http://schemas.openxmlformats.org/officeDocument/2006/relationships" id="263" r:id="R4d381ac818f445b8"/>
    <p:sldId xmlns:r="http://schemas.openxmlformats.org/officeDocument/2006/relationships" id="264" r:id="R19bb2d0e73264ba1"/>
    <p:sldId xmlns:r="http://schemas.openxmlformats.org/officeDocument/2006/relationships" id="265" r:id="R3ab219849a86443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ca407ba5bf4fbc" /><Relationship Type="http://schemas.openxmlformats.org/officeDocument/2006/relationships/theme" Target="/ppt/theme/theme1.xml" Id="R08d351096e504548" /><Relationship Type="http://schemas.openxmlformats.org/officeDocument/2006/relationships/notesMaster" Target="/ppt/notesMasters/notesMaster1.xml" Id="R03bb00d490a94ba9" /><Relationship Type="http://schemas.openxmlformats.org/officeDocument/2006/relationships/presProps" Target="/ppt/presProps.xml" Id="R457d942ad41246d0" /><Relationship Type="http://schemas.openxmlformats.org/officeDocument/2006/relationships/viewProps" Target="/ppt/viewProps.xml" Id="Ra7de3e2a6d96443b" /><Relationship Type="http://schemas.openxmlformats.org/officeDocument/2006/relationships/tableStyles" Target="/ppt/tableStyles.xml" Id="R79b82e6b2eb44d21" /><Relationship Type="http://schemas.openxmlformats.org/officeDocument/2006/relationships/slide" Target="/ppt/slides/slide1.xml" Id="R7a3846b31fe04e3a" /><Relationship Type="http://schemas.openxmlformats.org/officeDocument/2006/relationships/slide" Target="/ppt/slides/slide2.xml" Id="R85dc13e1c6524c5b" /><Relationship Type="http://schemas.openxmlformats.org/officeDocument/2006/relationships/slide" Target="/ppt/slides/slide3.xml" Id="R6498d88fbf344bf0" /><Relationship Type="http://schemas.openxmlformats.org/officeDocument/2006/relationships/slide" Target="/ppt/slides/slide4.xml" Id="Rf0f50d3a0f444124" /><Relationship Type="http://schemas.openxmlformats.org/officeDocument/2006/relationships/slide" Target="/ppt/slides/slide5.xml" Id="Rfe5206dd5e4749b1" /><Relationship Type="http://schemas.openxmlformats.org/officeDocument/2006/relationships/slide" Target="/ppt/slides/slide6.xml" Id="R48c7c024929d41fb" /><Relationship Type="http://schemas.openxmlformats.org/officeDocument/2006/relationships/slide" Target="/ppt/slides/slide7.xml" Id="Re58f8509e7f743be" /><Relationship Type="http://schemas.openxmlformats.org/officeDocument/2006/relationships/slide" Target="/ppt/slides/slide8.xml" Id="R4d381ac818f445b8" /><Relationship Type="http://schemas.openxmlformats.org/officeDocument/2006/relationships/slide" Target="/ppt/slides/slide9.xml" Id="R19bb2d0e73264ba1" /><Relationship Type="http://schemas.openxmlformats.org/officeDocument/2006/relationships/slide" Target="/ppt/slides/slide10.xml" Id="R3ab219849a8644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781e8d5a84742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648f2f6a2a42e5" /><Relationship Type="http://schemas.openxmlformats.org/officeDocument/2006/relationships/notesMaster" Target="/ppt/notesMasters/notesMaster1.xml" Id="Re1ecea47962d42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b8f099f64c498c" /><Relationship Type="http://schemas.openxmlformats.org/officeDocument/2006/relationships/notesMaster" Target="/ppt/notesMasters/notesMaster1.xml" Id="Rde490a68c1664f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3f8e54b3d743cc" /><Relationship Type="http://schemas.openxmlformats.org/officeDocument/2006/relationships/notesMaster" Target="/ppt/notesMasters/notesMaster1.xml" Id="Rebec89802c5540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c98deb1a4842b6" /><Relationship Type="http://schemas.openxmlformats.org/officeDocument/2006/relationships/notesMaster" Target="/ppt/notesMasters/notesMaster1.xml" Id="R5c36b9fd78db42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0d8e58670c42d5" /><Relationship Type="http://schemas.openxmlformats.org/officeDocument/2006/relationships/notesMaster" Target="/ppt/notesMasters/notesMaster1.xml" Id="R305c3a09f5fd4e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cfbb50b3e24e8a" /><Relationship Type="http://schemas.openxmlformats.org/officeDocument/2006/relationships/notesMaster" Target="/ppt/notesMasters/notesMaster1.xml" Id="R49a09285ae634c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9998fac46b4ec4" /><Relationship Type="http://schemas.openxmlformats.org/officeDocument/2006/relationships/notesMaster" Target="/ppt/notesMasters/notesMaster1.xml" Id="R5a2c6b44a8c249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9b2136973b48d5" /><Relationship Type="http://schemas.openxmlformats.org/officeDocument/2006/relationships/notesMaster" Target="/ppt/notesMasters/notesMaster1.xml" Id="R59e450ebfb074d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df816357be410a" /><Relationship Type="http://schemas.openxmlformats.org/officeDocument/2006/relationships/notesMaster" Target="/ppt/notesMasters/notesMaster1.xml" Id="Rc916efb0a2a141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d8fab3eb0a4b0d" /><Relationship Type="http://schemas.openxmlformats.org/officeDocument/2006/relationships/notesMaster" Target="/ppt/notesMasters/notesMaster1.xml" Id="Rd6cf7f1f2d464e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7f1c7a3e741d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9c3df4358a84d5e" /><Relationship Type="http://schemas.openxmlformats.org/officeDocument/2006/relationships/slideLayout" Target="/ppt/slideLayouts/slideLayout2.xml" Id="R9a9779ba287240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9779ba287240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13f2a01ff64214" /><Relationship Type="http://schemas.openxmlformats.org/officeDocument/2006/relationships/notesSlide" Target="/ppt/notesSlides/notesSlide1.xml" Id="R991a7e05cdd44c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086eb2cc27402e" /><Relationship Type="http://schemas.openxmlformats.org/officeDocument/2006/relationships/notesSlide" Target="/ppt/notesSlides/notesSlide2.xml" Id="Rbc3ed3f1d7814e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cc3fd23b8244ce" /><Relationship Type="http://schemas.openxmlformats.org/officeDocument/2006/relationships/image" Target="/ppt/media/image.png" Id="Rf06df8f8e4d041f1" /><Relationship Type="http://schemas.openxmlformats.org/officeDocument/2006/relationships/image" Target="/ppt/media/image2.png" Id="Rfa9912c689814f8e" /><Relationship Type="http://schemas.openxmlformats.org/officeDocument/2006/relationships/notesSlide" Target="/ppt/notesSlides/notesSlide3.xml" Id="R13b276a4fb1043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60c00432b94c1d" /><Relationship Type="http://schemas.openxmlformats.org/officeDocument/2006/relationships/image" Target="/ppt/media/image3.png" Id="Ra4ec4803a1084e40" /><Relationship Type="http://schemas.openxmlformats.org/officeDocument/2006/relationships/image" Target="/ppt/media/image4.png" Id="R1e54c5324dbb42a6" /><Relationship Type="http://schemas.openxmlformats.org/officeDocument/2006/relationships/notesSlide" Target="/ppt/notesSlides/notesSlide4.xml" Id="R43645c054ca848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5a7d23b2e44d4" /><Relationship Type="http://schemas.openxmlformats.org/officeDocument/2006/relationships/image" Target="/ppt/media/image5.png" Id="Rf869e8a2f24b4351" /><Relationship Type="http://schemas.openxmlformats.org/officeDocument/2006/relationships/notesSlide" Target="/ppt/notesSlides/notesSlide5.xml" Id="Rfecabc2511c645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008b97919a4728" /><Relationship Type="http://schemas.openxmlformats.org/officeDocument/2006/relationships/image" Target="/ppt/media/image6.png" Id="Rb5222a73bb6c479f" /><Relationship Type="http://schemas.openxmlformats.org/officeDocument/2006/relationships/notesSlide" Target="/ppt/notesSlides/notesSlide6.xml" Id="R76f38b35e08d4e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05b9649ffb4b9c" /><Relationship Type="http://schemas.openxmlformats.org/officeDocument/2006/relationships/image" Target="/ppt/media/image7.png" Id="Rfec0df20b1004608" /><Relationship Type="http://schemas.openxmlformats.org/officeDocument/2006/relationships/notesSlide" Target="/ppt/notesSlides/notesSlide7.xml" Id="R3f172e01e6844f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d07292e133447d" /><Relationship Type="http://schemas.openxmlformats.org/officeDocument/2006/relationships/notesSlide" Target="/ppt/notesSlides/notesSlide8.xml" Id="R12b1311e777d44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e709e730d24cb5" /><Relationship Type="http://schemas.openxmlformats.org/officeDocument/2006/relationships/notesSlide" Target="/ppt/notesSlides/notesSlide9.xml" Id="R537cba32bdde4b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d39f1716734d2f" /><Relationship Type="http://schemas.openxmlformats.org/officeDocument/2006/relationships/notesSlide" Target="/ppt/notesSlides/notesSlide10.xml" Id="Rc3fbb753f5a8439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1C65D5-E536-4828-96C1-B982458E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0D748-978B-4871-9729-F9964B43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Research Topic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0E33F-54C8-4CF3-A127-5D1C7F73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8096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33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Why did the 2023/24 strong El Niño show ocean-strong but atmosphere-weak coupling?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61C39-A754-401E-973C-0C002D0A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7050"/>
            <a:ext cx="876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From reproducing Peng et al. 2025 to testing whether extra-Pacific warming damped the Pacific atmospheric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FD78-DE07-45B9-BE5A-59D031EC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58154-7425-44FB-882E-633419D3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91000"/>
            <a:ext cx="771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Core question: which basins or background-state factors weakened the canonical wind, SOI, rainfall, and Walker-circulation response to warm Pacific SST?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99F9AE-4238-4C98-BB54-1FB380D1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26259-284D-48CE-A329-23A2D557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771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Current stage: paper reproduction is complete; raw-product validation and first mechanism diagnostics are underway.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78711-192A-4849-8006-BF3F8DDD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12395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1AF86-C79E-4453-B012-BC03220F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952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D3F9F-E636-4073-B2EA-82A729DB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Source: Peng et al. 2025 Nature Geoscience; NOAA OISST, GPCP, NCEP/NCAR reanalysis.</a:t>
            </a:r>
          </a:p>
        </p:txBody>
      </p:sp>
    </p:spTree>
    <p:extLst>
      <p:ext uri="{BB962C8B-B14F-4D97-AF65-F5344CB8AC3E}">
        <p14:creationId xmlns:p14="http://schemas.microsoft.com/office/powerpoint/2010/main" val="12230342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BE3BCF-EB99-4C8D-9E7F-4D2DB399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9C180-2035-41BB-BFB8-9A269522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Logic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A4A9A-78FF-4EC7-8B39-0B3381F0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The project moves from reproducing the paper to isolating a spring-summer coupling failure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8EADF-63F4-47DE-B045-7D713393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79931-E39E-40E0-9133-F5FB846C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3E685-DC81-44AB-B297-F4B981CE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7634C-DA1A-40DB-ACF4-D9CB44B9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Paper reproduction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 1-4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B6FDC-7350-4685-9287-1D738970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A340F-C011-4BA6-9F25-91B2E6EF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58D75-C5E1-4255-8D22-8ECF1135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6AB79-2016-4BEA-A9A8-FB908BA5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Raw-product checks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/ GPCP / NCEP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A5CDD-94DD-43FD-9DD8-AE76B8BC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FE23F-DB54-46E1-B470-3EA49025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037D7-6809-45B3-B3C5-6CC821E1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C7BC6-2847-4E44-8828-950A9BF1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Seasonal split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AMJ-JJA decoupling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F6B49E-3D16-4591-B50E-CD64E94D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F7669-4C42-4519-99AA-E134CC20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24100"/>
            <a:ext cx="2305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62D975-DA99-42FB-B989-0F7009D1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765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DFC038-90DB-46F8-A54B-4C929451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19400"/>
            <a:ext cx="1962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New question</a:t>
            </a:r>
          </a:p>
          <a:p xmlns:a="http://schemas.openxmlformats.org/drawingml/2006/main">
            <a:pPr algn="l">
              <a:defRPr sz="150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Can extra-Pacific warmth damp coupling?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81EF0-CD3E-49B0-9CD0-DC99A457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C58940-975E-41B5-961A-06E3F4A4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Reproduction turns the paper's qualitative claim into a measurable coupling residual.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EDFC00-A6B7-46C7-9AFF-0D500CA2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3BE0B2-7911-48A2-883F-0A6E916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9110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PhD-level opening is seasonal: Pacific SST was already warm, but the atmosphere did not respond normally.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2B37EB-8141-4292-B762-AEFF8D39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Derived workflow in reports/阶段性中文报告.md.</a:t>
            </a:r>
          </a:p>
        </p:txBody>
      </p:sp>
    </p:spTree>
    <p:extLst>
      <p:ext uri="{BB962C8B-B14F-4D97-AF65-F5344CB8AC3E}">
        <p14:creationId xmlns:p14="http://schemas.microsoft.com/office/powerpoint/2010/main" val="6327374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505638-B59D-4620-9FCD-18D169B7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7015D2-CE30-4613-BA03-4932C85D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9B5FE-1399-465D-B43B-B1EB4808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Reproduced Fig. 1 confirms the core fact: 2023/24 SST was strong while wind and pressure responses were weak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CF468-B6DF-4948-96E5-A2C8D563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df8f8e4d041f1"/>
          <a:stretch xmlns:a="http://schemas.openxmlformats.org/drawingml/2006/main"/>
        </p:blipFill>
        <p:spPr>
          <a:xfrm xmlns:a="http://schemas.openxmlformats.org/drawingml/2006/main">
            <a:off x="885031" y="1695450"/>
            <a:ext cx="4897438" cy="40767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912c689814f8e"/>
          <a:stretch xmlns:a="http://schemas.openxmlformats.org/drawingml/2006/main"/>
        </p:blipFill>
        <p:spPr>
          <a:xfrm xmlns:a="http://schemas.openxmlformats.org/drawingml/2006/main">
            <a:off x="6248400" y="2520847"/>
            <a:ext cx="4762500" cy="202585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39CEC-8176-4929-B10F-B0677E81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4864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2023 ratios: u10 = 0.27; SOI = 0.31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0B2FB-06E7-4374-B269-4EA400B2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Paper reproduction: data/raw/peng2025_zenodo; table: 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6415371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E51EB2-752A-4267-A171-E573F360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3E34C-02E4-4250-B783-AFEAD87C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Paper Attribution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FA035-84B1-4CA0-9705-70C2DBE1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The reproduced AGCM and wind-stress experiments point to strong ocean dynamics but a muted atmosphere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80607-191F-415E-9F41-30228D5B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c4803a1084e40"/>
          <a:stretch xmlns:a="http://schemas.openxmlformats.org/drawingml/2006/main"/>
        </p:blipFill>
        <p:spPr>
          <a:xfrm xmlns:a="http://schemas.openxmlformats.org/drawingml/2006/main">
            <a:off x="609600" y="1790972"/>
            <a:ext cx="3619500" cy="2856956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4c5324dbb42a6"/>
          <a:stretch xmlns:a="http://schemas.openxmlformats.org/drawingml/2006/main"/>
        </p:blipFill>
        <p:spPr>
          <a:xfrm xmlns:a="http://schemas.openxmlformats.org/drawingml/2006/main">
            <a:off x="5060668" y="1695450"/>
            <a:ext cx="2299264" cy="3048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60CD3-2098-4190-A22C-A254ABC2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Extracted paper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6AE91-C027-47C4-9675-6BC22924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336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ADADB-751D-4620-8E1E-1537AA8F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2098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EBD40-5FE3-44AF-AB98-EA1CEF4E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CA4E5-B891-4515-A9E2-51DCC0FA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098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F7633-82CD-4CB5-B322-DC5C838D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336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A5812-8CA1-4A90-99E0-EADFEBB1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6098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Fig.3 aPac taux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8B0F0-CC20-442A-882E-E3302482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CF223-BB5E-4CCC-B79D-8E499FF4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098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0.0333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C5551-60B2-4B4E-8CE7-097BA7AD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337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2AB3E-D307-4DA4-A87B-2B1C37D0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0099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Fig.3 aIndAtl taux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A996A-9982-480E-9D22-0EF82AB2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337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9F2A8C-9386-41D3-8117-F3F5A3FC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99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-0.0099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9F15FD-E911-42B0-8D48-AACAC708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E73BAB-5380-414A-8B85-63867688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4099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Fig.4 Dec Niño-3 CTRL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72398-752C-4375-B7C8-42BD5232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33375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931401-39C1-4711-905A-75201F15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4099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2.344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F3D446-1F82-4D49-BD4B-6AA7D744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338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5A6C98-7660-4E26-8EF0-E4EB196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100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Fig.4 Dec Niño-3 Wind2023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4CAA62-A304-488F-A1F7-52957DB4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33800"/>
            <a:ext cx="148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300F51-34D0-4C90-A685-4A75E124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81000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0.681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2A941A-2721-40C9-A31D-BC2C5C95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Paper reproduction tables: fig3_agcm_summary.csv; fig4_wind_experiment_summary.csv.</a:t>
            </a:r>
          </a:p>
        </p:txBody>
      </p:sp>
    </p:spTree>
    <p:extLst>
      <p:ext uri="{BB962C8B-B14F-4D97-AF65-F5344CB8AC3E}">
        <p14:creationId xmlns:p14="http://schemas.microsoft.com/office/powerpoint/2010/main" val="28449232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23437E-5F52-4011-B996-4A2EFD5A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8D604-7574-49B6-882E-14813E86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Raw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24E88-4B53-4598-8F08-5AD93D65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Independent public datasets reproduce the paper-level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8B40E-A5CE-4C51-80AA-084F8B32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9e8a2f24b4351"/>
          <a:stretch xmlns:a="http://schemas.openxmlformats.org/drawingml/2006/main"/>
        </p:blipFill>
        <p:spPr>
          <a:xfrm xmlns:a="http://schemas.openxmlformats.org/drawingml/2006/main">
            <a:off x="762000" y="1909066"/>
            <a:ext cx="4953000" cy="323036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5A1A0-262D-47A3-AB83-846E49AC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14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443F4-C5D5-47EA-ABA4-0F7DA242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Raw OISST Niño-3 correlates 0.9999 with the reproduced Fig. 1 index.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615B5C-689C-4D62-9B11-2BF149A9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C9556-2E34-4120-8BA5-F15FE7C4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 shows weaker 2023/24 central/eastern Pacific precipitation than the strong-El Niño composite.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67479-B0CB-4F35-A019-028AB8A4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B620EE-AD6A-4AFF-A6FC-E279FADB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43250"/>
            <a:ext cx="419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 wind and SOI-like proxies align closely with the paper's atmospheric indices.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A005C-41DE-42E7-94D2-B9973778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Raw validation: NOAA PSL OPeNDAP OISST/GPCP/NCEP outputs in data/derived/raw_validation.</a:t>
            </a:r>
          </a:p>
        </p:txBody>
      </p:sp>
    </p:spTree>
    <p:extLst>
      <p:ext uri="{BB962C8B-B14F-4D97-AF65-F5344CB8AC3E}">
        <p14:creationId xmlns:p14="http://schemas.microsoft.com/office/powerpoint/2010/main" val="2558385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3434E1-58C7-4B60-9447-55F717C4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FE72C-625D-4E7A-84FD-C7BFF386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Seasonal Split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BC417-275C-434C-989B-5FA383FA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The key opening: 2023 AMJ/JJA Niño-3 was not weak, yet atmospheric coupling was already suppressed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26711-3344-4EC4-B016-5BD5BE77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22a73bb6c479f"/>
          <a:stretch xmlns:a="http://schemas.openxmlformats.org/drawingml/2006/main"/>
        </p:blipFill>
        <p:spPr>
          <a:xfrm xmlns:a="http://schemas.openxmlformats.org/drawingml/2006/main">
            <a:off x="666750" y="2281043"/>
            <a:ext cx="6191250" cy="269596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44736-B5EE-4FD6-A945-BEB50E17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E9EAD-AFDE-4523-9950-EC66D4EF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88DA9-53AD-42F1-B9A7-663A1ABB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23F9D-536A-46AD-B23B-03505DB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 diff.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DC561-2B1F-4E2B-8201-1DFAA255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4AC8D1-71D1-4E9B-AD3F-01A6055A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 diff.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402CC-A1F3-47DD-B0D2-8548BC0F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63D61-4C67-427A-AC32-C8554CF4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SST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0EF89-9DD1-4182-A974-C88B4FDD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E0005-78A1-4195-ACE4-0394773F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+0.282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96AB5-AB77-4EEC-A78B-C51575DC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ECEB85-4412-4ABC-AEA0-61DF1988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+0.309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FA609-4146-405C-BFFD-0FD60AA2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BDC14-66C7-48C0-814A-130723A0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CWP u proxy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532E07-20E2-4534-98D1-A3EA7DF7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8ABC37-28E9-47D1-9DE8-18A955E0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-2.301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713076-69DC-4444-83B1-468F7BCD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E22E99-1D54-42AA-A261-CA7C1200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-2.576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C71108-217F-4910-A019-188F51EC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C26FA1-B04B-435D-984D-BF7D8FE7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154D2-EE9A-4167-A1B7-0E766EB5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47727C-4191-49DC-AF86-1B7B5D3C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+1.133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38A734-5C69-40D8-98CE-B1C75450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AE0DDD-12E5-4343-B117-4B7CFAD7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+1.551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848DA1-BB5A-4D00-8AC7-64011D44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Seasonal table: data/derived/research/seasonal_decoupling_first_pass.csv.</a:t>
            </a:r>
          </a:p>
        </p:txBody>
      </p:sp>
    </p:spTree>
    <p:extLst>
      <p:ext uri="{BB962C8B-B14F-4D97-AF65-F5344CB8AC3E}">
        <p14:creationId xmlns:p14="http://schemas.microsoft.com/office/powerpoint/2010/main" val="1157069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36A159-9388-4FBD-8DA5-E2EC95EC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BC847-EE8C-4038-89C1-A8694A29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New Diagnostic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648EB9-3938-436B-8201-F6150107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External-basin OISST indices show unusually warm tropical background conditions in spring-summer 2023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32F8B-B076-4A7C-A491-5B3FE9DF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0df20b1004608"/>
          <a:stretch xmlns:a="http://schemas.openxmlformats.org/drawingml/2006/main"/>
        </p:blipFill>
        <p:spPr>
          <a:xfrm xmlns:a="http://schemas.openxmlformats.org/drawingml/2006/main">
            <a:off x="666750" y="1981913"/>
            <a:ext cx="6191250" cy="329422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EF1F3-A082-40DD-8D59-0C3152E2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ADCD23-4432-4C69-A652-03CC40A2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522C0-E342-43B4-BCE0-5F8E71B8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4FCB4-304B-40F0-A614-AF3AD719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BD3CA-44AE-4E0E-8A61-50262470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0002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2A2DF-E43F-4274-9BE0-C6EBFAB8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0764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08E70-CE96-42AE-BE46-868B5CFE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C62A90-84DC-48DB-A9EE-B270BC80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N. Atlantic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ECEAB-852B-433D-890E-6B43B8C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F66BE-3184-4C93-9837-4EB16299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+1.110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01C274-00F1-40C4-9893-F2744BBC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4003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A76233-F9B7-4B59-B0ED-FF75BCE8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4765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+1.350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F53049-EAA3-47E3-AFD8-A534B0F5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78F7E-62A2-4DBB-B871-72C9A043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W. Pacific warm pool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63FDDE-E659-468D-851B-5E40F717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4DA2AA-CBD1-45E1-B3B7-BDE5A8B5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+0.726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EFB78-6376-4F98-AEFF-BF4A1A0A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8003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D4EDF5-98CC-414D-9A03-C8DB1993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8765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+0.881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CBBD69-8B46-40D4-9EFB-D15FB741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FC2A2C-97BF-41D0-879B-E3A61730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Maritime Continent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8A927C-0274-487A-895A-1E8E073C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83D84A-2BB8-4967-A1D7-2EBC62F9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+0.547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E9E264-F97E-4285-A395-C06C4369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20040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F3EA17-55CE-41E8-A1D8-5FB4DA34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27660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+0.677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8288ED-B453-4D7A-BB63-CBDC620C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0789B6-157D-4467-8DFF-99554FD8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Indian Ocean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2D074-5DF0-4CFB-9695-55904461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A2B470-2F89-400C-A711-7151CA19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ECAD5A-1704-418D-B532-B3BBC0BB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600450"/>
            <a:ext cx="124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CB5CFF-24E1-4F66-9940-CAE5D271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676650"/>
            <a:ext cx="1073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8FE2BD-821C-4A8A-8F26-592F3C89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New diagnostic: OISST external-basin indices, 2023 minus 1982/1997/2015 composite.</a:t>
            </a:r>
          </a:p>
        </p:txBody>
      </p:sp>
    </p:spTree>
    <p:extLst>
      <p:ext uri="{BB962C8B-B14F-4D97-AF65-F5344CB8AC3E}">
        <p14:creationId xmlns:p14="http://schemas.microsoft.com/office/powerpoint/2010/main" val="6789507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27338E-339D-43AC-9F65-104F6D28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14870-A947-4AFE-97D5-BC9A528D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Proposed Topic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9B3A2-7C7D-4C29-845C-3F31E3E0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Working title: Extra-Pacific warming as a modulator of atmosphere-ocean decoupling during the 2023/24 El Niño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54FFB-0275-401C-95DF-0E9AC97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1B488-B045-458F-8F3B-251D8495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Core question: when Pacific SST is already sufficiently warm, how do external basins and background warming change coupling efficiency?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0221D-E593-4A11-B754-CB6559FD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A9087-AACB-4A20-BD05-73C0ABD8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H1: Spring-summer external-basin warmth altered the Walker background state and weakened central-Pacific westerly response.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2DFBB-2087-454C-8113-ADFCC4B7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576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A6409-B2E4-4B26-8333-A476E871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H2: Maritime Continent / Indian Ocean warmth maintained local convection and limited the canonical eastward rainfall shift.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B7A279-FAC2-41A0-AC9F-680233CF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923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F6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819BA-8C95-448E-82F6-B0023AFE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8724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H3: Tropical North Atlantic warmth or tropical-mean warming raised the threshold for a Pacific-driven atmospheric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C4B03-5A22-412D-84BB-CC1140A1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Interpretation based on reproduction + raw validation + external-basin diagnostics.</a:t>
            </a:r>
          </a:p>
        </p:txBody>
      </p:sp>
    </p:spTree>
    <p:extLst>
      <p:ext uri="{BB962C8B-B14F-4D97-AF65-F5344CB8AC3E}">
        <p14:creationId xmlns:p14="http://schemas.microsoft.com/office/powerpoint/2010/main" val="8343143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92EF5D-F6DD-4CD0-85AB-4627C094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77DA1-DE87-48BE-BFC2-C5493ACF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Data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C1119-9EED-47FB-A692-C5ED552A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The data chain now spans reproduction, independent validation, and new mechanism diagnostics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BCB1A-ACC2-46D2-959D-0AC7ADCC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ACFB4-2CD3-49CC-8D06-8A7CF6BD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90B6F-3767-4E75-8648-E2D953F0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C192C-0469-43F0-95B1-447E2981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73BBE-AC95-4719-896B-DC5A3A9F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7E25C-C5C9-4A94-83A2-AFEFBC0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18097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E821B-23C6-44BC-B4B3-11A522AF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18859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Time / variables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85A5A-C613-4126-A1D2-69EDE96E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38410-F311-4A60-9E55-C6E13B5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Paper reproduction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B1D42-6D67-482A-8EEA-AE6A14FB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FE164-D1EA-4179-BBC2-B642BDD8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Zenodo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9F83F-AE39-4241-B63A-9AD5C44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23241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7EE47-977B-4F51-BBD6-CBF8CD1D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24003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 1-4 source data/code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76BDD3-5086-48E3-B9E2-70D545A0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34356A-97B0-4F1F-A184-FA74EFE3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7D6F95-23BD-46EF-8530-07F01B01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9A383-13C3-4D74-8386-42A2D86C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 v2.1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7D55FE-469F-46AC-A6FF-C8969B19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28384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B3453A-6CD5-4A1B-83DD-1D046EDB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29146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1982-2024 monthly SST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768BC-FC26-41CD-8CF6-6C5A1C06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824F33-BE08-4B05-AB21-0AC8B50F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Rainfall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BBD6C6-4A00-4F2E-BBC6-D6FBD5CA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D9C84-B5C8-4BC4-B7D7-F570B8BB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0A8917-85C8-4CD9-BA2B-86D9CAE7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33528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A8C242-9BC3-4E25-B7BF-289605EB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34290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Equatorial Pacific precipitation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222D4-0642-4DBB-A51B-8AD18267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F9DD81-43C9-47C7-8B7F-A0FF0204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Wind/pressure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84F983-BB73-4241-AF8D-C231501D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EC7C8C-D61E-49E5-9CF4-6E179378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1311BC-DB9B-49B3-8DA9-85DAA666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386715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9C1110-56C9-4092-BE5F-2D16914C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394335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 wind, SLP proxy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3D031E-F8F8-4357-A44A-0FDDC8C9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37D934-CCBA-44C8-993E-95E5FC9E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Next-stage checks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407282-7682-431A-8E42-DF11CB6C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48D7F6-E0CA-493D-86BF-7C08FD09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 / OLR / ORAS5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74BD6E-EA5B-461B-8C5B-481C2C69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381500"/>
            <a:ext cx="3359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378788-0B74-4E0E-AF92-9392F7ED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925" y="4457700"/>
            <a:ext cx="3187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Walker circulation, convection, OHC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AB221-473B-42F4-93F5-30ADC1E7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Catalog: docs/data_catalog.md; source inventory: docs/source_paper_data_inventory.md.</a:t>
            </a:r>
          </a:p>
        </p:txBody>
      </p:sp>
    </p:spTree>
    <p:extLst>
      <p:ext uri="{BB962C8B-B14F-4D97-AF65-F5344CB8AC3E}">
        <p14:creationId xmlns:p14="http://schemas.microsoft.com/office/powerpoint/2010/main" val="15094539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A9112E-9BCD-403F-9183-20C08906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51136-0B72-4C1F-B463-3BFBE565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9CED5-FF52-4CE6-90E8-5127FFE1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971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Move from indices to spatial diagnostics and attribution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24AFF-F72C-4803-9A32-E0312FE3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F535C1-1359-46FC-AC14-5F7925EE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5B1C1-3628-42E6-8933-3F632532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0C898-9E4E-4CC5-9BFE-E4D35CF5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SST maps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confirm basin-scale structure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2CD55C-5D45-461A-A303-D62845DD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1C042-256E-4B11-B0C0-ABF52F06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BABF9-92D9-47A2-BABD-DCC7F6F1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29E86-25B5-4406-A5BD-42692FB9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Rainfall / wind / SLP maps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locate convection and Walker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F31904-8382-4C20-9B44-40597B7A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AB460-0F72-4859-B325-37D95577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73E0D-4318-4738-9397-19656291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A5406-0E34-4372-A01B-6550783C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Scatter and residual tests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quantify coupling efficiency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34C00-FCA7-4F71-802F-6358AEB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342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684CAA-EA49-4EC7-9B5E-7A22695B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47900"/>
            <a:ext cx="2305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173A5A-54B9-4383-B4EB-81C143F0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00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C807F-AAD2-4143-BE6C-9D5D10A6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4320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design</a:t>
            </a:r>
          </a:p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Pacific-only / external-basin / detrended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2EF1F-1BF2-417A-8EB9-02C52001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19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Planned workflow: docs/research_stage_workflow.md; docs/agcm_experiment_matrix.md.</a:t>
            </a:r>
          </a:p>
        </p:txBody>
      </p:sp>
    </p:spTree>
    <p:extLst>
      <p:ext uri="{BB962C8B-B14F-4D97-AF65-F5344CB8AC3E}">
        <p14:creationId xmlns:p14="http://schemas.microsoft.com/office/powerpoint/2010/main" val="2644663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2026-05-23T05:00:23.6300000Z</dcterms:created>
  <dcterms:modified xsi:type="dcterms:W3CDTF">2026-05-23T05:00:23.6300000Z</dcterms:modified>
</coreProperties>
</file>